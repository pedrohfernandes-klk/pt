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3: Luna, lua: o que caiu pelo caminho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1.º ANO, MÓDULO 1, UNIDADE 1: VOZES DA LÍRICA MEDIEVAL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685800"/>
            <a:ext cx="5120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6583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Luna, lua: o que caiu pelo caminho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29768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Reconhecer e nomear, em palavras do latim ao português, os sons que caem (aférese, síncope, apócope), os que entram (prótese, epêntese, paragoge) e a sonorização, e mostrar com dois casos que a língua mudou com regra, não por erro.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515807" y="1078992"/>
            <a:ext cx="2962656" cy="296265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15" name="Image 0" descr="/tmp/aulas-diap-TXxbXe/qr-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5535" y="1188720"/>
            <a:ext cx="2743200" cy="27432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8442655" y="41605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pedrohfernandes-klk.github.io/pt/m1/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licao-m1-f05/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3: Luna, lua: o que caiu pelo caminho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HOJE, 90 MINUTOS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Luna, lua: o que caiu pelo caminho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48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0" y="2093976"/>
            <a:ext cx="78940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Reconhecer e nomear, em palavras do latim ao português, os sons que caem (aférese, síncope, apócope), os que entram (prótese, epêntese, paragoge) e a sonorização, e mostrar com dois casos que a língua mudou com regra, não por erro.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22960" y="3474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0" y="3419856"/>
            <a:ext cx="78940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minutos: 12 cartões, prática em pares e uma resposta escrita.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22960" y="4800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43200" y="4745736"/>
            <a:ext cx="78940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papel, quatro linhas: responder a um colega que diz que o português é latim mal falado, com duas palavras da aula que mudaram pelo mesmo processo.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3: Luna, lua: o que caiu pelo caminho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</a:t>
            </a:r>
            <a:endParaRPr lang="en-US" sz="1100" dirty="0"/>
          </a:p>
        </p:txBody>
      </p:sp>
      <p:pic>
        <p:nvPicPr>
          <p:cNvPr id="7" name="Image 0" descr="Pergaminho recortado, de letra medieval: no alto, o nome «Martin codax»; por baixo, três pautas com notas de música sobre os primeiros versos, «Ondas do mar de uigo / se uistes meu amigo», e o resto da cantiga escrito sem pauta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9556" y="914400"/>
            <a:ext cx="2753047" cy="47091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569671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Martim Codax, «Ondas do mar de Vigo», edição de Pedro Vindel, 1915. Domínio público.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486400" y="914400"/>
            <a:ext cx="55165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Luna, lua: o que caiu pelo caminho</a:t>
            </a:r>
            <a:endParaRPr lang="en-US" sz="3400" dirty="0"/>
          </a:p>
        </p:txBody>
      </p:sp>
      <p:sp>
        <p:nvSpPr>
          <p:cNvPr id="10" name="Shape 7"/>
          <p:cNvSpPr/>
          <p:nvPr/>
        </p:nvSpPr>
        <p:spPr>
          <a:xfrm>
            <a:off x="822960" y="1901952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0" y="2148840"/>
            <a:ext cx="551657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Procura no pergaminho a palavra «amigo»: está lá duas vezes. Em latim dizia-se «amicum», e ninguém decidiu mudá-la: mudou na boca de quem falava, durante séculos.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5486400" y="4389120"/>
            <a:ext cx="551657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português é latim mal falado, ou latim que mudou com regras?</a:t>
            </a:r>
            <a:endParaRPr lang="en-US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3: Luna, lua: o que caiu pelo caminho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QUE SOM CAIU, E ONDE?, 1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CASO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«lu</a:t>
            </a:r>
            <a:pPr indent="0" marL="0">
              <a:lnSpc>
                <a:spcPct val="125000"/>
              </a:lnSpc>
              <a:buNone/>
            </a:pPr>
            <a:r>
              <a:rPr lang="en-US" sz="32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</a:t>
            </a:r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a» &gt; «lua»«</a:t>
            </a:r>
            <a:pPr indent="0" marL="0">
              <a:lnSpc>
                <a:spcPct val="125000"/>
              </a:lnSpc>
              <a:buNone/>
            </a:pPr>
            <a:r>
              <a:rPr lang="en-US" sz="32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cume» &gt; «gume»«mar</a:t>
            </a:r>
            <a:pPr indent="0" marL="0">
              <a:lnSpc>
                <a:spcPct val="125000"/>
              </a:lnSpc>
              <a:buNone/>
            </a:pPr>
            <a:r>
              <a:rPr lang="en-US" sz="32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» &gt; «mar»Do latim ao português.</a:t>
            </a:r>
            <a:endParaRPr lang="en-US" sz="3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3: Luna, lua: o que caiu pelo caminho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QUE SOM CAIU, E ONDE?, 2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 três palavras perderam um som. Merecem o mesmo nome?</a:t>
            </a:r>
            <a:endParaRPr lang="en-US" sz="2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A. O mesmo nome</a:t>
            </a:r>
            <a:endParaRPr lang="en-US" sz="2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B. Nomes diferentes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3: Luna, lua: o que caiu pelo caminho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QUE SOM CAIU, E ONDE?, 3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OLHA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 «luna», o </a:t>
            </a:r>
            <a:pPr indent="0" marL="0">
              <a:lnSpc>
                <a:spcPct val="125000"/>
              </a:lnSpc>
              <a:buNone/>
            </a:pPr>
            <a:r>
              <a:rPr lang="en-US" sz="32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</a:t>
            </a:r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do meio cai, e ficam duas vogais seguidas: «lua».</a:t>
            </a:r>
            <a:endParaRPr lang="en-US" sz="3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3: Luna, lua: o que caiu pelo caminho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QUE SOM CAIU, E ONDE?, 4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TRAÇO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 «acume» cai o </a:t>
            </a:r>
            <a:pPr indent="0" marL="0">
              <a:lnSpc>
                <a:spcPct val="125000"/>
              </a:lnSpc>
              <a:buNone/>
            </a:pPr>
            <a:r>
              <a:rPr lang="en-US" sz="28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do início; em «mare», o </a:t>
            </a:r>
            <a:pPr indent="0" marL="0">
              <a:lnSpc>
                <a:spcPct val="125000"/>
              </a:lnSpc>
              <a:buNone/>
            </a:pPr>
            <a:r>
              <a:rPr lang="en-US" sz="28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do fim. O gesto é o mesmo, cair; o lugar muda, e é o lugar que dá o nome.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3: Luna, lua: o que caiu pelo caminho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QUE SOM CAIU, E ONDE?, 5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NOME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4630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72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AFÉRESE, SÍNCOPE, APÓCOPE</a:t>
            </a:r>
            <a:endParaRPr lang="en-US" sz="7200" dirty="0"/>
          </a:p>
        </p:txBody>
      </p:sp>
      <p:sp>
        <p:nvSpPr>
          <p:cNvPr id="9" name="Shape 7"/>
          <p:cNvSpPr/>
          <p:nvPr/>
        </p:nvSpPr>
        <p:spPr>
          <a:xfrm>
            <a:off x="822960" y="3017520"/>
            <a:ext cx="2011680" cy="82296"/>
          </a:xfrm>
          <a:prstGeom prst="rect">
            <a:avLst/>
          </a:prstGeom>
          <a:solidFill>
            <a:srgbClr val="D9A520"/>
          </a:solidFill>
          <a:ln w="12700">
            <a:solidFill>
              <a:srgbClr val="D9A5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337560"/>
            <a:ext cx="98142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Cai um som: no início, aférese; no meio, síncope; no fim, apócope.</a:t>
            </a:r>
            <a:endParaRPr lang="en-US" sz="3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3: Luna, lua: o que caiu pelo caminho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QUE SOM CAIU, E ONDE?, 6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NÃO É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 é só encurtar. «luna» e «mare» ficam ambas mais curtas, mas o </a:t>
            </a:r>
            <a:pPr indent="0" marL="0">
              <a:lnSpc>
                <a:spcPct val="125000"/>
              </a:lnSpc>
              <a:buNone/>
            </a:pPr>
            <a:r>
              <a:rPr lang="en-US" sz="28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</a:t>
            </a:r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cai no meio (síncope) e o </a:t>
            </a:r>
            <a:pPr indent="0" marL="0">
              <a:lnSpc>
                <a:spcPct val="125000"/>
              </a:lnSpc>
              <a:buNone/>
            </a:pPr>
            <a:r>
              <a:rPr lang="en-US" sz="28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no fim (apócope).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3: Luna, lua: o que caiu pelo caminho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QUE SOM CAIU, E ONDE?, 7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LEVAR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Pergunta onde caiu o som: no início, no meio ou no fim.</a:t>
            </a:r>
            <a:endParaRPr lang="en-US" sz="3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3: Luna, lua: o que caiu pelo caminho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«amicum» &gt; «amigo», «lupum» &gt; «lobo», «ipsum» &gt; «isso»: que queda se repete nas três?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2697480"/>
            <a:ext cx="0" cy="12009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5146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523744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Cai um som do meio: síncope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22960" y="311505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115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3124200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Cai o </a:t>
            </a:r>
            <a:pPr indent="0" marL="0">
              <a:lnSpc>
                <a:spcPct val="105000"/>
              </a:lnSpc>
              <a:buNone/>
            </a:pPr>
            <a:r>
              <a:rPr lang="en-US" sz="2400" i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 fim: apócope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22960" y="371551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715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3724656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cai nada: só mudam as vogais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3: Luna, lua: o que caiu pelo caminho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Cai o </a:t>
            </a:r>
            <a:pPr indent="0" marL="0">
              <a:buNone/>
            </a:pPr>
            <a:r>
              <a:rPr lang="en-US" sz="3400" b="1" i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 fim: apócope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 três perdem o </a:t>
            </a:r>
            <a:pPr indent="0" marL="0">
              <a:lnSpc>
                <a:spcPct val="120000"/>
              </a:lnSpc>
              <a:buNone/>
            </a:pPr>
            <a:r>
              <a:rPr lang="en-US" sz="25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</a:t>
            </a:r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do fim: amicu(m), lupu(m), ipsu(m). Cair no fim é </a:t>
            </a:r>
            <a:pPr indent="0" marL="0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apócope</a:t>
            </a:r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A mesma queda em três palavras diferentes: é regra, não acaso.</a:t>
            </a:r>
            <a:endParaRPr lang="en-US" sz="2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3: Luna, lua: o que caiu pelo caminho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Caso imaginário: um colega diz «pra» em vez de «para». Que som caiu, e onde?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2697480"/>
            <a:ext cx="0" cy="12009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5146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523744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primeiro </a:t>
            </a:r>
            <a:pPr indent="0" marL="0">
              <a:lnSpc>
                <a:spcPct val="105000"/>
              </a:lnSpc>
              <a:buNone/>
            </a:pPr>
            <a:r>
              <a:rPr lang="en-US" sz="2400" i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 meio: síncope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22960" y="311505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115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3124200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</a:t>
            </a:r>
            <a:pPr indent="0" marL="0">
              <a:lnSpc>
                <a:spcPct val="105000"/>
              </a:lnSpc>
              <a:buNone/>
            </a:pPr>
            <a:r>
              <a:rPr lang="en-US" sz="2400" i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 fim: apócope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22960" y="371551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715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3724656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</a:t>
            </a:r>
            <a:pPr indent="0" marL="0">
              <a:lnSpc>
                <a:spcPct val="105000"/>
              </a:lnSpc>
              <a:buNone/>
            </a:pPr>
            <a:r>
              <a:rPr lang="en-US" sz="2400" i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 início: aférese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3: Luna, lua: o que caiu pelo caminho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primeiro </a:t>
            </a:r>
            <a:pPr indent="0" marL="0">
              <a:buNone/>
            </a:pPr>
            <a:r>
              <a:rPr lang="en-US" sz="3400" b="1" i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 meio: síncope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 «pra» cai o </a:t>
            </a:r>
            <a:pPr indent="0" marL="0">
              <a:lnSpc>
                <a:spcPct val="120000"/>
              </a:lnSpc>
              <a:buNone/>
            </a:pPr>
            <a:r>
              <a:rPr lang="en-US" sz="25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entre o </a:t>
            </a:r>
            <a:pPr indent="0" marL="0">
              <a:lnSpc>
                <a:spcPct val="120000"/>
              </a:lnSpc>
              <a:buNone/>
            </a:pPr>
            <a:r>
              <a:rPr lang="en-US" sz="25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</a:t>
            </a:r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 o </a:t>
            </a:r>
            <a:pPr indent="0" marL="0">
              <a:lnSpc>
                <a:spcPct val="120000"/>
              </a:lnSpc>
              <a:buNone/>
            </a:pPr>
            <a:r>
              <a:rPr lang="en-US" sz="25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um som do meio, </a:t>
            </a:r>
            <a:pPr indent="0" marL="0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síncope</a:t>
            </a:r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É o mesmo gesto que fez «lua» de «luna».</a:t>
            </a:r>
            <a:endParaRPr lang="en-US" sz="2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3: Luna, lua: o que caiu pelo caminho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DECIDE: DECIDE EM SILÊNCIO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Quem diz «pra» em vez de «para» fala mal?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800600"/>
            <a:ext cx="98142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«pra», dito em vez de «para», cai o </a:t>
            </a:r>
            <a:pPr indent="0" marL="0">
              <a:buNone/>
            </a:pPr>
            <a:r>
              <a:rPr lang="en-US" sz="1800" i="1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pPr indent="0" marL="0">
              <a:buNone/>
            </a:pPr>
            <a:r>
              <a:rPr lang="en-US" sz="18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 meio: é uma síncope. Num texto para a escola, escreve-se «para».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3: Luna, lua: o que caiu pelo caminho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DECIDE: OS LADOS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diz «pra» fala mal?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03120"/>
            <a:ext cx="32104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razão de quem conhece a regra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2971800"/>
            <a:ext cx="321045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«Pra» não é um erro ao acaso: é uma síncope, a mesma que fez «lua» de «luna». Se o português é latim que mudou com regras, quem diz «pra» faz o que os falantes fizeram durante séculos.Uma razão possível, com os casos da aula.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490618" y="2103120"/>
            <a:ext cx="32104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razão de quem olha para a situação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490618" y="2971800"/>
            <a:ext cx="321045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Falar bem também é escolher a forma que a situação pede: na conversa, «pra» passa; num teste ou num texto para a escola, escreve-se «para». Quem não muda de forma arrisca-se a parecer descuidado.Uma razão possível.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158277" y="2103120"/>
            <a:ext cx="32104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objeção de quem separa explicar e aceitar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158277" y="2971800"/>
            <a:ext cx="321045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regra explica de onde vem «pra», mas explicar não é aceitar. «Lua» também perdeu um som, e hoje é a forma que todos escrevem; «pra» ainda não se escreve num texto para a escola. Ter regra mostra que não é um erro ao acaso, não que já é a forma de todos.Uma objeção possível à primeira razão.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3: Luna, lua: o que caiu pelo caminho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QUE SONS APARECERAM, E ONDE?, 1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CASO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«stella» &gt; «</a:t>
            </a:r>
            <a:pPr indent="0" marL="0">
              <a:lnSpc>
                <a:spcPct val="125000"/>
              </a:lnSpc>
              <a:buNone/>
            </a:pPr>
            <a:r>
              <a:rPr lang="en-US" sz="32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</a:t>
            </a:r>
            <a:pPr indent="0" marL="0">
              <a:lnSpc>
                <a:spcPct val="125000"/>
              </a:lnSpc>
              <a:buNone/>
            </a:pPr>
            <a:r>
              <a:rPr lang="en-US" sz="32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ela»«ante» &gt; «ante</a:t>
            </a:r>
            <a:pPr indent="0" marL="0">
              <a:lnSpc>
                <a:spcPct val="125000"/>
              </a:lnSpc>
              <a:buNone/>
            </a:pPr>
            <a:r>
              <a:rPr lang="en-US" sz="32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»Do latim ao português.</a:t>
            </a:r>
            <a:endParaRPr lang="en-US" sz="3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3: Luna, lua: o que caiu pelo caminho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QUE SONS APARECERAM, E ONDE?, 2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«stella» a «estrela», a palavra cresceu no início, no meio ou nos dois?</a:t>
            </a:r>
            <a:endParaRPr lang="en-US" sz="2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A. No início</a:t>
            </a:r>
            <a:endParaRPr lang="en-US" sz="2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B. No meio</a:t>
            </a:r>
            <a:endParaRPr lang="en-US" sz="2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C. Nos dois</a:t>
            </a:r>
            <a:endParaRPr lang="en-US" sz="2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3: Luna, lua: o que caiu pelo caminho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QUE SONS APARECERAM, E ONDE?, 3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OLHA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início, antes do </a:t>
            </a:r>
            <a:pPr indent="0" marL="0">
              <a:lnSpc>
                <a:spcPct val="125000"/>
              </a:lnSpc>
              <a:buNone/>
            </a:pPr>
            <a:r>
              <a:rPr lang="en-US" sz="32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entra um </a:t>
            </a:r>
            <a:pPr indent="0" marL="0">
              <a:lnSpc>
                <a:spcPct val="125000"/>
              </a:lnSpc>
              <a:buNone/>
            </a:pPr>
            <a:r>
              <a:rPr lang="en-US" sz="32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que «stella» não tinha.</a:t>
            </a:r>
            <a:endParaRPr lang="en-US" sz="3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3: Luna, lua: o que caiu pelo caminho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QUE SONS APARECERAM, E ONDE?, 4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TRAÇO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meio, entre o </a:t>
            </a:r>
            <a:pPr indent="0" marL="0">
              <a:lnSpc>
                <a:spcPct val="125000"/>
              </a:lnSpc>
              <a:buNone/>
            </a:pPr>
            <a:r>
              <a:rPr lang="en-US" sz="28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 o </a:t>
            </a:r>
            <a:pPr indent="0" marL="0">
              <a:lnSpc>
                <a:spcPct val="125000"/>
              </a:lnSpc>
              <a:buNone/>
            </a:pPr>
            <a:r>
              <a:rPr lang="en-US" sz="28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entra um </a:t>
            </a:r>
            <a:pPr indent="0" marL="0">
              <a:lnSpc>
                <a:spcPct val="125000"/>
              </a:lnSpc>
              <a:buNone/>
            </a:pPr>
            <a:r>
              <a:rPr lang="en-US" sz="28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; em «antes», um </a:t>
            </a:r>
            <a:pPr indent="0" marL="0">
              <a:lnSpc>
                <a:spcPct val="125000"/>
              </a:lnSpc>
              <a:buNone/>
            </a:pPr>
            <a:r>
              <a:rPr lang="en-US" sz="28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no fim. É o contrário de cair, nos mesmos três lugares.</a:t>
            </a:r>
            <a:endParaRPr lang="en-US" sz="2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3: Luna, lua: o que caiu pelo caminho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QUE SONS APARECERAM, E ONDE?, 5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NOME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4630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72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PRÓTESE, EPÊNTESE, PARAGOGE</a:t>
            </a:r>
            <a:endParaRPr lang="en-US" sz="7200" dirty="0"/>
          </a:p>
        </p:txBody>
      </p:sp>
      <p:sp>
        <p:nvSpPr>
          <p:cNvPr id="9" name="Shape 7"/>
          <p:cNvSpPr/>
          <p:nvPr/>
        </p:nvSpPr>
        <p:spPr>
          <a:xfrm>
            <a:off x="822960" y="3017520"/>
            <a:ext cx="2011680" cy="82296"/>
          </a:xfrm>
          <a:prstGeom prst="rect">
            <a:avLst/>
          </a:prstGeom>
          <a:solidFill>
            <a:srgbClr val="D9A520"/>
          </a:solidFill>
          <a:ln w="12700">
            <a:solidFill>
              <a:srgbClr val="D9A5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337560"/>
            <a:ext cx="98142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Junta-se um som: no início, prótese; no meio, epêntese; no fim, paragoge.</a:t>
            </a:r>
            <a:endParaRPr lang="en-US" sz="3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3: Luna, lua: o que caiu pelo caminho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QUE SONS APARECERAM, E ONDE?, 6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NÃO É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 é metátese. Em «sempre», de «semper», o </a:t>
            </a:r>
            <a:pPr indent="0" marL="0">
              <a:lnSpc>
                <a:spcPct val="125000"/>
              </a:lnSpc>
              <a:buNone/>
            </a:pPr>
            <a:r>
              <a:rPr lang="en-US" sz="28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já lá estava: os mesmos sons, por outra ordem. Em «estrela», o </a:t>
            </a:r>
            <a:pPr indent="0" marL="0">
              <a:lnSpc>
                <a:spcPct val="125000"/>
              </a:lnSpc>
              <a:buNone/>
            </a:pPr>
            <a:r>
              <a:rPr lang="en-US" sz="28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é novo.</a:t>
            </a:r>
            <a:endParaRPr lang="en-US" sz="2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3: Luna, lua: o que caiu pelo caminho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QUE SONS APARECERAM, E ONDE?, 7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LEVAR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Pergunta o que entrou, e onde: início, meio ou fim.</a:t>
            </a:r>
            <a:endParaRPr lang="en-US" sz="3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3: Luna, lua: o que caiu pelo caminho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som indicado entrou ou caiu, e em que lugar da palavra? Dá-lhe o nome.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514600"/>
            <a:ext cx="463280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«salire» &gt; «sair»: o 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i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«scutum» &gt; «escudo»: o 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i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«malum» &gt; «mau»: o 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i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«chẽo» (português antigo) &gt; «cheio»: o 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i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004408" y="2514600"/>
            <a:ext cx="463280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síncope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epêntese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prótese</a:t>
            </a:r>
            <a:endParaRPr lang="en-US" sz="2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3: Luna, lua: o que caiu pelo caminho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«scutum» &gt; «escudo»: o </a:t>
            </a:r>
            <a:endParaRPr lang="en-US" sz="22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2200" i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22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prótese</a:t>
            </a:r>
            <a:endParaRPr lang="en-US" sz="22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«chẽo» (português antigo) &gt; «cheio»: o </a:t>
            </a:r>
            <a:endParaRPr lang="en-US" sz="22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2200" i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22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epêntese</a:t>
            </a:r>
            <a:endParaRPr lang="en-US" sz="22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«malum» &gt; «mau»: o </a:t>
            </a:r>
            <a:endParaRPr lang="en-US" sz="22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2200" i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endParaRPr lang="en-US" sz="22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síncope</a:t>
            </a:r>
            <a:endParaRPr lang="en-US" sz="22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«salire» &gt; «sair»: o </a:t>
            </a:r>
            <a:endParaRPr lang="en-US" sz="22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2200" i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endParaRPr lang="en-US" sz="22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síncope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22960" y="35204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794760"/>
            <a:ext cx="9814255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 «escudo», o </a:t>
            </a:r>
            <a:pPr indent="0" marL="0">
              <a:lnSpc>
                <a:spcPct val="120000"/>
              </a:lnSpc>
              <a:buNone/>
            </a:pPr>
            <a:r>
              <a:rPr lang="en-US" sz="22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entra no início (</a:t>
            </a:r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prótese</a:t>
            </a:r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); em «cheio», o </a:t>
            </a:r>
            <a:pPr indent="0" marL="0">
              <a:lnSpc>
                <a:spcPct val="120000"/>
              </a:lnSpc>
              <a:buNone/>
            </a:pPr>
            <a:r>
              <a:rPr lang="en-US" sz="22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entra no meio (</a:t>
            </a:r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epêntese</a:t>
            </a:r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 Em «mau» e em «sair», o </a:t>
            </a:r>
            <a:pPr indent="0" marL="0">
              <a:lnSpc>
                <a:spcPct val="120000"/>
              </a:lnSpc>
              <a:buNone/>
            </a:pPr>
            <a:r>
              <a:rPr lang="en-US" sz="22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</a:t>
            </a:r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do meio cai (</a:t>
            </a:r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síncope</a:t>
            </a:r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 No meio, entrar e cair têm nomes diferentes.</a:t>
            </a:r>
            <a:endParaRPr lang="en-US" sz="2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3: Luna, lua: o que caiu pelo caminho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O C E O P MUDARAM AO ACASO?, 1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CASO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«ami</a:t>
            </a:r>
            <a:pPr indent="0" marL="0">
              <a:lnSpc>
                <a:spcPct val="125000"/>
              </a:lnSpc>
              <a:buNone/>
            </a:pPr>
            <a:r>
              <a:rPr lang="en-US" sz="32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um» &gt; «ami</a:t>
            </a:r>
            <a:pPr indent="0" marL="0">
              <a:lnSpc>
                <a:spcPct val="125000"/>
              </a:lnSpc>
              <a:buNone/>
            </a:pPr>
            <a:r>
              <a:rPr lang="en-US" sz="32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</a:t>
            </a:r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o»«lu</a:t>
            </a:r>
            <a:pPr indent="0" marL="0">
              <a:lnSpc>
                <a:spcPct val="125000"/>
              </a:lnSpc>
              <a:buNone/>
            </a:pPr>
            <a:r>
              <a:rPr lang="en-US" sz="32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</a:t>
            </a:r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um» &gt; «lo</a:t>
            </a:r>
            <a:pPr indent="0" marL="0">
              <a:lnSpc>
                <a:spcPct val="125000"/>
              </a:lnSpc>
              <a:buNone/>
            </a:pPr>
            <a:r>
              <a:rPr lang="en-US" sz="32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o»Do latim ao português.</a:t>
            </a:r>
            <a:endParaRPr lang="en-US" sz="3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3: Luna, lua: o que caiu pelo caminho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O C E O P MUDARAM AO ACASO?, 2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</a:t>
            </a:r>
            <a:pPr indent="0" marL="0">
              <a:lnSpc>
                <a:spcPct val="125000"/>
              </a:lnSpc>
              <a:buNone/>
            </a:pPr>
            <a:r>
              <a:rPr lang="en-US" sz="28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passa a </a:t>
            </a:r>
            <a:pPr indent="0" marL="0">
              <a:lnSpc>
                <a:spcPct val="125000"/>
              </a:lnSpc>
              <a:buNone/>
            </a:pPr>
            <a:r>
              <a:rPr lang="en-US" sz="28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</a:t>
            </a:r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o </a:t>
            </a:r>
            <a:pPr indent="0" marL="0">
              <a:lnSpc>
                <a:spcPct val="125000"/>
              </a:lnSpc>
              <a:buNone/>
            </a:pPr>
            <a:r>
              <a:rPr lang="en-US" sz="28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</a:t>
            </a:r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passa a </a:t>
            </a:r>
            <a:pPr indent="0" marL="0">
              <a:lnSpc>
                <a:spcPct val="125000"/>
              </a:lnSpc>
              <a:buNone/>
            </a:pPr>
            <a:r>
              <a:rPr lang="en-US" sz="28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Duas mudanças ao acaso, ou a mesma?</a:t>
            </a:r>
            <a:endParaRPr lang="en-US" sz="2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A. Ao acaso</a:t>
            </a:r>
            <a:endParaRPr lang="en-US" sz="2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B. A mesma mudança</a:t>
            </a:r>
            <a:endParaRPr lang="en-US" sz="2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3: Luna, lua: o que caiu pelo caminho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O C E O P MUDARAM AO ACASO?, 3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OLHA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 «amicum», o </a:t>
            </a:r>
            <a:pPr indent="0" marL="0">
              <a:lnSpc>
                <a:spcPct val="125000"/>
              </a:lnSpc>
              <a:buNone/>
            </a:pPr>
            <a:r>
              <a:rPr lang="en-US" sz="32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entre duas vogais, passa a </a:t>
            </a:r>
            <a:pPr indent="0" marL="0">
              <a:lnSpc>
                <a:spcPct val="125000"/>
              </a:lnSpc>
              <a:buNone/>
            </a:pPr>
            <a:r>
              <a:rPr lang="en-US" sz="32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</a:t>
            </a:r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3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3: Luna, lua: o que caiu pelo caminho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O C E O P MUDARAM AO ACASO?, 4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TRAÇO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Mão na garganta, diz «pato» e «bato», «cola» e «gola». No </a:t>
            </a:r>
            <a:pPr indent="0" marL="0">
              <a:lnSpc>
                <a:spcPct val="125000"/>
              </a:lnSpc>
              <a:buNone/>
            </a:pPr>
            <a:r>
              <a:rPr lang="en-US" sz="28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 no </a:t>
            </a:r>
            <a:pPr indent="0" marL="0">
              <a:lnSpc>
                <a:spcPct val="125000"/>
              </a:lnSpc>
              <a:buNone/>
            </a:pPr>
            <a:r>
              <a:rPr lang="en-US" sz="28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</a:t>
            </a:r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vibra: são sonoros. No </a:t>
            </a:r>
            <a:pPr indent="0" marL="0">
              <a:lnSpc>
                <a:spcPct val="125000"/>
              </a:lnSpc>
              <a:buNone/>
            </a:pPr>
            <a:r>
              <a:rPr lang="en-US" sz="28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</a:t>
            </a:r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 no </a:t>
            </a:r>
            <a:pPr indent="0" marL="0">
              <a:lnSpc>
                <a:spcPct val="125000"/>
              </a:lnSpc>
              <a:buNone/>
            </a:pPr>
            <a:r>
              <a:rPr lang="en-US" sz="28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não: são surdos. O mesmo salto.</a:t>
            </a:r>
            <a:endParaRPr lang="en-US" sz="2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3: Luna, lua: o que caiu pelo caminho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O C E O P MUDARAM AO ACASO?, 5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NOME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4630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72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SONORIZAÇÃO</a:t>
            </a:r>
            <a:endParaRPr lang="en-US" sz="7200" dirty="0"/>
          </a:p>
        </p:txBody>
      </p:sp>
      <p:sp>
        <p:nvSpPr>
          <p:cNvPr id="9" name="Shape 7"/>
          <p:cNvSpPr/>
          <p:nvPr/>
        </p:nvSpPr>
        <p:spPr>
          <a:xfrm>
            <a:off x="822960" y="3017520"/>
            <a:ext cx="2011680" cy="82296"/>
          </a:xfrm>
          <a:prstGeom prst="rect">
            <a:avLst/>
          </a:prstGeom>
          <a:solidFill>
            <a:srgbClr val="D9A520"/>
          </a:solidFill>
          <a:ln w="12700">
            <a:solidFill>
              <a:srgbClr val="D9A5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337560"/>
            <a:ext cx="98142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 som surdo passa a sonoro (p &gt; b, t &gt; d, c &gt; g).</a:t>
            </a:r>
            <a:endParaRPr lang="en-US" sz="3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3: Luna, lua: o que caiu pelo caminho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O C E O P MUDARAM AO ACASO?, 6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NÃO É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 é erro. Repete-se igual em palavras diferentes, como «amigo» e «lobo».Não é queda, nem só a letra. O som fica e muda de qualidade; a letra nova regista-o.</a:t>
            </a:r>
            <a:endParaRPr lang="en-US" sz="2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3: Luna, lua: o que caiu pelo caminho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O C E O P MUDARAM AO ACASO?, 7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LEVAR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mesma mudança em várias palavras: é regra, não erro.</a:t>
            </a:r>
            <a:endParaRPr lang="en-US" sz="3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3: Luna, lua: o que caiu pelo caminho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«rota», em latim, deu «roda»: o que aconteceu ao </a:t>
            </a:r>
            <a:pPr indent="0" marL="0">
              <a:buNone/>
            </a:pPr>
            <a:r>
              <a:rPr lang="en-US" sz="32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pPr indent="0" marL="0"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2697480"/>
            <a:ext cx="0" cy="12009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5146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523744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Ficou igual: só a letra mudou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22960" y="311505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115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3124200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Passou a sonoro, </a:t>
            </a:r>
            <a:pPr indent="0" marL="0">
              <a:lnSpc>
                <a:spcPct val="105000"/>
              </a:lnSpc>
              <a:buNone/>
            </a:pPr>
            <a:r>
              <a:rPr lang="en-US" sz="2400" i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sonorização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22960" y="371551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715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3724656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Trocou de lugar com a vogal seguinte</a:t>
            </a:r>
            <a:endParaRPr lang="en-US" sz="2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3: Luna, lua: o que caiu pelo caminho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Passou a sonoro, </a:t>
            </a:r>
            <a:pPr indent="0" marL="0">
              <a:buNone/>
            </a:pPr>
            <a:r>
              <a:rPr lang="en-US" sz="3400" b="1" i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sonorização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</a:t>
            </a:r>
            <a:pPr indent="0" marL="0">
              <a:lnSpc>
                <a:spcPct val="120000"/>
              </a:lnSpc>
              <a:buNone/>
            </a:pPr>
            <a:r>
              <a:rPr lang="en-US" sz="25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fica no seu lugar e passa de surdo a sonoro, </a:t>
            </a:r>
            <a:pPr indent="0" marL="0">
              <a:lnSpc>
                <a:spcPct val="120000"/>
              </a:lnSpc>
              <a:buNone/>
            </a:pPr>
            <a:r>
              <a:rPr lang="en-US" sz="25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como o </a:t>
            </a:r>
            <a:pPr indent="0" marL="0">
              <a:lnSpc>
                <a:spcPct val="120000"/>
              </a:lnSpc>
              <a:buNone/>
            </a:pPr>
            <a:r>
              <a:rPr lang="en-US" sz="25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de «amicum» e o </a:t>
            </a:r>
            <a:pPr indent="0" marL="0">
              <a:lnSpc>
                <a:spcPct val="120000"/>
              </a:lnSpc>
              <a:buNone/>
            </a:pPr>
            <a:r>
              <a:rPr lang="en-US" sz="25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</a:t>
            </a:r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de «lupum». Três consoantes, o mesmo salto: é regra, </a:t>
            </a:r>
            <a:pPr indent="0" marL="0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sonorização</a:t>
            </a:r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25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3: Luna, lua: o que caiu pelo caminho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«acume» &gt; «gume»: no caminho, qual das mudanças é a sonorização?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2697480"/>
            <a:ext cx="0" cy="15819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5146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523744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</a:t>
            </a:r>
            <a:pPr indent="0" marL="0">
              <a:lnSpc>
                <a:spcPct val="105000"/>
              </a:lnSpc>
              <a:buNone/>
            </a:pPr>
            <a:r>
              <a:rPr lang="en-US" sz="2400" i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que passa a </a:t>
            </a:r>
            <a:pPr indent="0" marL="0">
              <a:lnSpc>
                <a:spcPct val="105000"/>
              </a:lnSpc>
              <a:buNone/>
            </a:pPr>
            <a:r>
              <a:rPr lang="en-US" sz="2400" i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22960" y="311505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115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3124200"/>
            <a:ext cx="9174175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Nenhuma: </a:t>
            </a:r>
            <a:pPr indent="0" marL="0">
              <a:lnSpc>
                <a:spcPct val="105000"/>
              </a:lnSpc>
              <a:buNone/>
            </a:pPr>
            <a:r>
              <a:rPr lang="en-US" sz="2400" i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 </a:t>
            </a:r>
            <a:pPr indent="0" marL="0">
              <a:lnSpc>
                <a:spcPct val="105000"/>
              </a:lnSpc>
              <a:buNone/>
            </a:pPr>
            <a:r>
              <a:rPr lang="en-US" sz="2400" i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são duas maneiras de escrever o mesmo som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22960" y="409651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096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4105656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</a:t>
            </a:r>
            <a:pPr indent="0" marL="0">
              <a:lnSpc>
                <a:spcPct val="105000"/>
              </a:lnSpc>
              <a:buNone/>
            </a:pPr>
            <a:r>
              <a:rPr lang="en-US" sz="2400" i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 início, que cai</a:t>
            </a:r>
            <a:endParaRPr lang="en-US" sz="2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3: Luna, lua: o que caiu pelo caminho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</a:t>
            </a:r>
            <a:pPr indent="0" marL="0">
              <a:buNone/>
            </a:pPr>
            <a:r>
              <a:rPr lang="en-US" sz="3400" b="1" i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que passa a </a:t>
            </a:r>
            <a:pPr indent="0" marL="0">
              <a:buNone/>
            </a:pPr>
            <a:r>
              <a:rPr lang="en-US" sz="3400" b="1" i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 «gume» há duas mudanças: o </a:t>
            </a:r>
            <a:pPr indent="0" marL="0">
              <a:lnSpc>
                <a:spcPct val="120000"/>
              </a:lnSpc>
              <a:buNone/>
            </a:pPr>
            <a:r>
              <a:rPr lang="en-US" sz="25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do início cai (aférese) e o </a:t>
            </a:r>
            <a:pPr indent="0" marL="0">
              <a:lnSpc>
                <a:spcPct val="120000"/>
              </a:lnSpc>
              <a:buNone/>
            </a:pPr>
            <a:r>
              <a:rPr lang="en-US" sz="25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passa a </a:t>
            </a:r>
            <a:pPr indent="0" marL="0">
              <a:lnSpc>
                <a:spcPct val="120000"/>
              </a:lnSpc>
              <a:buNone/>
            </a:pPr>
            <a:r>
              <a:rPr lang="en-US" sz="25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</a:t>
            </a:r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de surdo a sonoro (</a:t>
            </a:r>
            <a:pPr indent="0" marL="0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sonorização</a:t>
            </a:r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 Uma palavra, dois processos.</a:t>
            </a:r>
            <a:endParaRPr lang="en-US" sz="25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3: Luna, lua: o que caiu pelo caminho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DISCUTIR, 1 DE 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 ninguém decidiu mudar o latim, porque dizemos que as mudanças têm regra?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3: Luna, lua: o que caiu pelo caminho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DISCUTIR, 2 DE 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«luna» &gt; «lua» e «mare» &gt; «mar»: as duas palavras encurtaram. Porque não têm o mesmo nome?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3: Luna, lua: o que caiu pelo caminho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PAPEL, O QUE SE ENTREGA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 colega diz que o português é latim mal falado. Responde-lhe em quatro linhas, com duas palavras da aula que mudaram pelo mesmo processo.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822960" y="26974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971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CONTA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05840" y="3611880"/>
            <a:ext cx="0" cy="154736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4290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429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17320" y="3438144"/>
            <a:ext cx="9174175" cy="441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ao colega: o português não é latim mal falado, é latim que mudou com regras.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387070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87070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3879850"/>
            <a:ext cx="9174175" cy="663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Dá duas palavras da aula que mudaram pelo mesmo processo (por exemplo, «amicum» &gt; «amigo» e «lupum» &gt; «lobo») e diz o nome do processo.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22960" y="453466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53466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17320" y="4543806"/>
            <a:ext cx="9174175" cy="441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Explica porque é regra e não erro: a mesma mudança repete-se igual em palavras diferentes.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22960" y="49763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976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17320" y="4985512"/>
            <a:ext cx="9174175" cy="663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Justifica o nome com o que aconteceu ao som: se caiu ou entrou, diz o lugar (início, meio ou fim); se mudou de qualidade, diz de que som passou a que som.</a:t>
            </a:r>
            <a:endParaRPr lang="en-US" sz="1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3: Luna, lua: o que caiu pelo caminho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LEVAR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português é latim mal falado? Não: é latim que mudou com regras, e as regras têm nome.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3: Luna, lua: o que caiu pelo caminho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868680"/>
            <a:ext cx="6705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ir mais longe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03120"/>
            <a:ext cx="652241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ir mais longe (opcional, em casa): 8 cartões de pergunta e 2 de leitura. O que escapou a um colega na análise de «lacum» &gt; «lago» (a sonorização, com o desenho do caderno); «peneu» em vez de «pneu» (epêntese); «stare» &gt; «estar», em que um som entra e outro cai (prótese e apócope); o conceito da metátese e da assimilação («semper» &gt; «sempre», «ipsum» &gt; «isso»), com o r de «entre» e o rs de «pessoa»; o conceito da palatalização e do til de «chẽo» («plenum» &gt; «chẽo» &gt; «cheio»), com o pl de «chuva» e, para arrumar, palatal ou sonoro em «chave», «chama», «filho» e «agudo»; e, para fechar, «brigado» em vez de «obrigado» (aférese ou prótese).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8515807" y="1078992"/>
            <a:ext cx="2962656" cy="296265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11" name="Image 0" descr="/tmp/aulas-diap-TXxbXe/qr-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5535" y="118872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Módulo 1, aula 3: Luna, lua: o que caiu pelo caminho</dc:title>
  <dc:subject>PptxGenJS Presentation</dc:subject>
  <dc:creator>EPI, Português</dc:creator>
  <cp:lastModifiedBy>EPI, Português</cp:lastModifiedBy>
  <cp:revision>1</cp:revision>
  <dcterms:created xsi:type="dcterms:W3CDTF">2026-10-24T11:04:22Z</dcterms:created>
  <dcterms:modified xsi:type="dcterms:W3CDTF">2026-10-24T11:04:22Z</dcterms:modified>
</cp:coreProperties>
</file>