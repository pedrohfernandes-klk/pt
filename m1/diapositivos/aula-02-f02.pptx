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1, UNIDADE 1: VOZES DA LÍRICA MEDIEVAL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6858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Cercada pelas ondas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Perceber como a cantiga de Mendinho faz subir o cerco e guarda a espera com três repetições (o refrão, o paralelismo e o leixa-pren) e usá-las para ler o fim da cantiga.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5" name="Image 0" descr="/tmp/aulas-diap-TXxbXe/qr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442655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pedrohfernandes-klk.github.io/pt/m1/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licao-m1-f02/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90 MINUTOS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Cercada pelas ondas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09397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Perceber como a cantiga de Mendinho faz subir o cerco e guarda a espera com três repetições (o refrão, o paralelismo e o leixa-pren) e usá-las para ler o fim da cantiga.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41985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minutos: 12 cartões, uma canção ouvida e uma resposta escrita.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474573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quatro a seis linhas: no fim da cantiga, a rapariga morre, ou é a espera a falar? Uma leitura, um indício citado entre aspas e o que esse indício não prova.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</a:t>
            </a:r>
            <a:endParaRPr lang="en-US" sz="1100" dirty="0"/>
          </a:p>
        </p:txBody>
      </p:sp>
      <p:pic>
        <p:nvPicPr>
          <p:cNvPr id="7" name="Image 0" descr="Ilha de San Simón, na ria de Vigo: um ilhéu com árvores e uma casa branca, ligado por uma ponte a outro ilhéu, com a maré baixa à frent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4206240" cy="20834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070955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Ilha de San Simón, ria de Vigo (Iago Pillado, 2024). CC BY-SA 4.0.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0" y="914400"/>
            <a:ext cx="5516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Cercada pelas ondas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822960" y="1901952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2148840"/>
            <a:ext cx="55165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Nesta ilha da ria de Vigo ficava a ermida de San Simón: repara na água à volta. Numa cantiga do século XIII, uma rapariga está lá sentada à espera do amigo, e as ondas começam a cercá-la.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486400" y="4389120"/>
            <a:ext cx="55165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 mar sobe e ninguém chega, porque repete ela sempre o mesmo verso?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3232" y="112471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8" name="Image 0" descr="/tmp/aulas-diap-TXxbXe/qr-2-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2743200" cy="2743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4206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«Sedia-m&amp;#x27;eu na ermida de Sam Simion», cantada pelos DOA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DOA, grupo galego, no canal DOA - Topic; interpretação de hoje, não a melodia medieval, 4 min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251960" y="914400"/>
            <a:ext cx="6751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«Sedia-m'eu na ermida de Sam Simion» (1 de 2)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822960" y="1810512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51960" y="2057400"/>
            <a:ext cx="6751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 E OUVIR  </a:t>
            </a:r>
            <a:pPr indent="0" marL="0"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as quatro estrofes e ouve a cantiga. Repara no que muda à volta da rapariga, estrofe a estrofe, e conta quantas vezes ouves o verso que ela diz sempre igual.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251960" y="3566160"/>
            <a:ext cx="6751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Sedia-m'eu na ermida de Sam Simion e cercarom-mi as ondas, que grandes som! Eu atendendo meu amig', eu a[tendendo]. Estando na ermida ant'o altar 5[e] cercarom-mi as ondas grandes do mar. Eu atendendo meu amig', eu a[tendendo]. E cercarom-mi as ondas, que grandes som! Nom hei [eu i] barqueiro nem remador. Eu atendendo meu amig', eu a[tendendo]. 10E cercarom-mi [as] ondas do alto mar; nom hei [eu i] barqueiro nem sei remar. Eu atendendo meu amig', eu a[tendendo].Mendinho (séc. XIII), «Sedia-m'eu na ermida de Sam…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 cercarom-mi [as] ondas do alto mar; / nom hei [eu i] barqueiro nem sei remar.»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estrofe 1 à estrofe 4, o que muda na situação dela?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mar aperta-a e as saídas vão acabando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 de sítio: sai da ermida para o altar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mar acalma, mas o amigo não vem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mar aperta-a e as saídas vão acabando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Estrofe a estrofe, o cerco aperta: as ondas cercam-na e chegam a «do alto mar», e não tem barqueiro nem remador. Só uma coisa não muda.</a:t>
            </a:r>
            <a:endParaRPr lang="en-US" sz="2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QUE FICA IGUAL QUANDO O MAR SOBE?,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Estrofe 1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e cercarom-mi as ondas, que grandes som!
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 atendendo meu amig', eu a[tendendo].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Estrofe 4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nom hei [eu i] barqueiro nem sei remar.
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 atendendo meu amig', eu a[tendendo].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Mendinho, «Sedia-m'eu na ermida de Sam Simion», vv. 2-3 e 11-12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QUE FICA IGUAL QUANDO O MAR SOBE?,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Tudo à volta piora. Porque repete ela o mesmo verso?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Continua à espera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Ajuda a cantar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Já não sabe que dizer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QUE FICA IGUAL QUANDO O MAR SOBE?,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estrofe 1, as ondas cercam-na, e o último verso diz que ela espera o amigo.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QUE FICA IGUAL QUANDO O MAR SOBE?,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estrofe 4, o perigo é maior, mas o último verso volta palavra por palavra: assim acabam todas as estrofes.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QUE FICA IGUAL QUANDO O MAR SOBE?,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REFRÃO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verso que volta igual no fim de cada estrofe.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QUE FICA IGUAL QUANDO O MAR SOBE?,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um verso que volta uma vez só. O refrão volta em todas as estrofes, sempre no fim.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QUE FICA IGUAL QUANDO O MAR SOBE?,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Lê o fim de cada estrofe: o verso que volta igual é o refrão.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«Eu atendendo meu amig', eu a[tendendo].»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mar aperta, e este verso volta igual no fim de cada estrofe. Que efeito tem?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espera fica, por mais que o mar suba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que ela responde ao amigo, que a chama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acontece: fica tudo parado, como o verso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espera fica, por mais que o mar suba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Tudo à volta piora, e o refrão repete «Eu atendendo meu amig'»: a espera fica igual, por mais que o perigo cresça. É o contraste da cantiga.</a:t>
            </a:r>
            <a:endParaRPr lang="en-US" sz="2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MUDA DA ESTROFE 1 PARA A 2?,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Estrofe 1</a:t>
            </a:r>
            <a:pPr indent="0" marL="0">
              <a:lnSpc>
                <a:spcPct val="125000"/>
              </a:lnSpc>
              <a:buNone/>
            </a:pP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Sedia-m'eu na ermida 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Sam Simion</a:t>
            </a:r>
            <a:pPr indent="0" marL="0">
              <a:lnSpc>
                <a:spcPct val="125000"/>
              </a:lnSpc>
              <a:buNone/>
            </a:pP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cercarom-mi as ondas, 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grandes som!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Estrofe 2</a:t>
            </a:r>
            <a:pPr indent="0" marL="0">
              <a:lnSpc>
                <a:spcPct val="125000"/>
              </a:lnSpc>
              <a:buNone/>
            </a:pP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Estando na ermida 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ant'o altar</a:t>
            </a:r>
            <a:pPr indent="0" marL="0">
              <a:lnSpc>
                <a:spcPct val="125000"/>
              </a:lnSpc>
              <a:buNone/>
            </a:pP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[e] cercarom-mi as ondas 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grandes do mar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.Mendinho, vv. 1-2 e 4-5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MUDA DA ESTROFE 1 PARA A 2?,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estrofes 1 e 2 contam duas coisas, ou a mesma duas vezes?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Duas coisas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A mesma, duas vezes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MUDA DA ESTROFE 1 PARA A 2?,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1.º verso, ela está na ermida nas duas estrofes; o sítio diz-se de outra maneira: «de Sam Simion» passa a «ant'o altar».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MUDA DA ESTROFE 1 PARA A 2?,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2.º verso, as ondas cercam-na: «que grandes som!» passa a «grandes do mar». A cena é a mesma, dita outra vez com palavras trocadas.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MUDA DA ESTROFE 1 PARA A 2?,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PARALELISMO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Estrofes seguidas que dizem quase o mesmo, com uma ou duas palavras trocadas.</a:t>
            </a:r>
            <a:endParaRPr 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MUDA DA ESTROFE 1 PARA A 2?,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repetir sem mudar nada. Isso faz o refrão, sempre igual; no paralelismo, alguma palavra muda.</a:t>
            </a:r>
            <a:endParaRPr lang="en-US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MUDA DA ESTROFE 1 PARA A 2?,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Põe as estrofes lado a lado e procura a palavra trocada.</a:t>
            </a:r>
            <a:endParaRPr 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Canção inventada pela turma: «Espero à porta da escola, / e o sino já tocou.» Que estrofe segue em paralelismo?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581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«Espero ao portão da escola, / e o sino já soou.»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«Trago o casaco e a sacola, / e o lanche que sobrou.»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096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105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«Espero à porta da escola, / e o sino já tocou.»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«Espero ao portão da escola, / e o sino já soou.»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estrofe 2 diz quase o mesmo, com duas palavras trocadas («portão», «soou»), como «de Sam Simion» e «ant'o altar» em Mendinho. As estrofes foram feitas para o exercício.</a:t>
            </a:r>
            <a:endParaRPr lang="en-US" sz="2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«Sedia-m'eu na ermida de Sam Simion» (2 de 2)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1810512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57400"/>
            <a:ext cx="10180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  </a:t>
            </a:r>
            <a:pPr indent="0" marL="0"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as duas últimas estrofes. A estrofe 5 abre com um verso que já leste: procura de onde vem e o que diz agora a rapariga pela primeira vez.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Nom hei [eu] i barqueiro nem remador [e] morrerei fremosa no mar maior. 15Eu atendendo meu amig', eu a[tendendo]. Nom hei [eu i] barqueiro nem sei remar e morrerei fremosa no alto mar. Eu atendendo meu amig', eu a[tendendo].</a:t>
            </a:r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 parênteses retos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as palavras que os editores acrescentaram: o manuscrito não as traz.Mendinho (séc. XIII), «Sedia-m'eu na ermida de Sam Simion», cantiga 861, </a:t>
            </a:r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Cantigas Medievais Galego-Portuguesas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(FCSH/NOVA).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VERSO PASSA PARA A ESTROFE 3?,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Estrofe 1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Sedia-m'eu na ermida de Sam Simion
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cercarom-mi as ondas, que grandes som!</a:t>
            </a:r>
            <a:pPr indent="0" marL="0">
              <a:lnSpc>
                <a:spcPct val="125000"/>
              </a:lnSpc>
              <a:buNone/>
            </a:pP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 atendendo meu amig', eu a[tendendo].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Estrofe 3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cercarom-mi as ondas, que grandes som!</a:t>
            </a:r>
            <a:pPr indent="0" marL="0">
              <a:lnSpc>
                <a:spcPct val="125000"/>
              </a:lnSpc>
              <a:buNone/>
            </a:pP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Nom hei [eu i] barqueiro nem remador.Mendinho, vv. 1-3 e 7-8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VERSO PASSA PARA A ESTROFE 3?,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verso das ondas volta na estrofe 3. Volta como o refrão?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Sim, igual e no mesmo sítio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Não, volta noutro sítio</a:t>
            </a:r>
            <a:endParaRPr lang="en-US" sz="2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VERSO PASSA PARA A ESTROFE 3?,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estrofe 1, é o 2.º verso: as ondas cercam-na.</a:t>
            </a:r>
            <a:endParaRPr lang="en-US" sz="3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VERSO PASSA PARA A ESTROFE 3?,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estrofe 3, o mesmo verso volta, mas a abrir. Passa do meio de uma estrofe para o começo de outra, adiante.</a:t>
            </a:r>
            <a:endParaRPr lang="en-US" sz="2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VERSO PASSA PARA A ESTROFE 3?,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LEIXA-PREN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segundo verso de uma estrofe volta a abrir uma estrofe seguinte.</a:t>
            </a:r>
            <a:endParaRPr lang="en-US" sz="3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VERSO PASSA PARA A ESTROFE 3?,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o refrão. O refrão fecha todas as estrofes; este verso volta uma vez, e a abrir.</a:t>
            </a:r>
            <a:endParaRPr lang="en-US" sz="3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 VERSO PASSA PARA A ESTROFE 3?,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Segue o 2.º verso: se abre uma estrofe adiante, é leixa-pren.</a:t>
            </a:r>
            <a:endParaRPr lang="en-US" sz="3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«Nom hei [eu] i barqueiro nem remador»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 verso inteiro já tinha aparecido. A abrir a estrofe 5, que repetição é?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Paralelismo: repete a estrofe 4 com uma troca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Refrão: volta igual no fim de todas as estrofes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Leixa-pren: era o 2.º verso da estrofe 3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Leixa-pren: era o 2.º verso da estrofe 3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Leixa-pren: o 2.º verso da estrofe 3 volta a abrir a 5, e o 2.º da 4 («nem sei remar») abre a 6. A falta de barqueiro chega ao último par.</a:t>
            </a:r>
            <a:endParaRPr lang="en-US" sz="2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1 DE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diz «eu» nesta cantiga, e quem a escreveu?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2 DE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o mar sobe e ninguém chega, porque repete ela sempre o mesmo verso?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3 DE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o paralelismo repete quase tudo, a cantiga está só a encher, ou o pouco que muda conta?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4 DE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fim da cantiga, a rapariga morre, ou é a espera a falar?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O QUE SE ENTREGA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fim da cantiga: a rapariga morre, ou é a espera a falar? Escolhe uma leitura, dá um indício e diz o que esse indício não prova. Quatro a seis linhas, com uma citação entre aspas.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611880"/>
            <a:ext cx="0" cy="19918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38144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 uma leitura do fim da cantiga: morre mesmo, é a espera a falar, ou as duas, mostrando como se ligam.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0929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929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4102100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Dá um indício do texto, citado entre aspas: por exemplo, «nem sei remar», «morrerei» ou o refrão.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47569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756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766056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 o que faz nesse indício uma das repetições da aula: o refrão, o paralelismo ou o leixa-pren.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54208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4208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5430012"/>
            <a:ext cx="9174175" cy="441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 o que o indício não prova: por exemplo, «morrerei» anuncia uma morte, não a conta.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«Eu atendendo meu amig', eu atendendo», repete a rapariga de Mendinho, seis vezes; e ninguém chega.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2: Cercada pelas ondas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6705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6522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ir mais longe (opcional, em casa): 7 cartões de pergunta e 2 de leitura. Remador ou remar, a troca que fecha a última saída; o leixa-pren na cantiga inteira, com o desenho das passagens; «Ai flores, ai flores do verde pino», de D. Dinis, com o paralelismo e o leixa-pren noutra cantiga; três hipóteses para o final (o «Explora», a sós ou a pares); o refrão na voz do amigo e o refrão de um hino inventado; o que marcam os parênteses retos. No sítio, para casa: os Ler a fundo «Cercada pelas ondas», «Ondas do mar de Vigo» e «As flores respondem».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1" name="Image 0" descr="/tmp/aulas-diap-TXxbXe/qr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1, aula 2: Cercada pelas ondas</dc:title>
  <dc:subject>PptxGenJS Presentation</dc:subject>
  <dc:creator>EPI, Português</dc:creator>
  <cp:lastModifiedBy>EPI, Português</cp:lastModifiedBy>
  <cp:revision>1</cp:revision>
  <dcterms:created xsi:type="dcterms:W3CDTF">2026-10-24T11:04:22Z</dcterms:created>
  <dcterms:modified xsi:type="dcterms:W3CDTF">2026-10-24T11:04:22Z</dcterms:modified>
</cp:coreProperties>
</file>