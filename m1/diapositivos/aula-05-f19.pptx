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UNIDADE 1: VOZES DA LÍRICA MEDIEVAL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cantigas lado a lado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Ler «Ondas do mar de Vigo» inteira, separar a voz do autor e o mar que ouve do mar que cerca; depois, em D. Dinis e em Guilhade, provar com o texto se a promessa de louvar se cumpre, com a ironia e a paródia.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TXxbXe/qr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pedrohfernandes-klk.github.io/pt/m1/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licao-m1-f19/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cantigas lado a lado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«Ondas do mar de Vigo» inteira, separar a voz do autor e o mar que ouve do mar que cerca; depois, em D. Dinis e em Guilhade, provar com o texto se a promessa de louvar se cumpre, com a ironia e a paródia.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12 cartões, uma canção ouvida e uma resposta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cinco linhas: em qual das três cantigas a promessa se cumpre? Com a palavra ironia e a citação que a prova, entre aspas.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Um pergaminho aberto numa vitrina, sobre fundo vermelho: duas páginas escritas em colunas, com letras grandes a vermelho e azul e, por cima de algumas linhas, pautas com notas de músic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4206240" cy="24514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39001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Pergaminho Vindel, com as cantigas de Martim Codax (Luis Miguel Bugallo Sánchez, 2017). CC BY-SA 4.0.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cantigas lado a lado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Neste pergaminho estão as cantigas de Martim Codax, com a música: procura o grande O vermelho, no alto à esquerda. Ali começa a cantiga de uma rapariga que pergunta às ondas pelo amigo; ao lado dela, nesta aula, um rei e um trovador prometem louvar uma senhora.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qual das três cantigas a promessa se cumpre, e como o provas?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112471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8" name="Image 0" descr="/tmp/aulas-diap-TXxbXe/qr-5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2743200" cy="2743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4206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«Ondas do mar de Vigo», voz e harpa gótica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Turku Early Music - Turun Vanha Musiikki, interpretação de hoje, 4 min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51960" y="914400"/>
            <a:ext cx="6751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Martim Codax, «Ondas do mar de Vigo»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822960" y="181051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51960" y="2057400"/>
            <a:ext cx="6751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 E OUVIR  </a:t>
            </a:r>
            <a:pPr indent="0" marL="0"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as quatro estrofes e ouve a cantiga. Procura quem diz «meu amigo» e a quem faz a pergunta.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251960" y="3566160"/>
            <a:ext cx="6751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Ondas do mar de Vigo, se vistes meu amigo? e ai Deus, se verrá cedo? Ondas do mar levado, 5se vistes meu amado? e ai Deus, se verrá cedo? Se vistes meu amigo, o por que eu sospiro? e ai Deus, se verrá cedo? 10Se vistes meu amado, o por que hei gram coidado? e ai Deus, se verrá cedo?Martim Codax (séc. XIII), «Ondas do mar de Vigo», cantiga 1308, </a:t>
            </a:r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Cantigas Medievais Galego-Portuguesas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(FCSH/NOVA): a cantiga inteira, com a grafia da edição.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«se vistes meu amigo?»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«se vistes meu amigo?», quem pergunta é Martim Codax, a falar da sua amada.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Falso: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 e voz não se confundem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Codax escreve; quem pergunta às ondas é uma rapariga à espera do «amigo».</a:t>
            </a:r>
            <a:endParaRPr lang="en-US" sz="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Olha a ilha da ermida e lê os versos: que fazem as ondas a cada rapariga?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PARALELO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espera, dois mares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pic>
        <p:nvPicPr>
          <p:cNvPr id="9" name="Image 0" descr="/home/user/pt/img/fontes/san-simon-ria-vi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8528" y="1828800"/>
            <a:ext cx="1051560" cy="1051560"/>
          </a:xfrm>
          <a:prstGeom prst="ellipse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103120"/>
            <a:ext cx="371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Mendinho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22960" y="2651760"/>
            <a:ext cx="49985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Numa ilha, na ermida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 cercarom-mi as ondas»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barqueiro</a:t>
            </a:r>
            <a:endParaRPr lang="en-US" sz="2000" dirty="0"/>
          </a:p>
        </p:txBody>
      </p:sp>
      <p:pic>
        <p:nvPicPr>
          <p:cNvPr id="12" name="Image 1" descr="/home/user/pt/img/fontes/codax-pergaminho-vind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735" y="1828800"/>
            <a:ext cx="1051560" cy="1051560"/>
          </a:xfrm>
          <a:prstGeom prst="ellipse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70168" y="2103120"/>
            <a:ext cx="371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Martim Codax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6370168" y="2651760"/>
            <a:ext cx="49985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espera do amigo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«Ondas do mar de Vigo, / se vistes meu amigo?»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se virá cedo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095848" y="2103120"/>
            <a:ext cx="0" cy="28346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" y="51663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 cantigas de amigo, a rapariga fala com o mar, as flores ou as aves como com amigos: é a </a:t>
            </a:r>
            <a:pPr indent="0" marL="0">
              <a:buNone/>
            </a:pPr>
            <a:r>
              <a:rPr lang="en-US" sz="2000" b="1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natureza confidente</a:t>
            </a:r>
            <a:pPr indent="0" marL="0"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Em Mendinho, o mar cerca-a: é </a:t>
            </a:r>
            <a:pPr indent="0" marL="0">
              <a:buNone/>
            </a:pPr>
            <a:r>
              <a:rPr lang="en-US" sz="2000" b="1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ameaça</a:t>
            </a:r>
            <a:pPr indent="0" marL="0"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«se vistes meu amigo?»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Mendinho (lição «Cercada pelas ondas»): «cercarom-mi as ondas». Codax: «se vistes meu amigo?». Que papel tem o mar em cada uma?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duas, o mar é só paisagem, sem papel na cena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Codax ameaça e cerca; em Mendinho ouve e consola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Mendinho cerca; em Codax ouve, como confidente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Mendinho cerca; em Codax ouve, como confidente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Codax,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mar ouve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é a quem se pergunta. Em Mendinho,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mar cerca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 mesma espera do amigo, dois mares.</a:t>
            </a:r>
            <a:endParaRPr lang="en-US" sz="2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D. Dinis e C. Guilhade, lado a lado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181051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57400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  </a:t>
            </a:r>
            <a:pPr indent="0" marL="0"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duas estrofes, a voz promete louvar uma senhora. Procura, em cada uma, o que vem logo depois da promessa.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D. Dinis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Quer'eu em maneira de proençal fazer agora um cantar d'amor e querrei muit'i loar mia senhor a que prez nem fremosura nom fal, 5nem bondade; e mais vos direi en: tanto a fez Deus comprida de bem que mais que todas las do mundo val.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Guilhade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dona fea, fostes-vos queixar que vos nunca louv'en[o] meu cantar; mais ora quero fazer um cantar em que vos loarei todavia; 5e vedes como vos quero loar: dona fea, velha e sandia!D. Dinis, cantiga 544 (cantiga de amor), e Guilhade, cantiga 1520 (escárnio…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UM ELOGIO A QUEM CHEGA TARDE?,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sala já está vazia.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colega chega, a correr, quando todos já saíram.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Quem fecha a porta diz-lhe:«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pontualidade admirável!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»Caso feito para a lição.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UM ELOGIO A QUEM CHEGA TARDE?,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«Que pontualidade admirável!»: é um elogio?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É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Não é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Depende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UM ELOGIO A QUEM CHEGA TARDE?,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palavras elogiam: «pontualidade», «admirável». Escrita num papel, sem mais nada, a frase seria um elogio.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UM ELOGIO A QUEM CHEGA TARDE?,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situação diz o contrário: chegou quando todos já tinham saído. Quem fala sabe-o, e quer que o colega perceba que foi apanhado.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UM ELOGIO A QUEM CHEGA TARDE?,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IRONIA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Dizer o contrário do que se quer dar a entender, contando que o contexto o denuncie.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UM ELOGIO A QUEM CHEGA TARDE?,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mentira. Quem mente quer que acreditem; quem é irónico quer ser apanhado.Não é exagero. «Chegaste com mil anos de atraso!» exagera, mas diz o que pensa.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UM ELOGIO A QUEM CHEGA TARDE?,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provar uma ironia, aponta o que se diz e o que mostra o contrário.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«dona fea, velha e sandia!»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D. Dinis e Guilhade prometem louvar. Qual promessa é irónica, e onde está a prova?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C, porque a palavra «loar» já soa a troça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duas: o exagero de D. Dinis também desdiz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C: «vos loarei», e logo «dona fea, velha e sandia!»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C: «vos loarei», e logo «dona fea, velha e sandia!»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Aponta o que se diz e o que mostra o contrário: em C, «vos loarei», e logo «dona fea, velha e sandia!». Em B, «nom fal» confirma o louvor: promessa cumprida, sem ironia.</a:t>
            </a:r>
            <a:endParaRPr lang="en-US" sz="2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COMEÇAM QUASE DA MESMA MANEIRA?,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D. Dinis</a:t>
            </a:r>
            <a:pPr indent="0" marL="0">
              <a:lnSpc>
                <a:spcPct val="125000"/>
              </a:lnSpc>
              <a:buNone/>
            </a:pP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**fazer agora um cantar d'amor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querrei muit'i loar mia senhor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**C. Guilhade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**mais ora quero fazer um cantar
em que vos loarei todavia;**
e vedes como vos quero loar:
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dona fea, velha e sandia!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D. Dinis, cantiga 544, vv. 2-3; Guilhade, cantiga 1520, vv. 3-6 (FCSH/NOVA).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COMEÇAM QUASE DA MESMA MANEIRA?,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Guilhade quer mesmo fazer uma cantiga de amor?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Quer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Faz de conta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COMEÇAM QUASE DA MESMA MANEIRA?,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começos têm a mesma forma: anunciar um cantar e, nele, louvar, como numa cantiga de amor.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COMEÇAM QUASE DA MESMA MANEIRA?,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Guilhade, a forma fica e o louvor vira do avesso: vêm insultos. Imita a cantiga de amor para fazer rir da dona.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COMEÇAM QUASE DA MESMA MANEIRA?,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PARÓDIA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Imitar um texto ou um género para fazer rir ou para criticar.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COMEÇAM QUASE DA MESMA MANEIRA?,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só ironia. A ironia está numa frase e no contexto; a paródia imita um género.Não é homenagem. Imitar Codax a sério não faz rir nem critica.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COMEÇAM QUASE DA MESMA MANEIRA?,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ver uma paródia, procura o modelo que se imita e o que muda.</a:t>
            </a:r>
            <a:endParaRPr lang="en-US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Imita um género, diz o contrário numa frase, ou nenhuma das duas?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sopa está boa, e alguém diz: «Que sopa boa!»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 ai Deus, se verrá cedo?», pergunta a rapariga de Codax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hora à espera do autocarro: «Que rapidez!»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turma faz um telejornal a fingir, para fazer rir com o fim dos testes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04408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paródia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ironia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hora à espera do autocarro: «Que rapidez!» → ironia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turma faz um telejornal a fingir, para fazer rir com o fim dos testes → paródia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sopa está boa, e alguém diz: «Que sopa boa!» → nenhuma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 ai Deus, se verrá cedo?», pergunta a rapariga de Codax → nenhuma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«Que rapidez!» diz o contrário, e a espera denuncia-o: ironia. O telejornal a fingir imita a forma de um género para fazer rir: paródia. A sopa e a pergunta de Codax dizem o que querem dizer. Os casos da escola foram inventados.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pergunta às ondas, e quem escreveu a cantiga?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ondas de Codax e as de Mendinho fazem o mesmo à rapariga?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3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D. Dinis e em Guilhade, o que vem depois da promessa de louvar?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4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«Ai dona fea» é ironia, paródia, ou as duas?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qual das três cantigas a promessa se cumpre? Responde em cinco linhas, com a palavra ironia e a citação que a prova.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76961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à pergunta: em B, D. Dinis promete louvar a senhora e cumpre («nom fal», não lhe falta, prez nem fremosura).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0929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929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102100"/>
            <a:ext cx="9174175" cy="44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que em C a promessa é desmentida: «vos loarei», e logo «dona fea, velha e sandia!».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53466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346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43806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a palavra ironia e prova-a: aponta o que se diz e o que mostra o contrário, com uma citação entre aspas.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519861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9861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207762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porque A fica de fora: a rapariga de Codax não promete nada, pergunta às ondas pelo amigo.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 vedes como vos quero loar: dona fea, velha e sandia!» A palavra promete; o que vem a seguir decide.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5: As cantigas lado a lado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6 cartões de pergunta e 2 de leitura. As repetições da cantiga inteira de Codax (refrão, paralelismo e leixa-pren), com a transcrição de 1915; a quem fala o «vos» de D. Dinis e o de Guilhade; um «Decide» sobre se um louvor sem medida ainda é um elogio; um colega que mente e outro que boceja, para a ironia; a forma de Codax desenhada, uma paródia de «Ondas do mar de Vigo» e o que ganha Guilhade em anunciar o louvor. No percurso: as atividades «Ler a fundo: Louvar e troçar» (guilhade-dona-fea) e «Olhar: Cancioneiro da Ajuda» (olhar-ajuda), que só agora têm os conceitos de que precisam.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TXxbXe/qr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1, aula 5: As cantigas lado a lado</dc:title>
  <dc:subject>PptxGenJS Presentation</dc:subject>
  <dc:creator>EPI, Português</dc:creator>
  <cp:lastModifiedBy>EPI, Português</cp:lastModifiedBy>
  <cp:revision>1</cp:revision>
  <dcterms:created xsi:type="dcterms:W3CDTF">2026-10-24T11:04:22Z</dcterms:created>
  <dcterms:modified xsi:type="dcterms:W3CDTF">2026-10-24T11:04:22Z</dcterms:modified>
</cp:coreProperties>
</file>