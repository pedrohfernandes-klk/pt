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a:t>
            </a:r>
            <a:endParaRPr lang="en-US" sz="1000" dirty="0"/>
          </a:p>
        </p:txBody>
      </p:sp>
      <p:sp>
        <p:nvSpPr>
          <p:cNvPr id="5" name="Text 3"/>
          <p:cNvSpPr/>
          <p:nvPr/>
        </p:nvSpPr>
        <p:spPr>
          <a:xfrm>
            <a:off x="822960" y="457200"/>
            <a:ext cx="981425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PORTUGUÊS, 1.º ANO, MÓDULO 1, UNIDADE 1: VOZES DA LÍRICA MEDIEVAL</a:t>
            </a:r>
            <a:endParaRPr lang="en-US" sz="1100" dirty="0"/>
          </a:p>
        </p:txBody>
      </p:sp>
      <p:sp>
        <p:nvSpPr>
          <p:cNvPr id="6" name="Text 4"/>
          <p:cNvSpPr/>
          <p:nvPr/>
        </p:nvSpPr>
        <p:spPr>
          <a:xfrm>
            <a:off x="777240" y="685800"/>
            <a:ext cx="5120640" cy="1920240"/>
          </a:xfrm>
          <a:prstGeom prst="rect">
            <a:avLst/>
          </a:prstGeom>
          <a:noFill/>
          <a:ln/>
        </p:spPr>
        <p:txBody>
          <a:bodyPr wrap="square" lIns="0" tIns="0" rIns="0" bIns="0" rtlCol="0" anchor="b"/>
          <a:lstStyle/>
          <a:p>
            <a:pPr indent="0" marL="0">
              <a:buNone/>
            </a:pPr>
            <a:r>
              <a:rPr lang="en-US" sz="15000" dirty="0">
                <a:solidFill>
                  <a:srgbClr val="F2F0EA"/>
                </a:solidFill>
                <a:latin typeface="Arial" pitchFamily="34" charset="0"/>
                <a:ea typeface="Arial" pitchFamily="34" charset="-122"/>
                <a:cs typeface="Arial" pitchFamily="34" charset="-120"/>
              </a:rPr>
              <a:t>6</a:t>
            </a:r>
            <a:endParaRPr lang="en-US" sz="15000" dirty="0"/>
          </a:p>
        </p:txBody>
      </p:sp>
      <p:sp>
        <p:nvSpPr>
          <p:cNvPr id="7" name="Text 5"/>
          <p:cNvSpPr/>
          <p:nvPr/>
        </p:nvSpPr>
        <p:spPr>
          <a:xfrm>
            <a:off x="822960" y="2697480"/>
            <a:ext cx="6583680" cy="1280160"/>
          </a:xfrm>
          <a:prstGeom prst="rect">
            <a:avLst/>
          </a:prstGeom>
          <a:noFill/>
          <a:ln/>
        </p:spPr>
        <p:txBody>
          <a:bodyPr wrap="square" lIns="0" tIns="0" rIns="0" bIns="0" rtlCol="0" anchor="b">
            <a:normAutofit/>
          </a:bodyPr>
          <a:lstStyle/>
          <a:p>
            <a:pPr indent="0" marL="0">
              <a:buNone/>
            </a:pPr>
            <a:r>
              <a:rPr lang="en-US" sz="4000" dirty="0">
                <a:solidFill>
                  <a:srgbClr val="F2F0EA"/>
                </a:solidFill>
                <a:latin typeface="Arial" pitchFamily="34" charset="0"/>
                <a:ea typeface="Arial" pitchFamily="34" charset="-122"/>
                <a:cs typeface="Arial" pitchFamily="34" charset="-120"/>
              </a:rPr>
              <a:t>A voz emprestada</a:t>
            </a:r>
            <a:endParaRPr lang="en-US" sz="4000" dirty="0"/>
          </a:p>
        </p:txBody>
      </p:sp>
      <p:sp>
        <p:nvSpPr>
          <p:cNvPr id="8" name="Shape 6"/>
          <p:cNvSpPr/>
          <p:nvPr/>
        </p:nvSpPr>
        <p:spPr>
          <a:xfrm>
            <a:off x="822960" y="4069080"/>
            <a:ext cx="640080" cy="64008"/>
          </a:xfrm>
          <a:prstGeom prst="rect">
            <a:avLst/>
          </a:prstGeom>
          <a:solidFill>
            <a:srgbClr val="E4555C"/>
          </a:solidFill>
          <a:ln w="12700">
            <a:solidFill>
              <a:srgbClr val="E4555C"/>
            </a:solidFill>
            <a:prstDash val="solid"/>
          </a:ln>
        </p:spPr>
      </p:sp>
      <p:sp>
        <p:nvSpPr>
          <p:cNvPr id="9" name="Text 7"/>
          <p:cNvSpPr/>
          <p:nvPr/>
        </p:nvSpPr>
        <p:spPr>
          <a:xfrm>
            <a:off x="822960" y="4297680"/>
            <a:ext cx="6583680" cy="1463040"/>
          </a:xfrm>
          <a:prstGeom prst="rect">
            <a:avLst/>
          </a:prstGeom>
          <a:noFill/>
          <a:ln/>
        </p:spPr>
        <p:txBody>
          <a:bodyPr wrap="square" lIns="0" tIns="0" rIns="0" bIns="0" rtlCol="0" anchor="t">
            <a:normAutofit/>
          </a:bodyPr>
          <a:lstStyle/>
          <a:p>
            <a:pPr indent="0" marL="0">
              <a:lnSpc>
                <a:spcPct val="115000"/>
              </a:lnSpc>
              <a:buNone/>
            </a:pPr>
            <a:r>
              <a:rPr lang="en-US" sz="1800" i="1" dirty="0">
                <a:solidFill>
                  <a:srgbClr val="F2F0EA"/>
                </a:solidFill>
                <a:latin typeface="Georgia" pitchFamily="34" charset="0"/>
                <a:ea typeface="Georgia" pitchFamily="34" charset="-122"/>
                <a:cs typeface="Georgia" pitchFamily="34" charset="-120"/>
              </a:rPr>
              <a:t>Decidir, com versos das cantigas lidas na unidade, de quem é a voz quando uma cantiga diz «eu» (quem escreve, quem fala, quem canta, quem ouve), e fechar a unidade 1 com o desafio e a síntese escrita.</a:t>
            </a:r>
            <a:endParaRPr lang="en-US" sz="1800" dirty="0"/>
          </a:p>
        </p:txBody>
      </p:sp>
      <p:sp>
        <p:nvSpPr>
          <p:cNvPr id="10" name="Shape 8"/>
          <p:cNvSpPr/>
          <p:nvPr/>
        </p:nvSpPr>
        <p:spPr>
          <a:xfrm>
            <a:off x="822960" y="6089904"/>
            <a:ext cx="182880" cy="182880"/>
          </a:xfrm>
          <a:prstGeom prst="ellipse">
            <a:avLst/>
          </a:prstGeom>
          <a:ln w="19050">
            <a:solidFill>
              <a:srgbClr val="F2F0EA"/>
            </a:solidFill>
            <a:prstDash val="solid"/>
          </a:ln>
        </p:spPr>
      </p:sp>
      <p:sp>
        <p:nvSpPr>
          <p:cNvPr id="11" name="Shape 9"/>
          <p:cNvSpPr/>
          <p:nvPr/>
        </p:nvSpPr>
        <p:spPr>
          <a:xfrm>
            <a:off x="1152144" y="6089904"/>
            <a:ext cx="182880" cy="182880"/>
          </a:xfrm>
          <a:prstGeom prst="rect">
            <a:avLst/>
          </a:prstGeom>
          <a:ln w="19050">
            <a:solidFill>
              <a:srgbClr val="F2F0EA"/>
            </a:solidFill>
            <a:prstDash val="solid"/>
          </a:ln>
        </p:spPr>
      </p:sp>
      <p:sp>
        <p:nvSpPr>
          <p:cNvPr id="12" name="Shape 10"/>
          <p:cNvSpPr/>
          <p:nvPr/>
        </p:nvSpPr>
        <p:spPr>
          <a:xfrm>
            <a:off x="1481328" y="6089904"/>
            <a:ext cx="182880" cy="182880"/>
          </a:xfrm>
          <a:prstGeom prst="triangle">
            <a:avLst/>
          </a:prstGeom>
          <a:ln w="19050">
            <a:solidFill>
              <a:srgbClr val="F2F0EA"/>
            </a:solidFill>
            <a:prstDash val="solid"/>
          </a:ln>
        </p:spPr>
      </p:sp>
      <p:sp>
        <p:nvSpPr>
          <p:cNvPr id="13" name="Text 11"/>
          <p:cNvSpPr/>
          <p:nvPr/>
        </p:nvSpPr>
        <p:spPr>
          <a:xfrm>
            <a:off x="1874520" y="6062472"/>
            <a:ext cx="2743200" cy="237744"/>
          </a:xfrm>
          <a:prstGeom prst="rect">
            <a:avLst/>
          </a:prstGeom>
          <a:noFill/>
          <a:ln/>
        </p:spPr>
        <p:txBody>
          <a:bodyPr wrap="square" lIns="0" tIns="0" rIns="0" bIns="0" rtlCol="0" anchor="ctr"/>
          <a:lstStyle/>
          <a:p>
            <a:pPr indent="0" marL="0">
              <a:buNone/>
            </a:pPr>
            <a:r>
              <a:rPr lang="en-US" sz="1100" dirty="0">
                <a:solidFill>
                  <a:srgbClr val="A9A79F"/>
                </a:solidFill>
                <a:latin typeface="Arial" pitchFamily="34" charset="0"/>
                <a:ea typeface="Arial" pitchFamily="34" charset="-122"/>
                <a:cs typeface="Arial" pitchFamily="34" charset="-120"/>
              </a:rPr>
              <a:t>lê, faz, leva</a:t>
            </a:r>
            <a:endParaRPr lang="en-US" sz="1100" dirty="0"/>
          </a:p>
        </p:txBody>
      </p:sp>
      <p:sp>
        <p:nvSpPr>
          <p:cNvPr id="14" name="Shape 12"/>
          <p:cNvSpPr/>
          <p:nvPr/>
        </p:nvSpPr>
        <p:spPr>
          <a:xfrm>
            <a:off x="8515807" y="1078992"/>
            <a:ext cx="2962656" cy="2962656"/>
          </a:xfrm>
          <a:prstGeom prst="rect">
            <a:avLst/>
          </a:prstGeom>
          <a:solidFill>
            <a:srgbClr val="FFFFFF"/>
          </a:solidFill>
          <a:ln w="12700">
            <a:solidFill>
              <a:srgbClr val="F2F0EA"/>
            </a:solidFill>
            <a:prstDash val="solid"/>
          </a:ln>
        </p:spPr>
      </p:sp>
      <p:pic>
        <p:nvPicPr>
          <p:cNvPr id="15" name="Image 0" descr="/tmp/aulas-diap-TXxbXe/qr-6.png">    </p:cNvPr>
          <p:cNvPicPr>
            <a:picLocks noChangeAspect="1"/>
          </p:cNvPicPr>
          <p:nvPr/>
        </p:nvPicPr>
        <p:blipFill>
          <a:blip r:embed="rId1"/>
          <a:stretch>
            <a:fillRect/>
          </a:stretch>
        </p:blipFill>
        <p:spPr>
          <a:xfrm>
            <a:off x="8625535" y="1188720"/>
            <a:ext cx="2743200" cy="2743200"/>
          </a:xfrm>
          <a:prstGeom prst="rect">
            <a:avLst/>
          </a:prstGeom>
        </p:spPr>
      </p:pic>
      <p:sp>
        <p:nvSpPr>
          <p:cNvPr id="16" name="Text 13"/>
          <p:cNvSpPr/>
          <p:nvPr/>
        </p:nvSpPr>
        <p:spPr>
          <a:xfrm>
            <a:off x="8442655" y="4160520"/>
            <a:ext cx="3108960"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pedrohfernandes-klk.github.io/pt/m1/</a:t>
            </a:r>
            <a:endParaRPr lang="en-US" sz="1200" dirty="0"/>
          </a:p>
          <a:p>
            <a:pPr algn="ctr" indent="0" marL="0">
              <a:buNone/>
            </a:pPr>
            <a:r>
              <a:rPr lang="en-US" sz="1200" dirty="0">
                <a:solidFill>
                  <a:srgbClr val="F2F0EA"/>
                </a:solidFill>
                <a:latin typeface="Arial" pitchFamily="34" charset="0"/>
                <a:ea typeface="Arial" pitchFamily="34" charset="-122"/>
                <a:cs typeface="Arial" pitchFamily="34" charset="-120"/>
              </a:rPr>
              <a:t>m1-voz-emprestada/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HOJE, 90 MINUTOS</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A voz emprestada</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4884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HOJE</a:t>
            </a:r>
            <a:endParaRPr lang="en-US" sz="1200" dirty="0"/>
          </a:p>
        </p:txBody>
      </p:sp>
      <p:sp>
        <p:nvSpPr>
          <p:cNvPr id="10" name="Text 8"/>
          <p:cNvSpPr/>
          <p:nvPr/>
        </p:nvSpPr>
        <p:spPr>
          <a:xfrm>
            <a:off x="2743200" y="209397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Decidir, com versos das cantigas lidas na unidade, de quem é a voz quando uma cantiga diz «eu» (quem escreve, quem fala, quem canta, quem ouve), e fechar a unidade 1 com o desafio e a síntese escrita.</a:t>
            </a:r>
            <a:endParaRPr lang="en-US" sz="2400" dirty="0"/>
          </a:p>
        </p:txBody>
      </p:sp>
      <p:sp>
        <p:nvSpPr>
          <p:cNvPr id="11" name="Text 9"/>
          <p:cNvSpPr/>
          <p:nvPr/>
        </p:nvSpPr>
        <p:spPr>
          <a:xfrm>
            <a:off x="822960" y="347472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TEMPO</a:t>
            </a:r>
            <a:endParaRPr lang="en-US" sz="1200" dirty="0"/>
          </a:p>
        </p:txBody>
      </p:sp>
      <p:sp>
        <p:nvSpPr>
          <p:cNvPr id="12" name="Text 10"/>
          <p:cNvSpPr/>
          <p:nvPr/>
        </p:nvSpPr>
        <p:spPr>
          <a:xfrm>
            <a:off x="2743200" y="341985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90 minutos: os 33 cartões do exercício, projetados, três colunas no caderno, o desafio da unidade 1, uma conversa curta e a síntese escrita.</a:t>
            </a:r>
            <a:endParaRPr lang="en-US" sz="2400" dirty="0"/>
          </a:p>
        </p:txBody>
      </p:sp>
      <p:sp>
        <p:nvSpPr>
          <p:cNvPr id="13" name="Text 11"/>
          <p:cNvSpPr/>
          <p:nvPr/>
        </p:nvSpPr>
        <p:spPr>
          <a:xfrm>
            <a:off x="822960" y="480060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NO FIM</a:t>
            </a:r>
            <a:endParaRPr lang="en-US" sz="1200" dirty="0"/>
          </a:p>
        </p:txBody>
      </p:sp>
      <p:sp>
        <p:nvSpPr>
          <p:cNvPr id="14" name="Text 12"/>
          <p:cNvSpPr/>
          <p:nvPr/>
        </p:nvSpPr>
        <p:spPr>
          <a:xfrm>
            <a:off x="2743200" y="474573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Em papel, seis a oito linhas, individual: como se dá voz ao desejo, ao elogio e à crítica? Com duas passagens de aulas diferentes da unidade, entre aspas.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ATO 1</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Uma rapariga numa ermida</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9814255" cy="3931920"/>
          </a:xfrm>
          <a:prstGeom prst="rect">
            <a:avLst/>
          </a:prstGeom>
          <a:noFill/>
          <a:ln/>
        </p:spPr>
        <p:txBody>
          <a:bodyPr wrap="square" lIns="0" tIns="0" rIns="0" bIns="0" rtlCol="0" anchor="t">
            <a:normAutofit/>
          </a:bodyPr>
          <a:lstStyle/>
          <a:p>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Lê as duas primeiras estrofes. Uma rapariga está sentada numa ermida, à beira-mar. As ondas sobem e cercam-na. Ela repete o mesmo verso: está à espera do amigo. A cantiga está na primeira pessoa: «Sedia-m'eu», «Eu atendendo». Antes de ver as opções, repara em quem diz «eu».Sedia-m'eu na ermida de Sam Simione cercarom-mi as ondas, que grandes som!Eu atendendo meu amig', eu a[tendendo].Estando na ermida ant'o altar[e] cercarom-mi as ondas grandes do mar.Eu atendendo meu amig', eu a[tendendo].Mendinho, </a:t>
            </a:r>
            <a:pPr indent="0" marL="0">
              <a:lnSpc>
                <a:spcPct val="120000"/>
              </a:lnSpc>
              <a:spcAft>
                <a:spcPts val="800"/>
              </a:spcAft>
              <a:buNone/>
            </a:pPr>
            <a:r>
              <a:rPr lang="en-US" sz="2000" i="1" dirty="0">
                <a:solidFill>
                  <a:srgbClr val="F2F0EA"/>
                </a:solidFill>
                <a:latin typeface="Georgia" pitchFamily="34" charset="0"/>
                <a:ea typeface="Georgia" pitchFamily="34" charset="-122"/>
                <a:cs typeface="Georgia" pitchFamily="34" charset="-120"/>
              </a:rPr>
              <a:t>Cantigas Medievais Galego-Portuguesas</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 cantiga 861, «Sedia-m'eu na ermida de Sam Simion», integral. base de dados da FCSH/NOVA (ed. Graça Videira Lopes, Manuel Pedro Ferreira et al.)</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PENSA PRIMEIRO: DECIDE EM SILÊNCIO</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Quem diz «eu» nestes versos: a rapariga, o trovador Mendinho, ou os dois?</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5</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Quem fala na cantiga, e quem a escreveu?</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2182368"/>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Fala uma rapariga à espera do amigo; escreveu-a um homem, Mendinho</a:t>
            </a:r>
            <a:endParaRPr lang="en-US" sz="2400" dirty="0"/>
          </a:p>
        </p:txBody>
      </p:sp>
      <p:sp>
        <p:nvSpPr>
          <p:cNvPr id="13" name="Shape 11"/>
          <p:cNvSpPr/>
          <p:nvPr/>
        </p:nvSpPr>
        <p:spPr>
          <a:xfrm>
            <a:off x="822960" y="3496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496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505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Fala Mendinho à sua senhora, que está na ermida</a:t>
            </a:r>
            <a:endParaRPr lang="en-US" sz="2400" dirty="0"/>
          </a:p>
        </p:txBody>
      </p:sp>
      <p:sp>
        <p:nvSpPr>
          <p:cNvPr id="16" name="Shape 14"/>
          <p:cNvSpPr/>
          <p:nvPr/>
        </p:nvSpPr>
        <p:spPr>
          <a:xfrm>
            <a:off x="822960" y="4096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4096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410565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Fala uma rapariga, e foi ela que compôs a cantiga</a:t>
            </a:r>
            <a:endParaRPr lang="en-US" sz="2400" dirty="0"/>
          </a:p>
        </p:txBody>
      </p:sp>
      <p:sp>
        <p:nvSpPr>
          <p:cNvPr id="19" name="Shape 17"/>
          <p:cNvSpPr/>
          <p:nvPr/>
        </p:nvSpPr>
        <p:spPr>
          <a:xfrm>
            <a:off x="822960" y="4696968"/>
            <a:ext cx="365760" cy="365760"/>
          </a:xfrm>
          <a:prstGeom prst="ellipse">
            <a:avLst/>
          </a:prstGeom>
          <a:solidFill>
            <a:srgbClr val="111111"/>
          </a:solidFill>
          <a:ln w="15875">
            <a:solidFill>
              <a:srgbClr val="F2F0EA"/>
            </a:solidFill>
            <a:prstDash val="solid"/>
          </a:ln>
        </p:spPr>
      </p:sp>
      <p:sp>
        <p:nvSpPr>
          <p:cNvPr id="20" name="Text 18"/>
          <p:cNvSpPr/>
          <p:nvPr/>
        </p:nvSpPr>
        <p:spPr>
          <a:xfrm>
            <a:off x="822960" y="46969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D</a:t>
            </a:r>
            <a:endParaRPr lang="en-US" sz="1300" dirty="0"/>
          </a:p>
        </p:txBody>
      </p:sp>
      <p:sp>
        <p:nvSpPr>
          <p:cNvPr id="21" name="Text 19"/>
          <p:cNvSpPr/>
          <p:nvPr/>
        </p:nvSpPr>
        <p:spPr>
          <a:xfrm>
            <a:off x="1417320" y="4706112"/>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Fala o amigo, longe, que imagina a rapariga a esperar</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Fala uma rapariga à espera do amigo; escreveu-a um homem, Mendinho</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A cantiga de amigo empresta ao trovador uma voz feminina: quem diz «eu» é uma rapariga, quem escreve é um homem. Não é Mendinho a falar a uma senhora (isso seria a cantiga de amor), e não há sinal de que uma rapariga a tenha composto: o nome que ficou nos cancioneiros é o dele. O amigo não fala: é esperado.</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Na cantiga de amigo, a voz que diz «eu» é a de quem escreveu a cantiga.</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600456"/>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Verdadeiro</a:t>
            </a:r>
            <a:endParaRPr lang="en-US" sz="2400" dirty="0"/>
          </a:p>
        </p:txBody>
      </p:sp>
      <p:sp>
        <p:nvSpPr>
          <p:cNvPr id="13" name="Shape 11"/>
          <p:cNvSpPr/>
          <p:nvPr/>
        </p:nvSpPr>
        <p:spPr>
          <a:xfrm>
            <a:off x="822960" y="3115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115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124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Falso</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8</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Falso.</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Falso. Quem escreve é um homem, o trovador; quem diz «eu» é uma rapariga. O género pede ao trovador que empreste a sua arte a uma voz que não é a sua. É este empréstimo que vais pôr à prova.</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9</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ATO 2</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Outra rapariga, outras ondas</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9814255" cy="3931920"/>
          </a:xfrm>
          <a:prstGeom prst="rect">
            <a:avLst/>
          </a:prstGeom>
          <a:noFill/>
          <a:ln/>
        </p:spPr>
        <p:txBody>
          <a:bodyPr wrap="square" lIns="0" tIns="0" rIns="0" bIns="0" rtlCol="0" anchor="t">
            <a:normAutofit/>
          </a:bodyPr>
          <a:lstStyle/>
          <a:p>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Três géneros, três vozes: a rapariga da cantiga de amigo, o trovador que louva a senhora na cantiga de amor, a troça do escárnio e maldizer. Fica por agora na primeira voz. Martim Codax põe outra rapariga diante do mar de Vigo. Também diz «eu», também espera o amigo.D. Dinis escreveu ainda outra: uma rapariga pergunta às flores do verde pino pelo amigo, e as flores respondem-lhe. Guarda-a para daqui a pouco. Lê agora as duas primeiras estrofes de Codax e compara as ondas com as de Mendinho.Ondas do mar de Vigo,se vistes meu amigo?e ai Deus, se verrá cedo?Ondas do mar levado,se vistes meu amado?e ai Deus, se verrá cedo?Martim Codax, </a:t>
            </a:r>
            <a:pPr indent="0" marL="0">
              <a:lnSpc>
                <a:spcPct val="120000"/>
              </a:lnSpc>
              <a:spcAft>
                <a:spcPts val="800"/>
              </a:spcAft>
              <a:buNone/>
            </a:pPr>
            <a:r>
              <a:rPr lang="en-US" sz="2000" i="1" dirty="0">
                <a:solidFill>
                  <a:srgbClr val="F2F0EA"/>
                </a:solidFill>
                <a:latin typeface="Georgia" pitchFamily="34" charset="0"/>
                <a:ea typeface="Georgia" pitchFamily="34" charset="-122"/>
                <a:cs typeface="Georgia" pitchFamily="34" charset="-120"/>
              </a:rPr>
              <a:t>Cantigas Medievais Galego-Portuguesas</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 cantiga 1308,…</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10</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PENSA PRIMEIRO: DECIDE EM SILÊNCIO</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Nas duas cantigas há ondas e uma rapariga à espera. As ondas fazem o mesmo nas duas?</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11</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O que muda nas ondas, de Mendinho para Codax?</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2563368"/>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Em Mendinho cercam-na e ameaçam-na; em Codax ela fala-lhes e pergunta-lhes pelo amigo</a:t>
            </a:r>
            <a:endParaRPr lang="en-US" sz="2400" dirty="0"/>
          </a:p>
        </p:txBody>
      </p:sp>
      <p:sp>
        <p:nvSpPr>
          <p:cNvPr id="13" name="Shape 11"/>
          <p:cNvSpPr/>
          <p:nvPr/>
        </p:nvSpPr>
        <p:spPr>
          <a:xfrm>
            <a:off x="822960" y="3496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496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505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Nas duas cantigas as ondas trazem o amigo de volta</a:t>
            </a:r>
            <a:endParaRPr lang="en-US" sz="2400" dirty="0"/>
          </a:p>
        </p:txBody>
      </p:sp>
      <p:sp>
        <p:nvSpPr>
          <p:cNvPr id="16" name="Shape 14"/>
          <p:cNvSpPr/>
          <p:nvPr/>
        </p:nvSpPr>
        <p:spPr>
          <a:xfrm>
            <a:off x="822960" y="4096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4096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4105656"/>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Em Codax as ondas cercam a rapariga; em Mendinho ela pergunta-lhes pelo amigo</a:t>
            </a:r>
            <a:endParaRPr lang="en-US" sz="2400" dirty="0"/>
          </a:p>
        </p:txBody>
      </p:sp>
      <p:sp>
        <p:nvSpPr>
          <p:cNvPr id="19" name="Shape 17"/>
          <p:cNvSpPr/>
          <p:nvPr/>
        </p:nvSpPr>
        <p:spPr>
          <a:xfrm>
            <a:off x="822960" y="5077968"/>
            <a:ext cx="365760" cy="365760"/>
          </a:xfrm>
          <a:prstGeom prst="ellipse">
            <a:avLst/>
          </a:prstGeom>
          <a:solidFill>
            <a:srgbClr val="111111"/>
          </a:solidFill>
          <a:ln w="15875">
            <a:solidFill>
              <a:srgbClr val="F2F0EA"/>
            </a:solidFill>
            <a:prstDash val="solid"/>
          </a:ln>
        </p:spPr>
      </p:sp>
      <p:sp>
        <p:nvSpPr>
          <p:cNvPr id="20" name="Text 18"/>
          <p:cNvSpPr/>
          <p:nvPr/>
        </p:nvSpPr>
        <p:spPr>
          <a:xfrm>
            <a:off x="822960" y="50779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D</a:t>
            </a:r>
            <a:endParaRPr lang="en-US" sz="1300" dirty="0"/>
          </a:p>
        </p:txBody>
      </p:sp>
      <p:sp>
        <p:nvSpPr>
          <p:cNvPr id="21" name="Text 19"/>
          <p:cNvSpPr/>
          <p:nvPr/>
        </p:nvSpPr>
        <p:spPr>
          <a:xfrm>
            <a:off x="1417320" y="5087112"/>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Nas duas cantigas as ondas são só paisagem, sem papel na cantiga</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12</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Em Mendinho cercam-na e ameaçam-na; em Codax ela fala-lhes e pergunta-lhes pelo amigo</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Em Mendinho a natureza é ameaça: «cercarom-mi as ondas» e não há barqueiro. Em Codax a rapariga trata as ondas como confidentes: «se vistes meu amigo?». A terceira opção troca as cantigas. A quarta esquece que, nas duas, as ondas são a única coisa que está com ela. Dois trovadores, a mesma voz feminina, duas naturezas: a voz é a mesma, quem a escreve escolhe o que ela vê.</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13</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ATO 2</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As flores respondem</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9814255" cy="3931920"/>
          </a:xfrm>
          <a:prstGeom prst="rect">
            <a:avLst/>
          </a:prstGeom>
          <a:noFill/>
          <a:ln/>
        </p:spPr>
        <p:txBody>
          <a:bodyPr wrap="square" lIns="0" tIns="0" rIns="0" bIns="0" rtlCol="0" anchor="t">
            <a:normAutofit/>
          </a:bodyPr>
          <a:lstStyle/>
          <a:p>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D. Dinis escreveu a terceira rapariga. Também pergunta pelo amigo, mas não ao mar: às flores do verde pino. E aqui acontece o que não acontece em Mendinho nem em Codax: a natureza responde. Mais adiante na cantiga, as flores dizem-lhe que ele «é san'e vivo». Lê a primeira estrofe. Três trovadores, três raparigas, três naturezas que fazem coisas diferentes.</a:t>
            </a:r>
            <a:pPr indent="0" marL="0">
              <a:lnSpc>
                <a:spcPct val="120000"/>
              </a:lnSpc>
              <a:spcAft>
                <a:spcPts val="800"/>
              </a:spcAft>
              <a:buNone/>
            </a:pPr>
            <a:r>
              <a:rPr lang="en-US" sz="2000" b="1" dirty="0">
                <a:solidFill>
                  <a:srgbClr val="F2F0EA"/>
                </a:solidFill>
                <a:latin typeface="Georgia" pitchFamily="34" charset="0"/>
                <a:ea typeface="Georgia" pitchFamily="34" charset="-122"/>
                <a:cs typeface="Georgia" pitchFamily="34" charset="-120"/>
              </a:rPr>
              <a:t>A rapariga:</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Ai flores, ai flores do verde pino,se sabedes novas do meu amigo?Ai Deus, e u é?D. Dinis, </a:t>
            </a:r>
            <a:pPr indent="0" marL="0">
              <a:lnSpc>
                <a:spcPct val="120000"/>
              </a:lnSpc>
              <a:spcAft>
                <a:spcPts val="800"/>
              </a:spcAft>
              <a:buNone/>
            </a:pPr>
            <a:r>
              <a:rPr lang="en-US" sz="2000" i="1" dirty="0">
                <a:solidFill>
                  <a:srgbClr val="F2F0EA"/>
                </a:solidFill>
                <a:latin typeface="Georgia" pitchFamily="34" charset="0"/>
                <a:ea typeface="Georgia" pitchFamily="34" charset="-122"/>
                <a:cs typeface="Georgia" pitchFamily="34" charset="-120"/>
              </a:rPr>
              <a:t>Cantigas Medievais Galego-Portuguesas</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 cantiga 592, «Ai flores, ai flores do verde pino», integral. base de dados da FCSH/NOVA (ed. Graça Videira Lopes, Manuel Pedro Ferreira et al.)</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14</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Liga cada cantiga a quem fala e a quem se dirige.</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Text 7"/>
          <p:cNvSpPr/>
          <p:nvPr/>
        </p:nvSpPr>
        <p:spPr>
          <a:xfrm>
            <a:off x="822960" y="2514600"/>
            <a:ext cx="4632808" cy="3611880"/>
          </a:xfrm>
          <a:prstGeom prst="rect">
            <a:avLst/>
          </a:prstGeom>
          <a:noFill/>
          <a:ln/>
        </p:spPr>
        <p:txBody>
          <a:bodyPr wrap="square" lIns="0" tIns="0" rIns="0" bIns="0" rtlCol="0" anchor="t">
            <a:normAutofit/>
          </a:bodyPr>
          <a:lstStyle/>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«Sedia-m'eu na ermida» (Mendinho)</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«Ondas do mar de Vigo» (Codax)</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«Ai flores, ai flores do verde pino» (D. Dinis)</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«Quer'eu em maneira de proençal» (D. Dinis)</a:t>
            </a:r>
            <a:endParaRPr lang="en-US" sz="2000" dirty="0"/>
          </a:p>
        </p:txBody>
      </p:sp>
      <p:sp>
        <p:nvSpPr>
          <p:cNvPr id="10" name="Text 8"/>
          <p:cNvSpPr/>
          <p:nvPr/>
        </p:nvSpPr>
        <p:spPr>
          <a:xfrm>
            <a:off x="6004408" y="2514600"/>
            <a:ext cx="4632808" cy="3611880"/>
          </a:xfrm>
          <a:prstGeom prst="rect">
            <a:avLst/>
          </a:prstGeom>
          <a:noFill/>
          <a:ln/>
        </p:spPr>
        <p:txBody>
          <a:bodyPr wrap="square" lIns="0" tIns="0" rIns="0" bIns="0" rtlCol="0" anchor="t">
            <a:normAutofit/>
          </a:bodyPr>
          <a:lstStyle/>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uma rapariga, sozinha, sem ninguém que a ouça</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uma rapariga, às ondas, que não respondem</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uma rapariga, às flores, que lhe respondem</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o trovador, a quem o ouve, sobre a senhora</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15</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2377440"/>
          </a:xfrm>
          <a:prstGeom prst="rect">
            <a:avLst/>
          </a:prstGeom>
          <a:noFill/>
          <a:ln/>
        </p:spPr>
        <p:txBody>
          <a:bodyPr wrap="square" lIns="0" tIns="0" rIns="0" bIns="0" rtlCol="0" anchor="t">
            <a:normAutofit/>
          </a:bodyPr>
          <a:lstStyle/>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«Sedia-m'eu na ermida» (Mendinho) → uma rapariga, sozinha, sem ninguém que a ouça</a:t>
            </a:r>
            <a:endParaRPr lang="en-US" sz="2200" dirty="0"/>
          </a:p>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«Ondas do mar de Vigo» (Codax) → uma rapariga, às ondas, que não respondem</a:t>
            </a:r>
            <a:endParaRPr lang="en-US" sz="2200" dirty="0"/>
          </a:p>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«Ai flores, ai flores do verde pino» (D. Dinis) → uma rapariga, às flores, que lhe respondem</a:t>
            </a:r>
            <a:endParaRPr lang="en-US" sz="2200" dirty="0"/>
          </a:p>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«Quer'eu em maneira de proençal» (D. Dinis) → o trovador, a quem o ouve, sobre a senhora</a:t>
            </a:r>
            <a:endParaRPr lang="en-US" sz="2200" dirty="0"/>
          </a:p>
        </p:txBody>
      </p:sp>
      <p:sp>
        <p:nvSpPr>
          <p:cNvPr id="8" name="Shape 6"/>
          <p:cNvSpPr/>
          <p:nvPr/>
        </p:nvSpPr>
        <p:spPr>
          <a:xfrm>
            <a:off x="822960" y="3520440"/>
            <a:ext cx="640080" cy="64008"/>
          </a:xfrm>
          <a:prstGeom prst="rect">
            <a:avLst/>
          </a:prstGeom>
          <a:solidFill>
            <a:srgbClr val="E4555C"/>
          </a:solidFill>
          <a:ln w="12700">
            <a:solidFill>
              <a:srgbClr val="E4555C"/>
            </a:solidFill>
            <a:prstDash val="solid"/>
          </a:ln>
        </p:spPr>
      </p:sp>
      <p:sp>
        <p:nvSpPr>
          <p:cNvPr id="9" name="Text 7"/>
          <p:cNvSpPr/>
          <p:nvPr/>
        </p:nvSpPr>
        <p:spPr>
          <a:xfrm>
            <a:off x="822960" y="3794760"/>
            <a:ext cx="9814255" cy="23317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Quatro cantigas, três com voz feminina e uma com a do trovador. A rapariga de Mendinho não fala a ninguém; a de Codax pergunta às ondas; a de D. Dinis pergunta às flores e, nesta, a natureza responde. Na cantiga de amor, o «eu» é o do trovador: anuncia a quem ouve que vai louvar a senhora.</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ESCOLHE UMA POSIÇÃO</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A cantiga de amigo é uma voz de mulher escrita por homens. Como lês esse empréstimo?</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1200912"/>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É uma convenção</a:t>
            </a:r>
            <a:endParaRPr lang="en-US" sz="2400" dirty="0"/>
          </a:p>
        </p:txBody>
      </p:sp>
      <p:sp>
        <p:nvSpPr>
          <p:cNvPr id="13" name="Shape 11"/>
          <p:cNvSpPr/>
          <p:nvPr/>
        </p:nvSpPr>
        <p:spPr>
          <a:xfrm>
            <a:off x="822960" y="3115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115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124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É uma máscara</a:t>
            </a:r>
            <a:endParaRPr lang="en-US" sz="2400" dirty="0"/>
          </a:p>
        </p:txBody>
      </p:sp>
      <p:sp>
        <p:nvSpPr>
          <p:cNvPr id="16" name="Shape 14"/>
          <p:cNvSpPr/>
          <p:nvPr/>
        </p:nvSpPr>
        <p:spPr>
          <a:xfrm>
            <a:off x="822960" y="3715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3715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372465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É o que a poesia faz</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17</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ATO 3</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Louvar</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9814255" cy="3931920"/>
          </a:xfrm>
          <a:prstGeom prst="rect">
            <a:avLst/>
          </a:prstGeom>
          <a:noFill/>
          <a:ln/>
        </p:spPr>
        <p:txBody>
          <a:bodyPr wrap="square" lIns="0" tIns="0" rIns="0" bIns="0" rtlCol="0" anchor="t">
            <a:normAutofit/>
          </a:bodyPr>
          <a:lstStyle/>
          <a:p>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Agora a segunda voz. D. Dinis, rei e trovador, diz «eu» e anuncia o que vai fazer: um cantar de amor «em maneira de proençal», isto é, à moda dos trovadores da Provença. Vai louvar a senhora, e exagera: ela vale mais do que todas as mulheres do mundo. Lê a primeira estrofe e repara em como o «eu» declara a intenção antes de a cumprir.Quer'eu em maneira de proençalfazer agora um cantar d'amore querrei muit'i loar mia senhora que prez nem fremosura nom fal,nem bondade; e mais vos direi en:tanto a fez Deus comprida de bemque mais que todas las do mundo val.D. Dinis, </a:t>
            </a:r>
            <a:pPr indent="0" marL="0">
              <a:lnSpc>
                <a:spcPct val="120000"/>
              </a:lnSpc>
              <a:spcAft>
                <a:spcPts val="800"/>
              </a:spcAft>
              <a:buNone/>
            </a:pPr>
            <a:r>
              <a:rPr lang="en-US" sz="2000" i="1" dirty="0">
                <a:solidFill>
                  <a:srgbClr val="F2F0EA"/>
                </a:solidFill>
                <a:latin typeface="Georgia" pitchFamily="34" charset="0"/>
                <a:ea typeface="Georgia" pitchFamily="34" charset="-122"/>
                <a:cs typeface="Georgia" pitchFamily="34" charset="-120"/>
              </a:rPr>
              <a:t>Cantigas Medievais Galego-Portuguesas</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 cantiga 544, «Quer'eu em maneira de proençal», as três estrofes. base de dados da…</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18</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«Quer'eu em maneira de proençal / fazer agora um cantar d'amor»: o que te diz este começo sobre o «eu» que fala?</a:t>
            </a:r>
            <a:endParaRPr lang="en-US" sz="28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2563368"/>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É um «eu» que segue um modelo: o louvor dos provençais</a:t>
            </a:r>
            <a:endParaRPr lang="en-US" sz="2400" dirty="0"/>
          </a:p>
        </p:txBody>
      </p:sp>
      <p:sp>
        <p:nvSpPr>
          <p:cNvPr id="13" name="Shape 11"/>
          <p:cNvSpPr/>
          <p:nvPr/>
        </p:nvSpPr>
        <p:spPr>
          <a:xfrm>
            <a:off x="822960" y="3496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496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505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É um «eu» que conta o que lhe aconteceu nessa manhã</a:t>
            </a:r>
            <a:endParaRPr lang="en-US" sz="2400" dirty="0"/>
          </a:p>
        </p:txBody>
      </p:sp>
      <p:sp>
        <p:nvSpPr>
          <p:cNvPr id="16" name="Shape 14"/>
          <p:cNvSpPr/>
          <p:nvPr/>
        </p:nvSpPr>
        <p:spPr>
          <a:xfrm>
            <a:off x="822960" y="4096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4096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4105656"/>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É um «eu» que troça do louvor dos trovadores da Provença</a:t>
            </a:r>
            <a:endParaRPr lang="en-US" sz="2400" dirty="0"/>
          </a:p>
        </p:txBody>
      </p:sp>
      <p:sp>
        <p:nvSpPr>
          <p:cNvPr id="19" name="Shape 17"/>
          <p:cNvSpPr/>
          <p:nvPr/>
        </p:nvSpPr>
        <p:spPr>
          <a:xfrm>
            <a:off x="822960" y="5077968"/>
            <a:ext cx="365760" cy="365760"/>
          </a:xfrm>
          <a:prstGeom prst="ellipse">
            <a:avLst/>
          </a:prstGeom>
          <a:solidFill>
            <a:srgbClr val="111111"/>
          </a:solidFill>
          <a:ln w="15875">
            <a:solidFill>
              <a:srgbClr val="F2F0EA"/>
            </a:solidFill>
            <a:prstDash val="solid"/>
          </a:ln>
        </p:spPr>
      </p:sp>
      <p:sp>
        <p:nvSpPr>
          <p:cNvPr id="20" name="Text 18"/>
          <p:cNvSpPr/>
          <p:nvPr/>
        </p:nvSpPr>
        <p:spPr>
          <a:xfrm>
            <a:off x="822960" y="50779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D</a:t>
            </a:r>
            <a:endParaRPr lang="en-US" sz="1300" dirty="0"/>
          </a:p>
        </p:txBody>
      </p:sp>
      <p:sp>
        <p:nvSpPr>
          <p:cNvPr id="21" name="Text 19"/>
          <p:cNvSpPr/>
          <p:nvPr/>
        </p:nvSpPr>
        <p:spPr>
          <a:xfrm>
            <a:off x="1417320" y="5087112"/>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É um «eu» de uma rapariga que espera o amigo que partiu</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19</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É um «eu» que segue um modelo: o louvor dos provençais</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O trovador diz, antes de louvar, que vai louvar, e diz à maneira de quem: a intenção é anunciada e segue um modelo. Não conta um acontecimento, não troça (a hipérbole «mais que todas las do mundo val» é louvor a sério) e não é voz feminina. Guarda isto: quando o «eu» anuncia um louvor, o que vem a seguir pode cumpri-lo ou não.</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20</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ATO 3</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Troçar</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9814255" cy="3931920"/>
          </a:xfrm>
          <a:prstGeom prst="rect">
            <a:avLst/>
          </a:prstGeom>
          <a:noFill/>
          <a:ln/>
        </p:spPr>
        <p:txBody>
          <a:bodyPr wrap="square" lIns="0" tIns="0" rIns="0" bIns="0" rtlCol="0" anchor="t">
            <a:normAutofit/>
          </a:bodyPr>
          <a:lstStyle/>
          <a:p>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João Garcia de Guilhade começa como D. Dinis: uma dona queixou-se de que ele nunca a louvava, e ele promete fazer um cantar em que a louvará. Lê a primeira estrofe até ao fim. Repara no verso em que o louvor se parte, e na palavra em que isso acontece.Ai dona fea, fostes-vos queixarque vos nunca louv'en[o] meu cantar;mais ora quero fazer um cantarem que vos loarei todavia;e vedes como vos quero loar:dona fea, velha e sandia!João Garcia de Guilhade, </a:t>
            </a:r>
            <a:pPr indent="0" marL="0">
              <a:lnSpc>
                <a:spcPct val="120000"/>
              </a:lnSpc>
              <a:spcAft>
                <a:spcPts val="800"/>
              </a:spcAft>
              <a:buNone/>
            </a:pPr>
            <a:r>
              <a:rPr lang="en-US" sz="2000" i="1" dirty="0">
                <a:solidFill>
                  <a:srgbClr val="F2F0EA"/>
                </a:solidFill>
                <a:latin typeface="Georgia" pitchFamily="34" charset="0"/>
                <a:ea typeface="Georgia" pitchFamily="34" charset="-122"/>
                <a:cs typeface="Georgia" pitchFamily="34" charset="-120"/>
              </a:rPr>
              <a:t>Cantigas Medievais Galego-Portuguesas</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 cantiga 1520, «Ai dona fea, fostes-vos queixar», as três estrofes. base de dados da FCSH/NOVA (ed. Graça Videira Lopes, Manuel Pedro Ferreira et al.)</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21</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PENSA PRIMEIRO: DECIDE EM SILÊNCIO</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Em que palavra da estrofe percebes que o louvor prometido não vai ser cumprido?</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22</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Toca nas duas palavras com que o trovador promete o louvor que não vai dar.</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Text 7"/>
          <p:cNvSpPr/>
          <p:nvPr/>
        </p:nvSpPr>
        <p:spPr>
          <a:xfrm>
            <a:off x="822960" y="2514600"/>
            <a:ext cx="9814255" cy="1188720"/>
          </a:xfrm>
          <a:prstGeom prst="rect">
            <a:avLst/>
          </a:prstGeom>
          <a:noFill/>
          <a:ln/>
        </p:spPr>
        <p:txBody>
          <a:bodyPr wrap="square" lIns="0" tIns="0" rIns="0" bIns="0" rtlCol="0" anchor="t">
            <a:normAutofit/>
          </a:bodyPr>
          <a:lstStyle/>
          <a:p>
            <a:pPr indent="0" marL="0">
              <a:buNone/>
            </a:pPr>
            <a:r>
              <a:rPr lang="en-US" sz="2400" i="1" dirty="0">
                <a:solidFill>
                  <a:srgbClr val="F2F0EA"/>
                </a:solidFill>
                <a:latin typeface="Georgia" pitchFamily="34" charset="0"/>
                <a:ea typeface="Georgia" pitchFamily="34" charset="-122"/>
                <a:cs typeface="Georgia" pitchFamily="34" charset="-120"/>
              </a:rPr>
              <a:t>mais ora quero fazer um cantar em que vos loarei todavia; e vedes como vos quero loar: dona fea, velha e sandia!</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23</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loarei loar:</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«loarei» e «loar»: duas vezes a promessa, e logo a seguir «dona fea, velha e sandia». O refrão entrega o contrário do que as duas palavras anunciam. A forma é a do elogio; o sentido é o insulto: paródia.</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24</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Seleciona os dois sinais de que «Ai dona fea» faz a paródia de uma cantiga de amor como a de D. Dinis.</a:t>
            </a:r>
            <a:endParaRPr lang="en-US" sz="28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25</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Shape 5"/>
          <p:cNvSpPr/>
          <p:nvPr/>
        </p:nvSpPr>
        <p:spPr>
          <a:xfrm>
            <a:off x="822960" y="100584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Põe por ordem os passos do argumento de «Ai dona fea».</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Text 7"/>
          <p:cNvSpPr/>
          <p:nvPr/>
        </p:nvSpPr>
        <p:spPr>
          <a:xfrm>
            <a:off x="822960" y="2514600"/>
            <a:ext cx="9814255" cy="3611880"/>
          </a:xfrm>
          <a:prstGeom prst="rect">
            <a:avLst/>
          </a:prstGeom>
          <a:noFill/>
          <a:ln/>
        </p:spPr>
        <p:txBody>
          <a:bodyPr wrap="square" lIns="0" tIns="0" rIns="0" bIns="0" rtlCol="0" anchor="t">
            <a:normAutofit/>
          </a:bodyPr>
          <a:lstStyle/>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A dona queixa-se de nunca ser louvada no cantar do trovador</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O trovador promete fazer agora um cantar em que a louvará</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Anuncia o louvor: «vedes como vos quero loar»</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O refrão entrega o insulto: «dona fea, velha e sandia»</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Quem ouve percebe que a forma do elogio serviu para o contrário</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2377440"/>
          </a:xfrm>
          <a:prstGeom prst="rect">
            <a:avLst/>
          </a:prstGeom>
          <a:noFill/>
          <a:ln/>
        </p:spPr>
        <p:txBody>
          <a:bodyPr wrap="square" lIns="0" tIns="0" rIns="0" bIns="0" rtlCol="0" anchor="t">
            <a:normAutofit/>
          </a:bodyPr>
          <a:lstStyle/>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A dona queixa-se de nunca ser louvada no cantar do trovador</a:t>
            </a:r>
            <a:endParaRPr lang="en-US" sz="2200" dirty="0"/>
          </a:p>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O trovador promete fazer agora um cantar em que a louvará</a:t>
            </a:r>
            <a:endParaRPr lang="en-US" sz="2200" dirty="0"/>
          </a:p>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Anuncia o louvor: «vedes como vos quero loar»</a:t>
            </a:r>
            <a:endParaRPr lang="en-US" sz="2200" dirty="0"/>
          </a:p>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O refrão entrega o insulto: «dona fea, velha e sandia»</a:t>
            </a:r>
            <a:endParaRPr lang="en-US" sz="2200" dirty="0"/>
          </a:p>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Quem ouve percebe que a forma do elogio serviu para o contrário</a:t>
            </a:r>
            <a:endParaRPr lang="en-US" sz="2200" dirty="0"/>
          </a:p>
        </p:txBody>
      </p:sp>
      <p:sp>
        <p:nvSpPr>
          <p:cNvPr id="8" name="Shape 6"/>
          <p:cNvSpPr/>
          <p:nvPr/>
        </p:nvSpPr>
        <p:spPr>
          <a:xfrm>
            <a:off x="822960" y="3520440"/>
            <a:ext cx="640080" cy="64008"/>
          </a:xfrm>
          <a:prstGeom prst="rect">
            <a:avLst/>
          </a:prstGeom>
          <a:solidFill>
            <a:srgbClr val="E4555C"/>
          </a:solidFill>
          <a:ln w="12700">
            <a:solidFill>
              <a:srgbClr val="E4555C"/>
            </a:solidFill>
            <a:prstDash val="solid"/>
          </a:ln>
        </p:spPr>
      </p:sp>
      <p:sp>
        <p:nvSpPr>
          <p:cNvPr id="9" name="Text 7"/>
          <p:cNvSpPr/>
          <p:nvPr/>
        </p:nvSpPr>
        <p:spPr>
          <a:xfrm>
            <a:off x="822960" y="3794760"/>
            <a:ext cx="9814255" cy="23317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Queixa, promessa, anúncio, insulto, e só no fim a leitura: a paródia precisa de que o ouvinte espere um louvor até ao último verso. Se o insulto viesse primeiro, não havia surpresa, só maldizer.</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28</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ATO 3</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A regra do tempo</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9814255" cy="3931920"/>
          </a:xfrm>
          <a:prstGeom prst="rect">
            <a:avLst/>
          </a:prstGeom>
          <a:noFill/>
          <a:ln/>
        </p:spPr>
        <p:txBody>
          <a:bodyPr wrap="square" lIns="0" tIns="0" rIns="0" bIns="0" rtlCol="0" anchor="t">
            <a:normAutofit/>
          </a:bodyPr>
          <a:lstStyle/>
          <a:p>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Os trovadores tinham a sua regra escrita. A </a:t>
            </a:r>
            <a:pPr indent="0" marL="0">
              <a:lnSpc>
                <a:spcPct val="120000"/>
              </a:lnSpc>
              <a:spcAft>
                <a:spcPts val="800"/>
              </a:spcAft>
              <a:buNone/>
            </a:pPr>
            <a:r>
              <a:rPr lang="en-US" sz="2000" i="1" dirty="0">
                <a:solidFill>
                  <a:srgbClr val="F2F0EA"/>
                </a:solidFill>
                <a:latin typeface="Georgia" pitchFamily="34" charset="0"/>
                <a:ea typeface="Georgia" pitchFamily="34" charset="-122"/>
                <a:cs typeface="Georgia" pitchFamily="34" charset="-120"/>
              </a:rPr>
              <a:t>Arte de Trovar</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 tratado anónimo que abre o </a:t>
            </a:r>
            <a:pPr indent="0" marL="0">
              <a:lnSpc>
                <a:spcPct val="120000"/>
              </a:lnSpc>
              <a:spcAft>
                <a:spcPts val="800"/>
              </a:spcAft>
              <a:buNone/>
            </a:pPr>
            <a:r>
              <a:rPr lang="en-US" sz="2000" i="1" dirty="0">
                <a:solidFill>
                  <a:srgbClr val="F2F0EA"/>
                </a:solidFill>
                <a:latin typeface="Georgia" pitchFamily="34" charset="0"/>
                <a:ea typeface="Georgia" pitchFamily="34" charset="-122"/>
                <a:cs typeface="Georgia" pitchFamily="34" charset="-120"/>
              </a:rPr>
              <a:t>Cancioneiro da Biblioteca Nacional</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 separa a troça em duas: o escárnio diz mal por palavras cobertas, com dois entendimentos; o maldizer diz mal «descobertamente». Lê a definição de escárnio e decide de que lado cai «Ai dona fea».Cantigas d'escarneo som aquelas que os trobadores fazem querendo dizer mal d'alguém em elas, e dizem-lho per palavras cobertas que hajam dous entendimentos […].Anónimo, </a:t>
            </a:r>
            <a:pPr indent="0" marL="0">
              <a:lnSpc>
                <a:spcPct val="120000"/>
              </a:lnSpc>
              <a:spcAft>
                <a:spcPts val="800"/>
              </a:spcAft>
              <a:buNone/>
            </a:pPr>
            <a:r>
              <a:rPr lang="en-US" sz="2000" i="1" dirty="0">
                <a:solidFill>
                  <a:srgbClr val="F2F0EA"/>
                </a:solidFill>
                <a:latin typeface="Georgia" pitchFamily="34" charset="0"/>
                <a:ea typeface="Georgia" pitchFamily="34" charset="-122"/>
                <a:cs typeface="Georgia" pitchFamily="34" charset="-120"/>
              </a:rPr>
              <a:t>Arte de Trovar (Cancioneiro da Biblioteca Nacional)</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 cap. V. ed. FCSH/NOVA, em linha</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29</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PENSA PRIMEIRO: DECIDE EM SILÊNCIO</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«dona fea, velha e sandia»: isto são palavras cobertas ou dizer mal descobertamente?</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30</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ESCOLHE UMA POSIÇÃO</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Pela regra da </a:t>
            </a:r>
            <a:pPr indent="0" marL="0">
              <a:buNone/>
            </a:pPr>
            <a:r>
              <a:rPr lang="en-US" sz="3200" i="1" dirty="0">
                <a:solidFill>
                  <a:srgbClr val="F2F0EA"/>
                </a:solidFill>
                <a:latin typeface="Georgia" pitchFamily="34" charset="0"/>
                <a:ea typeface="Georgia" pitchFamily="34" charset="-122"/>
                <a:cs typeface="Georgia" pitchFamily="34" charset="-120"/>
              </a:rPr>
              <a:t>Arte de Trovar</a:t>
            </a:r>
            <a:pPr indent="0" marL="0">
              <a:buNone/>
            </a:pPr>
            <a:r>
              <a:rPr lang="en-US" sz="3200" dirty="0">
                <a:solidFill>
                  <a:srgbClr val="F2F0EA"/>
                </a:solidFill>
                <a:latin typeface="Georgia" pitchFamily="34" charset="0"/>
                <a:ea typeface="Georgia" pitchFamily="34" charset="-122"/>
                <a:cs typeface="Georgia" pitchFamily="34" charset="-120"/>
              </a:rPr>
              <a:t>, «Ai dona fea» é escárnio ou maldizer?</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1200912"/>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Escárnio</a:t>
            </a:r>
            <a:endParaRPr lang="en-US" sz="2400" dirty="0"/>
          </a:p>
        </p:txBody>
      </p:sp>
      <p:sp>
        <p:nvSpPr>
          <p:cNvPr id="13" name="Shape 11"/>
          <p:cNvSpPr/>
          <p:nvPr/>
        </p:nvSpPr>
        <p:spPr>
          <a:xfrm>
            <a:off x="822960" y="3115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115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124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Maldizer</a:t>
            </a:r>
            <a:endParaRPr lang="en-US" sz="2400" dirty="0"/>
          </a:p>
        </p:txBody>
      </p:sp>
      <p:sp>
        <p:nvSpPr>
          <p:cNvPr id="16" name="Shape 14"/>
          <p:cNvSpPr/>
          <p:nvPr/>
        </p:nvSpPr>
        <p:spPr>
          <a:xfrm>
            <a:off x="822960" y="3715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3715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372465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Os dois ao mesmo tempo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31</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ATO 4</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A objeção</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9814255" cy="3931920"/>
          </a:xfrm>
          <a:prstGeom prst="rect">
            <a:avLst/>
          </a:prstGeom>
          <a:noFill/>
          <a:ln/>
        </p:spPr>
        <p:txBody>
          <a:bodyPr wrap="square" lIns="0" tIns="0" rIns="0" bIns="0" rtlCol="0" anchor="t">
            <a:normAutofit/>
          </a:bodyPr>
          <a:lstStyle/>
          <a:p>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Volta à rapariga de Mendinho. A melhor objeção ao que fizeste até aqui é esta: se a voz é emprestada, então a rapariga não existe. O que ela diz é o que um homem da corte imaginou que uma rapariga diria. A cantiga de amigo diz-te mais sobre quem a escreveu do que sobre ela.Há uma cantiga em que a pergunta de quem tem direito à voz se discute abertamente. Na tenção, dois homens alternam estrofes: Guilhade, o trovador, e Lourenço, o jogral, o homem pago para cantar e tocar. Guilhade diz-lhe que toca, canta, trova e já se tem «por trobador». Lê a resposta de Lourenço.</a:t>
            </a:r>
            <a:pPr indent="0" marL="0">
              <a:lnSpc>
                <a:spcPct val="120000"/>
              </a:lnSpc>
              <a:spcAft>
                <a:spcPts val="800"/>
              </a:spcAft>
              <a:buNone/>
            </a:pPr>
            <a:r>
              <a:rPr lang="en-US" sz="2000" b="1" dirty="0">
                <a:solidFill>
                  <a:srgbClr val="F2F0EA"/>
                </a:solidFill>
                <a:latin typeface="Georgia" pitchFamily="34" charset="0"/>
                <a:ea typeface="Georgia" pitchFamily="34" charset="-122"/>
                <a:cs typeface="Georgia" pitchFamily="34" charset="-120"/>
              </a:rPr>
              <a:t>Guilhade:</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Lourenço jograr, hás mui gram saborde citolares, ar queres cantar,des i ar filhas-te log'a trobare teens-t'ora já…</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32</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PENSA PRIMEIRO: DECIDE EM SILÊNCIO</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Quem decide se Lourenço é trovador: Lourenço, Guilhade, ou quem os ouve?</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33</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O que responde Lourenço a Guilhade?</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2944368"/>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Que sabe os seus ofícios e Guilhade não os sabe julgar</a:t>
            </a:r>
            <a:endParaRPr lang="en-US" sz="2400" dirty="0"/>
          </a:p>
        </p:txBody>
      </p:sp>
      <p:sp>
        <p:nvSpPr>
          <p:cNvPr id="13" name="Shape 11"/>
          <p:cNvSpPr/>
          <p:nvPr/>
        </p:nvSpPr>
        <p:spPr>
          <a:xfrm>
            <a:off x="822960" y="3496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496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505200"/>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Que desiste de trovar e volta só a tocar a sua cítola</a:t>
            </a:r>
            <a:endParaRPr lang="en-US" sz="2400" dirty="0"/>
          </a:p>
        </p:txBody>
      </p:sp>
      <p:sp>
        <p:nvSpPr>
          <p:cNvPr id="16" name="Shape 14"/>
          <p:cNvSpPr/>
          <p:nvPr/>
        </p:nvSpPr>
        <p:spPr>
          <a:xfrm>
            <a:off x="822960" y="4477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4477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4486656"/>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Que Guilhade canta melhor do que ele e por isso tem razão</a:t>
            </a:r>
            <a:endParaRPr lang="en-US" sz="2400" dirty="0"/>
          </a:p>
        </p:txBody>
      </p:sp>
      <p:sp>
        <p:nvSpPr>
          <p:cNvPr id="19" name="Shape 17"/>
          <p:cNvSpPr/>
          <p:nvPr/>
        </p:nvSpPr>
        <p:spPr>
          <a:xfrm>
            <a:off x="822960" y="5458968"/>
            <a:ext cx="365760" cy="365760"/>
          </a:xfrm>
          <a:prstGeom prst="ellipse">
            <a:avLst/>
          </a:prstGeom>
          <a:solidFill>
            <a:srgbClr val="111111"/>
          </a:solidFill>
          <a:ln w="15875">
            <a:solidFill>
              <a:srgbClr val="F2F0EA"/>
            </a:solidFill>
            <a:prstDash val="solid"/>
          </a:ln>
        </p:spPr>
      </p:sp>
      <p:sp>
        <p:nvSpPr>
          <p:cNvPr id="20" name="Text 18"/>
          <p:cNvSpPr/>
          <p:nvPr/>
        </p:nvSpPr>
        <p:spPr>
          <a:xfrm>
            <a:off x="822960" y="54589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D</a:t>
            </a:r>
            <a:endParaRPr lang="en-US" sz="1300" dirty="0"/>
          </a:p>
        </p:txBody>
      </p:sp>
      <p:sp>
        <p:nvSpPr>
          <p:cNvPr id="21" name="Text 19"/>
          <p:cNvSpPr/>
          <p:nvPr/>
        </p:nvSpPr>
        <p:spPr>
          <a:xfrm>
            <a:off x="1417320" y="5468112"/>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Que nunca quis ser trovador, só um jogral de ofício</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34</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Que sabe os seus ofícios e Guilhade não os sabe julgar</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«sõo sabedor de meus mesteres» e «vós nom sodes i conhocedor»: o jogral defende os ofícios e nega ao trovador o direito de os julgar. Não desiste, não dá razão a Guilhade e não recusa o título: reclama-o. Na tenção a voz não é emprestada: cada um fala por si, e é por isso que discutem.</a:t>
            </a:r>
            <a:endParaRPr lang="en-US"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35</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Na tenção, Lourenço aceita que Guilhade, por ser trovador, é quem sabe julgar os seus ofícios.</a:t>
            </a:r>
            <a:endParaRPr lang="en-US" sz="28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600456"/>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Verdadeiro</a:t>
            </a:r>
            <a:endParaRPr lang="en-US" sz="2400" dirty="0"/>
          </a:p>
        </p:txBody>
      </p:sp>
      <p:sp>
        <p:nvSpPr>
          <p:cNvPr id="13" name="Shape 11"/>
          <p:cNvSpPr/>
          <p:nvPr/>
        </p:nvSpPr>
        <p:spPr>
          <a:xfrm>
            <a:off x="822960" y="3115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115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124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Falso</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Falso.</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Falso. Lourenço diz o contrário: «mais vós nom sodes i conhocedor». E a tenção não acaba com o jogral a pedir perdão: Guilhade ameaça partir-lhe a cítola na cabeça e Lourenço mantém que diz «mui gram verdade». Quem tem a voz não é só quem tem o título.</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ESCOLHE UMA POSIÇÃO</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Depois da objeção: o que te diz, afinal, a cantiga de amigo sobre uma rapariga do século XIII?</a:t>
            </a:r>
            <a:endParaRPr lang="en-US" sz="28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1200912"/>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Nada de certo</a:t>
            </a:r>
            <a:endParaRPr lang="en-US" sz="2400" dirty="0"/>
          </a:p>
        </p:txBody>
      </p:sp>
      <p:sp>
        <p:nvSpPr>
          <p:cNvPr id="13" name="Shape 11"/>
          <p:cNvSpPr/>
          <p:nvPr/>
        </p:nvSpPr>
        <p:spPr>
          <a:xfrm>
            <a:off x="822960" y="3115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115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124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Alguma coisa</a:t>
            </a:r>
            <a:endParaRPr lang="en-US" sz="2400" dirty="0"/>
          </a:p>
        </p:txBody>
      </p:sp>
      <p:sp>
        <p:nvSpPr>
          <p:cNvPr id="16" name="Shape 14"/>
          <p:cNvSpPr/>
          <p:nvPr/>
        </p:nvSpPr>
        <p:spPr>
          <a:xfrm>
            <a:off x="822960" y="3715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3715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372465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O que a corte queria ouvir</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38</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ATO 5</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O caso ao contrário</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9814255" cy="3931920"/>
          </a:xfrm>
          <a:prstGeom prst="rect">
            <a:avLst/>
          </a:prstGeom>
          <a:noFill/>
          <a:ln/>
        </p:spPr>
        <p:txBody>
          <a:bodyPr wrap="square" lIns="0" tIns="0" rIns="0" bIns="0" rtlCol="0" anchor="t">
            <a:normAutofit/>
          </a:bodyPr>
          <a:lstStyle/>
          <a:p>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Vira o caso. Na cantiga de amigo, o «eu» é claramente emprestado. Mas na cantiga de amor o trovador diz «eu» em nome próprio. Esse «eu» é mais verdadeiro? D. Dinis discute isso com os provençais: eles trovam bem, mas só «no tempo da flor», e por isso, diz ele, não sofrem a coita que ele sofre pela senhora. Lê a primeira estrofe.Proençaes soem mui bem trobare dizem eles que é com amor;mais os que trobam no tempo da flore nom em outro, sei eu bem que nomham tam gram coita no seu coraçomqual m'eu por mia senhor vejo levar.D. Dinis, </a:t>
            </a:r>
            <a:pPr indent="0" marL="0">
              <a:lnSpc>
                <a:spcPct val="120000"/>
              </a:lnSpc>
              <a:spcAft>
                <a:spcPts val="800"/>
              </a:spcAft>
              <a:buNone/>
            </a:pPr>
            <a:r>
              <a:rPr lang="en-US" sz="2000" i="1" dirty="0">
                <a:solidFill>
                  <a:srgbClr val="F2F0EA"/>
                </a:solidFill>
                <a:latin typeface="Georgia" pitchFamily="34" charset="0"/>
                <a:ea typeface="Georgia" pitchFamily="34" charset="-122"/>
                <a:cs typeface="Georgia" pitchFamily="34" charset="-120"/>
              </a:rPr>
              <a:t>Cantigas Medievais Galego-Portuguesas</a:t>
            </a:r>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 cantiga 548, «Proençaes soem mui bem trobar», integral. base de dados da FCSH/NOVA (ed. Graça Videira Lopes, Manuel Pedro…</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39</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PENSA PRIMEIRO: DECIDE EM SILÊNCIO</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Quando D. Dinis diz que a sua coita é maior do que a dos provençais, acreditas mais neste «eu» do que no da rapariga?</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40</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O que diz D. Dinis dos provençais, e para quê?</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2753868"/>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Que só trovam no tempo da flor, para provar a verdade da coita dele</a:t>
            </a:r>
            <a:endParaRPr lang="en-US" sz="2200" dirty="0"/>
          </a:p>
        </p:txBody>
      </p:sp>
      <p:sp>
        <p:nvSpPr>
          <p:cNvPr id="13" name="Shape 11"/>
          <p:cNvSpPr/>
          <p:nvPr/>
        </p:nvSpPr>
        <p:spPr>
          <a:xfrm>
            <a:off x="822960" y="34325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4325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441700"/>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Que cantam mal, para mostrar que o galego-português é melhor língua</a:t>
            </a:r>
            <a:endParaRPr lang="en-US" sz="2200" dirty="0"/>
          </a:p>
        </p:txBody>
      </p:sp>
      <p:sp>
        <p:nvSpPr>
          <p:cNvPr id="16" name="Shape 14"/>
          <p:cNvSpPr/>
          <p:nvPr/>
        </p:nvSpPr>
        <p:spPr>
          <a:xfrm>
            <a:off x="822960" y="4350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4350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4359656"/>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Que não têm senhora a quem servir, para assim se rir deles</a:t>
            </a:r>
            <a:endParaRPr lang="en-US" sz="2200" dirty="0"/>
          </a:p>
        </p:txBody>
      </p:sp>
      <p:sp>
        <p:nvSpPr>
          <p:cNvPr id="19" name="Shape 17"/>
          <p:cNvSpPr/>
          <p:nvPr/>
        </p:nvSpPr>
        <p:spPr>
          <a:xfrm>
            <a:off x="822960" y="5268468"/>
            <a:ext cx="365760" cy="365760"/>
          </a:xfrm>
          <a:prstGeom prst="ellipse">
            <a:avLst/>
          </a:prstGeom>
          <a:solidFill>
            <a:srgbClr val="111111"/>
          </a:solidFill>
          <a:ln w="15875">
            <a:solidFill>
              <a:srgbClr val="F2F0EA"/>
            </a:solidFill>
            <a:prstDash val="solid"/>
          </a:ln>
        </p:spPr>
      </p:sp>
      <p:sp>
        <p:nvSpPr>
          <p:cNvPr id="20" name="Text 18"/>
          <p:cNvSpPr/>
          <p:nvPr/>
        </p:nvSpPr>
        <p:spPr>
          <a:xfrm>
            <a:off x="822960" y="52684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D</a:t>
            </a:r>
            <a:endParaRPr lang="en-US" sz="1300" dirty="0"/>
          </a:p>
        </p:txBody>
      </p:sp>
      <p:sp>
        <p:nvSpPr>
          <p:cNvPr id="21" name="Text 19"/>
          <p:cNvSpPr/>
          <p:nvPr/>
        </p:nvSpPr>
        <p:spPr>
          <a:xfrm>
            <a:off x="1417320" y="5277612"/>
            <a:ext cx="9174175" cy="56870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Que o ensinaram a trovar, e quer agradecer-lhes por isso</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41</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Que só trovam no tempo da flor, para provar a verdade da coita dele</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«os que trobam no tempo da flor e nom em outro» não têm «tam gram coita» como a dele: a comparação serve para dar ao seu «eu» um sinal de verdade. Mas repara: é um «eu» que afirma ser verdadeiro dentro de uma cantiga que segue regras, como a outra, «em maneira de proençal». A sinceridade é também um gesto do género. Não fala da língua, não ri deles nem lhes agradece.</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42</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ATO 5</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De boca em boca</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9814255" cy="3931920"/>
          </a:xfrm>
          <a:prstGeom prst="rect">
            <a:avLst/>
          </a:prstGeom>
          <a:noFill/>
          <a:ln/>
        </p:spPr>
        <p:txBody>
          <a:bodyPr wrap="square" lIns="0" tIns="0" rIns="0" bIns="0" rtlCol="0" anchor="t">
            <a:normAutofit/>
          </a:bodyPr>
          <a:lstStyle/>
          <a:p>
            <a:pPr indent="0" marL="0">
              <a:lnSpc>
                <a:spcPct val="120000"/>
              </a:lnSpc>
              <a:spcAft>
                <a:spcPts val="800"/>
              </a:spcAft>
              <a:buNone/>
            </a:pPr>
            <a:r>
              <a:rPr lang="en-US" sz="2000" dirty="0">
                <a:solidFill>
                  <a:srgbClr val="F2F0EA"/>
                </a:solidFill>
                <a:latin typeface="Georgia" pitchFamily="34" charset="0"/>
                <a:ea typeface="Georgia" pitchFamily="34" charset="-122"/>
                <a:cs typeface="Georgia" pitchFamily="34" charset="-120"/>
              </a:rPr>
              <a:t>Falta uma voz. As cantigas eram para ser cantadas, e da música quase nada chegou: dois pergaminhos. Quem as levava de sala em sala era quem as sabia de cor: o autor ou o jogral que o servia. O «eu» da rapariga saía da boca de quem a cantava; o «eu» de D. Dinis também. Entre quem escreve e quem ouve há sempre uma terceira pessoa.A cantiga trovadoresca como um todo dependia, para a sua circulação, sobretudo da memória e do bom ouvido, quer dos autores quer dos jograis que os serviam […].Graça Videira Lopes (coord.), «Sobre as cantigas», Cantigas Medievais Galego-Portuguesas, secção sobre a circulação das cantigas. FCSH/NOVA, em linha</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43</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ESCOLHE UMA POSIÇÃO</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Quatro pessoas à volta de um «eu»: abre as quatro e compara o que cada uma sabe e decide.</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44</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ESCOLHE UMA POSIÇÃO</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Quando uma cantiga diz «eu», de quem é a voz? Escolhe a resposta que defendes e justifica-a em voz alta a alguém.</a:t>
            </a:r>
            <a:endParaRPr lang="en-US" sz="28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1200912"/>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De quem a escreveu</a:t>
            </a:r>
            <a:endParaRPr lang="en-US" sz="2400" dirty="0"/>
          </a:p>
        </p:txBody>
      </p:sp>
      <p:sp>
        <p:nvSpPr>
          <p:cNvPr id="13" name="Shape 11"/>
          <p:cNvSpPr/>
          <p:nvPr/>
        </p:nvSpPr>
        <p:spPr>
          <a:xfrm>
            <a:off x="822960" y="3115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115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124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De quem fala dentro dela</a:t>
            </a:r>
            <a:endParaRPr lang="en-US" sz="2400" dirty="0"/>
          </a:p>
        </p:txBody>
      </p:sp>
      <p:sp>
        <p:nvSpPr>
          <p:cNvPr id="16" name="Shape 14"/>
          <p:cNvSpPr/>
          <p:nvPr/>
        </p:nvSpPr>
        <p:spPr>
          <a:xfrm>
            <a:off x="822960" y="3715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3715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372465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De ninguém: é construída</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45</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DISCUTIR, 1 DE 3</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Caso imaginário: na festa da escola, um rapaz da turma canta «Ondas do mar de Vigo». De quem é o «eu» que se ouve?</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DISCUTIR, 2 DE 3</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Quem fala, e quem nunca chega a falar?</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DISCUTIR, 3 DE 3</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Quando é que um elogio deixa de ser elogio?</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48</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EM PAPEL, O QUE SE ENTREGA</a:t>
            </a:r>
            <a:endParaRPr lang="en-US" sz="1100" dirty="0"/>
          </a:p>
        </p:txBody>
      </p:sp>
      <p:sp>
        <p:nvSpPr>
          <p:cNvPr id="7" name="Text 5"/>
          <p:cNvSpPr/>
          <p:nvPr/>
        </p:nvSpPr>
        <p:spPr>
          <a:xfrm>
            <a:off x="822960" y="1005840"/>
            <a:ext cx="9814255" cy="1554480"/>
          </a:xfrm>
          <a:prstGeom prst="rect">
            <a:avLst/>
          </a:prstGeom>
          <a:noFill/>
          <a:ln/>
        </p:spPr>
        <p:txBody>
          <a:bodyPr wrap="square" lIns="0" tIns="0" rIns="0" bIns="0" rtlCol="0" anchor="b">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Como se dá voz ao desejo, ao elogio e à crítica? Responde em seis a oito linhas, com duas passagens de aulas diferentes da unidade 1, citadas entre aspas.</a:t>
            </a:r>
            <a:endParaRPr lang="en-US" sz="2800" dirty="0"/>
          </a:p>
        </p:txBody>
      </p:sp>
      <p:sp>
        <p:nvSpPr>
          <p:cNvPr id="8" name="Shape 6"/>
          <p:cNvSpPr/>
          <p:nvPr/>
        </p:nvSpPr>
        <p:spPr>
          <a:xfrm>
            <a:off x="822960" y="2697480"/>
            <a:ext cx="640080" cy="64008"/>
          </a:xfrm>
          <a:prstGeom prst="rect">
            <a:avLst/>
          </a:prstGeom>
          <a:solidFill>
            <a:srgbClr val="E4555C"/>
          </a:solidFill>
          <a:ln w="12700">
            <a:solidFill>
              <a:srgbClr val="E4555C"/>
            </a:solidFill>
            <a:prstDash val="solid"/>
          </a:ln>
        </p:spPr>
      </p:sp>
      <p:sp>
        <p:nvSpPr>
          <p:cNvPr id="9" name="Text 7"/>
          <p:cNvSpPr/>
          <p:nvPr/>
        </p:nvSpPr>
        <p:spPr>
          <a:xfrm>
            <a:off x="822960" y="2971800"/>
            <a:ext cx="9814255" cy="320040"/>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QUE CONTA</a:t>
            </a:r>
            <a:endParaRPr lang="en-US" sz="1100" dirty="0"/>
          </a:p>
        </p:txBody>
      </p:sp>
      <p:sp>
        <p:nvSpPr>
          <p:cNvPr id="10" name="Shape 8"/>
          <p:cNvSpPr/>
          <p:nvPr/>
        </p:nvSpPr>
        <p:spPr>
          <a:xfrm>
            <a:off x="1005840" y="3611880"/>
            <a:ext cx="0" cy="1991868"/>
          </a:xfrm>
          <a:prstGeom prst="line">
            <a:avLst/>
          </a:prstGeom>
          <a:noFill/>
          <a:ln w="12700">
            <a:solidFill>
              <a:srgbClr val="A9A79F"/>
            </a:solidFill>
            <a:prstDash val="solid"/>
          </a:ln>
        </p:spPr>
      </p:sp>
      <p:sp>
        <p:nvSpPr>
          <p:cNvPr id="11" name="Shape 9"/>
          <p:cNvSpPr/>
          <p:nvPr/>
        </p:nvSpPr>
        <p:spPr>
          <a:xfrm>
            <a:off x="822960" y="342900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4290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1"/>
          <p:cNvSpPr/>
          <p:nvPr/>
        </p:nvSpPr>
        <p:spPr>
          <a:xfrm>
            <a:off x="1417320" y="3438144"/>
            <a:ext cx="9174175" cy="663956"/>
          </a:xfrm>
          <a:prstGeom prst="rect">
            <a:avLst/>
          </a:prstGeom>
          <a:noFill/>
          <a:ln/>
        </p:spPr>
        <p:txBody>
          <a:bodyPr wrap="square" lIns="0" tIns="0" rIns="0" bIns="0" rtlCol="0" anchor="t">
            <a:normAutofit/>
          </a:bodyPr>
          <a:lstStyle/>
          <a:p>
            <a:pPr indent="0" marL="0">
              <a:lnSpc>
                <a:spcPct val="105000"/>
              </a:lnSpc>
              <a:buNone/>
            </a:pPr>
            <a:r>
              <a:rPr lang="en-US" sz="1400" dirty="0">
                <a:solidFill>
                  <a:srgbClr val="F2F0EA"/>
                </a:solidFill>
                <a:latin typeface="Arial" pitchFamily="34" charset="0"/>
                <a:ea typeface="Arial" pitchFamily="34" charset="-122"/>
                <a:cs typeface="Arial" pitchFamily="34" charset="-120"/>
              </a:rPr>
              <a:t>Diz na primeira frase como se dá voz a pelo menos dois dos três: o desejo, o elogio, a crítica.</a:t>
            </a:r>
            <a:endParaRPr lang="en-US" sz="1400" dirty="0"/>
          </a:p>
        </p:txBody>
      </p:sp>
      <p:sp>
        <p:nvSpPr>
          <p:cNvPr id="14" name="Shape 12"/>
          <p:cNvSpPr/>
          <p:nvPr/>
        </p:nvSpPr>
        <p:spPr>
          <a:xfrm>
            <a:off x="822960" y="409295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40929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1417320" y="4102100"/>
            <a:ext cx="9174175" cy="663956"/>
          </a:xfrm>
          <a:prstGeom prst="rect">
            <a:avLst/>
          </a:prstGeom>
          <a:noFill/>
          <a:ln/>
        </p:spPr>
        <p:txBody>
          <a:bodyPr wrap="square" lIns="0" tIns="0" rIns="0" bIns="0" rtlCol="0" anchor="t">
            <a:normAutofit/>
          </a:bodyPr>
          <a:lstStyle/>
          <a:p>
            <a:pPr indent="0" marL="0">
              <a:lnSpc>
                <a:spcPct val="105000"/>
              </a:lnSpc>
              <a:buNone/>
            </a:pPr>
            <a:r>
              <a:rPr lang="en-US" sz="1400" dirty="0">
                <a:solidFill>
                  <a:srgbClr val="F2F0EA"/>
                </a:solidFill>
                <a:latin typeface="Arial" pitchFamily="34" charset="0"/>
                <a:ea typeface="Arial" pitchFamily="34" charset="-122"/>
                <a:cs typeface="Arial" pitchFamily="34" charset="-120"/>
              </a:rPr>
              <a:t>Usa duas passagens de aulas diferentes da unidade, citadas corretamente e entre aspas, e diz de que cantiga são.</a:t>
            </a:r>
            <a:endParaRPr lang="en-US" sz="1400" dirty="0"/>
          </a:p>
        </p:txBody>
      </p:sp>
      <p:sp>
        <p:nvSpPr>
          <p:cNvPr id="17" name="Shape 15"/>
          <p:cNvSpPr/>
          <p:nvPr/>
        </p:nvSpPr>
        <p:spPr>
          <a:xfrm>
            <a:off x="822960" y="475691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47569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1417320" y="4766056"/>
            <a:ext cx="9174175" cy="663956"/>
          </a:xfrm>
          <a:prstGeom prst="rect">
            <a:avLst/>
          </a:prstGeom>
          <a:noFill/>
          <a:ln/>
        </p:spPr>
        <p:txBody>
          <a:bodyPr wrap="square" lIns="0" tIns="0" rIns="0" bIns="0" rtlCol="0" anchor="t">
            <a:normAutofit/>
          </a:bodyPr>
          <a:lstStyle/>
          <a:p>
            <a:pPr indent="0" marL="0">
              <a:lnSpc>
                <a:spcPct val="105000"/>
              </a:lnSpc>
              <a:buNone/>
            </a:pPr>
            <a:r>
              <a:rPr lang="en-US" sz="1400" dirty="0">
                <a:solidFill>
                  <a:srgbClr val="F2F0EA"/>
                </a:solidFill>
                <a:latin typeface="Arial" pitchFamily="34" charset="0"/>
                <a:ea typeface="Arial" pitchFamily="34" charset="-122"/>
                <a:cs typeface="Arial" pitchFamily="34" charset="-120"/>
              </a:rPr>
              <a:t>Separa quem escreve de quem diz «eu» e usa pelo menos um termo da unidade com o seu sentido (cantiga de amigo, cantiga de amor, hipérbole, escárnio e maldizer, ironia, paródia).</a:t>
            </a:r>
            <a:endParaRPr lang="en-US" sz="1400" dirty="0"/>
          </a:p>
        </p:txBody>
      </p:sp>
      <p:sp>
        <p:nvSpPr>
          <p:cNvPr id="20" name="Shape 18"/>
          <p:cNvSpPr/>
          <p:nvPr/>
        </p:nvSpPr>
        <p:spPr>
          <a:xfrm>
            <a:off x="822960" y="5420868"/>
            <a:ext cx="365760" cy="365760"/>
          </a:xfrm>
          <a:prstGeom prst="ellipse">
            <a:avLst/>
          </a:prstGeom>
          <a:solidFill>
            <a:srgbClr val="111111"/>
          </a:solidFill>
          <a:ln w="15875">
            <a:solidFill>
              <a:srgbClr val="F2F0EA"/>
            </a:solidFill>
            <a:prstDash val="solid"/>
          </a:ln>
        </p:spPr>
      </p:sp>
      <p:sp>
        <p:nvSpPr>
          <p:cNvPr id="21" name="Text 19"/>
          <p:cNvSpPr/>
          <p:nvPr/>
        </p:nvSpPr>
        <p:spPr>
          <a:xfrm>
            <a:off x="822960" y="54208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4</a:t>
            </a:r>
            <a:endParaRPr lang="en-US" sz="1300" dirty="0"/>
          </a:p>
        </p:txBody>
      </p:sp>
      <p:sp>
        <p:nvSpPr>
          <p:cNvPr id="22" name="Text 20"/>
          <p:cNvSpPr/>
          <p:nvPr/>
        </p:nvSpPr>
        <p:spPr>
          <a:xfrm>
            <a:off x="1417320" y="5430012"/>
            <a:ext cx="9174175" cy="441706"/>
          </a:xfrm>
          <a:prstGeom prst="rect">
            <a:avLst/>
          </a:prstGeom>
          <a:noFill/>
          <a:ln/>
        </p:spPr>
        <p:txBody>
          <a:bodyPr wrap="square" lIns="0" tIns="0" rIns="0" bIns="0" rtlCol="0" anchor="t">
            <a:normAutofit/>
          </a:bodyPr>
          <a:lstStyle/>
          <a:p>
            <a:pPr indent="0" marL="0">
              <a:lnSpc>
                <a:spcPct val="105000"/>
              </a:lnSpc>
              <a:buNone/>
            </a:pPr>
            <a:r>
              <a:rPr lang="en-US" sz="1400" dirty="0">
                <a:solidFill>
                  <a:srgbClr val="F2F0EA"/>
                </a:solidFill>
                <a:latin typeface="Arial" pitchFamily="34" charset="0"/>
                <a:ea typeface="Arial" pitchFamily="34" charset="-122"/>
                <a:cs typeface="Arial" pitchFamily="34" charset="-120"/>
              </a:rPr>
              <a:t>Explica o que cada passagem mostra, sem ficar pela citação.</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49</a:t>
            </a:r>
            <a:endParaRPr lang="en-US" sz="1000" dirty="0"/>
          </a:p>
        </p:txBody>
      </p:sp>
      <p:sp>
        <p:nvSpPr>
          <p:cNvPr id="5" name="Shape 3"/>
          <p:cNvSpPr/>
          <p:nvPr/>
        </p:nvSpPr>
        <p:spPr>
          <a:xfrm>
            <a:off x="822960" y="502920"/>
            <a:ext cx="201168" cy="201168"/>
          </a:xfrm>
          <a:prstGeom prst="triangl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LEVAR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O «eu» de uma cantiga é uma voz emprestada: alguém a escreveu, alguém a cantou, alguém a aceitou. Ler é perguntar quem, a quem, e para quê.</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1, aula 6: A voz emprestada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50</a:t>
            </a:r>
            <a:endParaRPr lang="en-US" sz="1000" dirty="0"/>
          </a:p>
        </p:txBody>
      </p:sp>
      <p:sp>
        <p:nvSpPr>
          <p:cNvPr id="5" name="Shape 3"/>
          <p:cNvSpPr/>
          <p:nvPr/>
        </p:nvSpPr>
        <p:spPr>
          <a:xfrm>
            <a:off x="822960" y="502920"/>
            <a:ext cx="201168" cy="201168"/>
          </a:xfrm>
          <a:prstGeom prst="triangl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ATÉ À PRÓXIMA AULA</a:t>
            </a:r>
            <a:endParaRPr lang="en-US" sz="1100" dirty="0"/>
          </a:p>
        </p:txBody>
      </p:sp>
      <p:sp>
        <p:nvSpPr>
          <p:cNvPr id="7" name="Text 5"/>
          <p:cNvSpPr/>
          <p:nvPr/>
        </p:nvSpPr>
        <p:spPr>
          <a:xfrm>
            <a:off x="822960" y="868680"/>
            <a:ext cx="6705295" cy="822960"/>
          </a:xfrm>
          <a:prstGeom prst="rect">
            <a:avLst/>
          </a:prstGeom>
          <a:noFill/>
          <a:ln/>
        </p:spPr>
        <p:txBody>
          <a:bodyPr wrap="square" lIns="0" tIns="0" rIns="0" bIns="0" rtlCol="0" anchor="b"/>
          <a:lstStyle/>
          <a:p>
            <a:pPr indent="0" marL="0">
              <a:buNone/>
            </a:pPr>
            <a:r>
              <a:rPr lang="en-US" sz="3600" dirty="0">
                <a:solidFill>
                  <a:srgbClr val="F2F0EA"/>
                </a:solidFill>
                <a:latin typeface="Arial" pitchFamily="34" charset="0"/>
                <a:ea typeface="Arial" pitchFamily="34" charset="-122"/>
                <a:cs typeface="Arial" pitchFamily="34" charset="-120"/>
              </a:rPr>
              <a:t>Para ir mais longe</a:t>
            </a:r>
            <a:endParaRPr lang="en-US" sz="36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6522415" cy="329184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F2F0EA"/>
                </a:solidFill>
                <a:latin typeface="Georgia" pitchFamily="34" charset="0"/>
                <a:ea typeface="Georgia" pitchFamily="34" charset="-122"/>
                <a:cs typeface="Georgia" pitchFamily="34" charset="-120"/>
              </a:rPr>
              <a:t>Para ir mais longe (opcional): refazer o exercício sozinho, no telemóvel, ao teu ritmo (cerca de 22 minutos); e, depois de leres o Ler a fundo «No tempo da flor» (D. Dinis, cantiga 548), escrever no caderno, em três linhas, se o «eu» de D. Dinis te convence mais do que o da rapariga de Mendinho, com um verso de cada. Quem não passou o desafio repete-o, com perguntas novas; todos registam a síntese no percurso. Se quiseres mais: o Ler a fundo «As flores respondem» (a cantiga do Ato 2 inteira), Corta!, «A madrugada de Torneol», no percurso, e, se não entraram na aula 5, o Ler a fundo «Louvar e troçar» e o Olhar «Cancioneiro da Ajuda».</a:t>
            </a:r>
            <a:endParaRPr lang="en-US" sz="2400" dirty="0"/>
          </a:p>
        </p:txBody>
      </p:sp>
      <p:sp>
        <p:nvSpPr>
          <p:cNvPr id="10" name="Shape 8"/>
          <p:cNvSpPr/>
          <p:nvPr/>
        </p:nvSpPr>
        <p:spPr>
          <a:xfrm>
            <a:off x="8515807" y="1078992"/>
            <a:ext cx="2962656" cy="2962656"/>
          </a:xfrm>
          <a:prstGeom prst="rect">
            <a:avLst/>
          </a:prstGeom>
          <a:solidFill>
            <a:srgbClr val="FFFFFF"/>
          </a:solidFill>
          <a:ln w="12700">
            <a:solidFill>
              <a:srgbClr val="F2F0EA"/>
            </a:solidFill>
            <a:prstDash val="solid"/>
          </a:ln>
        </p:spPr>
      </p:sp>
      <p:pic>
        <p:nvPicPr>
          <p:cNvPr id="11" name="Image 0" descr="/tmp/aulas-diap-TXxbXe/qr-6.png">    </p:cNvPr>
          <p:cNvPicPr>
            <a:picLocks noChangeAspect="1"/>
          </p:cNvPicPr>
          <p:nvPr/>
        </p:nvPicPr>
        <p:blipFill>
          <a:blip r:embed="rId1"/>
          <a:stretch>
            <a:fillRect/>
          </a:stretch>
        </p:blipFill>
        <p:spPr>
          <a:xfrm>
            <a:off x="8625535" y="1188720"/>
            <a:ext cx="2743200" cy="2743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Módulo 1, aula 6: A voz emprestada</dc:title>
  <dc:subject>PptxGenJS Presentation</dc:subject>
  <dc:creator>EPI, Português</dc:creator>
  <cp:lastModifiedBy>EPI, Português</cp:lastModifiedBy>
  <cp:revision>1</cp:revision>
  <dcterms:created xsi:type="dcterms:W3CDTF">2026-10-24T11:04:22Z</dcterms:created>
  <dcterms:modified xsi:type="dcterms:W3CDTF">2026-10-24T11:04:22Z</dcterms:modified>
</cp:coreProperties>
</file>