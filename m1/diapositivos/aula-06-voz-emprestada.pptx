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1, aula 6: A voz emprestada</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1</a:t>
            </a:r>
            <a:endParaRPr lang="en-US" sz="1000" dirty="0"/>
          </a:p>
        </p:txBody>
      </p:sp>
      <p:sp>
        <p:nvSpPr>
          <p:cNvPr id="5" name="Text 3"/>
          <p:cNvSpPr/>
          <p:nvPr/>
        </p:nvSpPr>
        <p:spPr>
          <a:xfrm>
            <a:off x="822960" y="457200"/>
            <a:ext cx="981425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PORTUGUÊS, 1.º ANO, MÓDULO 1, UNIDADE 1: VOZES DA LÍRICA MEDIEVAL</a:t>
            </a:r>
            <a:endParaRPr lang="en-US" sz="1100" dirty="0"/>
          </a:p>
        </p:txBody>
      </p:sp>
      <p:sp>
        <p:nvSpPr>
          <p:cNvPr id="6" name="Text 4"/>
          <p:cNvSpPr/>
          <p:nvPr/>
        </p:nvSpPr>
        <p:spPr>
          <a:xfrm>
            <a:off x="777240" y="685800"/>
            <a:ext cx="5120640" cy="1920240"/>
          </a:xfrm>
          <a:prstGeom prst="rect">
            <a:avLst/>
          </a:prstGeom>
          <a:noFill/>
          <a:ln/>
        </p:spPr>
        <p:txBody>
          <a:bodyPr wrap="square" lIns="0" tIns="0" rIns="0" bIns="0" rtlCol="0" anchor="b"/>
          <a:lstStyle/>
          <a:p>
            <a:pPr indent="0" marL="0">
              <a:buNone/>
            </a:pPr>
            <a:r>
              <a:rPr lang="en-US" sz="15000" dirty="0">
                <a:solidFill>
                  <a:srgbClr val="F2F0EA"/>
                </a:solidFill>
                <a:latin typeface="Arial" pitchFamily="34" charset="0"/>
                <a:ea typeface="Arial" pitchFamily="34" charset="-122"/>
                <a:cs typeface="Arial" pitchFamily="34" charset="-120"/>
              </a:rPr>
              <a:t>6</a:t>
            </a:r>
            <a:endParaRPr lang="en-US" sz="15000" dirty="0"/>
          </a:p>
        </p:txBody>
      </p:sp>
      <p:sp>
        <p:nvSpPr>
          <p:cNvPr id="7" name="Text 5"/>
          <p:cNvSpPr/>
          <p:nvPr/>
        </p:nvSpPr>
        <p:spPr>
          <a:xfrm>
            <a:off x="822960" y="2697480"/>
            <a:ext cx="6583680" cy="1280160"/>
          </a:xfrm>
          <a:prstGeom prst="rect">
            <a:avLst/>
          </a:prstGeom>
          <a:noFill/>
          <a:ln/>
        </p:spPr>
        <p:txBody>
          <a:bodyPr wrap="square" lIns="0" tIns="0" rIns="0" bIns="0" rtlCol="0" anchor="b">
            <a:normAutofit/>
          </a:bodyPr>
          <a:lstStyle/>
          <a:p>
            <a:pPr indent="0" marL="0">
              <a:buNone/>
            </a:pPr>
            <a:r>
              <a:rPr lang="en-US" sz="4000" dirty="0">
                <a:solidFill>
                  <a:srgbClr val="F2F0EA"/>
                </a:solidFill>
                <a:latin typeface="Arial" pitchFamily="34" charset="0"/>
                <a:ea typeface="Arial" pitchFamily="34" charset="-122"/>
                <a:cs typeface="Arial" pitchFamily="34" charset="-120"/>
              </a:rPr>
              <a:t>A voz emprestada</a:t>
            </a:r>
            <a:endParaRPr lang="en-US" sz="4000" dirty="0"/>
          </a:p>
        </p:txBody>
      </p:sp>
      <p:sp>
        <p:nvSpPr>
          <p:cNvPr id="8" name="Shape 6"/>
          <p:cNvSpPr/>
          <p:nvPr/>
        </p:nvSpPr>
        <p:spPr>
          <a:xfrm>
            <a:off x="822960" y="4069080"/>
            <a:ext cx="640080" cy="64008"/>
          </a:xfrm>
          <a:prstGeom prst="rect">
            <a:avLst/>
          </a:prstGeom>
          <a:solidFill>
            <a:srgbClr val="E4555C"/>
          </a:solidFill>
          <a:ln w="12700">
            <a:solidFill>
              <a:srgbClr val="E4555C"/>
            </a:solidFill>
            <a:prstDash val="solid"/>
          </a:ln>
        </p:spPr>
      </p:sp>
      <p:sp>
        <p:nvSpPr>
          <p:cNvPr id="9" name="Text 7"/>
          <p:cNvSpPr/>
          <p:nvPr/>
        </p:nvSpPr>
        <p:spPr>
          <a:xfrm>
            <a:off x="822960" y="4297680"/>
            <a:ext cx="6583680" cy="1463040"/>
          </a:xfrm>
          <a:prstGeom prst="rect">
            <a:avLst/>
          </a:prstGeom>
          <a:noFill/>
          <a:ln/>
        </p:spPr>
        <p:txBody>
          <a:bodyPr wrap="square" lIns="0" tIns="0" rIns="0" bIns="0" rtlCol="0" anchor="t">
            <a:normAutofit/>
          </a:bodyPr>
          <a:lstStyle/>
          <a:p>
            <a:pPr indent="0" marL="0">
              <a:lnSpc>
                <a:spcPct val="115000"/>
              </a:lnSpc>
              <a:buNone/>
            </a:pPr>
            <a:r>
              <a:rPr lang="en-US" sz="1800" i="1" dirty="0">
                <a:solidFill>
                  <a:srgbClr val="F2F0EA"/>
                </a:solidFill>
                <a:latin typeface="Georgia" pitchFamily="34" charset="0"/>
                <a:ea typeface="Georgia" pitchFamily="34" charset="-122"/>
                <a:cs typeface="Georgia" pitchFamily="34" charset="-120"/>
              </a:rPr>
              <a:t>Decidir, com versos das cantigas lidas na unidade, de quem é a voz quando uma cantiga diz «eu» (quem escreve, quem fala, quem canta, quem ouve), e fechar a unidade 1 com o desafio e a síntese escrita.</a:t>
            </a:r>
            <a:endParaRPr lang="en-US" sz="1800" dirty="0"/>
          </a:p>
        </p:txBody>
      </p:sp>
      <p:sp>
        <p:nvSpPr>
          <p:cNvPr id="10" name="Shape 8"/>
          <p:cNvSpPr/>
          <p:nvPr/>
        </p:nvSpPr>
        <p:spPr>
          <a:xfrm>
            <a:off x="822960" y="6089904"/>
            <a:ext cx="182880" cy="182880"/>
          </a:xfrm>
          <a:prstGeom prst="ellipse">
            <a:avLst/>
          </a:prstGeom>
          <a:ln w="19050">
            <a:solidFill>
              <a:srgbClr val="F2F0EA"/>
            </a:solidFill>
            <a:prstDash val="solid"/>
          </a:ln>
        </p:spPr>
      </p:sp>
      <p:sp>
        <p:nvSpPr>
          <p:cNvPr id="11" name="Shape 9"/>
          <p:cNvSpPr/>
          <p:nvPr/>
        </p:nvSpPr>
        <p:spPr>
          <a:xfrm>
            <a:off x="1152144" y="6089904"/>
            <a:ext cx="182880" cy="182880"/>
          </a:xfrm>
          <a:prstGeom prst="rect">
            <a:avLst/>
          </a:prstGeom>
          <a:ln w="19050">
            <a:solidFill>
              <a:srgbClr val="F2F0EA"/>
            </a:solidFill>
            <a:prstDash val="solid"/>
          </a:ln>
        </p:spPr>
      </p:sp>
      <p:sp>
        <p:nvSpPr>
          <p:cNvPr id="12" name="Shape 10"/>
          <p:cNvSpPr/>
          <p:nvPr/>
        </p:nvSpPr>
        <p:spPr>
          <a:xfrm>
            <a:off x="1481328" y="6089904"/>
            <a:ext cx="182880" cy="182880"/>
          </a:xfrm>
          <a:prstGeom prst="triangle">
            <a:avLst/>
          </a:prstGeom>
          <a:ln w="19050">
            <a:solidFill>
              <a:srgbClr val="F2F0EA"/>
            </a:solidFill>
            <a:prstDash val="solid"/>
          </a:ln>
        </p:spPr>
      </p:sp>
      <p:sp>
        <p:nvSpPr>
          <p:cNvPr id="13" name="Text 11"/>
          <p:cNvSpPr/>
          <p:nvPr/>
        </p:nvSpPr>
        <p:spPr>
          <a:xfrm>
            <a:off x="1874520" y="6062472"/>
            <a:ext cx="2743200" cy="237744"/>
          </a:xfrm>
          <a:prstGeom prst="rect">
            <a:avLst/>
          </a:prstGeom>
          <a:noFill/>
          <a:ln/>
        </p:spPr>
        <p:txBody>
          <a:bodyPr wrap="square" lIns="0" tIns="0" rIns="0" bIns="0" rtlCol="0" anchor="ctr"/>
          <a:lstStyle/>
          <a:p>
            <a:pPr indent="0" marL="0">
              <a:buNone/>
            </a:pPr>
            <a:r>
              <a:rPr lang="en-US" sz="1100" dirty="0">
                <a:solidFill>
                  <a:srgbClr val="A9A79F"/>
                </a:solidFill>
                <a:latin typeface="Arial" pitchFamily="34" charset="0"/>
                <a:ea typeface="Arial" pitchFamily="34" charset="-122"/>
                <a:cs typeface="Arial" pitchFamily="34" charset="-120"/>
              </a:rPr>
              <a:t>lê, faz, leva</a:t>
            </a:r>
            <a:endParaRPr lang="en-US" sz="1100" dirty="0"/>
          </a:p>
        </p:txBody>
      </p:sp>
      <p:sp>
        <p:nvSpPr>
          <p:cNvPr id="14" name="Shape 12"/>
          <p:cNvSpPr/>
          <p:nvPr/>
        </p:nvSpPr>
        <p:spPr>
          <a:xfrm>
            <a:off x="8515807" y="1078992"/>
            <a:ext cx="2962656" cy="2962656"/>
          </a:xfrm>
          <a:prstGeom prst="rect">
            <a:avLst/>
          </a:prstGeom>
          <a:solidFill>
            <a:srgbClr val="FFFFFF"/>
          </a:solidFill>
          <a:ln w="12700">
            <a:solidFill>
              <a:srgbClr val="F2F0EA"/>
            </a:solidFill>
            <a:prstDash val="solid"/>
          </a:ln>
        </p:spPr>
      </p:sp>
      <p:pic>
        <p:nvPicPr>
          <p:cNvPr id="15" name="Image 0" descr="/tmp/aulas-diap-TXxbXe/qr-6.png">    </p:cNvPr>
          <p:cNvPicPr>
            <a:picLocks noChangeAspect="1"/>
          </p:cNvPicPr>
          <p:nvPr/>
        </p:nvPicPr>
        <p:blipFill>
          <a:blip r:embed="rId1"/>
          <a:stretch>
            <a:fillRect/>
          </a:stretch>
        </p:blipFill>
        <p:spPr>
          <a:xfrm>
            <a:off x="8625535" y="1188720"/>
            <a:ext cx="2743200" cy="2743200"/>
          </a:xfrm>
          <a:prstGeom prst="rect">
            <a:avLst/>
          </a:prstGeom>
        </p:spPr>
      </p:pic>
      <p:sp>
        <p:nvSpPr>
          <p:cNvPr id="16" name="Text 13"/>
          <p:cNvSpPr/>
          <p:nvPr/>
        </p:nvSpPr>
        <p:spPr>
          <a:xfrm>
            <a:off x="8442655" y="4160520"/>
            <a:ext cx="3108960" cy="640080"/>
          </a:xfrm>
          <a:prstGeom prst="rect">
            <a:avLst/>
          </a:prstGeom>
          <a:noFill/>
          <a:ln/>
        </p:spPr>
        <p:txBody>
          <a:bodyPr wrap="square" lIns="0" tIns="0" rIns="0" bIns="0" rtlCol="0" anchor="t">
            <a:normAutofit/>
          </a:bodyPr>
          <a:lstStyle/>
          <a:p>
            <a:pPr algn="ctr" indent="0" marL="0">
              <a:buNone/>
            </a:pPr>
            <a:r>
              <a:rPr lang="en-US" sz="1200" dirty="0">
                <a:solidFill>
                  <a:srgbClr val="F2F0EA"/>
                </a:solidFill>
                <a:latin typeface="Arial" pitchFamily="34" charset="0"/>
                <a:ea typeface="Arial" pitchFamily="34" charset="-122"/>
                <a:cs typeface="Arial" pitchFamily="34" charset="-120"/>
              </a:rPr>
              <a:t>pedrohfernandes-klk.github.io/pt/m1/</a:t>
            </a:r>
            <a:endParaRPr lang="en-US" sz="1200" dirty="0"/>
          </a:p>
          <a:p>
            <a:pPr algn="ctr" indent="0" marL="0">
              <a:buNone/>
            </a:pPr>
            <a:r>
              <a:rPr lang="en-US" sz="1200" dirty="0">
                <a:solidFill>
                  <a:srgbClr val="F2F0EA"/>
                </a:solidFill>
                <a:latin typeface="Arial" pitchFamily="34" charset="0"/>
                <a:ea typeface="Arial" pitchFamily="34" charset="-122"/>
                <a:cs typeface="Arial" pitchFamily="34" charset="-120"/>
              </a:rPr>
              <a:t>m1-voz-emprestada/</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1, aula 6: A voz emprestada</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2</a:t>
            </a:r>
            <a:endParaRPr lang="en-US" sz="1000" dirty="0"/>
          </a:p>
        </p:txBody>
      </p:sp>
      <p:sp>
        <p:nvSpPr>
          <p:cNvPr id="5" name="Shape 3"/>
          <p:cNvSpPr/>
          <p:nvPr/>
        </p:nvSpPr>
        <p:spPr>
          <a:xfrm>
            <a:off x="822960" y="502920"/>
            <a:ext cx="201168" cy="201168"/>
          </a:xfrm>
          <a:prstGeom prst="ellipse">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HOJE, 90 MINUTOS</a:t>
            </a:r>
            <a:endParaRPr lang="en-US" sz="1100" dirty="0"/>
          </a:p>
        </p:txBody>
      </p:sp>
      <p:sp>
        <p:nvSpPr>
          <p:cNvPr id="7" name="Text 5"/>
          <p:cNvSpPr/>
          <p:nvPr/>
        </p:nvSpPr>
        <p:spPr>
          <a:xfrm>
            <a:off x="822960" y="868680"/>
            <a:ext cx="9814255" cy="822960"/>
          </a:xfrm>
          <a:prstGeom prst="rect">
            <a:avLst/>
          </a:prstGeom>
          <a:noFill/>
          <a:ln/>
        </p:spPr>
        <p:txBody>
          <a:bodyPr wrap="square" lIns="0" tIns="0" rIns="0" bIns="0" rtlCol="0" anchor="b">
            <a:normAutofit/>
          </a:bodyPr>
          <a:lstStyle/>
          <a:p>
            <a:pPr indent="0" marL="0">
              <a:buNone/>
            </a:pPr>
            <a:r>
              <a:rPr lang="en-US" sz="3400" dirty="0">
                <a:solidFill>
                  <a:srgbClr val="F2F0EA"/>
                </a:solidFill>
                <a:latin typeface="Arial" pitchFamily="34" charset="0"/>
                <a:ea typeface="Arial" pitchFamily="34" charset="-122"/>
                <a:cs typeface="Arial" pitchFamily="34" charset="-120"/>
              </a:rPr>
              <a:t>A voz emprestada</a:t>
            </a:r>
            <a:endParaRPr lang="en-US" sz="3400" dirty="0"/>
          </a:p>
        </p:txBody>
      </p:sp>
      <p:sp>
        <p:nvSpPr>
          <p:cNvPr id="8" name="Shape 6"/>
          <p:cNvSpPr/>
          <p:nvPr/>
        </p:nvSpPr>
        <p:spPr>
          <a:xfrm>
            <a:off x="822960" y="1746504"/>
            <a:ext cx="640080" cy="64008"/>
          </a:xfrm>
          <a:prstGeom prst="rect">
            <a:avLst/>
          </a:prstGeom>
          <a:solidFill>
            <a:srgbClr val="E4555C"/>
          </a:solidFill>
          <a:ln w="12700">
            <a:solidFill>
              <a:srgbClr val="E4555C"/>
            </a:solidFill>
            <a:prstDash val="solid"/>
          </a:ln>
        </p:spPr>
      </p:sp>
      <p:sp>
        <p:nvSpPr>
          <p:cNvPr id="9" name="Text 7"/>
          <p:cNvSpPr/>
          <p:nvPr/>
        </p:nvSpPr>
        <p:spPr>
          <a:xfrm>
            <a:off x="822960" y="2148840"/>
            <a:ext cx="1828800" cy="365760"/>
          </a:xfrm>
          <a:prstGeom prst="rect">
            <a:avLst/>
          </a:prstGeom>
          <a:noFill/>
          <a:ln/>
        </p:spPr>
        <p:txBody>
          <a:bodyPr wrap="square" lIns="0" tIns="0" rIns="0" bIns="0" rtlCol="0" anchor="ctr"/>
          <a:lstStyle/>
          <a:p>
            <a:pPr indent="0" marL="0">
              <a:buNone/>
            </a:pPr>
            <a:r>
              <a:rPr lang="en-US" sz="1200" b="1" spc="250" kern="0" dirty="0">
                <a:solidFill>
                  <a:srgbClr val="A9A79F"/>
                </a:solidFill>
                <a:latin typeface="Arial" pitchFamily="34" charset="0"/>
                <a:ea typeface="Arial" pitchFamily="34" charset="-122"/>
                <a:cs typeface="Arial" pitchFamily="34" charset="-120"/>
              </a:rPr>
              <a:t>HOJE</a:t>
            </a:r>
            <a:endParaRPr lang="en-US" sz="1200" dirty="0"/>
          </a:p>
        </p:txBody>
      </p:sp>
      <p:sp>
        <p:nvSpPr>
          <p:cNvPr id="10" name="Text 8"/>
          <p:cNvSpPr/>
          <p:nvPr/>
        </p:nvSpPr>
        <p:spPr>
          <a:xfrm>
            <a:off x="2743200" y="2093976"/>
            <a:ext cx="7894015" cy="1143000"/>
          </a:xfrm>
          <a:prstGeom prst="rect">
            <a:avLst/>
          </a:prstGeom>
          <a:noFill/>
          <a:ln/>
        </p:spPr>
        <p:txBody>
          <a:bodyPr wrap="square" lIns="0" tIns="0" rIns="0" bIns="0" rtlCol="0" anchor="t">
            <a:normAutofit/>
          </a:bodyPr>
          <a:lstStyle/>
          <a:p>
            <a:pPr indent="0" marL="0">
              <a:buNone/>
            </a:pPr>
            <a:r>
              <a:rPr lang="en-US" sz="2400" dirty="0">
                <a:solidFill>
                  <a:srgbClr val="F2F0EA"/>
                </a:solidFill>
                <a:latin typeface="Arial" pitchFamily="34" charset="0"/>
                <a:ea typeface="Arial" pitchFamily="34" charset="-122"/>
                <a:cs typeface="Arial" pitchFamily="34" charset="-120"/>
              </a:rPr>
              <a:t>Decidir, com versos das cantigas lidas na unidade, de quem é a voz quando uma cantiga diz «eu» (quem escreve, quem fala, quem canta, quem ouve), e fechar a unidade 1 com o desafio e a síntese escrita.</a:t>
            </a:r>
            <a:endParaRPr lang="en-US" sz="2400" dirty="0"/>
          </a:p>
        </p:txBody>
      </p:sp>
      <p:sp>
        <p:nvSpPr>
          <p:cNvPr id="11" name="Text 9"/>
          <p:cNvSpPr/>
          <p:nvPr/>
        </p:nvSpPr>
        <p:spPr>
          <a:xfrm>
            <a:off x="822960" y="3474720"/>
            <a:ext cx="1828800" cy="365760"/>
          </a:xfrm>
          <a:prstGeom prst="rect">
            <a:avLst/>
          </a:prstGeom>
          <a:noFill/>
          <a:ln/>
        </p:spPr>
        <p:txBody>
          <a:bodyPr wrap="square" lIns="0" tIns="0" rIns="0" bIns="0" rtlCol="0" anchor="ctr"/>
          <a:lstStyle/>
          <a:p>
            <a:pPr indent="0" marL="0">
              <a:buNone/>
            </a:pPr>
            <a:r>
              <a:rPr lang="en-US" sz="1200" b="1" spc="250" kern="0" dirty="0">
                <a:solidFill>
                  <a:srgbClr val="A9A79F"/>
                </a:solidFill>
                <a:latin typeface="Arial" pitchFamily="34" charset="0"/>
                <a:ea typeface="Arial" pitchFamily="34" charset="-122"/>
                <a:cs typeface="Arial" pitchFamily="34" charset="-120"/>
              </a:rPr>
              <a:t>TEMPO</a:t>
            </a:r>
            <a:endParaRPr lang="en-US" sz="1200" dirty="0"/>
          </a:p>
        </p:txBody>
      </p:sp>
      <p:sp>
        <p:nvSpPr>
          <p:cNvPr id="12" name="Text 10"/>
          <p:cNvSpPr/>
          <p:nvPr/>
        </p:nvSpPr>
        <p:spPr>
          <a:xfrm>
            <a:off x="2743200" y="3419856"/>
            <a:ext cx="7894015" cy="1143000"/>
          </a:xfrm>
          <a:prstGeom prst="rect">
            <a:avLst/>
          </a:prstGeom>
          <a:noFill/>
          <a:ln/>
        </p:spPr>
        <p:txBody>
          <a:bodyPr wrap="square" lIns="0" tIns="0" rIns="0" bIns="0" rtlCol="0" anchor="t">
            <a:normAutofit/>
          </a:bodyPr>
          <a:lstStyle/>
          <a:p>
            <a:pPr indent="0" marL="0">
              <a:buNone/>
            </a:pPr>
            <a:r>
              <a:rPr lang="en-US" sz="2400" dirty="0">
                <a:solidFill>
                  <a:srgbClr val="F2F0EA"/>
                </a:solidFill>
                <a:latin typeface="Arial" pitchFamily="34" charset="0"/>
                <a:ea typeface="Arial" pitchFamily="34" charset="-122"/>
                <a:cs typeface="Arial" pitchFamily="34" charset="-120"/>
              </a:rPr>
              <a:t>90 minutos: os 33 cartões do exercício, projetados, três colunas no caderno, o desafio da unidade 1, uma conversa curta e a síntese escrita.</a:t>
            </a:r>
            <a:endParaRPr lang="en-US" sz="2400" dirty="0"/>
          </a:p>
        </p:txBody>
      </p:sp>
      <p:sp>
        <p:nvSpPr>
          <p:cNvPr id="13" name="Text 11"/>
          <p:cNvSpPr/>
          <p:nvPr/>
        </p:nvSpPr>
        <p:spPr>
          <a:xfrm>
            <a:off x="822960" y="4800600"/>
            <a:ext cx="1828800" cy="365760"/>
          </a:xfrm>
          <a:prstGeom prst="rect">
            <a:avLst/>
          </a:prstGeom>
          <a:noFill/>
          <a:ln/>
        </p:spPr>
        <p:txBody>
          <a:bodyPr wrap="square" lIns="0" tIns="0" rIns="0" bIns="0" rtlCol="0" anchor="ctr"/>
          <a:lstStyle/>
          <a:p>
            <a:pPr indent="0" marL="0">
              <a:buNone/>
            </a:pPr>
            <a:r>
              <a:rPr lang="en-US" sz="1200" b="1" spc="250" kern="0" dirty="0">
                <a:solidFill>
                  <a:srgbClr val="A9A79F"/>
                </a:solidFill>
                <a:latin typeface="Arial" pitchFamily="34" charset="0"/>
                <a:ea typeface="Arial" pitchFamily="34" charset="-122"/>
                <a:cs typeface="Arial" pitchFamily="34" charset="-120"/>
              </a:rPr>
              <a:t>NO FIM</a:t>
            </a:r>
            <a:endParaRPr lang="en-US" sz="1200" dirty="0"/>
          </a:p>
        </p:txBody>
      </p:sp>
      <p:sp>
        <p:nvSpPr>
          <p:cNvPr id="14" name="Text 12"/>
          <p:cNvSpPr/>
          <p:nvPr/>
        </p:nvSpPr>
        <p:spPr>
          <a:xfrm>
            <a:off x="2743200" y="4745736"/>
            <a:ext cx="7894015" cy="1143000"/>
          </a:xfrm>
          <a:prstGeom prst="rect">
            <a:avLst/>
          </a:prstGeom>
          <a:noFill/>
          <a:ln/>
        </p:spPr>
        <p:txBody>
          <a:bodyPr wrap="square" lIns="0" tIns="0" rIns="0" bIns="0" rtlCol="0" anchor="t">
            <a:normAutofit/>
          </a:bodyPr>
          <a:lstStyle/>
          <a:p>
            <a:pPr indent="0" marL="0">
              <a:buNone/>
            </a:pPr>
            <a:r>
              <a:rPr lang="en-US" sz="2400" dirty="0">
                <a:solidFill>
                  <a:srgbClr val="F2F0EA"/>
                </a:solidFill>
                <a:latin typeface="Arial" pitchFamily="34" charset="0"/>
                <a:ea typeface="Arial" pitchFamily="34" charset="-122"/>
                <a:cs typeface="Arial" pitchFamily="34" charset="-120"/>
              </a:rPr>
              <a:t>Em papel, seis a oito linhas, individual: como se dá voz ao desejo, ao elogio e à crítica? Com duas passagens de aulas diferentes da unidade, entre aspas.</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1, aula 6: A voz emprestada</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3</a:t>
            </a:r>
            <a:endParaRPr lang="en-US" sz="1000" dirty="0"/>
          </a:p>
        </p:txBody>
      </p:sp>
      <p:sp>
        <p:nvSpPr>
          <p:cNvPr id="5" name="Shape 3"/>
          <p:cNvSpPr/>
          <p:nvPr/>
        </p:nvSpPr>
        <p:spPr>
          <a:xfrm>
            <a:off x="822960" y="502920"/>
            <a:ext cx="201168" cy="201168"/>
          </a:xfrm>
          <a:prstGeom prst="ellipse">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ATO 1</a:t>
            </a:r>
            <a:endParaRPr lang="en-US" sz="1100" dirty="0"/>
          </a:p>
        </p:txBody>
      </p:sp>
      <p:sp>
        <p:nvSpPr>
          <p:cNvPr id="7" name="Text 5"/>
          <p:cNvSpPr/>
          <p:nvPr/>
        </p:nvSpPr>
        <p:spPr>
          <a:xfrm>
            <a:off x="822960" y="868680"/>
            <a:ext cx="9814255" cy="822960"/>
          </a:xfrm>
          <a:prstGeom prst="rect">
            <a:avLst/>
          </a:prstGeom>
          <a:noFill/>
          <a:ln/>
        </p:spPr>
        <p:txBody>
          <a:bodyPr wrap="square" lIns="0" tIns="0" rIns="0" bIns="0" rtlCol="0" anchor="b">
            <a:normAutofit/>
          </a:bodyPr>
          <a:lstStyle/>
          <a:p>
            <a:pPr indent="0" marL="0">
              <a:buNone/>
            </a:pPr>
            <a:r>
              <a:rPr lang="en-US" sz="3400" dirty="0">
                <a:solidFill>
                  <a:srgbClr val="F2F0EA"/>
                </a:solidFill>
                <a:latin typeface="Arial" pitchFamily="34" charset="0"/>
                <a:ea typeface="Arial" pitchFamily="34" charset="-122"/>
                <a:cs typeface="Arial" pitchFamily="34" charset="-120"/>
              </a:rPr>
              <a:t>Uma rapariga numa ermida</a:t>
            </a:r>
            <a:endParaRPr lang="en-US" sz="3400" dirty="0"/>
          </a:p>
        </p:txBody>
      </p:sp>
      <p:sp>
        <p:nvSpPr>
          <p:cNvPr id="8" name="Shape 6"/>
          <p:cNvSpPr/>
          <p:nvPr/>
        </p:nvSpPr>
        <p:spPr>
          <a:xfrm>
            <a:off x="822960" y="1746504"/>
            <a:ext cx="640080" cy="64008"/>
          </a:xfrm>
          <a:prstGeom prst="rect">
            <a:avLst/>
          </a:prstGeom>
          <a:solidFill>
            <a:srgbClr val="E4555C"/>
          </a:solidFill>
          <a:ln w="12700">
            <a:solidFill>
              <a:srgbClr val="E4555C"/>
            </a:solidFill>
            <a:prstDash val="solid"/>
          </a:ln>
        </p:spPr>
      </p:sp>
      <p:sp>
        <p:nvSpPr>
          <p:cNvPr id="9" name="Text 7"/>
          <p:cNvSpPr/>
          <p:nvPr/>
        </p:nvSpPr>
        <p:spPr>
          <a:xfrm>
            <a:off x="822960" y="2103120"/>
            <a:ext cx="9814255" cy="3931920"/>
          </a:xfrm>
          <a:prstGeom prst="rect">
            <a:avLst/>
          </a:prstGeom>
          <a:noFill/>
          <a:ln/>
        </p:spPr>
        <p:txBody>
          <a:bodyPr wrap="square" lIns="0" tIns="0" rIns="0" bIns="0" rtlCol="0" anchor="t">
            <a:normAutofit/>
          </a:bodyPr>
          <a:lstStyle/>
          <a:p>
            <a:pPr indent="0" marL="0">
              <a:lnSpc>
                <a:spcPct val="120000"/>
              </a:lnSpc>
              <a:spcAft>
                <a:spcPts val="800"/>
              </a:spcAft>
              <a:buNone/>
            </a:pPr>
            <a:r>
              <a:rPr lang="en-US" sz="2000" dirty="0">
                <a:solidFill>
                  <a:srgbClr val="F2F0EA"/>
                </a:solidFill>
                <a:latin typeface="Georgia" pitchFamily="34" charset="0"/>
                <a:ea typeface="Georgia" pitchFamily="34" charset="-122"/>
                <a:cs typeface="Georgia" pitchFamily="34" charset="-120"/>
              </a:rPr>
              <a:t>Lê as duas primeiras estrofes. Uma rapariga está sentada numa ermida, à beira-mar. As ondas sobem e cercam-na. Ela repete o mesmo verso: está à espera do amigo. A cantiga está na primeira pessoa: «Sedia-m'eu», «Eu atendendo». Antes de ver as opções, repara em quem diz «eu».Sedia-m'eu na ermida de Sam Simione cercarom-mi as ondas, que grandes som!Eu atendendo meu amig', eu a[tendendo].Estando na ermida ant'o altar[e] cercarom-mi as ondas grandes do mar.Eu atendendo meu amig', eu a[tendendo].Mendinho, </a:t>
            </a:r>
            <a:pPr indent="0" marL="0">
              <a:lnSpc>
                <a:spcPct val="120000"/>
              </a:lnSpc>
              <a:spcAft>
                <a:spcPts val="800"/>
              </a:spcAft>
              <a:buNone/>
            </a:pPr>
            <a:r>
              <a:rPr lang="en-US" sz="2000" i="1" dirty="0">
                <a:solidFill>
                  <a:srgbClr val="F2F0EA"/>
                </a:solidFill>
                <a:latin typeface="Georgia" pitchFamily="34" charset="0"/>
                <a:ea typeface="Georgia" pitchFamily="34" charset="-122"/>
                <a:cs typeface="Georgia" pitchFamily="34" charset="-120"/>
              </a:rPr>
              <a:t>Cantigas Medievais Galego-Portuguesas</a:t>
            </a:r>
            <a:pPr indent="0" marL="0">
              <a:lnSpc>
                <a:spcPct val="120000"/>
              </a:lnSpc>
              <a:spcAft>
                <a:spcPts val="800"/>
              </a:spcAft>
              <a:buNone/>
            </a:pPr>
            <a:r>
              <a:rPr lang="en-US" sz="2000" dirty="0">
                <a:solidFill>
                  <a:srgbClr val="F2F0EA"/>
                </a:solidFill>
                <a:latin typeface="Georgia" pitchFamily="34" charset="0"/>
                <a:ea typeface="Georgia" pitchFamily="34" charset="-122"/>
                <a:cs typeface="Georgia" pitchFamily="34" charset="-120"/>
              </a:rPr>
              <a:t>, cantiga 861, «Sedia-m'eu na ermida de Sam Simion», integral. base de dados da FCSH/NOVA (ed. Graça Videira Lopes, Manuel Pedro Ferreira et al.)</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1, aula 6: A voz emprestada</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4</a:t>
            </a:r>
            <a:endParaRPr lang="en-US" sz="1000" dirty="0"/>
          </a:p>
        </p:txBody>
      </p:sp>
      <p:sp>
        <p:nvSpPr>
          <p:cNvPr id="5" name="Shape 3"/>
          <p:cNvSpPr/>
          <p:nvPr/>
        </p:nvSpPr>
        <p:spPr>
          <a:xfrm>
            <a:off x="822960" y="502920"/>
            <a:ext cx="201168" cy="201168"/>
          </a:xfrm>
          <a:prstGeom prst="rect">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PENSA PRIMEIRO: DECIDE EM SILÊNCIO</a:t>
            </a:r>
            <a:endParaRPr lang="en-US" sz="1100" dirty="0"/>
          </a:p>
        </p:txBody>
      </p:sp>
      <p:sp>
        <p:nvSpPr>
          <p:cNvPr id="7" name="Text 5"/>
          <p:cNvSpPr/>
          <p:nvPr/>
        </p:nvSpPr>
        <p:spPr>
          <a:xfrm>
            <a:off x="822960" y="1097280"/>
            <a:ext cx="9814255" cy="3291840"/>
          </a:xfrm>
          <a:prstGeom prst="rect">
            <a:avLst/>
          </a:prstGeom>
          <a:noFill/>
          <a:ln/>
        </p:spPr>
        <p:txBody>
          <a:bodyPr wrap="square" lIns="0" tIns="0" rIns="0" bIns="0" rtlCol="0" anchor="b">
            <a:normAutofit/>
          </a:bodyPr>
          <a:lstStyle/>
          <a:p>
            <a:pPr indent="0" marL="0">
              <a:lnSpc>
                <a:spcPct val="115000"/>
              </a:lnSpc>
              <a:buNone/>
            </a:pPr>
            <a:r>
              <a:rPr lang="en-US" sz="4400" i="1" dirty="0">
                <a:solidFill>
                  <a:srgbClr val="F2F0EA"/>
                </a:solidFill>
                <a:latin typeface="Georgia" pitchFamily="34" charset="0"/>
                <a:ea typeface="Georgia" pitchFamily="34" charset="-122"/>
                <a:cs typeface="Georgia" pitchFamily="34" charset="-120"/>
              </a:rPr>
              <a:t>Quem diz «eu» nestes versos: a rapariga, o trovador Mendinho, ou os dois?</a:t>
            </a:r>
            <a:endParaRPr lang="en-US" sz="4400" dirty="0"/>
          </a:p>
        </p:txBody>
      </p:sp>
      <p:sp>
        <p:nvSpPr>
          <p:cNvPr id="8" name="Shape 6"/>
          <p:cNvSpPr/>
          <p:nvPr/>
        </p:nvSpPr>
        <p:spPr>
          <a:xfrm>
            <a:off x="822960" y="4526280"/>
            <a:ext cx="640080" cy="64008"/>
          </a:xfrm>
          <a:prstGeom prst="rect">
            <a:avLst/>
          </a:prstGeom>
          <a:solidFill>
            <a:srgbClr val="E4555C"/>
          </a:solidFill>
          <a:ln w="12700">
            <a:solidFill>
              <a:srgbClr val="E4555C"/>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1, aula 6: A voz emprestada</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5</a:t>
            </a:r>
            <a:endParaRPr lang="en-US" sz="1000" dirty="0"/>
          </a:p>
        </p:txBody>
      </p:sp>
      <p:sp>
        <p:nvSpPr>
          <p:cNvPr id="5" name="Shape 3"/>
          <p:cNvSpPr/>
          <p:nvPr/>
        </p:nvSpPr>
        <p:spPr>
          <a:xfrm>
            <a:off x="822960" y="502920"/>
            <a:ext cx="201168" cy="201168"/>
          </a:xfrm>
          <a:prstGeom prst="rect">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RESPONDE NO TELEMÓVEL</a:t>
            </a:r>
            <a:endParaRPr lang="en-US" sz="1100" dirty="0"/>
          </a:p>
        </p:txBody>
      </p:sp>
      <p:sp>
        <p:nvSpPr>
          <p:cNvPr id="7" name="Text 5"/>
          <p:cNvSpPr/>
          <p:nvPr/>
        </p:nvSpPr>
        <p:spPr>
          <a:xfrm>
            <a:off x="822960" y="914400"/>
            <a:ext cx="9814255" cy="1234440"/>
          </a:xfrm>
          <a:prstGeom prst="rect">
            <a:avLst/>
          </a:prstGeom>
          <a:noFill/>
          <a:ln/>
        </p:spPr>
        <p:txBody>
          <a:bodyPr wrap="square" lIns="0" tIns="0" rIns="0" bIns="0" rtlCol="0" anchor="t">
            <a:normAutofit/>
          </a:bodyPr>
          <a:lstStyle/>
          <a:p>
            <a:pPr indent="0" marL="0">
              <a:buNone/>
            </a:pPr>
            <a:r>
              <a:rPr lang="en-US" sz="3200" dirty="0">
                <a:solidFill>
                  <a:srgbClr val="F2F0EA"/>
                </a:solidFill>
                <a:latin typeface="Georgia" pitchFamily="34" charset="0"/>
                <a:ea typeface="Georgia" pitchFamily="34" charset="-122"/>
                <a:cs typeface="Georgia" pitchFamily="34" charset="-120"/>
              </a:rPr>
              <a:t>Quem fala na cantiga, e quem a escreveu?</a:t>
            </a:r>
            <a:endParaRPr lang="en-US" sz="3200" dirty="0"/>
          </a:p>
        </p:txBody>
      </p:sp>
      <p:sp>
        <p:nvSpPr>
          <p:cNvPr id="8" name="Shape 6"/>
          <p:cNvSpPr/>
          <p:nvPr/>
        </p:nvSpPr>
        <p:spPr>
          <a:xfrm>
            <a:off x="822960" y="2240280"/>
            <a:ext cx="640080" cy="64008"/>
          </a:xfrm>
          <a:prstGeom prst="rect">
            <a:avLst/>
          </a:prstGeom>
          <a:solidFill>
            <a:srgbClr val="E4555C"/>
          </a:solidFill>
          <a:ln w="12700">
            <a:solidFill>
              <a:srgbClr val="E4555C"/>
            </a:solidFill>
            <a:prstDash val="solid"/>
          </a:ln>
        </p:spPr>
      </p:sp>
      <p:sp>
        <p:nvSpPr>
          <p:cNvPr id="9" name="Shape 7"/>
          <p:cNvSpPr/>
          <p:nvPr/>
        </p:nvSpPr>
        <p:spPr>
          <a:xfrm>
            <a:off x="1005840" y="2697480"/>
            <a:ext cx="0" cy="2182368"/>
          </a:xfrm>
          <a:prstGeom prst="line">
            <a:avLst/>
          </a:prstGeom>
          <a:noFill/>
          <a:ln w="12700">
            <a:solidFill>
              <a:srgbClr val="A9A79F"/>
            </a:solidFill>
            <a:prstDash val="solid"/>
          </a:ln>
        </p:spPr>
      </p:sp>
      <p:sp>
        <p:nvSpPr>
          <p:cNvPr id="10" name="Shape 8"/>
          <p:cNvSpPr/>
          <p:nvPr/>
        </p:nvSpPr>
        <p:spPr>
          <a:xfrm>
            <a:off x="822960" y="2514600"/>
            <a:ext cx="365760" cy="365760"/>
          </a:xfrm>
          <a:prstGeom prst="ellipse">
            <a:avLst/>
          </a:prstGeom>
          <a:solidFill>
            <a:srgbClr val="111111"/>
          </a:solidFill>
          <a:ln w="15875">
            <a:solidFill>
              <a:srgbClr val="F2F0EA"/>
            </a:solidFill>
            <a:prstDash val="solid"/>
          </a:ln>
        </p:spPr>
      </p:sp>
      <p:sp>
        <p:nvSpPr>
          <p:cNvPr id="11" name="Text 9"/>
          <p:cNvSpPr/>
          <p:nvPr/>
        </p:nvSpPr>
        <p:spPr>
          <a:xfrm>
            <a:off x="822960" y="2514600"/>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A</a:t>
            </a:r>
            <a:endParaRPr lang="en-US" sz="1300" dirty="0"/>
          </a:p>
        </p:txBody>
      </p:sp>
      <p:sp>
        <p:nvSpPr>
          <p:cNvPr id="12" name="Text 10"/>
          <p:cNvSpPr/>
          <p:nvPr/>
        </p:nvSpPr>
        <p:spPr>
          <a:xfrm>
            <a:off x="1417320" y="2523744"/>
            <a:ext cx="9174175" cy="981456"/>
          </a:xfrm>
          <a:prstGeom prst="rect">
            <a:avLst/>
          </a:prstGeom>
          <a:noFill/>
          <a:ln/>
        </p:spPr>
        <p:txBody>
          <a:bodyPr wrap="square" lIns="0" tIns="0" rIns="0" bIns="0" rtlCol="0" anchor="t">
            <a:normAutofit/>
          </a:bodyPr>
          <a:lstStyle/>
          <a:p>
            <a:pPr indent="0" marL="0">
              <a:lnSpc>
                <a:spcPct val="105000"/>
              </a:lnSpc>
              <a:buNone/>
            </a:pPr>
            <a:r>
              <a:rPr lang="en-US" sz="2400" dirty="0">
                <a:solidFill>
                  <a:srgbClr val="F2F0EA"/>
                </a:solidFill>
                <a:latin typeface="Arial" pitchFamily="34" charset="0"/>
                <a:ea typeface="Arial" pitchFamily="34" charset="-122"/>
                <a:cs typeface="Arial" pitchFamily="34" charset="-120"/>
              </a:rPr>
              <a:t>Fala uma rapariga à espera do amigo; escreveu-a um homem, Mendinho</a:t>
            </a:r>
            <a:endParaRPr lang="en-US" sz="2400" dirty="0"/>
          </a:p>
        </p:txBody>
      </p:sp>
      <p:sp>
        <p:nvSpPr>
          <p:cNvPr id="13" name="Shape 11"/>
          <p:cNvSpPr/>
          <p:nvPr/>
        </p:nvSpPr>
        <p:spPr>
          <a:xfrm>
            <a:off x="822960" y="3496056"/>
            <a:ext cx="365760" cy="365760"/>
          </a:xfrm>
          <a:prstGeom prst="ellipse">
            <a:avLst/>
          </a:prstGeom>
          <a:solidFill>
            <a:srgbClr val="111111"/>
          </a:solidFill>
          <a:ln w="15875">
            <a:solidFill>
              <a:srgbClr val="F2F0EA"/>
            </a:solidFill>
            <a:prstDash val="solid"/>
          </a:ln>
        </p:spPr>
      </p:sp>
      <p:sp>
        <p:nvSpPr>
          <p:cNvPr id="14" name="Text 12"/>
          <p:cNvSpPr/>
          <p:nvPr/>
        </p:nvSpPr>
        <p:spPr>
          <a:xfrm>
            <a:off x="822960" y="3496056"/>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B</a:t>
            </a:r>
            <a:endParaRPr lang="en-US" sz="1300" dirty="0"/>
          </a:p>
        </p:txBody>
      </p:sp>
      <p:sp>
        <p:nvSpPr>
          <p:cNvPr id="15" name="Text 13"/>
          <p:cNvSpPr/>
          <p:nvPr/>
        </p:nvSpPr>
        <p:spPr>
          <a:xfrm>
            <a:off x="1417320" y="3505200"/>
            <a:ext cx="9174175" cy="600456"/>
          </a:xfrm>
          <a:prstGeom prst="rect">
            <a:avLst/>
          </a:prstGeom>
          <a:noFill/>
          <a:ln/>
        </p:spPr>
        <p:txBody>
          <a:bodyPr wrap="square" lIns="0" tIns="0" rIns="0" bIns="0" rtlCol="0" anchor="t">
            <a:normAutofit/>
          </a:bodyPr>
          <a:lstStyle/>
          <a:p>
            <a:pPr indent="0" marL="0">
              <a:lnSpc>
                <a:spcPct val="105000"/>
              </a:lnSpc>
              <a:buNone/>
            </a:pPr>
            <a:r>
              <a:rPr lang="en-US" sz="2400" dirty="0">
                <a:solidFill>
                  <a:srgbClr val="F2F0EA"/>
                </a:solidFill>
                <a:latin typeface="Arial" pitchFamily="34" charset="0"/>
                <a:ea typeface="Arial" pitchFamily="34" charset="-122"/>
                <a:cs typeface="Arial" pitchFamily="34" charset="-120"/>
              </a:rPr>
              <a:t>Fala Mendinho à sua senhora, que está na ermida</a:t>
            </a:r>
            <a:endParaRPr lang="en-US" sz="2400" dirty="0"/>
          </a:p>
        </p:txBody>
      </p:sp>
      <p:sp>
        <p:nvSpPr>
          <p:cNvPr id="16" name="Shape 14"/>
          <p:cNvSpPr/>
          <p:nvPr/>
        </p:nvSpPr>
        <p:spPr>
          <a:xfrm>
            <a:off x="822960" y="4096512"/>
            <a:ext cx="365760" cy="365760"/>
          </a:xfrm>
          <a:prstGeom prst="ellipse">
            <a:avLst/>
          </a:prstGeom>
          <a:solidFill>
            <a:srgbClr val="111111"/>
          </a:solidFill>
          <a:ln w="15875">
            <a:solidFill>
              <a:srgbClr val="F2F0EA"/>
            </a:solidFill>
            <a:prstDash val="solid"/>
          </a:ln>
        </p:spPr>
      </p:sp>
      <p:sp>
        <p:nvSpPr>
          <p:cNvPr id="17" name="Text 15"/>
          <p:cNvSpPr/>
          <p:nvPr/>
        </p:nvSpPr>
        <p:spPr>
          <a:xfrm>
            <a:off x="822960" y="4096512"/>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C</a:t>
            </a:r>
            <a:endParaRPr lang="en-US" sz="1300" dirty="0"/>
          </a:p>
        </p:txBody>
      </p:sp>
      <p:sp>
        <p:nvSpPr>
          <p:cNvPr id="18" name="Text 16"/>
          <p:cNvSpPr/>
          <p:nvPr/>
        </p:nvSpPr>
        <p:spPr>
          <a:xfrm>
            <a:off x="1417320" y="4105656"/>
            <a:ext cx="9174175" cy="600456"/>
          </a:xfrm>
          <a:prstGeom prst="rect">
            <a:avLst/>
          </a:prstGeom>
          <a:noFill/>
          <a:ln/>
        </p:spPr>
        <p:txBody>
          <a:bodyPr wrap="square" lIns="0" tIns="0" rIns="0" bIns="0" rtlCol="0" anchor="t">
            <a:normAutofit/>
          </a:bodyPr>
          <a:lstStyle/>
          <a:p>
            <a:pPr indent="0" marL="0">
              <a:lnSpc>
                <a:spcPct val="105000"/>
              </a:lnSpc>
              <a:buNone/>
            </a:pPr>
            <a:r>
              <a:rPr lang="en-US" sz="2400" dirty="0">
                <a:solidFill>
                  <a:srgbClr val="F2F0EA"/>
                </a:solidFill>
                <a:latin typeface="Arial" pitchFamily="34" charset="0"/>
                <a:ea typeface="Arial" pitchFamily="34" charset="-122"/>
                <a:cs typeface="Arial" pitchFamily="34" charset="-120"/>
              </a:rPr>
              <a:t>Fala uma rapariga, e foi ela que compôs a cantiga</a:t>
            </a:r>
            <a:endParaRPr lang="en-US" sz="2400" dirty="0"/>
          </a:p>
        </p:txBody>
      </p:sp>
      <p:sp>
        <p:nvSpPr>
          <p:cNvPr id="19" name="Shape 17"/>
          <p:cNvSpPr/>
          <p:nvPr/>
        </p:nvSpPr>
        <p:spPr>
          <a:xfrm>
            <a:off x="822960" y="4696968"/>
            <a:ext cx="365760" cy="365760"/>
          </a:xfrm>
          <a:prstGeom prst="ellipse">
            <a:avLst/>
          </a:prstGeom>
          <a:solidFill>
            <a:srgbClr val="111111"/>
          </a:solidFill>
          <a:ln w="15875">
            <a:solidFill>
              <a:srgbClr val="F2F0EA"/>
            </a:solidFill>
            <a:prstDash val="solid"/>
          </a:ln>
        </p:spPr>
      </p:sp>
      <p:sp>
        <p:nvSpPr>
          <p:cNvPr id="20" name="Text 18"/>
          <p:cNvSpPr/>
          <p:nvPr/>
        </p:nvSpPr>
        <p:spPr>
          <a:xfrm>
            <a:off x="822960" y="4696968"/>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D</a:t>
            </a:r>
            <a:endParaRPr lang="en-US" sz="1300" dirty="0"/>
          </a:p>
        </p:txBody>
      </p:sp>
      <p:sp>
        <p:nvSpPr>
          <p:cNvPr id="21" name="Text 19"/>
          <p:cNvSpPr/>
          <p:nvPr/>
        </p:nvSpPr>
        <p:spPr>
          <a:xfrm>
            <a:off x="1417320" y="4706112"/>
            <a:ext cx="9174175" cy="981456"/>
          </a:xfrm>
          <a:prstGeom prst="rect">
            <a:avLst/>
          </a:prstGeom>
          <a:noFill/>
          <a:ln/>
        </p:spPr>
        <p:txBody>
          <a:bodyPr wrap="square" lIns="0" tIns="0" rIns="0" bIns="0" rtlCol="0" anchor="t">
            <a:normAutofit/>
          </a:bodyPr>
          <a:lstStyle/>
          <a:p>
            <a:pPr indent="0" marL="0">
              <a:lnSpc>
                <a:spcPct val="105000"/>
              </a:lnSpc>
              <a:buNone/>
            </a:pPr>
            <a:r>
              <a:rPr lang="en-US" sz="2400" dirty="0">
                <a:solidFill>
                  <a:srgbClr val="F2F0EA"/>
                </a:solidFill>
                <a:latin typeface="Arial" pitchFamily="34" charset="0"/>
                <a:ea typeface="Arial" pitchFamily="34" charset="-122"/>
                <a:cs typeface="Arial" pitchFamily="34" charset="-120"/>
              </a:rPr>
              <a:t>Fala o amigo, longe, que imagina a rapariga a esperar</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1, aula 6: A voz emprestada</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6</a:t>
            </a:r>
            <a:endParaRPr lang="en-US" sz="1000" dirty="0"/>
          </a:p>
        </p:txBody>
      </p:sp>
      <p:sp>
        <p:nvSpPr>
          <p:cNvPr id="5" name="Shape 3"/>
          <p:cNvSpPr/>
          <p:nvPr/>
        </p:nvSpPr>
        <p:spPr>
          <a:xfrm>
            <a:off x="822960" y="502920"/>
            <a:ext cx="201168" cy="201168"/>
          </a:xfrm>
          <a:prstGeom prst="rect">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RESPOSTA</a:t>
            </a:r>
            <a:endParaRPr lang="en-US" sz="1100" dirty="0"/>
          </a:p>
        </p:txBody>
      </p:sp>
      <p:sp>
        <p:nvSpPr>
          <p:cNvPr id="7" name="Text 5"/>
          <p:cNvSpPr/>
          <p:nvPr/>
        </p:nvSpPr>
        <p:spPr>
          <a:xfrm>
            <a:off x="822960" y="1005840"/>
            <a:ext cx="9814255" cy="1463040"/>
          </a:xfrm>
          <a:prstGeom prst="rect">
            <a:avLst/>
          </a:prstGeom>
          <a:noFill/>
          <a:ln/>
        </p:spPr>
        <p:txBody>
          <a:bodyPr wrap="square" lIns="0" tIns="0" rIns="0" bIns="0" rtlCol="0" anchor="t">
            <a:normAutofit/>
          </a:bodyPr>
          <a:lstStyle/>
          <a:p>
            <a:pPr indent="0" marL="0">
              <a:buNone/>
            </a:pPr>
            <a:r>
              <a:rPr lang="en-US" sz="3400" b="1" dirty="0">
                <a:solidFill>
                  <a:srgbClr val="F2F0EA"/>
                </a:solidFill>
                <a:latin typeface="Arial" pitchFamily="34" charset="0"/>
                <a:ea typeface="Arial" pitchFamily="34" charset="-122"/>
                <a:cs typeface="Arial" pitchFamily="34" charset="-120"/>
              </a:rPr>
              <a:t>Fala uma rapariga à espera do amigo; escreveu-a um homem, Mendinho</a:t>
            </a:r>
            <a:endParaRPr lang="en-US" sz="3400" dirty="0"/>
          </a:p>
        </p:txBody>
      </p:sp>
      <p:sp>
        <p:nvSpPr>
          <p:cNvPr id="8" name="Shape 6"/>
          <p:cNvSpPr/>
          <p:nvPr/>
        </p:nvSpPr>
        <p:spPr>
          <a:xfrm>
            <a:off x="822960" y="2606040"/>
            <a:ext cx="640080" cy="64008"/>
          </a:xfrm>
          <a:prstGeom prst="rect">
            <a:avLst/>
          </a:prstGeom>
          <a:solidFill>
            <a:srgbClr val="E4555C"/>
          </a:solidFill>
          <a:ln w="12700">
            <a:solidFill>
              <a:srgbClr val="E4555C"/>
            </a:solidFill>
            <a:prstDash val="solid"/>
          </a:ln>
        </p:spPr>
      </p:sp>
      <p:sp>
        <p:nvSpPr>
          <p:cNvPr id="9" name="Text 7"/>
          <p:cNvSpPr/>
          <p:nvPr/>
        </p:nvSpPr>
        <p:spPr>
          <a:xfrm>
            <a:off x="822960" y="2880360"/>
            <a:ext cx="9814255" cy="3246120"/>
          </a:xfrm>
          <a:prstGeom prst="rect">
            <a:avLst/>
          </a:prstGeom>
          <a:noFill/>
          <a:ln/>
        </p:spPr>
        <p:txBody>
          <a:bodyPr wrap="square" lIns="0" tIns="0" rIns="0" bIns="0" rtlCol="0" anchor="t">
            <a:normAutofit/>
          </a:bodyPr>
          <a:lstStyle/>
          <a:p>
            <a:pPr indent="0" marL="0">
              <a:lnSpc>
                <a:spcPct val="120000"/>
              </a:lnSpc>
              <a:buNone/>
            </a:pPr>
            <a:r>
              <a:rPr lang="en-US" sz="2200" dirty="0">
                <a:solidFill>
                  <a:srgbClr val="F2F0EA"/>
                </a:solidFill>
                <a:latin typeface="Georgia" pitchFamily="34" charset="0"/>
                <a:ea typeface="Georgia" pitchFamily="34" charset="-122"/>
                <a:cs typeface="Georgia" pitchFamily="34" charset="-120"/>
              </a:rPr>
              <a:t>A cantiga de amigo empresta ao trovador uma voz feminina: quem diz «eu» é uma rapariga, quem escreve é um homem. Não é Mendinho a falar a uma senhora (isso seria a cantiga de amor), e não há sinal de que uma rapariga a tenha composto: o nome que ficou nos cancioneiros é o dele. O amigo não fala: é esperado.</a:t>
            </a:r>
            <a:endParaRPr lang="en-US" sz="2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1, aula 6: A voz emprestada</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7</a:t>
            </a:r>
            <a:endParaRPr lang="en-US" sz="1000" dirty="0"/>
          </a:p>
        </p:txBody>
      </p:sp>
      <p:sp>
        <p:nvSpPr>
          <p:cNvPr id="5" name="Shape 3"/>
          <p:cNvSpPr/>
          <p:nvPr/>
        </p:nvSpPr>
        <p:spPr>
          <a:xfrm>
            <a:off x="822960" y="502920"/>
            <a:ext cx="201168" cy="201168"/>
          </a:xfrm>
          <a:prstGeom prst="rect">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RESPONDE NO TELEMÓVEL</a:t>
            </a:r>
            <a:endParaRPr lang="en-US" sz="1100" dirty="0"/>
          </a:p>
        </p:txBody>
      </p:sp>
      <p:sp>
        <p:nvSpPr>
          <p:cNvPr id="7" name="Text 5"/>
          <p:cNvSpPr/>
          <p:nvPr/>
        </p:nvSpPr>
        <p:spPr>
          <a:xfrm>
            <a:off x="822960" y="914400"/>
            <a:ext cx="9814255" cy="1234440"/>
          </a:xfrm>
          <a:prstGeom prst="rect">
            <a:avLst/>
          </a:prstGeom>
          <a:noFill/>
          <a:ln/>
        </p:spPr>
        <p:txBody>
          <a:bodyPr wrap="square" lIns="0" tIns="0" rIns="0" bIns="0" rtlCol="0" anchor="t">
            <a:normAutofit/>
          </a:bodyPr>
          <a:lstStyle/>
          <a:p>
            <a:pPr indent="0" marL="0">
              <a:buNone/>
            </a:pPr>
            <a:r>
              <a:rPr lang="en-US" sz="3200" dirty="0">
                <a:solidFill>
                  <a:srgbClr val="F2F0EA"/>
                </a:solidFill>
                <a:latin typeface="Georgia" pitchFamily="34" charset="0"/>
                <a:ea typeface="Georgia" pitchFamily="34" charset="-122"/>
                <a:cs typeface="Georgia" pitchFamily="34" charset="-120"/>
              </a:rPr>
              <a:t>Na cantiga de amigo, a voz que diz «eu» é a de quem escreveu a cantiga.</a:t>
            </a:r>
            <a:endParaRPr lang="en-US" sz="3200" dirty="0"/>
          </a:p>
        </p:txBody>
      </p:sp>
      <p:sp>
        <p:nvSpPr>
          <p:cNvPr id="8" name="Shape 6"/>
          <p:cNvSpPr/>
          <p:nvPr/>
        </p:nvSpPr>
        <p:spPr>
          <a:xfrm>
            <a:off x="822960" y="2240280"/>
            <a:ext cx="640080" cy="64008"/>
          </a:xfrm>
          <a:prstGeom prst="rect">
            <a:avLst/>
          </a:prstGeom>
          <a:solidFill>
            <a:srgbClr val="E4555C"/>
          </a:solidFill>
          <a:ln w="12700">
            <a:solidFill>
              <a:srgbClr val="E4555C"/>
            </a:solidFill>
            <a:prstDash val="solid"/>
          </a:ln>
        </p:spPr>
      </p:sp>
      <p:sp>
        <p:nvSpPr>
          <p:cNvPr id="9" name="Shape 7"/>
          <p:cNvSpPr/>
          <p:nvPr/>
        </p:nvSpPr>
        <p:spPr>
          <a:xfrm>
            <a:off x="1005840" y="2697480"/>
            <a:ext cx="0" cy="600456"/>
          </a:xfrm>
          <a:prstGeom prst="line">
            <a:avLst/>
          </a:prstGeom>
          <a:noFill/>
          <a:ln w="12700">
            <a:solidFill>
              <a:srgbClr val="A9A79F"/>
            </a:solidFill>
            <a:prstDash val="solid"/>
          </a:ln>
        </p:spPr>
      </p:sp>
      <p:sp>
        <p:nvSpPr>
          <p:cNvPr id="10" name="Shape 8"/>
          <p:cNvSpPr/>
          <p:nvPr/>
        </p:nvSpPr>
        <p:spPr>
          <a:xfrm>
            <a:off x="822960" y="2514600"/>
            <a:ext cx="365760" cy="365760"/>
          </a:xfrm>
          <a:prstGeom prst="ellipse">
            <a:avLst/>
          </a:prstGeom>
          <a:solidFill>
            <a:srgbClr val="111111"/>
          </a:solidFill>
          <a:ln w="15875">
            <a:solidFill>
              <a:srgbClr val="F2F0EA"/>
            </a:solidFill>
            <a:prstDash val="solid"/>
          </a:ln>
        </p:spPr>
      </p:sp>
      <p:sp>
        <p:nvSpPr>
          <p:cNvPr id="11" name="Text 9"/>
          <p:cNvSpPr/>
          <p:nvPr/>
        </p:nvSpPr>
        <p:spPr>
          <a:xfrm>
            <a:off x="822960" y="2514600"/>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A</a:t>
            </a:r>
            <a:endParaRPr lang="en-US" sz="1300" dirty="0"/>
          </a:p>
        </p:txBody>
      </p:sp>
      <p:sp>
        <p:nvSpPr>
          <p:cNvPr id="12" name="Text 10"/>
          <p:cNvSpPr/>
          <p:nvPr/>
        </p:nvSpPr>
        <p:spPr>
          <a:xfrm>
            <a:off x="1417320" y="2523744"/>
            <a:ext cx="9174175" cy="600456"/>
          </a:xfrm>
          <a:prstGeom prst="rect">
            <a:avLst/>
          </a:prstGeom>
          <a:noFill/>
          <a:ln/>
        </p:spPr>
        <p:txBody>
          <a:bodyPr wrap="square" lIns="0" tIns="0" rIns="0" bIns="0" rtlCol="0" anchor="t">
            <a:normAutofit/>
          </a:bodyPr>
          <a:lstStyle/>
          <a:p>
            <a:pPr indent="0" marL="0">
              <a:lnSpc>
                <a:spcPct val="105000"/>
              </a:lnSpc>
              <a:buNone/>
            </a:pPr>
            <a:r>
              <a:rPr lang="en-US" sz="2400" dirty="0">
                <a:solidFill>
                  <a:srgbClr val="F2F0EA"/>
                </a:solidFill>
                <a:latin typeface="Arial" pitchFamily="34" charset="0"/>
                <a:ea typeface="Arial" pitchFamily="34" charset="-122"/>
                <a:cs typeface="Arial" pitchFamily="34" charset="-120"/>
              </a:rPr>
              <a:t>Verdadeiro</a:t>
            </a:r>
            <a:endParaRPr lang="en-US" sz="2400" dirty="0"/>
          </a:p>
        </p:txBody>
      </p:sp>
      <p:sp>
        <p:nvSpPr>
          <p:cNvPr id="13" name="Shape 11"/>
          <p:cNvSpPr/>
          <p:nvPr/>
        </p:nvSpPr>
        <p:spPr>
          <a:xfrm>
            <a:off x="822960" y="3115056"/>
            <a:ext cx="365760" cy="365760"/>
          </a:xfrm>
          <a:prstGeom prst="ellipse">
            <a:avLst/>
          </a:prstGeom>
          <a:solidFill>
            <a:srgbClr val="111111"/>
          </a:solidFill>
          <a:ln w="15875">
            <a:solidFill>
              <a:srgbClr val="F2F0EA"/>
            </a:solidFill>
            <a:prstDash val="solid"/>
          </a:ln>
        </p:spPr>
      </p:sp>
      <p:sp>
        <p:nvSpPr>
          <p:cNvPr id="14" name="Text 12"/>
          <p:cNvSpPr/>
          <p:nvPr/>
        </p:nvSpPr>
        <p:spPr>
          <a:xfrm>
            <a:off x="822960" y="3115056"/>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B</a:t>
            </a:r>
            <a:endParaRPr lang="en-US" sz="1300" dirty="0"/>
          </a:p>
        </p:txBody>
      </p:sp>
      <p:sp>
        <p:nvSpPr>
          <p:cNvPr id="15" name="Text 13"/>
          <p:cNvSpPr/>
          <p:nvPr/>
        </p:nvSpPr>
        <p:spPr>
          <a:xfrm>
            <a:off x="1417320" y="3124200"/>
            <a:ext cx="9174175" cy="600456"/>
          </a:xfrm>
          <a:prstGeom prst="rect">
            <a:avLst/>
          </a:prstGeom>
          <a:noFill/>
          <a:ln/>
        </p:spPr>
        <p:txBody>
          <a:bodyPr wrap="square" lIns="0" tIns="0" rIns="0" bIns="0" rtlCol="0" anchor="t">
            <a:normAutofit/>
          </a:bodyPr>
          <a:lstStyle/>
          <a:p>
            <a:pPr indent="0" marL="0">
              <a:lnSpc>
                <a:spcPct val="105000"/>
              </a:lnSpc>
              <a:buNone/>
            </a:pPr>
            <a:r>
              <a:rPr lang="en-US" sz="2400" dirty="0">
                <a:solidFill>
                  <a:srgbClr val="F2F0EA"/>
                </a:solidFill>
                <a:latin typeface="Arial" pitchFamily="34" charset="0"/>
                <a:ea typeface="Arial" pitchFamily="34" charset="-122"/>
                <a:cs typeface="Arial" pitchFamily="34" charset="-120"/>
              </a:rPr>
              <a:t>Falso</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1, aula 6: A voz emprestada</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8</a:t>
            </a:r>
            <a:endParaRPr lang="en-US" sz="1000" dirty="0"/>
          </a:p>
        </p:txBody>
      </p:sp>
      <p:sp>
        <p:nvSpPr>
          <p:cNvPr id="5" name="Shape 3"/>
          <p:cNvSpPr/>
          <p:nvPr/>
        </p:nvSpPr>
        <p:spPr>
          <a:xfrm>
            <a:off x="822960" y="502920"/>
            <a:ext cx="201168" cy="201168"/>
          </a:xfrm>
          <a:prstGeom prst="rect">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RESPOSTA</a:t>
            </a:r>
            <a:endParaRPr lang="en-US" sz="1100" dirty="0"/>
          </a:p>
        </p:txBody>
      </p:sp>
      <p:sp>
        <p:nvSpPr>
          <p:cNvPr id="7" name="Text 5"/>
          <p:cNvSpPr/>
          <p:nvPr/>
        </p:nvSpPr>
        <p:spPr>
          <a:xfrm>
            <a:off x="822960" y="1005840"/>
            <a:ext cx="9814255" cy="1463040"/>
          </a:xfrm>
          <a:prstGeom prst="rect">
            <a:avLst/>
          </a:prstGeom>
          <a:noFill/>
          <a:ln/>
        </p:spPr>
        <p:txBody>
          <a:bodyPr wrap="square" lIns="0" tIns="0" rIns="0" bIns="0" rtlCol="0" anchor="t">
            <a:normAutofit/>
          </a:bodyPr>
          <a:lstStyle/>
          <a:p>
            <a:pPr indent="0" marL="0">
              <a:buNone/>
            </a:pPr>
            <a:r>
              <a:rPr lang="en-US" sz="3400" b="1" dirty="0">
                <a:solidFill>
                  <a:srgbClr val="F2F0EA"/>
                </a:solidFill>
                <a:latin typeface="Arial" pitchFamily="34" charset="0"/>
                <a:ea typeface="Arial" pitchFamily="34" charset="-122"/>
                <a:cs typeface="Arial" pitchFamily="34" charset="-120"/>
              </a:rPr>
              <a:t>Falso.</a:t>
            </a:r>
            <a:endParaRPr lang="en-US" sz="3400" dirty="0"/>
          </a:p>
        </p:txBody>
      </p:sp>
      <p:sp>
        <p:nvSpPr>
          <p:cNvPr id="8" name="Shape 6"/>
          <p:cNvSpPr/>
          <p:nvPr/>
        </p:nvSpPr>
        <p:spPr>
          <a:xfrm>
            <a:off x="822960" y="2606040"/>
            <a:ext cx="640080" cy="64008"/>
          </a:xfrm>
          <a:prstGeom prst="rect">
            <a:avLst/>
          </a:prstGeom>
          <a:solidFill>
            <a:srgbClr val="E4555C"/>
          </a:solidFill>
          <a:ln w="12700">
            <a:solidFill>
              <a:srgbClr val="E4555C"/>
            </a:solidFill>
            <a:prstDash val="solid"/>
          </a:ln>
        </p:spPr>
      </p:sp>
      <p:sp>
        <p:nvSpPr>
          <p:cNvPr id="9" name="Text 7"/>
          <p:cNvSpPr/>
          <p:nvPr/>
        </p:nvSpPr>
        <p:spPr>
          <a:xfrm>
            <a:off x="822960" y="2880360"/>
            <a:ext cx="9814255" cy="3246120"/>
          </a:xfrm>
          <a:prstGeom prst="rect">
            <a:avLst/>
          </a:prstGeom>
          <a:noFill/>
          <a:ln/>
        </p:spPr>
        <p:txBody>
          <a:bodyPr wrap="square" lIns="0" tIns="0" rIns="0" bIns="0" rtlCol="0" anchor="t">
            <a:normAutofit/>
          </a:bodyPr>
          <a:lstStyle/>
          <a:p>
            <a:pPr indent="0" marL="0">
              <a:lnSpc>
                <a:spcPct val="120000"/>
              </a:lnSpc>
              <a:buNone/>
            </a:pPr>
            <a:r>
              <a:rPr lang="en-US" sz="2200" dirty="0">
                <a:solidFill>
                  <a:srgbClr val="F2F0EA"/>
                </a:solidFill>
                <a:latin typeface="Georgia" pitchFamily="34" charset="0"/>
                <a:ea typeface="Georgia" pitchFamily="34" charset="-122"/>
                <a:cs typeface="Georgia" pitchFamily="34" charset="-120"/>
              </a:rPr>
              <a:t>Falso. Quem escreve é um homem, o trovador; quem diz «eu» é uma rapariga. O género pede ao trovador que empreste a sua arte a uma voz que não é a sua. É este empréstimo que vais pôr à prova.</a:t>
            </a:r>
            <a:endParaRPr lang="en-US" sz="2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1, aula 6: A voz emprestada</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9</a:t>
            </a:r>
            <a:endParaRPr lang="en-US" sz="1000" dirty="0"/>
          </a:p>
        </p:txBody>
      </p:sp>
      <p:sp>
        <p:nvSpPr>
          <p:cNvPr id="5" name="Shape 3"/>
          <p:cNvSpPr/>
          <p:nvPr/>
        </p:nvSpPr>
        <p:spPr>
          <a:xfrm>
            <a:off x="822960" y="502920"/>
            <a:ext cx="201168" cy="201168"/>
          </a:xfrm>
          <a:prstGeom prst="ellipse">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ATO 2</a:t>
            </a:r>
            <a:endParaRPr lang="en-US" sz="1100" dirty="0"/>
          </a:p>
        </p:txBody>
      </p:sp>
      <p:sp>
        <p:nvSpPr>
          <p:cNvPr id="7" name="Text 5"/>
          <p:cNvSpPr/>
          <p:nvPr/>
        </p:nvSpPr>
        <p:spPr>
          <a:xfrm>
            <a:off x="822960" y="868680"/>
            <a:ext cx="9814255" cy="822960"/>
          </a:xfrm>
          <a:prstGeom prst="rect">
            <a:avLst/>
          </a:prstGeom>
          <a:noFill/>
          <a:ln/>
        </p:spPr>
        <p:txBody>
          <a:bodyPr wrap="square" lIns="0" tIns="0" rIns="0" bIns="0" rtlCol="0" anchor="b">
            <a:normAutofit/>
          </a:bodyPr>
          <a:lstStyle/>
          <a:p>
            <a:pPr indent="0" marL="0">
              <a:buNone/>
            </a:pPr>
            <a:r>
              <a:rPr lang="en-US" sz="3400" dirty="0">
                <a:solidFill>
                  <a:srgbClr val="F2F0EA"/>
                </a:solidFill>
                <a:latin typeface="Arial" pitchFamily="34" charset="0"/>
                <a:ea typeface="Arial" pitchFamily="34" charset="-122"/>
                <a:cs typeface="Arial" pitchFamily="34" charset="-120"/>
              </a:rPr>
              <a:t>Outra rapariga, outras ondas</a:t>
            </a:r>
            <a:endParaRPr lang="en-US" sz="3400" dirty="0"/>
          </a:p>
        </p:txBody>
      </p:sp>
      <p:sp>
        <p:nvSpPr>
          <p:cNvPr id="8" name="Shape 6"/>
          <p:cNvSpPr/>
          <p:nvPr/>
        </p:nvSpPr>
        <p:spPr>
          <a:xfrm>
            <a:off x="822960" y="1746504"/>
            <a:ext cx="640080" cy="64008"/>
          </a:xfrm>
          <a:prstGeom prst="rect">
            <a:avLst/>
          </a:prstGeom>
          <a:solidFill>
            <a:srgbClr val="E4555C"/>
          </a:solidFill>
          <a:ln w="12700">
            <a:solidFill>
              <a:srgbClr val="E4555C"/>
            </a:solidFill>
            <a:prstDash val="solid"/>
          </a:ln>
        </p:spPr>
      </p:sp>
      <p:sp>
        <p:nvSpPr>
          <p:cNvPr id="9" name="Text 7"/>
          <p:cNvSpPr/>
          <p:nvPr/>
        </p:nvSpPr>
        <p:spPr>
          <a:xfrm>
            <a:off x="822960" y="2103120"/>
            <a:ext cx="9814255" cy="3931920"/>
          </a:xfrm>
          <a:prstGeom prst="rect">
            <a:avLst/>
          </a:prstGeom>
          <a:noFill/>
          <a:ln/>
        </p:spPr>
        <p:txBody>
          <a:bodyPr wrap="square" lIns="0" tIns="0" rIns="0" bIns="0" rtlCol="0" anchor="t">
            <a:normAutofit/>
          </a:bodyPr>
          <a:lstStyle/>
          <a:p>
            <a:pPr indent="0" marL="0">
              <a:lnSpc>
                <a:spcPct val="120000"/>
              </a:lnSpc>
              <a:spcAft>
                <a:spcPts val="800"/>
              </a:spcAft>
              <a:buNone/>
            </a:pPr>
            <a:r>
              <a:rPr lang="en-US" sz="2000" dirty="0">
                <a:solidFill>
                  <a:srgbClr val="F2F0EA"/>
                </a:solidFill>
                <a:latin typeface="Georgia" pitchFamily="34" charset="0"/>
                <a:ea typeface="Georgia" pitchFamily="34" charset="-122"/>
                <a:cs typeface="Georgia" pitchFamily="34" charset="-120"/>
              </a:rPr>
              <a:t>Três géneros, três vozes: a rapariga da cantiga de amigo, o trovador que louva a senhora na cantiga de amor, a troça do escárnio e maldizer. Fica por agora na primeira voz. Martim Codax põe outra rapariga diante do mar de Vigo. Também diz «eu», também espera o amigo.D. Dinis escreveu ainda outra: uma rapariga pergunta às flores do verde pino pelo amigo, e as flores respondem-lhe. Guarda-a para daqui a pouco. Lê agora as duas primeiras estrofes de Codax e compara as ondas com as de Mendinho.Ondas do mar de Vigo,se vistes meu amigo?e ai Deus, se verrá cedo?Ondas do mar levado,se vistes meu amado?e ai Deus, se verrá cedo?Martim Codax, </a:t>
            </a:r>
            <a:pPr indent="0" marL="0">
              <a:lnSpc>
                <a:spcPct val="120000"/>
              </a:lnSpc>
              <a:spcAft>
                <a:spcPts val="800"/>
              </a:spcAft>
              <a:buNone/>
            </a:pPr>
            <a:r>
              <a:rPr lang="en-US" sz="2000" i="1" dirty="0">
                <a:solidFill>
                  <a:srgbClr val="F2F0EA"/>
                </a:solidFill>
                <a:latin typeface="Georgia" pitchFamily="34" charset="0"/>
                <a:ea typeface="Georgia" pitchFamily="34" charset="-122"/>
                <a:cs typeface="Georgia" pitchFamily="34" charset="-120"/>
              </a:rPr>
              <a:t>Cantigas Medievais Galego-Portuguesas</a:t>
            </a:r>
            <a:pPr indent="0" marL="0">
              <a:lnSpc>
                <a:spcPct val="120000"/>
              </a:lnSpc>
              <a:spcAft>
                <a:spcPts val="800"/>
              </a:spcAft>
              <a:buNone/>
            </a:pPr>
            <a:r>
              <a:rPr lang="en-US" sz="2000" dirty="0">
                <a:solidFill>
                  <a:srgbClr val="F2F0EA"/>
                </a:solidFill>
                <a:latin typeface="Georgia" pitchFamily="34" charset="0"/>
                <a:ea typeface="Georgia" pitchFamily="34" charset="-122"/>
                <a:cs typeface="Georgia" pitchFamily="34" charset="-120"/>
              </a:rPr>
              <a:t>, cantiga 1308,…</a:t>
            </a:r>
            <a:endParaRPr lang="en-US" sz="2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1, aula 6: A voz emprestada</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10</a:t>
            </a:r>
            <a:endParaRPr lang="en-US" sz="1000" dirty="0"/>
          </a:p>
        </p:txBody>
      </p:sp>
      <p:sp>
        <p:nvSpPr>
          <p:cNvPr id="5" name="Shape 3"/>
          <p:cNvSpPr/>
          <p:nvPr/>
        </p:nvSpPr>
        <p:spPr>
          <a:xfrm>
            <a:off x="822960" y="502920"/>
            <a:ext cx="201168" cy="201168"/>
          </a:xfrm>
          <a:prstGeom prst="rect">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PENSA PRIMEIRO: DECIDE EM SILÊNCIO</a:t>
            </a:r>
            <a:endParaRPr lang="en-US" sz="1100" dirty="0"/>
          </a:p>
        </p:txBody>
      </p:sp>
      <p:sp>
        <p:nvSpPr>
          <p:cNvPr id="7" name="Text 5"/>
          <p:cNvSpPr/>
          <p:nvPr/>
        </p:nvSpPr>
        <p:spPr>
          <a:xfrm>
            <a:off x="822960" y="1097280"/>
            <a:ext cx="9814255" cy="3291840"/>
          </a:xfrm>
          <a:prstGeom prst="rect">
            <a:avLst/>
          </a:prstGeom>
          <a:noFill/>
          <a:ln/>
        </p:spPr>
        <p:txBody>
          <a:bodyPr wrap="square" lIns="0" tIns="0" rIns="0" bIns="0" rtlCol="0" anchor="b">
            <a:normAutofit/>
          </a:bodyPr>
          <a:lstStyle/>
          <a:p>
            <a:pPr indent="0" marL="0">
              <a:lnSpc>
                <a:spcPct val="115000"/>
              </a:lnSpc>
              <a:buNone/>
            </a:pPr>
            <a:r>
              <a:rPr lang="en-US" sz="4400" i="1" dirty="0">
                <a:solidFill>
                  <a:srgbClr val="F2F0EA"/>
                </a:solidFill>
                <a:latin typeface="Georgia" pitchFamily="34" charset="0"/>
                <a:ea typeface="Georgia" pitchFamily="34" charset="-122"/>
                <a:cs typeface="Georgia" pitchFamily="34" charset="-120"/>
              </a:rPr>
              <a:t>Nas duas cantigas há ondas e uma rapariga à espera. As ondas fazem o mesmo nas duas?</a:t>
            </a:r>
            <a:endParaRPr lang="en-US" sz="4400" dirty="0"/>
          </a:p>
        </p:txBody>
      </p:sp>
      <p:sp>
        <p:nvSpPr>
          <p:cNvPr id="8" name="Shape 6"/>
          <p:cNvSpPr/>
          <p:nvPr/>
        </p:nvSpPr>
        <p:spPr>
          <a:xfrm>
            <a:off x="822960" y="4526280"/>
            <a:ext cx="640080" cy="64008"/>
          </a:xfrm>
          <a:prstGeom prst="rect">
            <a:avLst/>
          </a:prstGeom>
          <a:solidFill>
            <a:srgbClr val="E4555C"/>
          </a:solidFill>
          <a:ln w="12700">
            <a:solidFill>
              <a:srgbClr val="E4555C"/>
            </a:solidFill>
            <a:prstDash val="solid"/>
          </a:ln>
        </p:spPr>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1, aula 6: A voz emprestada</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11</a:t>
            </a:r>
            <a:endParaRPr lang="en-US" sz="1000" dirty="0"/>
          </a:p>
        </p:txBody>
      </p:sp>
      <p:sp>
        <p:nvSpPr>
          <p:cNvPr id="5" name="Shape 3"/>
          <p:cNvSpPr/>
          <p:nvPr/>
        </p:nvSpPr>
        <p:spPr>
          <a:xfrm>
            <a:off x="822960" y="502920"/>
            <a:ext cx="201168" cy="201168"/>
          </a:xfrm>
          <a:prstGeom prst="rect">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RESPONDE NO TELEMÓVEL</a:t>
            </a:r>
            <a:endParaRPr lang="en-US" sz="1100" dirty="0"/>
          </a:p>
        </p:txBody>
      </p:sp>
      <p:sp>
        <p:nvSpPr>
          <p:cNvPr id="7" name="Text 5"/>
          <p:cNvSpPr/>
          <p:nvPr/>
        </p:nvSpPr>
        <p:spPr>
          <a:xfrm>
            <a:off x="822960" y="914400"/>
            <a:ext cx="9814255" cy="1234440"/>
          </a:xfrm>
          <a:prstGeom prst="rect">
            <a:avLst/>
          </a:prstGeom>
          <a:noFill/>
          <a:ln/>
        </p:spPr>
        <p:txBody>
          <a:bodyPr wrap="square" lIns="0" tIns="0" rIns="0" bIns="0" rtlCol="0" anchor="t">
            <a:normAutofit/>
          </a:bodyPr>
          <a:lstStyle/>
          <a:p>
            <a:pPr indent="0" marL="0">
              <a:buNone/>
            </a:pPr>
            <a:r>
              <a:rPr lang="en-US" sz="3200" dirty="0">
                <a:solidFill>
                  <a:srgbClr val="F2F0EA"/>
                </a:solidFill>
                <a:latin typeface="Georgia" pitchFamily="34" charset="0"/>
                <a:ea typeface="Georgia" pitchFamily="34" charset="-122"/>
                <a:cs typeface="Georgia" pitchFamily="34" charset="-120"/>
              </a:rPr>
              <a:t>O que muda nas ondas, de Mendinho para Codax?</a:t>
            </a:r>
            <a:endParaRPr lang="en-US" sz="3200" dirty="0"/>
          </a:p>
        </p:txBody>
      </p:sp>
      <p:sp>
        <p:nvSpPr>
          <p:cNvPr id="8" name="Shape 6"/>
          <p:cNvSpPr/>
          <p:nvPr/>
        </p:nvSpPr>
        <p:spPr>
          <a:xfrm>
            <a:off x="822960" y="2240280"/>
            <a:ext cx="640080" cy="64008"/>
          </a:xfrm>
          <a:prstGeom prst="rect">
            <a:avLst/>
          </a:prstGeom>
          <a:solidFill>
            <a:srgbClr val="E4555C"/>
          </a:solidFill>
          <a:ln w="12700">
            <a:solidFill>
              <a:srgbClr val="E4555C"/>
            </a:solidFill>
            <a:prstDash val="solid"/>
          </a:ln>
        </p:spPr>
      </p:sp>
      <p:sp>
        <p:nvSpPr>
          <p:cNvPr id="9" name="Shape 7"/>
          <p:cNvSpPr/>
          <p:nvPr/>
        </p:nvSpPr>
        <p:spPr>
          <a:xfrm>
            <a:off x="1005840" y="2697480"/>
            <a:ext cx="0" cy="2563368"/>
          </a:xfrm>
          <a:prstGeom prst="line">
            <a:avLst/>
          </a:prstGeom>
          <a:noFill/>
          <a:ln w="12700">
            <a:solidFill>
              <a:srgbClr val="A9A79F"/>
            </a:solidFill>
            <a:prstDash val="solid"/>
          </a:ln>
        </p:spPr>
      </p:sp>
      <p:sp>
        <p:nvSpPr>
          <p:cNvPr id="10" name="Shape 8"/>
          <p:cNvSpPr/>
          <p:nvPr/>
        </p:nvSpPr>
        <p:spPr>
          <a:xfrm>
            <a:off x="822960" y="2514600"/>
            <a:ext cx="365760" cy="365760"/>
          </a:xfrm>
          <a:prstGeom prst="ellipse">
            <a:avLst/>
          </a:prstGeom>
          <a:solidFill>
            <a:srgbClr val="111111"/>
          </a:solidFill>
          <a:ln w="15875">
            <a:solidFill>
              <a:srgbClr val="F2F0EA"/>
            </a:solidFill>
            <a:prstDash val="solid"/>
          </a:ln>
        </p:spPr>
      </p:sp>
      <p:sp>
        <p:nvSpPr>
          <p:cNvPr id="11" name="Text 9"/>
          <p:cNvSpPr/>
          <p:nvPr/>
        </p:nvSpPr>
        <p:spPr>
          <a:xfrm>
            <a:off x="822960" y="2514600"/>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A</a:t>
            </a:r>
            <a:endParaRPr lang="en-US" sz="1300" dirty="0"/>
          </a:p>
        </p:txBody>
      </p:sp>
      <p:sp>
        <p:nvSpPr>
          <p:cNvPr id="12" name="Text 10"/>
          <p:cNvSpPr/>
          <p:nvPr/>
        </p:nvSpPr>
        <p:spPr>
          <a:xfrm>
            <a:off x="1417320" y="2523744"/>
            <a:ext cx="9174175" cy="981456"/>
          </a:xfrm>
          <a:prstGeom prst="rect">
            <a:avLst/>
          </a:prstGeom>
          <a:noFill/>
          <a:ln/>
        </p:spPr>
        <p:txBody>
          <a:bodyPr wrap="square" lIns="0" tIns="0" rIns="0" bIns="0" rtlCol="0" anchor="t">
            <a:normAutofit/>
          </a:bodyPr>
          <a:lstStyle/>
          <a:p>
            <a:pPr indent="0" marL="0">
              <a:lnSpc>
                <a:spcPct val="105000"/>
              </a:lnSpc>
              <a:buNone/>
            </a:pPr>
            <a:r>
              <a:rPr lang="en-US" sz="2400" dirty="0">
                <a:solidFill>
                  <a:srgbClr val="F2F0EA"/>
                </a:solidFill>
                <a:latin typeface="Arial" pitchFamily="34" charset="0"/>
                <a:ea typeface="Arial" pitchFamily="34" charset="-122"/>
                <a:cs typeface="Arial" pitchFamily="34" charset="-120"/>
              </a:rPr>
              <a:t>Em Mendinho cercam-na e ameaçam-na; em Codax ela fala-lhes e pergunta-lhes pelo amigo</a:t>
            </a:r>
            <a:endParaRPr lang="en-US" sz="2400" dirty="0"/>
          </a:p>
        </p:txBody>
      </p:sp>
      <p:sp>
        <p:nvSpPr>
          <p:cNvPr id="13" name="Shape 11"/>
          <p:cNvSpPr/>
          <p:nvPr/>
        </p:nvSpPr>
        <p:spPr>
          <a:xfrm>
            <a:off x="822960" y="3496056"/>
            <a:ext cx="365760" cy="365760"/>
          </a:xfrm>
          <a:prstGeom prst="ellipse">
            <a:avLst/>
          </a:prstGeom>
          <a:solidFill>
            <a:srgbClr val="111111"/>
          </a:solidFill>
          <a:ln w="15875">
            <a:solidFill>
              <a:srgbClr val="F2F0EA"/>
            </a:solidFill>
            <a:prstDash val="solid"/>
          </a:ln>
        </p:spPr>
      </p:sp>
      <p:sp>
        <p:nvSpPr>
          <p:cNvPr id="14" name="Text 12"/>
          <p:cNvSpPr/>
          <p:nvPr/>
        </p:nvSpPr>
        <p:spPr>
          <a:xfrm>
            <a:off x="822960" y="3496056"/>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B</a:t>
            </a:r>
            <a:endParaRPr lang="en-US" sz="1300" dirty="0"/>
          </a:p>
        </p:txBody>
      </p:sp>
      <p:sp>
        <p:nvSpPr>
          <p:cNvPr id="15" name="Text 13"/>
          <p:cNvSpPr/>
          <p:nvPr/>
        </p:nvSpPr>
        <p:spPr>
          <a:xfrm>
            <a:off x="1417320" y="3505200"/>
            <a:ext cx="9174175" cy="600456"/>
          </a:xfrm>
          <a:prstGeom prst="rect">
            <a:avLst/>
          </a:prstGeom>
          <a:noFill/>
          <a:ln/>
        </p:spPr>
        <p:txBody>
          <a:bodyPr wrap="square" lIns="0" tIns="0" rIns="0" bIns="0" rtlCol="0" anchor="t">
            <a:normAutofit/>
          </a:bodyPr>
          <a:lstStyle/>
          <a:p>
            <a:pPr indent="0" marL="0">
              <a:lnSpc>
                <a:spcPct val="105000"/>
              </a:lnSpc>
              <a:buNone/>
            </a:pPr>
            <a:r>
              <a:rPr lang="en-US" sz="2400" dirty="0">
                <a:solidFill>
                  <a:srgbClr val="F2F0EA"/>
                </a:solidFill>
                <a:latin typeface="Arial" pitchFamily="34" charset="0"/>
                <a:ea typeface="Arial" pitchFamily="34" charset="-122"/>
                <a:cs typeface="Arial" pitchFamily="34" charset="-120"/>
              </a:rPr>
              <a:t>Nas duas cantigas as ondas trazem o amigo de volta</a:t>
            </a:r>
            <a:endParaRPr lang="en-US" sz="2400" dirty="0"/>
          </a:p>
        </p:txBody>
      </p:sp>
      <p:sp>
        <p:nvSpPr>
          <p:cNvPr id="16" name="Shape 14"/>
          <p:cNvSpPr/>
          <p:nvPr/>
        </p:nvSpPr>
        <p:spPr>
          <a:xfrm>
            <a:off x="822960" y="4096512"/>
            <a:ext cx="365760" cy="365760"/>
          </a:xfrm>
          <a:prstGeom prst="ellipse">
            <a:avLst/>
          </a:prstGeom>
          <a:solidFill>
            <a:srgbClr val="111111"/>
          </a:solidFill>
          <a:ln w="15875">
            <a:solidFill>
              <a:srgbClr val="F2F0EA"/>
            </a:solidFill>
            <a:prstDash val="solid"/>
          </a:ln>
        </p:spPr>
      </p:sp>
      <p:sp>
        <p:nvSpPr>
          <p:cNvPr id="17" name="Text 15"/>
          <p:cNvSpPr/>
          <p:nvPr/>
        </p:nvSpPr>
        <p:spPr>
          <a:xfrm>
            <a:off x="822960" y="4096512"/>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C</a:t>
            </a:r>
            <a:endParaRPr lang="en-US" sz="1300" dirty="0"/>
          </a:p>
        </p:txBody>
      </p:sp>
      <p:sp>
        <p:nvSpPr>
          <p:cNvPr id="18" name="Text 16"/>
          <p:cNvSpPr/>
          <p:nvPr/>
        </p:nvSpPr>
        <p:spPr>
          <a:xfrm>
            <a:off x="1417320" y="4105656"/>
            <a:ext cx="9174175" cy="981456"/>
          </a:xfrm>
          <a:prstGeom prst="rect">
            <a:avLst/>
          </a:prstGeom>
          <a:noFill/>
          <a:ln/>
        </p:spPr>
        <p:txBody>
          <a:bodyPr wrap="square" lIns="0" tIns="0" rIns="0" bIns="0" rtlCol="0" anchor="t">
            <a:normAutofit/>
          </a:bodyPr>
          <a:lstStyle/>
          <a:p>
            <a:pPr indent="0" marL="0">
              <a:lnSpc>
                <a:spcPct val="105000"/>
              </a:lnSpc>
              <a:buNone/>
            </a:pPr>
            <a:r>
              <a:rPr lang="en-US" sz="2400" dirty="0">
                <a:solidFill>
                  <a:srgbClr val="F2F0EA"/>
                </a:solidFill>
                <a:latin typeface="Arial" pitchFamily="34" charset="0"/>
                <a:ea typeface="Arial" pitchFamily="34" charset="-122"/>
                <a:cs typeface="Arial" pitchFamily="34" charset="-120"/>
              </a:rPr>
              <a:t>Em Codax as ondas cercam a rapariga; em Mendinho ela pergunta-lhes pelo amigo</a:t>
            </a:r>
            <a:endParaRPr lang="en-US" sz="2400" dirty="0"/>
          </a:p>
        </p:txBody>
      </p:sp>
      <p:sp>
        <p:nvSpPr>
          <p:cNvPr id="19" name="Shape 17"/>
          <p:cNvSpPr/>
          <p:nvPr/>
        </p:nvSpPr>
        <p:spPr>
          <a:xfrm>
            <a:off x="822960" y="5077968"/>
            <a:ext cx="365760" cy="365760"/>
          </a:xfrm>
          <a:prstGeom prst="ellipse">
            <a:avLst/>
          </a:prstGeom>
          <a:solidFill>
            <a:srgbClr val="111111"/>
          </a:solidFill>
          <a:ln w="15875">
            <a:solidFill>
              <a:srgbClr val="F2F0EA"/>
            </a:solidFill>
            <a:prstDash val="solid"/>
          </a:ln>
        </p:spPr>
      </p:sp>
      <p:sp>
        <p:nvSpPr>
          <p:cNvPr id="20" name="Text 18"/>
          <p:cNvSpPr/>
          <p:nvPr/>
        </p:nvSpPr>
        <p:spPr>
          <a:xfrm>
            <a:off x="822960" y="5077968"/>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D</a:t>
            </a:r>
            <a:endParaRPr lang="en-US" sz="1300" dirty="0"/>
          </a:p>
        </p:txBody>
      </p:sp>
      <p:sp>
        <p:nvSpPr>
          <p:cNvPr id="21" name="Text 19"/>
          <p:cNvSpPr/>
          <p:nvPr/>
        </p:nvSpPr>
        <p:spPr>
          <a:xfrm>
            <a:off x="1417320" y="5087112"/>
            <a:ext cx="9174175" cy="981456"/>
          </a:xfrm>
          <a:prstGeom prst="rect">
            <a:avLst/>
          </a:prstGeom>
          <a:noFill/>
          <a:ln/>
        </p:spPr>
        <p:txBody>
          <a:bodyPr wrap="square" lIns="0" tIns="0" rIns="0" bIns="0" rtlCol="0" anchor="t">
            <a:normAutofit/>
          </a:bodyPr>
          <a:lstStyle/>
          <a:p>
            <a:pPr indent="0" marL="0">
              <a:lnSpc>
                <a:spcPct val="105000"/>
              </a:lnSpc>
              <a:buNone/>
            </a:pPr>
            <a:r>
              <a:rPr lang="en-US" sz="2400" dirty="0">
                <a:solidFill>
                  <a:srgbClr val="F2F0EA"/>
                </a:solidFill>
                <a:latin typeface="Arial" pitchFamily="34" charset="0"/>
                <a:ea typeface="Arial" pitchFamily="34" charset="-122"/>
                <a:cs typeface="Arial" pitchFamily="34" charset="-120"/>
              </a:rPr>
              <a:t>Nas duas cantigas as ondas são só paisagem, sem papel na cantiga</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1, aula 6: A voz emprestada</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12</a:t>
            </a:r>
            <a:endParaRPr lang="en-US" sz="1000" dirty="0"/>
          </a:p>
        </p:txBody>
      </p:sp>
      <p:sp>
        <p:nvSpPr>
          <p:cNvPr id="5" name="Shape 3"/>
          <p:cNvSpPr/>
          <p:nvPr/>
        </p:nvSpPr>
        <p:spPr>
          <a:xfrm>
            <a:off x="822960" y="502920"/>
            <a:ext cx="201168" cy="201168"/>
          </a:xfrm>
          <a:prstGeom prst="rect">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RESPOSTA</a:t>
            </a:r>
            <a:endParaRPr lang="en-US" sz="1100" dirty="0"/>
          </a:p>
        </p:txBody>
      </p:sp>
      <p:sp>
        <p:nvSpPr>
          <p:cNvPr id="7" name="Text 5"/>
          <p:cNvSpPr/>
          <p:nvPr/>
        </p:nvSpPr>
        <p:spPr>
          <a:xfrm>
            <a:off x="822960" y="1005840"/>
            <a:ext cx="9814255" cy="1463040"/>
          </a:xfrm>
          <a:prstGeom prst="rect">
            <a:avLst/>
          </a:prstGeom>
          <a:noFill/>
          <a:ln/>
        </p:spPr>
        <p:txBody>
          <a:bodyPr wrap="square" lIns="0" tIns="0" rIns="0" bIns="0" rtlCol="0" anchor="t">
            <a:normAutofit/>
          </a:bodyPr>
          <a:lstStyle/>
          <a:p>
            <a:pPr indent="0" marL="0">
              <a:buNone/>
            </a:pPr>
            <a:r>
              <a:rPr lang="en-US" sz="3400" b="1" dirty="0">
                <a:solidFill>
                  <a:srgbClr val="F2F0EA"/>
                </a:solidFill>
                <a:latin typeface="Arial" pitchFamily="34" charset="0"/>
                <a:ea typeface="Arial" pitchFamily="34" charset="-122"/>
                <a:cs typeface="Arial" pitchFamily="34" charset="-120"/>
              </a:rPr>
              <a:t>Em Mendinho cercam-na e ameaçam-na; em Codax ela fala-lhes e pergunta-lhes pelo amigo</a:t>
            </a:r>
            <a:endParaRPr lang="en-US" sz="3400" dirty="0"/>
          </a:p>
        </p:txBody>
      </p:sp>
      <p:sp>
        <p:nvSpPr>
          <p:cNvPr id="8" name="Shape 6"/>
          <p:cNvSpPr/>
          <p:nvPr/>
        </p:nvSpPr>
        <p:spPr>
          <a:xfrm>
            <a:off x="822960" y="2606040"/>
            <a:ext cx="640080" cy="64008"/>
          </a:xfrm>
          <a:prstGeom prst="rect">
            <a:avLst/>
          </a:prstGeom>
          <a:solidFill>
            <a:srgbClr val="E4555C"/>
          </a:solidFill>
          <a:ln w="12700">
            <a:solidFill>
              <a:srgbClr val="E4555C"/>
            </a:solidFill>
            <a:prstDash val="solid"/>
          </a:ln>
        </p:spPr>
      </p:sp>
      <p:sp>
        <p:nvSpPr>
          <p:cNvPr id="9" name="Text 7"/>
          <p:cNvSpPr/>
          <p:nvPr/>
        </p:nvSpPr>
        <p:spPr>
          <a:xfrm>
            <a:off x="822960" y="2880360"/>
            <a:ext cx="9814255" cy="3246120"/>
          </a:xfrm>
          <a:prstGeom prst="rect">
            <a:avLst/>
          </a:prstGeom>
          <a:noFill/>
          <a:ln/>
        </p:spPr>
        <p:txBody>
          <a:bodyPr wrap="square" lIns="0" tIns="0" rIns="0" bIns="0" rtlCol="0" anchor="t">
            <a:normAutofit/>
          </a:bodyPr>
          <a:lstStyle/>
          <a:p>
            <a:pPr indent="0" marL="0">
              <a:lnSpc>
                <a:spcPct val="120000"/>
              </a:lnSpc>
              <a:buNone/>
            </a:pPr>
            <a:r>
              <a:rPr lang="en-US" sz="2200" dirty="0">
                <a:solidFill>
                  <a:srgbClr val="F2F0EA"/>
                </a:solidFill>
                <a:latin typeface="Georgia" pitchFamily="34" charset="0"/>
                <a:ea typeface="Georgia" pitchFamily="34" charset="-122"/>
                <a:cs typeface="Georgia" pitchFamily="34" charset="-120"/>
              </a:rPr>
              <a:t>Em Mendinho a natureza é ameaça: «cercarom-mi as ondas» e não há barqueiro. Em Codax a rapariga trata as ondas como confidentes: «se vistes meu amigo?». A terceira opção troca as cantigas. A quarta esquece que, nas duas, as ondas são a única coisa que está com ela. Dois trovadores, a mesma voz feminina, duas naturezas: a voz é a mesma, quem a escreve escolhe o que ela vê.</a:t>
            </a:r>
            <a:endParaRPr lang="en-US" sz="2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1, aula 6: A voz emprestada</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13</a:t>
            </a:r>
            <a:endParaRPr lang="en-US" sz="1000" dirty="0"/>
          </a:p>
        </p:txBody>
      </p:sp>
      <p:sp>
        <p:nvSpPr>
          <p:cNvPr id="5" name="Shape 3"/>
          <p:cNvSpPr/>
          <p:nvPr/>
        </p:nvSpPr>
        <p:spPr>
          <a:xfrm>
            <a:off x="822960" y="502920"/>
            <a:ext cx="201168" cy="201168"/>
          </a:xfrm>
          <a:prstGeom prst="ellipse">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ATO 2</a:t>
            </a:r>
            <a:endParaRPr lang="en-US" sz="1100" dirty="0"/>
          </a:p>
        </p:txBody>
      </p:sp>
      <p:sp>
        <p:nvSpPr>
          <p:cNvPr id="7" name="Text 5"/>
          <p:cNvSpPr/>
          <p:nvPr/>
        </p:nvSpPr>
        <p:spPr>
          <a:xfrm>
            <a:off x="822960" y="868680"/>
            <a:ext cx="9814255" cy="822960"/>
          </a:xfrm>
          <a:prstGeom prst="rect">
            <a:avLst/>
          </a:prstGeom>
          <a:noFill/>
          <a:ln/>
        </p:spPr>
        <p:txBody>
          <a:bodyPr wrap="square" lIns="0" tIns="0" rIns="0" bIns="0" rtlCol="0" anchor="b">
            <a:normAutofit/>
          </a:bodyPr>
          <a:lstStyle/>
          <a:p>
            <a:pPr indent="0" marL="0">
              <a:buNone/>
            </a:pPr>
            <a:r>
              <a:rPr lang="en-US" sz="3400" dirty="0">
                <a:solidFill>
                  <a:srgbClr val="F2F0EA"/>
                </a:solidFill>
                <a:latin typeface="Arial" pitchFamily="34" charset="0"/>
                <a:ea typeface="Arial" pitchFamily="34" charset="-122"/>
                <a:cs typeface="Arial" pitchFamily="34" charset="-120"/>
              </a:rPr>
              <a:t>As flores respondem</a:t>
            </a:r>
            <a:endParaRPr lang="en-US" sz="3400" dirty="0"/>
          </a:p>
        </p:txBody>
      </p:sp>
      <p:sp>
        <p:nvSpPr>
          <p:cNvPr id="8" name="Shape 6"/>
          <p:cNvSpPr/>
          <p:nvPr/>
        </p:nvSpPr>
        <p:spPr>
          <a:xfrm>
            <a:off x="822960" y="1746504"/>
            <a:ext cx="640080" cy="64008"/>
          </a:xfrm>
          <a:prstGeom prst="rect">
            <a:avLst/>
          </a:prstGeom>
          <a:solidFill>
            <a:srgbClr val="E4555C"/>
          </a:solidFill>
          <a:ln w="12700">
            <a:solidFill>
              <a:srgbClr val="E4555C"/>
            </a:solidFill>
            <a:prstDash val="solid"/>
          </a:ln>
        </p:spPr>
      </p:sp>
      <p:sp>
        <p:nvSpPr>
          <p:cNvPr id="9" name="Text 7"/>
          <p:cNvSpPr/>
          <p:nvPr/>
        </p:nvSpPr>
        <p:spPr>
          <a:xfrm>
            <a:off x="822960" y="2103120"/>
            <a:ext cx="9814255" cy="3931920"/>
          </a:xfrm>
          <a:prstGeom prst="rect">
            <a:avLst/>
          </a:prstGeom>
          <a:noFill/>
          <a:ln/>
        </p:spPr>
        <p:txBody>
          <a:bodyPr wrap="square" lIns="0" tIns="0" rIns="0" bIns="0" rtlCol="0" anchor="t">
            <a:normAutofit/>
          </a:bodyPr>
          <a:lstStyle/>
          <a:p>
            <a:pPr indent="0" marL="0">
              <a:lnSpc>
                <a:spcPct val="120000"/>
              </a:lnSpc>
              <a:spcAft>
                <a:spcPts val="800"/>
              </a:spcAft>
              <a:buNone/>
            </a:pPr>
            <a:r>
              <a:rPr lang="en-US" sz="2000" dirty="0">
                <a:solidFill>
                  <a:srgbClr val="F2F0EA"/>
                </a:solidFill>
                <a:latin typeface="Georgia" pitchFamily="34" charset="0"/>
                <a:ea typeface="Georgia" pitchFamily="34" charset="-122"/>
                <a:cs typeface="Georgia" pitchFamily="34" charset="-120"/>
              </a:rPr>
              <a:t>D. Dinis escreveu a terceira rapariga. Também pergunta pelo amigo, mas não ao mar: às flores do verde pino. E aqui acontece o que não acontece em Mendinho nem em Codax: a natureza responde. Mais adiante na cantiga, as flores dizem-lhe que ele «é san'e vivo». Lê a primeira estrofe. Três trovadores, três raparigas, três naturezas que fazem coisas diferentes.</a:t>
            </a:r>
            <a:pPr indent="0" marL="0">
              <a:lnSpc>
                <a:spcPct val="120000"/>
              </a:lnSpc>
              <a:spcAft>
                <a:spcPts val="800"/>
              </a:spcAft>
              <a:buNone/>
            </a:pPr>
            <a:r>
              <a:rPr lang="en-US" sz="2000" b="1" dirty="0">
                <a:solidFill>
                  <a:srgbClr val="F2F0EA"/>
                </a:solidFill>
                <a:latin typeface="Georgia" pitchFamily="34" charset="0"/>
                <a:ea typeface="Georgia" pitchFamily="34" charset="-122"/>
                <a:cs typeface="Georgia" pitchFamily="34" charset="-120"/>
              </a:rPr>
              <a:t>A rapariga:</a:t>
            </a:r>
            <a:pPr indent="0" marL="0">
              <a:lnSpc>
                <a:spcPct val="120000"/>
              </a:lnSpc>
              <a:spcAft>
                <a:spcPts val="800"/>
              </a:spcAft>
              <a:buNone/>
            </a:pPr>
            <a:r>
              <a:rPr lang="en-US" sz="2000" dirty="0">
                <a:solidFill>
                  <a:srgbClr val="F2F0EA"/>
                </a:solidFill>
                <a:latin typeface="Georgia" pitchFamily="34" charset="0"/>
                <a:ea typeface="Georgia" pitchFamily="34" charset="-122"/>
                <a:cs typeface="Georgia" pitchFamily="34" charset="-120"/>
              </a:rPr>
              <a:t>Ai flores, ai flores do verde pino,se sabedes novas do meu amigo?Ai Deus, e u é?D. Dinis, </a:t>
            </a:r>
            <a:pPr indent="0" marL="0">
              <a:lnSpc>
                <a:spcPct val="120000"/>
              </a:lnSpc>
              <a:spcAft>
                <a:spcPts val="800"/>
              </a:spcAft>
              <a:buNone/>
            </a:pPr>
            <a:r>
              <a:rPr lang="en-US" sz="2000" i="1" dirty="0">
                <a:solidFill>
                  <a:srgbClr val="F2F0EA"/>
                </a:solidFill>
                <a:latin typeface="Georgia" pitchFamily="34" charset="0"/>
                <a:ea typeface="Georgia" pitchFamily="34" charset="-122"/>
                <a:cs typeface="Georgia" pitchFamily="34" charset="-120"/>
              </a:rPr>
              <a:t>Cantigas Medievais Galego-Portuguesas</a:t>
            </a:r>
            <a:pPr indent="0" marL="0">
              <a:lnSpc>
                <a:spcPct val="120000"/>
              </a:lnSpc>
              <a:spcAft>
                <a:spcPts val="800"/>
              </a:spcAft>
              <a:buNone/>
            </a:pPr>
            <a:r>
              <a:rPr lang="en-US" sz="2000" dirty="0">
                <a:solidFill>
                  <a:srgbClr val="F2F0EA"/>
                </a:solidFill>
                <a:latin typeface="Georgia" pitchFamily="34" charset="0"/>
                <a:ea typeface="Georgia" pitchFamily="34" charset="-122"/>
                <a:cs typeface="Georgia" pitchFamily="34" charset="-120"/>
              </a:rPr>
              <a:t>, cantiga 592, «Ai flores, ai flores do verde pino», integral. base de dados da FCSH/NOVA (ed. Graça Videira Lopes, Manuel Pedro Ferreira et al.)</a:t>
            </a:r>
            <a:endParaRPr lang="en-US" sz="2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1, aula 6: A voz emprestada</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14</a:t>
            </a:r>
            <a:endParaRPr lang="en-US" sz="1000" dirty="0"/>
          </a:p>
        </p:txBody>
      </p:sp>
      <p:sp>
        <p:nvSpPr>
          <p:cNvPr id="5" name="Shape 3"/>
          <p:cNvSpPr/>
          <p:nvPr/>
        </p:nvSpPr>
        <p:spPr>
          <a:xfrm>
            <a:off x="822960" y="502920"/>
            <a:ext cx="201168" cy="201168"/>
          </a:xfrm>
          <a:prstGeom prst="rect">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RESPONDE NO TELEMÓVEL</a:t>
            </a:r>
            <a:endParaRPr lang="en-US" sz="1100" dirty="0"/>
          </a:p>
        </p:txBody>
      </p:sp>
      <p:sp>
        <p:nvSpPr>
          <p:cNvPr id="7" name="Text 5"/>
          <p:cNvSpPr/>
          <p:nvPr/>
        </p:nvSpPr>
        <p:spPr>
          <a:xfrm>
            <a:off x="822960" y="914400"/>
            <a:ext cx="9814255" cy="1234440"/>
          </a:xfrm>
          <a:prstGeom prst="rect">
            <a:avLst/>
          </a:prstGeom>
          <a:noFill/>
          <a:ln/>
        </p:spPr>
        <p:txBody>
          <a:bodyPr wrap="square" lIns="0" tIns="0" rIns="0" bIns="0" rtlCol="0" anchor="t">
            <a:normAutofit/>
          </a:bodyPr>
          <a:lstStyle/>
          <a:p>
            <a:pPr indent="0" marL="0">
              <a:buNone/>
            </a:pPr>
            <a:r>
              <a:rPr lang="en-US" sz="3200" dirty="0">
                <a:solidFill>
                  <a:srgbClr val="F2F0EA"/>
                </a:solidFill>
                <a:latin typeface="Georgia" pitchFamily="34" charset="0"/>
                <a:ea typeface="Georgia" pitchFamily="34" charset="-122"/>
                <a:cs typeface="Georgia" pitchFamily="34" charset="-120"/>
              </a:rPr>
              <a:t>Liga cada cantiga a quem fala e a quem se dirige.</a:t>
            </a:r>
            <a:endParaRPr lang="en-US" sz="3200" dirty="0"/>
          </a:p>
        </p:txBody>
      </p:sp>
      <p:sp>
        <p:nvSpPr>
          <p:cNvPr id="8" name="Shape 6"/>
          <p:cNvSpPr/>
          <p:nvPr/>
        </p:nvSpPr>
        <p:spPr>
          <a:xfrm>
            <a:off x="822960" y="2240280"/>
            <a:ext cx="640080" cy="64008"/>
          </a:xfrm>
          <a:prstGeom prst="rect">
            <a:avLst/>
          </a:prstGeom>
          <a:solidFill>
            <a:srgbClr val="E4555C"/>
          </a:solidFill>
          <a:ln w="12700">
            <a:solidFill>
              <a:srgbClr val="E4555C"/>
            </a:solidFill>
            <a:prstDash val="solid"/>
          </a:ln>
        </p:spPr>
      </p:sp>
      <p:sp>
        <p:nvSpPr>
          <p:cNvPr id="9" name="Text 7"/>
          <p:cNvSpPr/>
          <p:nvPr/>
        </p:nvSpPr>
        <p:spPr>
          <a:xfrm>
            <a:off x="822960" y="2514600"/>
            <a:ext cx="4632808" cy="3611880"/>
          </a:xfrm>
          <a:prstGeom prst="rect">
            <a:avLst/>
          </a:prstGeom>
          <a:noFill/>
          <a:ln/>
        </p:spPr>
        <p:txBody>
          <a:bodyPr wrap="square" lIns="0" tIns="0" rIns="0" bIns="0" rtlCol="0" anchor="t">
            <a:normAutofit/>
          </a:bodyPr>
          <a:lstStyle/>
          <a:p>
            <a:pPr marL="342900" indent="-342900">
              <a:spcAft>
                <a:spcPts val="600"/>
              </a:spcAft>
              <a:buSzPct val="100000"/>
              <a:buChar char="–"/>
            </a:pPr>
            <a:r>
              <a:rPr lang="en-US" sz="2000" dirty="0">
                <a:solidFill>
                  <a:srgbClr val="F2F0EA"/>
                </a:solidFill>
                <a:latin typeface="Arial" pitchFamily="34" charset="0"/>
                <a:ea typeface="Arial" pitchFamily="34" charset="-122"/>
                <a:cs typeface="Arial" pitchFamily="34" charset="-120"/>
              </a:rPr>
              <a:t>«Sedia-m'eu na ermida» (Mendinho)</a:t>
            </a:r>
            <a:endParaRPr lang="en-US" sz="2000" dirty="0"/>
          </a:p>
          <a:p>
            <a:pPr marL="342900" indent="-342900">
              <a:spcAft>
                <a:spcPts val="600"/>
              </a:spcAft>
              <a:buSzPct val="100000"/>
              <a:buChar char="–"/>
            </a:pPr>
            <a:r>
              <a:rPr lang="en-US" sz="2000" dirty="0">
                <a:solidFill>
                  <a:srgbClr val="F2F0EA"/>
                </a:solidFill>
                <a:latin typeface="Arial" pitchFamily="34" charset="0"/>
                <a:ea typeface="Arial" pitchFamily="34" charset="-122"/>
                <a:cs typeface="Arial" pitchFamily="34" charset="-120"/>
              </a:rPr>
              <a:t>«Ondas do mar de Vigo» (Codax)</a:t>
            </a:r>
            <a:endParaRPr lang="en-US" sz="2000" dirty="0"/>
          </a:p>
          <a:p>
            <a:pPr marL="342900" indent="-342900">
              <a:spcAft>
                <a:spcPts val="600"/>
              </a:spcAft>
              <a:buSzPct val="100000"/>
              <a:buChar char="–"/>
            </a:pPr>
            <a:r>
              <a:rPr lang="en-US" sz="2000" dirty="0">
                <a:solidFill>
                  <a:srgbClr val="F2F0EA"/>
                </a:solidFill>
                <a:latin typeface="Arial" pitchFamily="34" charset="0"/>
                <a:ea typeface="Arial" pitchFamily="34" charset="-122"/>
                <a:cs typeface="Arial" pitchFamily="34" charset="-120"/>
              </a:rPr>
              <a:t>«Ai flores, ai flores do verde pino» (D. Dinis)</a:t>
            </a:r>
            <a:endParaRPr lang="en-US" sz="2000" dirty="0"/>
          </a:p>
          <a:p>
            <a:pPr marL="342900" indent="-342900">
              <a:spcAft>
                <a:spcPts val="600"/>
              </a:spcAft>
              <a:buSzPct val="100000"/>
              <a:buChar char="–"/>
            </a:pPr>
            <a:r>
              <a:rPr lang="en-US" sz="2000" dirty="0">
                <a:solidFill>
                  <a:srgbClr val="F2F0EA"/>
                </a:solidFill>
                <a:latin typeface="Arial" pitchFamily="34" charset="0"/>
                <a:ea typeface="Arial" pitchFamily="34" charset="-122"/>
                <a:cs typeface="Arial" pitchFamily="34" charset="-120"/>
              </a:rPr>
              <a:t>«Quer'eu em maneira de proençal» (D. Dinis)</a:t>
            </a:r>
            <a:endParaRPr lang="en-US" sz="2000" dirty="0"/>
          </a:p>
        </p:txBody>
      </p:sp>
      <p:sp>
        <p:nvSpPr>
          <p:cNvPr id="10" name="Text 8"/>
          <p:cNvSpPr/>
          <p:nvPr/>
        </p:nvSpPr>
        <p:spPr>
          <a:xfrm>
            <a:off x="6004408" y="2514600"/>
            <a:ext cx="4632808" cy="3611880"/>
          </a:xfrm>
          <a:prstGeom prst="rect">
            <a:avLst/>
          </a:prstGeom>
          <a:noFill/>
          <a:ln/>
        </p:spPr>
        <p:txBody>
          <a:bodyPr wrap="square" lIns="0" tIns="0" rIns="0" bIns="0" rtlCol="0" anchor="t">
            <a:normAutofit/>
          </a:bodyPr>
          <a:lstStyle/>
          <a:p>
            <a:pPr marL="342900" indent="-342900">
              <a:spcAft>
                <a:spcPts val="600"/>
              </a:spcAft>
              <a:buSzPct val="100000"/>
              <a:buChar char="–"/>
            </a:pPr>
            <a:r>
              <a:rPr lang="en-US" sz="2000" dirty="0">
                <a:solidFill>
                  <a:srgbClr val="F2F0EA"/>
                </a:solidFill>
                <a:latin typeface="Arial" pitchFamily="34" charset="0"/>
                <a:ea typeface="Arial" pitchFamily="34" charset="-122"/>
                <a:cs typeface="Arial" pitchFamily="34" charset="-120"/>
              </a:rPr>
              <a:t>uma rapariga, sozinha, sem ninguém que a ouça</a:t>
            </a:r>
            <a:endParaRPr lang="en-US" sz="2000" dirty="0"/>
          </a:p>
          <a:p>
            <a:pPr marL="342900" indent="-342900">
              <a:spcAft>
                <a:spcPts val="600"/>
              </a:spcAft>
              <a:buSzPct val="100000"/>
              <a:buChar char="–"/>
            </a:pPr>
            <a:r>
              <a:rPr lang="en-US" sz="2000" dirty="0">
                <a:solidFill>
                  <a:srgbClr val="F2F0EA"/>
                </a:solidFill>
                <a:latin typeface="Arial" pitchFamily="34" charset="0"/>
                <a:ea typeface="Arial" pitchFamily="34" charset="-122"/>
                <a:cs typeface="Arial" pitchFamily="34" charset="-120"/>
              </a:rPr>
              <a:t>uma rapariga, às ondas, que não respondem</a:t>
            </a:r>
            <a:endParaRPr lang="en-US" sz="2000" dirty="0"/>
          </a:p>
          <a:p>
            <a:pPr marL="342900" indent="-342900">
              <a:spcAft>
                <a:spcPts val="600"/>
              </a:spcAft>
              <a:buSzPct val="100000"/>
              <a:buChar char="–"/>
            </a:pPr>
            <a:r>
              <a:rPr lang="en-US" sz="2000" dirty="0">
                <a:solidFill>
                  <a:srgbClr val="F2F0EA"/>
                </a:solidFill>
                <a:latin typeface="Arial" pitchFamily="34" charset="0"/>
                <a:ea typeface="Arial" pitchFamily="34" charset="-122"/>
                <a:cs typeface="Arial" pitchFamily="34" charset="-120"/>
              </a:rPr>
              <a:t>uma rapariga, às flores, que lhe respondem</a:t>
            </a:r>
            <a:endParaRPr lang="en-US" sz="2000" dirty="0"/>
          </a:p>
          <a:p>
            <a:pPr marL="342900" indent="-342900">
              <a:spcAft>
                <a:spcPts val="600"/>
              </a:spcAft>
              <a:buSzPct val="100000"/>
              <a:buChar char="–"/>
            </a:pPr>
            <a:r>
              <a:rPr lang="en-US" sz="2000" dirty="0">
                <a:solidFill>
                  <a:srgbClr val="F2F0EA"/>
                </a:solidFill>
                <a:latin typeface="Arial" pitchFamily="34" charset="0"/>
                <a:ea typeface="Arial" pitchFamily="34" charset="-122"/>
                <a:cs typeface="Arial" pitchFamily="34" charset="-120"/>
              </a:rPr>
              <a:t>o trovador, a quem o ouve, sobre a senhora</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1, aula 6: A voz emprestada</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15</a:t>
            </a:r>
            <a:endParaRPr lang="en-US" sz="1000" dirty="0"/>
          </a:p>
        </p:txBody>
      </p:sp>
      <p:sp>
        <p:nvSpPr>
          <p:cNvPr id="5" name="Shape 3"/>
          <p:cNvSpPr/>
          <p:nvPr/>
        </p:nvSpPr>
        <p:spPr>
          <a:xfrm>
            <a:off x="822960" y="502920"/>
            <a:ext cx="201168" cy="201168"/>
          </a:xfrm>
          <a:prstGeom prst="rect">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RESPOSTA</a:t>
            </a:r>
            <a:endParaRPr lang="en-US" sz="1100" dirty="0"/>
          </a:p>
        </p:txBody>
      </p:sp>
      <p:sp>
        <p:nvSpPr>
          <p:cNvPr id="7" name="Text 5"/>
          <p:cNvSpPr/>
          <p:nvPr/>
        </p:nvSpPr>
        <p:spPr>
          <a:xfrm>
            <a:off x="822960" y="1005840"/>
            <a:ext cx="9814255" cy="2377440"/>
          </a:xfrm>
          <a:prstGeom prst="rect">
            <a:avLst/>
          </a:prstGeom>
          <a:noFill/>
          <a:ln/>
        </p:spPr>
        <p:txBody>
          <a:bodyPr wrap="square" lIns="0" tIns="0" rIns="0" bIns="0" rtlCol="0" anchor="t">
            <a:normAutofit/>
          </a:bodyPr>
          <a:lstStyle/>
          <a:p>
            <a:pPr marL="342900" indent="-342900">
              <a:spcAft>
                <a:spcPts val="400"/>
              </a:spcAft>
              <a:buSzPct val="100000"/>
              <a:buFont typeface="+mj-lt"/>
              <a:buAutoNum type="arabicPeriod" startAt="1"/>
            </a:pPr>
            <a:r>
              <a:rPr lang="en-US" sz="2200" dirty="0">
                <a:solidFill>
                  <a:srgbClr val="F2F0EA"/>
                </a:solidFill>
                <a:latin typeface="Arial" pitchFamily="34" charset="0"/>
                <a:ea typeface="Arial" pitchFamily="34" charset="-122"/>
                <a:cs typeface="Arial" pitchFamily="34" charset="-120"/>
              </a:rPr>
              <a:t>«Sedia-m'eu na ermida» (Mendinho) → uma rapariga, sozinha, sem ninguém que a ouça</a:t>
            </a:r>
            <a:endParaRPr lang="en-US" sz="2200" dirty="0"/>
          </a:p>
          <a:p>
            <a:pPr marL="342900" indent="-342900">
              <a:spcAft>
                <a:spcPts val="400"/>
              </a:spcAft>
              <a:buSzPct val="100000"/>
              <a:buFont typeface="+mj-lt"/>
              <a:buAutoNum type="arabicPeriod" startAt="1"/>
            </a:pPr>
            <a:r>
              <a:rPr lang="en-US" sz="2200" dirty="0">
                <a:solidFill>
                  <a:srgbClr val="F2F0EA"/>
                </a:solidFill>
                <a:latin typeface="Arial" pitchFamily="34" charset="0"/>
                <a:ea typeface="Arial" pitchFamily="34" charset="-122"/>
                <a:cs typeface="Arial" pitchFamily="34" charset="-120"/>
              </a:rPr>
              <a:t>«Ondas do mar de Vigo» (Codax) → uma rapariga, às ondas, que não respondem</a:t>
            </a:r>
            <a:endParaRPr lang="en-US" sz="2200" dirty="0"/>
          </a:p>
          <a:p>
            <a:pPr marL="342900" indent="-342900">
              <a:spcAft>
                <a:spcPts val="400"/>
              </a:spcAft>
              <a:buSzPct val="100000"/>
              <a:buFont typeface="+mj-lt"/>
              <a:buAutoNum type="arabicPeriod" startAt="1"/>
            </a:pPr>
            <a:r>
              <a:rPr lang="en-US" sz="2200" dirty="0">
                <a:solidFill>
                  <a:srgbClr val="F2F0EA"/>
                </a:solidFill>
                <a:latin typeface="Arial" pitchFamily="34" charset="0"/>
                <a:ea typeface="Arial" pitchFamily="34" charset="-122"/>
                <a:cs typeface="Arial" pitchFamily="34" charset="-120"/>
              </a:rPr>
              <a:t>«Ai flores, ai flores do verde pino» (D. Dinis) → uma rapariga, às flores, que lhe respondem</a:t>
            </a:r>
            <a:endParaRPr lang="en-US" sz="2200" dirty="0"/>
          </a:p>
          <a:p>
            <a:pPr marL="342900" indent="-342900">
              <a:spcAft>
                <a:spcPts val="400"/>
              </a:spcAft>
              <a:buSzPct val="100000"/>
              <a:buFont typeface="+mj-lt"/>
              <a:buAutoNum type="arabicPeriod" startAt="1"/>
            </a:pPr>
            <a:r>
              <a:rPr lang="en-US" sz="2200" dirty="0">
                <a:solidFill>
                  <a:srgbClr val="F2F0EA"/>
                </a:solidFill>
                <a:latin typeface="Arial" pitchFamily="34" charset="0"/>
                <a:ea typeface="Arial" pitchFamily="34" charset="-122"/>
                <a:cs typeface="Arial" pitchFamily="34" charset="-120"/>
              </a:rPr>
              <a:t>«Quer'eu em maneira de proençal» (D. Dinis) → o trovador, a quem o ouve, sobre a senhora</a:t>
            </a:r>
            <a:endParaRPr lang="en-US" sz="2200" dirty="0"/>
          </a:p>
        </p:txBody>
      </p:sp>
      <p:sp>
        <p:nvSpPr>
          <p:cNvPr id="8" name="Shape 6"/>
          <p:cNvSpPr/>
          <p:nvPr/>
        </p:nvSpPr>
        <p:spPr>
          <a:xfrm>
            <a:off x="822960" y="3520440"/>
            <a:ext cx="640080" cy="64008"/>
          </a:xfrm>
          <a:prstGeom prst="rect">
            <a:avLst/>
          </a:prstGeom>
          <a:solidFill>
            <a:srgbClr val="E4555C"/>
          </a:solidFill>
          <a:ln w="12700">
            <a:solidFill>
              <a:srgbClr val="E4555C"/>
            </a:solidFill>
            <a:prstDash val="solid"/>
          </a:ln>
        </p:spPr>
      </p:sp>
      <p:sp>
        <p:nvSpPr>
          <p:cNvPr id="9" name="Text 7"/>
          <p:cNvSpPr/>
          <p:nvPr/>
        </p:nvSpPr>
        <p:spPr>
          <a:xfrm>
            <a:off x="822960" y="3794760"/>
            <a:ext cx="9814255" cy="2331720"/>
          </a:xfrm>
          <a:prstGeom prst="rect">
            <a:avLst/>
          </a:prstGeom>
          <a:noFill/>
          <a:ln/>
        </p:spPr>
        <p:txBody>
          <a:bodyPr wrap="square" lIns="0" tIns="0" rIns="0" bIns="0" rtlCol="0" anchor="t">
            <a:normAutofit/>
          </a:bodyPr>
          <a:lstStyle/>
          <a:p>
            <a:pPr indent="0" marL="0">
              <a:lnSpc>
                <a:spcPct val="120000"/>
              </a:lnSpc>
              <a:buNone/>
            </a:pPr>
            <a:r>
              <a:rPr lang="en-US" sz="2200" dirty="0">
                <a:solidFill>
                  <a:srgbClr val="F2F0EA"/>
                </a:solidFill>
                <a:latin typeface="Georgia" pitchFamily="34" charset="0"/>
                <a:ea typeface="Georgia" pitchFamily="34" charset="-122"/>
                <a:cs typeface="Georgia" pitchFamily="34" charset="-120"/>
              </a:rPr>
              <a:t>Quatro cantigas, três com voz feminina e uma com a do trovador. A rapariga de Mendinho não fala a ninguém; a de Codax pergunta às ondas; a de D. Dinis pergunta às flores e, nesta, a natureza responde. Na cantiga de amor, o «eu» é o do trovador: anuncia a quem ouve que vai louvar a senhora.</a:t>
            </a:r>
            <a:endParaRPr lang="en-US" sz="2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1, aula 6: A voz emprestada</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16</a:t>
            </a:r>
            <a:endParaRPr lang="en-US" sz="1000" dirty="0"/>
          </a:p>
        </p:txBody>
      </p:sp>
      <p:sp>
        <p:nvSpPr>
          <p:cNvPr id="5" name="Shape 3"/>
          <p:cNvSpPr/>
          <p:nvPr/>
        </p:nvSpPr>
        <p:spPr>
          <a:xfrm>
            <a:off x="822960" y="502920"/>
            <a:ext cx="201168" cy="201168"/>
          </a:xfrm>
          <a:prstGeom prst="rect">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ESCOLHE UMA POSIÇÃO</a:t>
            </a:r>
            <a:endParaRPr lang="en-US" sz="1100" dirty="0"/>
          </a:p>
        </p:txBody>
      </p:sp>
      <p:sp>
        <p:nvSpPr>
          <p:cNvPr id="7" name="Text 5"/>
          <p:cNvSpPr/>
          <p:nvPr/>
        </p:nvSpPr>
        <p:spPr>
          <a:xfrm>
            <a:off x="822960" y="914400"/>
            <a:ext cx="9814255" cy="1234440"/>
          </a:xfrm>
          <a:prstGeom prst="rect">
            <a:avLst/>
          </a:prstGeom>
          <a:noFill/>
          <a:ln/>
        </p:spPr>
        <p:txBody>
          <a:bodyPr wrap="square" lIns="0" tIns="0" rIns="0" bIns="0" rtlCol="0" anchor="t">
            <a:normAutofit/>
          </a:bodyPr>
          <a:lstStyle/>
          <a:p>
            <a:pPr indent="0" marL="0">
              <a:buNone/>
            </a:pPr>
            <a:r>
              <a:rPr lang="en-US" sz="3200" dirty="0">
                <a:solidFill>
                  <a:srgbClr val="F2F0EA"/>
                </a:solidFill>
                <a:latin typeface="Georgia" pitchFamily="34" charset="0"/>
                <a:ea typeface="Georgia" pitchFamily="34" charset="-122"/>
                <a:cs typeface="Georgia" pitchFamily="34" charset="-120"/>
              </a:rPr>
              <a:t>A cantiga de amigo é uma voz de mulher escrita por homens. Como lês esse empréstimo?</a:t>
            </a:r>
            <a:endParaRPr lang="en-US" sz="3200" dirty="0"/>
          </a:p>
        </p:txBody>
      </p:sp>
      <p:sp>
        <p:nvSpPr>
          <p:cNvPr id="8" name="Shape 6"/>
          <p:cNvSpPr/>
          <p:nvPr/>
        </p:nvSpPr>
        <p:spPr>
          <a:xfrm>
            <a:off x="822960" y="2240280"/>
            <a:ext cx="640080" cy="64008"/>
          </a:xfrm>
          <a:prstGeom prst="rect">
            <a:avLst/>
          </a:prstGeom>
          <a:solidFill>
            <a:srgbClr val="E4555C"/>
          </a:solidFill>
          <a:ln w="12700">
            <a:solidFill>
              <a:srgbClr val="E4555C"/>
            </a:solidFill>
            <a:prstDash val="solid"/>
          </a:ln>
        </p:spPr>
      </p:sp>
      <p:sp>
        <p:nvSpPr>
          <p:cNvPr id="9" name="Shape 7"/>
          <p:cNvSpPr/>
          <p:nvPr/>
        </p:nvSpPr>
        <p:spPr>
          <a:xfrm>
            <a:off x="1005840" y="2697480"/>
            <a:ext cx="0" cy="1200912"/>
          </a:xfrm>
          <a:prstGeom prst="line">
            <a:avLst/>
          </a:prstGeom>
          <a:noFill/>
          <a:ln w="12700">
            <a:solidFill>
              <a:srgbClr val="A9A79F"/>
            </a:solidFill>
            <a:prstDash val="solid"/>
          </a:ln>
        </p:spPr>
      </p:sp>
      <p:sp>
        <p:nvSpPr>
          <p:cNvPr id="10" name="Shape 8"/>
          <p:cNvSpPr/>
          <p:nvPr/>
        </p:nvSpPr>
        <p:spPr>
          <a:xfrm>
            <a:off x="822960" y="2514600"/>
            <a:ext cx="365760" cy="365760"/>
          </a:xfrm>
          <a:prstGeom prst="ellipse">
            <a:avLst/>
          </a:prstGeom>
          <a:solidFill>
            <a:srgbClr val="111111"/>
          </a:solidFill>
          <a:ln w="15875">
            <a:solidFill>
              <a:srgbClr val="F2F0EA"/>
            </a:solidFill>
            <a:prstDash val="solid"/>
          </a:ln>
        </p:spPr>
      </p:sp>
      <p:sp>
        <p:nvSpPr>
          <p:cNvPr id="11" name="Text 9"/>
          <p:cNvSpPr/>
          <p:nvPr/>
        </p:nvSpPr>
        <p:spPr>
          <a:xfrm>
            <a:off x="822960" y="2514600"/>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A</a:t>
            </a:r>
            <a:endParaRPr lang="en-US" sz="1300" dirty="0"/>
          </a:p>
        </p:txBody>
      </p:sp>
      <p:sp>
        <p:nvSpPr>
          <p:cNvPr id="12" name="Text 10"/>
          <p:cNvSpPr/>
          <p:nvPr/>
        </p:nvSpPr>
        <p:spPr>
          <a:xfrm>
            <a:off x="1417320" y="2523744"/>
            <a:ext cx="9174175" cy="600456"/>
          </a:xfrm>
          <a:prstGeom prst="rect">
            <a:avLst/>
          </a:prstGeom>
          <a:noFill/>
          <a:ln/>
        </p:spPr>
        <p:txBody>
          <a:bodyPr wrap="square" lIns="0" tIns="0" rIns="0" bIns="0" rtlCol="0" anchor="t">
            <a:normAutofit/>
          </a:bodyPr>
          <a:lstStyle/>
          <a:p>
            <a:pPr indent="0" marL="0">
              <a:lnSpc>
                <a:spcPct val="105000"/>
              </a:lnSpc>
              <a:buNone/>
            </a:pPr>
            <a:r>
              <a:rPr lang="en-US" sz="2400" dirty="0">
                <a:solidFill>
                  <a:srgbClr val="F2F0EA"/>
                </a:solidFill>
                <a:latin typeface="Arial" pitchFamily="34" charset="0"/>
                <a:ea typeface="Arial" pitchFamily="34" charset="-122"/>
                <a:cs typeface="Arial" pitchFamily="34" charset="-120"/>
              </a:rPr>
              <a:t>É uma convenção</a:t>
            </a:r>
            <a:endParaRPr lang="en-US" sz="2400" dirty="0"/>
          </a:p>
        </p:txBody>
      </p:sp>
      <p:sp>
        <p:nvSpPr>
          <p:cNvPr id="13" name="Shape 11"/>
          <p:cNvSpPr/>
          <p:nvPr/>
        </p:nvSpPr>
        <p:spPr>
          <a:xfrm>
            <a:off x="822960" y="3115056"/>
            <a:ext cx="365760" cy="365760"/>
          </a:xfrm>
          <a:prstGeom prst="ellipse">
            <a:avLst/>
          </a:prstGeom>
          <a:solidFill>
            <a:srgbClr val="111111"/>
          </a:solidFill>
          <a:ln w="15875">
            <a:solidFill>
              <a:srgbClr val="F2F0EA"/>
            </a:solidFill>
            <a:prstDash val="solid"/>
          </a:ln>
        </p:spPr>
      </p:sp>
      <p:sp>
        <p:nvSpPr>
          <p:cNvPr id="14" name="Text 12"/>
          <p:cNvSpPr/>
          <p:nvPr/>
        </p:nvSpPr>
        <p:spPr>
          <a:xfrm>
            <a:off x="822960" y="3115056"/>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B</a:t>
            </a:r>
            <a:endParaRPr lang="en-US" sz="1300" dirty="0"/>
          </a:p>
        </p:txBody>
      </p:sp>
      <p:sp>
        <p:nvSpPr>
          <p:cNvPr id="15" name="Text 13"/>
          <p:cNvSpPr/>
          <p:nvPr/>
        </p:nvSpPr>
        <p:spPr>
          <a:xfrm>
            <a:off x="1417320" y="3124200"/>
            <a:ext cx="9174175" cy="600456"/>
          </a:xfrm>
          <a:prstGeom prst="rect">
            <a:avLst/>
          </a:prstGeom>
          <a:noFill/>
          <a:ln/>
        </p:spPr>
        <p:txBody>
          <a:bodyPr wrap="square" lIns="0" tIns="0" rIns="0" bIns="0" rtlCol="0" anchor="t">
            <a:normAutofit/>
          </a:bodyPr>
          <a:lstStyle/>
          <a:p>
            <a:pPr indent="0" marL="0">
              <a:lnSpc>
                <a:spcPct val="105000"/>
              </a:lnSpc>
              <a:buNone/>
            </a:pPr>
            <a:r>
              <a:rPr lang="en-US" sz="2400" dirty="0">
                <a:solidFill>
                  <a:srgbClr val="F2F0EA"/>
                </a:solidFill>
                <a:latin typeface="Arial" pitchFamily="34" charset="0"/>
                <a:ea typeface="Arial" pitchFamily="34" charset="-122"/>
                <a:cs typeface="Arial" pitchFamily="34" charset="-120"/>
              </a:rPr>
              <a:t>É uma máscara</a:t>
            </a:r>
            <a:endParaRPr lang="en-US" sz="2400" dirty="0"/>
          </a:p>
        </p:txBody>
      </p:sp>
      <p:sp>
        <p:nvSpPr>
          <p:cNvPr id="16" name="Shape 14"/>
          <p:cNvSpPr/>
          <p:nvPr/>
        </p:nvSpPr>
        <p:spPr>
          <a:xfrm>
            <a:off x="822960" y="3715512"/>
            <a:ext cx="365760" cy="365760"/>
          </a:xfrm>
          <a:prstGeom prst="ellipse">
            <a:avLst/>
          </a:prstGeom>
          <a:solidFill>
            <a:srgbClr val="111111"/>
          </a:solidFill>
          <a:ln w="15875">
            <a:solidFill>
              <a:srgbClr val="F2F0EA"/>
            </a:solidFill>
            <a:prstDash val="solid"/>
          </a:ln>
        </p:spPr>
      </p:sp>
      <p:sp>
        <p:nvSpPr>
          <p:cNvPr id="17" name="Text 15"/>
          <p:cNvSpPr/>
          <p:nvPr/>
        </p:nvSpPr>
        <p:spPr>
          <a:xfrm>
            <a:off x="822960" y="3715512"/>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C</a:t>
            </a:r>
            <a:endParaRPr lang="en-US" sz="1300" dirty="0"/>
          </a:p>
        </p:txBody>
      </p:sp>
      <p:sp>
        <p:nvSpPr>
          <p:cNvPr id="18" name="Text 16"/>
          <p:cNvSpPr/>
          <p:nvPr/>
        </p:nvSpPr>
        <p:spPr>
          <a:xfrm>
            <a:off x="1417320" y="3724656"/>
            <a:ext cx="9174175" cy="600456"/>
          </a:xfrm>
          <a:prstGeom prst="rect">
            <a:avLst/>
          </a:prstGeom>
          <a:noFill/>
          <a:ln/>
        </p:spPr>
        <p:txBody>
          <a:bodyPr wrap="square" lIns="0" tIns="0" rIns="0" bIns="0" rtlCol="0" anchor="t">
            <a:normAutofit/>
          </a:bodyPr>
          <a:lstStyle/>
          <a:p>
            <a:pPr indent="0" marL="0">
              <a:lnSpc>
                <a:spcPct val="105000"/>
              </a:lnSpc>
              <a:buNone/>
            </a:pPr>
            <a:r>
              <a:rPr lang="en-US" sz="2400" dirty="0">
                <a:solidFill>
                  <a:srgbClr val="F2F0EA"/>
                </a:solidFill>
                <a:latin typeface="Arial" pitchFamily="34" charset="0"/>
                <a:ea typeface="Arial" pitchFamily="34" charset="-122"/>
                <a:cs typeface="Arial" pitchFamily="34" charset="-120"/>
              </a:rPr>
              <a:t>É o que a poesia faz</a:t>
            </a:r>
            <a:endParaRPr lang="en-US" sz="2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1, aula 6: A voz emprestada</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17</a:t>
            </a:r>
            <a:endParaRPr lang="en-US" sz="1000" dirty="0"/>
          </a:p>
        </p:txBody>
      </p:sp>
      <p:sp>
        <p:nvSpPr>
          <p:cNvPr id="5" name="Shape 3"/>
          <p:cNvSpPr/>
          <p:nvPr/>
        </p:nvSpPr>
        <p:spPr>
          <a:xfrm>
            <a:off x="822960" y="502920"/>
            <a:ext cx="201168" cy="201168"/>
          </a:xfrm>
          <a:prstGeom prst="ellipse">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ATO 3</a:t>
            </a:r>
            <a:endParaRPr lang="en-US" sz="1100" dirty="0"/>
          </a:p>
        </p:txBody>
      </p:sp>
      <p:sp>
        <p:nvSpPr>
          <p:cNvPr id="7" name="Text 5"/>
          <p:cNvSpPr/>
          <p:nvPr/>
        </p:nvSpPr>
        <p:spPr>
          <a:xfrm>
            <a:off x="822960" y="868680"/>
            <a:ext cx="9814255" cy="822960"/>
          </a:xfrm>
          <a:prstGeom prst="rect">
            <a:avLst/>
          </a:prstGeom>
          <a:noFill/>
          <a:ln/>
        </p:spPr>
        <p:txBody>
          <a:bodyPr wrap="square" lIns="0" tIns="0" rIns="0" bIns="0" rtlCol="0" anchor="b">
            <a:normAutofit/>
          </a:bodyPr>
          <a:lstStyle/>
          <a:p>
            <a:pPr indent="0" marL="0">
              <a:buNone/>
            </a:pPr>
            <a:r>
              <a:rPr lang="en-US" sz="3400" dirty="0">
                <a:solidFill>
                  <a:srgbClr val="F2F0EA"/>
                </a:solidFill>
                <a:latin typeface="Arial" pitchFamily="34" charset="0"/>
                <a:ea typeface="Arial" pitchFamily="34" charset="-122"/>
                <a:cs typeface="Arial" pitchFamily="34" charset="-120"/>
              </a:rPr>
              <a:t>Louvar</a:t>
            </a:r>
            <a:endParaRPr lang="en-US" sz="3400" dirty="0"/>
          </a:p>
        </p:txBody>
      </p:sp>
      <p:sp>
        <p:nvSpPr>
          <p:cNvPr id="8" name="Shape 6"/>
          <p:cNvSpPr/>
          <p:nvPr/>
        </p:nvSpPr>
        <p:spPr>
          <a:xfrm>
            <a:off x="822960" y="1746504"/>
            <a:ext cx="640080" cy="64008"/>
          </a:xfrm>
          <a:prstGeom prst="rect">
            <a:avLst/>
          </a:prstGeom>
          <a:solidFill>
            <a:srgbClr val="E4555C"/>
          </a:solidFill>
          <a:ln w="12700">
            <a:solidFill>
              <a:srgbClr val="E4555C"/>
            </a:solidFill>
            <a:prstDash val="solid"/>
          </a:ln>
        </p:spPr>
      </p:sp>
      <p:sp>
        <p:nvSpPr>
          <p:cNvPr id="9" name="Text 7"/>
          <p:cNvSpPr/>
          <p:nvPr/>
        </p:nvSpPr>
        <p:spPr>
          <a:xfrm>
            <a:off x="822960" y="2103120"/>
            <a:ext cx="9814255" cy="3931920"/>
          </a:xfrm>
          <a:prstGeom prst="rect">
            <a:avLst/>
          </a:prstGeom>
          <a:noFill/>
          <a:ln/>
        </p:spPr>
        <p:txBody>
          <a:bodyPr wrap="square" lIns="0" tIns="0" rIns="0" bIns="0" rtlCol="0" anchor="t">
            <a:normAutofit/>
          </a:bodyPr>
          <a:lstStyle/>
          <a:p>
            <a:pPr indent="0" marL="0">
              <a:lnSpc>
                <a:spcPct val="120000"/>
              </a:lnSpc>
              <a:spcAft>
                <a:spcPts val="800"/>
              </a:spcAft>
              <a:buNone/>
            </a:pPr>
            <a:r>
              <a:rPr lang="en-US" sz="2000" dirty="0">
                <a:solidFill>
                  <a:srgbClr val="F2F0EA"/>
                </a:solidFill>
                <a:latin typeface="Georgia" pitchFamily="34" charset="0"/>
                <a:ea typeface="Georgia" pitchFamily="34" charset="-122"/>
                <a:cs typeface="Georgia" pitchFamily="34" charset="-120"/>
              </a:rPr>
              <a:t>Agora a segunda voz. D. Dinis, rei e trovador, diz «eu» e anuncia o que vai fazer: um cantar de amor «em maneira de proençal», isto é, à moda dos trovadores da Provença. Vai louvar a senhora, e exagera: ela vale mais do que todas as mulheres do mundo. Lê a primeira estrofe e repara em como o «eu» declara a intenção antes de a cumprir.Quer'eu em maneira de proençalfazer agora um cantar d'amore querrei muit'i loar mia senhora que prez nem fremosura nom fal,nem bondade; e mais vos direi en:tanto a fez Deus comprida de bemque mais que todas las do mundo val.D. Dinis, </a:t>
            </a:r>
            <a:pPr indent="0" marL="0">
              <a:lnSpc>
                <a:spcPct val="120000"/>
              </a:lnSpc>
              <a:spcAft>
                <a:spcPts val="800"/>
              </a:spcAft>
              <a:buNone/>
            </a:pPr>
            <a:r>
              <a:rPr lang="en-US" sz="2000" i="1" dirty="0">
                <a:solidFill>
                  <a:srgbClr val="F2F0EA"/>
                </a:solidFill>
                <a:latin typeface="Georgia" pitchFamily="34" charset="0"/>
                <a:ea typeface="Georgia" pitchFamily="34" charset="-122"/>
                <a:cs typeface="Georgia" pitchFamily="34" charset="-120"/>
              </a:rPr>
              <a:t>Cantigas Medievais Galego-Portuguesas</a:t>
            </a:r>
            <a:pPr indent="0" marL="0">
              <a:lnSpc>
                <a:spcPct val="120000"/>
              </a:lnSpc>
              <a:spcAft>
                <a:spcPts val="800"/>
              </a:spcAft>
              <a:buNone/>
            </a:pPr>
            <a:r>
              <a:rPr lang="en-US" sz="2000" dirty="0">
                <a:solidFill>
                  <a:srgbClr val="F2F0EA"/>
                </a:solidFill>
                <a:latin typeface="Georgia" pitchFamily="34" charset="0"/>
                <a:ea typeface="Georgia" pitchFamily="34" charset="-122"/>
                <a:cs typeface="Georgia" pitchFamily="34" charset="-120"/>
              </a:rPr>
              <a:t>, cantiga 544, «Quer'eu em maneira de proençal», as três estrofes. base de dados da…</a:t>
            </a:r>
            <a:endParaRPr lang="en-US" sz="2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1, aula 6: A voz emprestada</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18</a:t>
            </a:r>
            <a:endParaRPr lang="en-US" sz="1000" dirty="0"/>
          </a:p>
        </p:txBody>
      </p:sp>
      <p:sp>
        <p:nvSpPr>
          <p:cNvPr id="5" name="Shape 3"/>
          <p:cNvSpPr/>
          <p:nvPr/>
        </p:nvSpPr>
        <p:spPr>
          <a:xfrm>
            <a:off x="822960" y="502920"/>
            <a:ext cx="201168" cy="201168"/>
          </a:xfrm>
          <a:prstGeom prst="rect">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RESPONDE NO TELEMÓVEL</a:t>
            </a:r>
            <a:endParaRPr lang="en-US" sz="1100" dirty="0"/>
          </a:p>
        </p:txBody>
      </p:sp>
      <p:sp>
        <p:nvSpPr>
          <p:cNvPr id="7" name="Text 5"/>
          <p:cNvSpPr/>
          <p:nvPr/>
        </p:nvSpPr>
        <p:spPr>
          <a:xfrm>
            <a:off x="822960" y="914400"/>
            <a:ext cx="9814255" cy="1234440"/>
          </a:xfrm>
          <a:prstGeom prst="rect">
            <a:avLst/>
          </a:prstGeom>
          <a:noFill/>
          <a:ln/>
        </p:spPr>
        <p:txBody>
          <a:bodyPr wrap="square" lIns="0" tIns="0" rIns="0" bIns="0" rtlCol="0" anchor="t">
            <a:normAutofit/>
          </a:bodyPr>
          <a:lstStyle/>
          <a:p>
            <a:pPr indent="0" marL="0">
              <a:buNone/>
            </a:pPr>
            <a:r>
              <a:rPr lang="en-US" sz="2800" dirty="0">
                <a:solidFill>
                  <a:srgbClr val="F2F0EA"/>
                </a:solidFill>
                <a:latin typeface="Georgia" pitchFamily="34" charset="0"/>
                <a:ea typeface="Georgia" pitchFamily="34" charset="-122"/>
                <a:cs typeface="Georgia" pitchFamily="34" charset="-120"/>
              </a:rPr>
              <a:t>«Quer'eu em maneira de proençal / fazer agora um cantar d'amor»: o que te diz este começo sobre o «eu» que fala?</a:t>
            </a:r>
            <a:endParaRPr lang="en-US" sz="2800" dirty="0"/>
          </a:p>
        </p:txBody>
      </p:sp>
      <p:sp>
        <p:nvSpPr>
          <p:cNvPr id="8" name="Shape 6"/>
          <p:cNvSpPr/>
          <p:nvPr/>
        </p:nvSpPr>
        <p:spPr>
          <a:xfrm>
            <a:off x="822960" y="2240280"/>
            <a:ext cx="640080" cy="64008"/>
          </a:xfrm>
          <a:prstGeom prst="rect">
            <a:avLst/>
          </a:prstGeom>
          <a:solidFill>
            <a:srgbClr val="E4555C"/>
          </a:solidFill>
          <a:ln w="12700">
            <a:solidFill>
              <a:srgbClr val="E4555C"/>
            </a:solidFill>
            <a:prstDash val="solid"/>
          </a:ln>
        </p:spPr>
      </p:sp>
      <p:sp>
        <p:nvSpPr>
          <p:cNvPr id="9" name="Shape 7"/>
          <p:cNvSpPr/>
          <p:nvPr/>
        </p:nvSpPr>
        <p:spPr>
          <a:xfrm>
            <a:off x="1005840" y="2697480"/>
            <a:ext cx="0" cy="2182368"/>
          </a:xfrm>
          <a:prstGeom prst="line">
            <a:avLst/>
          </a:prstGeom>
          <a:noFill/>
          <a:ln w="12700">
            <a:solidFill>
              <a:srgbClr val="A9A79F"/>
            </a:solidFill>
            <a:prstDash val="solid"/>
          </a:ln>
        </p:spPr>
      </p:sp>
      <p:sp>
        <p:nvSpPr>
          <p:cNvPr id="10" name="Shape 8"/>
          <p:cNvSpPr/>
          <p:nvPr/>
        </p:nvSpPr>
        <p:spPr>
          <a:xfrm>
            <a:off x="822960" y="2514600"/>
            <a:ext cx="365760" cy="365760"/>
          </a:xfrm>
          <a:prstGeom prst="ellipse">
            <a:avLst/>
          </a:prstGeom>
          <a:solidFill>
            <a:srgbClr val="111111"/>
          </a:solidFill>
          <a:ln w="15875">
            <a:solidFill>
              <a:srgbClr val="F2F0EA"/>
            </a:solidFill>
            <a:prstDash val="solid"/>
          </a:ln>
        </p:spPr>
      </p:sp>
      <p:sp>
        <p:nvSpPr>
          <p:cNvPr id="11" name="Text 9"/>
          <p:cNvSpPr/>
          <p:nvPr/>
        </p:nvSpPr>
        <p:spPr>
          <a:xfrm>
            <a:off x="822960" y="2514600"/>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A</a:t>
            </a:r>
            <a:endParaRPr lang="en-US" sz="1300" dirty="0"/>
          </a:p>
        </p:txBody>
      </p:sp>
      <p:sp>
        <p:nvSpPr>
          <p:cNvPr id="12" name="Text 10"/>
          <p:cNvSpPr/>
          <p:nvPr/>
        </p:nvSpPr>
        <p:spPr>
          <a:xfrm>
            <a:off x="1417320" y="2523744"/>
            <a:ext cx="9174175" cy="981456"/>
          </a:xfrm>
          <a:prstGeom prst="rect">
            <a:avLst/>
          </a:prstGeom>
          <a:noFill/>
          <a:ln/>
        </p:spPr>
        <p:txBody>
          <a:bodyPr wrap="square" lIns="0" tIns="0" rIns="0" bIns="0" rtlCol="0" anchor="t">
            <a:normAutofit/>
          </a:bodyPr>
          <a:lstStyle/>
          <a:p>
            <a:pPr indent="0" marL="0">
              <a:lnSpc>
                <a:spcPct val="105000"/>
              </a:lnSpc>
              <a:buNone/>
            </a:pPr>
            <a:r>
              <a:rPr lang="en-US" sz="2400" dirty="0">
                <a:solidFill>
                  <a:srgbClr val="F2F0EA"/>
                </a:solidFill>
                <a:latin typeface="Arial" pitchFamily="34" charset="0"/>
                <a:ea typeface="Arial" pitchFamily="34" charset="-122"/>
                <a:cs typeface="Arial" pitchFamily="34" charset="-120"/>
              </a:rPr>
              <a:t>É um «eu» que segue uma regra conhecida: louvar a senhora como os provençais fazem</a:t>
            </a:r>
            <a:endParaRPr lang="en-US" sz="2400" dirty="0"/>
          </a:p>
        </p:txBody>
      </p:sp>
      <p:sp>
        <p:nvSpPr>
          <p:cNvPr id="13" name="Shape 11"/>
          <p:cNvSpPr/>
          <p:nvPr/>
        </p:nvSpPr>
        <p:spPr>
          <a:xfrm>
            <a:off x="822960" y="3496056"/>
            <a:ext cx="365760" cy="365760"/>
          </a:xfrm>
          <a:prstGeom prst="ellipse">
            <a:avLst/>
          </a:prstGeom>
          <a:solidFill>
            <a:srgbClr val="111111"/>
          </a:solidFill>
          <a:ln w="15875">
            <a:solidFill>
              <a:srgbClr val="F2F0EA"/>
            </a:solidFill>
            <a:prstDash val="solid"/>
          </a:ln>
        </p:spPr>
      </p:sp>
      <p:sp>
        <p:nvSpPr>
          <p:cNvPr id="14" name="Text 12"/>
          <p:cNvSpPr/>
          <p:nvPr/>
        </p:nvSpPr>
        <p:spPr>
          <a:xfrm>
            <a:off x="822960" y="3496056"/>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B</a:t>
            </a:r>
            <a:endParaRPr lang="en-US" sz="1300" dirty="0"/>
          </a:p>
        </p:txBody>
      </p:sp>
      <p:sp>
        <p:nvSpPr>
          <p:cNvPr id="15" name="Text 13"/>
          <p:cNvSpPr/>
          <p:nvPr/>
        </p:nvSpPr>
        <p:spPr>
          <a:xfrm>
            <a:off x="1417320" y="3505200"/>
            <a:ext cx="9174175" cy="600456"/>
          </a:xfrm>
          <a:prstGeom prst="rect">
            <a:avLst/>
          </a:prstGeom>
          <a:noFill/>
          <a:ln/>
        </p:spPr>
        <p:txBody>
          <a:bodyPr wrap="square" lIns="0" tIns="0" rIns="0" bIns="0" rtlCol="0" anchor="t">
            <a:normAutofit/>
          </a:bodyPr>
          <a:lstStyle/>
          <a:p>
            <a:pPr indent="0" marL="0">
              <a:lnSpc>
                <a:spcPct val="105000"/>
              </a:lnSpc>
              <a:buNone/>
            </a:pPr>
            <a:r>
              <a:rPr lang="en-US" sz="2400" dirty="0">
                <a:solidFill>
                  <a:srgbClr val="F2F0EA"/>
                </a:solidFill>
                <a:latin typeface="Arial" pitchFamily="34" charset="0"/>
                <a:ea typeface="Arial" pitchFamily="34" charset="-122"/>
                <a:cs typeface="Arial" pitchFamily="34" charset="-120"/>
              </a:rPr>
              <a:t>É um «eu» que conta o que lhe aconteceu nessa manhã</a:t>
            </a:r>
            <a:endParaRPr lang="en-US" sz="2400" dirty="0"/>
          </a:p>
        </p:txBody>
      </p:sp>
      <p:sp>
        <p:nvSpPr>
          <p:cNvPr id="16" name="Shape 14"/>
          <p:cNvSpPr/>
          <p:nvPr/>
        </p:nvSpPr>
        <p:spPr>
          <a:xfrm>
            <a:off x="822960" y="4096512"/>
            <a:ext cx="365760" cy="365760"/>
          </a:xfrm>
          <a:prstGeom prst="ellipse">
            <a:avLst/>
          </a:prstGeom>
          <a:solidFill>
            <a:srgbClr val="111111"/>
          </a:solidFill>
          <a:ln w="15875">
            <a:solidFill>
              <a:srgbClr val="F2F0EA"/>
            </a:solidFill>
            <a:prstDash val="solid"/>
          </a:ln>
        </p:spPr>
      </p:sp>
      <p:sp>
        <p:nvSpPr>
          <p:cNvPr id="17" name="Text 15"/>
          <p:cNvSpPr/>
          <p:nvPr/>
        </p:nvSpPr>
        <p:spPr>
          <a:xfrm>
            <a:off x="822960" y="4096512"/>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C</a:t>
            </a:r>
            <a:endParaRPr lang="en-US" sz="1300" dirty="0"/>
          </a:p>
        </p:txBody>
      </p:sp>
      <p:sp>
        <p:nvSpPr>
          <p:cNvPr id="18" name="Text 16"/>
          <p:cNvSpPr/>
          <p:nvPr/>
        </p:nvSpPr>
        <p:spPr>
          <a:xfrm>
            <a:off x="1417320" y="4105656"/>
            <a:ext cx="9174175" cy="600456"/>
          </a:xfrm>
          <a:prstGeom prst="rect">
            <a:avLst/>
          </a:prstGeom>
          <a:noFill/>
          <a:ln/>
        </p:spPr>
        <p:txBody>
          <a:bodyPr wrap="square" lIns="0" tIns="0" rIns="0" bIns="0" rtlCol="0" anchor="t">
            <a:normAutofit/>
          </a:bodyPr>
          <a:lstStyle/>
          <a:p>
            <a:pPr indent="0" marL="0">
              <a:lnSpc>
                <a:spcPct val="105000"/>
              </a:lnSpc>
              <a:buNone/>
            </a:pPr>
            <a:r>
              <a:rPr lang="en-US" sz="2400" dirty="0">
                <a:solidFill>
                  <a:srgbClr val="F2F0EA"/>
                </a:solidFill>
                <a:latin typeface="Arial" pitchFamily="34" charset="0"/>
                <a:ea typeface="Arial" pitchFamily="34" charset="-122"/>
                <a:cs typeface="Arial" pitchFamily="34" charset="-120"/>
              </a:rPr>
              <a:t>É um «eu» que troça dos trovadores da Provença</a:t>
            </a:r>
            <a:endParaRPr lang="en-US" sz="2400" dirty="0"/>
          </a:p>
        </p:txBody>
      </p:sp>
      <p:sp>
        <p:nvSpPr>
          <p:cNvPr id="19" name="Shape 17"/>
          <p:cNvSpPr/>
          <p:nvPr/>
        </p:nvSpPr>
        <p:spPr>
          <a:xfrm>
            <a:off x="822960" y="4696968"/>
            <a:ext cx="365760" cy="365760"/>
          </a:xfrm>
          <a:prstGeom prst="ellipse">
            <a:avLst/>
          </a:prstGeom>
          <a:solidFill>
            <a:srgbClr val="111111"/>
          </a:solidFill>
          <a:ln w="15875">
            <a:solidFill>
              <a:srgbClr val="F2F0EA"/>
            </a:solidFill>
            <a:prstDash val="solid"/>
          </a:ln>
        </p:spPr>
      </p:sp>
      <p:sp>
        <p:nvSpPr>
          <p:cNvPr id="20" name="Text 18"/>
          <p:cNvSpPr/>
          <p:nvPr/>
        </p:nvSpPr>
        <p:spPr>
          <a:xfrm>
            <a:off x="822960" y="4696968"/>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D</a:t>
            </a:r>
            <a:endParaRPr lang="en-US" sz="1300" dirty="0"/>
          </a:p>
        </p:txBody>
      </p:sp>
      <p:sp>
        <p:nvSpPr>
          <p:cNvPr id="21" name="Text 19"/>
          <p:cNvSpPr/>
          <p:nvPr/>
        </p:nvSpPr>
        <p:spPr>
          <a:xfrm>
            <a:off x="1417320" y="4706112"/>
            <a:ext cx="9174175" cy="600456"/>
          </a:xfrm>
          <a:prstGeom prst="rect">
            <a:avLst/>
          </a:prstGeom>
          <a:noFill/>
          <a:ln/>
        </p:spPr>
        <p:txBody>
          <a:bodyPr wrap="square" lIns="0" tIns="0" rIns="0" bIns="0" rtlCol="0" anchor="t">
            <a:normAutofit/>
          </a:bodyPr>
          <a:lstStyle/>
          <a:p>
            <a:pPr indent="0" marL="0">
              <a:lnSpc>
                <a:spcPct val="105000"/>
              </a:lnSpc>
              <a:buNone/>
            </a:pPr>
            <a:r>
              <a:rPr lang="en-US" sz="2400" dirty="0">
                <a:solidFill>
                  <a:srgbClr val="F2F0EA"/>
                </a:solidFill>
                <a:latin typeface="Arial" pitchFamily="34" charset="0"/>
                <a:ea typeface="Arial" pitchFamily="34" charset="-122"/>
                <a:cs typeface="Arial" pitchFamily="34" charset="-120"/>
              </a:rPr>
              <a:t>É um «eu» de uma rapariga que espera o amigo</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1, aula 6: A voz emprestada</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19</a:t>
            </a:r>
            <a:endParaRPr lang="en-US" sz="1000" dirty="0"/>
          </a:p>
        </p:txBody>
      </p:sp>
      <p:sp>
        <p:nvSpPr>
          <p:cNvPr id="5" name="Shape 3"/>
          <p:cNvSpPr/>
          <p:nvPr/>
        </p:nvSpPr>
        <p:spPr>
          <a:xfrm>
            <a:off x="822960" y="502920"/>
            <a:ext cx="201168" cy="201168"/>
          </a:xfrm>
          <a:prstGeom prst="rect">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RESPOSTA</a:t>
            </a:r>
            <a:endParaRPr lang="en-US" sz="1100" dirty="0"/>
          </a:p>
        </p:txBody>
      </p:sp>
      <p:sp>
        <p:nvSpPr>
          <p:cNvPr id="7" name="Text 5"/>
          <p:cNvSpPr/>
          <p:nvPr/>
        </p:nvSpPr>
        <p:spPr>
          <a:xfrm>
            <a:off x="822960" y="1005840"/>
            <a:ext cx="9814255" cy="1463040"/>
          </a:xfrm>
          <a:prstGeom prst="rect">
            <a:avLst/>
          </a:prstGeom>
          <a:noFill/>
          <a:ln/>
        </p:spPr>
        <p:txBody>
          <a:bodyPr wrap="square" lIns="0" tIns="0" rIns="0" bIns="0" rtlCol="0" anchor="t">
            <a:normAutofit/>
          </a:bodyPr>
          <a:lstStyle/>
          <a:p>
            <a:pPr indent="0" marL="0">
              <a:buNone/>
            </a:pPr>
            <a:r>
              <a:rPr lang="en-US" sz="3400" b="1" dirty="0">
                <a:solidFill>
                  <a:srgbClr val="F2F0EA"/>
                </a:solidFill>
                <a:latin typeface="Arial" pitchFamily="34" charset="0"/>
                <a:ea typeface="Arial" pitchFamily="34" charset="-122"/>
                <a:cs typeface="Arial" pitchFamily="34" charset="-120"/>
              </a:rPr>
              <a:t>É um «eu» que segue uma regra conhecida: louvar a senhora como os provençais fazem</a:t>
            </a:r>
            <a:endParaRPr lang="en-US" sz="3400" dirty="0"/>
          </a:p>
        </p:txBody>
      </p:sp>
      <p:sp>
        <p:nvSpPr>
          <p:cNvPr id="8" name="Shape 6"/>
          <p:cNvSpPr/>
          <p:nvPr/>
        </p:nvSpPr>
        <p:spPr>
          <a:xfrm>
            <a:off x="822960" y="2606040"/>
            <a:ext cx="640080" cy="64008"/>
          </a:xfrm>
          <a:prstGeom prst="rect">
            <a:avLst/>
          </a:prstGeom>
          <a:solidFill>
            <a:srgbClr val="E4555C"/>
          </a:solidFill>
          <a:ln w="12700">
            <a:solidFill>
              <a:srgbClr val="E4555C"/>
            </a:solidFill>
            <a:prstDash val="solid"/>
          </a:ln>
        </p:spPr>
      </p:sp>
      <p:sp>
        <p:nvSpPr>
          <p:cNvPr id="9" name="Text 7"/>
          <p:cNvSpPr/>
          <p:nvPr/>
        </p:nvSpPr>
        <p:spPr>
          <a:xfrm>
            <a:off x="822960" y="2880360"/>
            <a:ext cx="9814255" cy="3246120"/>
          </a:xfrm>
          <a:prstGeom prst="rect">
            <a:avLst/>
          </a:prstGeom>
          <a:noFill/>
          <a:ln/>
        </p:spPr>
        <p:txBody>
          <a:bodyPr wrap="square" lIns="0" tIns="0" rIns="0" bIns="0" rtlCol="0" anchor="t">
            <a:normAutofit/>
          </a:bodyPr>
          <a:lstStyle/>
          <a:p>
            <a:pPr indent="0" marL="0">
              <a:lnSpc>
                <a:spcPct val="120000"/>
              </a:lnSpc>
              <a:buNone/>
            </a:pPr>
            <a:r>
              <a:rPr lang="en-US" sz="2200" dirty="0">
                <a:solidFill>
                  <a:srgbClr val="F2F0EA"/>
                </a:solidFill>
                <a:latin typeface="Georgia" pitchFamily="34" charset="0"/>
                <a:ea typeface="Georgia" pitchFamily="34" charset="-122"/>
                <a:cs typeface="Georgia" pitchFamily="34" charset="-120"/>
              </a:rPr>
              <a:t>O trovador diz, antes de louvar, que vai louvar, e diz à maneira de quem: a intenção é anunciada e segue um modelo. Não conta um acontecimento, não troça (a hipérbole «mais que todas las do mundo val» é louvor a sério) e não é voz feminina. Guarda isto: quando o «eu» anuncia um louvor, o que vem a seguir pode cumpri-lo ou não.</a:t>
            </a:r>
            <a:endParaRPr lang="en-US" sz="2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1, aula 6: A voz emprestada</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20</a:t>
            </a:r>
            <a:endParaRPr lang="en-US" sz="1000" dirty="0"/>
          </a:p>
        </p:txBody>
      </p:sp>
      <p:sp>
        <p:nvSpPr>
          <p:cNvPr id="5" name="Shape 3"/>
          <p:cNvSpPr/>
          <p:nvPr/>
        </p:nvSpPr>
        <p:spPr>
          <a:xfrm>
            <a:off x="822960" y="502920"/>
            <a:ext cx="201168" cy="201168"/>
          </a:xfrm>
          <a:prstGeom prst="ellipse">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ATO 3</a:t>
            </a:r>
            <a:endParaRPr lang="en-US" sz="1100" dirty="0"/>
          </a:p>
        </p:txBody>
      </p:sp>
      <p:sp>
        <p:nvSpPr>
          <p:cNvPr id="7" name="Text 5"/>
          <p:cNvSpPr/>
          <p:nvPr/>
        </p:nvSpPr>
        <p:spPr>
          <a:xfrm>
            <a:off x="822960" y="868680"/>
            <a:ext cx="9814255" cy="822960"/>
          </a:xfrm>
          <a:prstGeom prst="rect">
            <a:avLst/>
          </a:prstGeom>
          <a:noFill/>
          <a:ln/>
        </p:spPr>
        <p:txBody>
          <a:bodyPr wrap="square" lIns="0" tIns="0" rIns="0" bIns="0" rtlCol="0" anchor="b">
            <a:normAutofit/>
          </a:bodyPr>
          <a:lstStyle/>
          <a:p>
            <a:pPr indent="0" marL="0">
              <a:buNone/>
            </a:pPr>
            <a:r>
              <a:rPr lang="en-US" sz="3400" dirty="0">
                <a:solidFill>
                  <a:srgbClr val="F2F0EA"/>
                </a:solidFill>
                <a:latin typeface="Arial" pitchFamily="34" charset="0"/>
                <a:ea typeface="Arial" pitchFamily="34" charset="-122"/>
                <a:cs typeface="Arial" pitchFamily="34" charset="-120"/>
              </a:rPr>
              <a:t>Troçar</a:t>
            </a:r>
            <a:endParaRPr lang="en-US" sz="3400" dirty="0"/>
          </a:p>
        </p:txBody>
      </p:sp>
      <p:sp>
        <p:nvSpPr>
          <p:cNvPr id="8" name="Shape 6"/>
          <p:cNvSpPr/>
          <p:nvPr/>
        </p:nvSpPr>
        <p:spPr>
          <a:xfrm>
            <a:off x="822960" y="1746504"/>
            <a:ext cx="640080" cy="64008"/>
          </a:xfrm>
          <a:prstGeom prst="rect">
            <a:avLst/>
          </a:prstGeom>
          <a:solidFill>
            <a:srgbClr val="E4555C"/>
          </a:solidFill>
          <a:ln w="12700">
            <a:solidFill>
              <a:srgbClr val="E4555C"/>
            </a:solidFill>
            <a:prstDash val="solid"/>
          </a:ln>
        </p:spPr>
      </p:sp>
      <p:sp>
        <p:nvSpPr>
          <p:cNvPr id="9" name="Text 7"/>
          <p:cNvSpPr/>
          <p:nvPr/>
        </p:nvSpPr>
        <p:spPr>
          <a:xfrm>
            <a:off x="822960" y="2103120"/>
            <a:ext cx="9814255" cy="3931920"/>
          </a:xfrm>
          <a:prstGeom prst="rect">
            <a:avLst/>
          </a:prstGeom>
          <a:noFill/>
          <a:ln/>
        </p:spPr>
        <p:txBody>
          <a:bodyPr wrap="square" lIns="0" tIns="0" rIns="0" bIns="0" rtlCol="0" anchor="t">
            <a:normAutofit/>
          </a:bodyPr>
          <a:lstStyle/>
          <a:p>
            <a:pPr indent="0" marL="0">
              <a:lnSpc>
                <a:spcPct val="120000"/>
              </a:lnSpc>
              <a:spcAft>
                <a:spcPts val="800"/>
              </a:spcAft>
              <a:buNone/>
            </a:pPr>
            <a:r>
              <a:rPr lang="en-US" sz="2000" dirty="0">
                <a:solidFill>
                  <a:srgbClr val="F2F0EA"/>
                </a:solidFill>
                <a:latin typeface="Georgia" pitchFamily="34" charset="0"/>
                <a:ea typeface="Georgia" pitchFamily="34" charset="-122"/>
                <a:cs typeface="Georgia" pitchFamily="34" charset="-120"/>
              </a:rPr>
              <a:t>João Garcia de Guilhade começa como D. Dinis: uma dona queixou-se de que ele nunca a louvava, e ele promete fazer um cantar em que a louvará. Lê a primeira estrofe até ao fim. Repara no verso em que o louvor se parte, e na palavra em que isso acontece.Ai dona fea, fostes-vos queixarque vos nunca louv'en[o] meu cantar;mais ora quero fazer um cantarem que vos loarei todavia;e vedes como vos quero loar:dona fea, velha e sandia!João Garcia de Guilhade, </a:t>
            </a:r>
            <a:pPr indent="0" marL="0">
              <a:lnSpc>
                <a:spcPct val="120000"/>
              </a:lnSpc>
              <a:spcAft>
                <a:spcPts val="800"/>
              </a:spcAft>
              <a:buNone/>
            </a:pPr>
            <a:r>
              <a:rPr lang="en-US" sz="2000" i="1" dirty="0">
                <a:solidFill>
                  <a:srgbClr val="F2F0EA"/>
                </a:solidFill>
                <a:latin typeface="Georgia" pitchFamily="34" charset="0"/>
                <a:ea typeface="Georgia" pitchFamily="34" charset="-122"/>
                <a:cs typeface="Georgia" pitchFamily="34" charset="-120"/>
              </a:rPr>
              <a:t>Cantigas Medievais Galego-Portuguesas</a:t>
            </a:r>
            <a:pPr indent="0" marL="0">
              <a:lnSpc>
                <a:spcPct val="120000"/>
              </a:lnSpc>
              <a:spcAft>
                <a:spcPts val="800"/>
              </a:spcAft>
              <a:buNone/>
            </a:pPr>
            <a:r>
              <a:rPr lang="en-US" sz="2000" dirty="0">
                <a:solidFill>
                  <a:srgbClr val="F2F0EA"/>
                </a:solidFill>
                <a:latin typeface="Georgia" pitchFamily="34" charset="0"/>
                <a:ea typeface="Georgia" pitchFamily="34" charset="-122"/>
                <a:cs typeface="Georgia" pitchFamily="34" charset="-120"/>
              </a:rPr>
              <a:t>, cantiga 1520, «Ai dona fea, fostes-vos queixar», as três estrofes. base de dados da FCSH/NOVA (ed. Graça Videira Lopes, Manuel Pedro Ferreira et al.)</a:t>
            </a:r>
            <a:endParaRPr lang="en-US" sz="2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1, aula 6: A voz emprestada</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21</a:t>
            </a:r>
            <a:endParaRPr lang="en-US" sz="1000" dirty="0"/>
          </a:p>
        </p:txBody>
      </p:sp>
      <p:sp>
        <p:nvSpPr>
          <p:cNvPr id="5" name="Shape 3"/>
          <p:cNvSpPr/>
          <p:nvPr/>
        </p:nvSpPr>
        <p:spPr>
          <a:xfrm>
            <a:off x="822960" y="502920"/>
            <a:ext cx="201168" cy="201168"/>
          </a:xfrm>
          <a:prstGeom prst="rect">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PENSA PRIMEIRO: DECIDE EM SILÊNCIO</a:t>
            </a:r>
            <a:endParaRPr lang="en-US" sz="1100" dirty="0"/>
          </a:p>
        </p:txBody>
      </p:sp>
      <p:sp>
        <p:nvSpPr>
          <p:cNvPr id="7" name="Text 5"/>
          <p:cNvSpPr/>
          <p:nvPr/>
        </p:nvSpPr>
        <p:spPr>
          <a:xfrm>
            <a:off x="822960" y="1097280"/>
            <a:ext cx="9814255" cy="3291840"/>
          </a:xfrm>
          <a:prstGeom prst="rect">
            <a:avLst/>
          </a:prstGeom>
          <a:noFill/>
          <a:ln/>
        </p:spPr>
        <p:txBody>
          <a:bodyPr wrap="square" lIns="0" tIns="0" rIns="0" bIns="0" rtlCol="0" anchor="b">
            <a:normAutofit/>
          </a:bodyPr>
          <a:lstStyle/>
          <a:p>
            <a:pPr indent="0" marL="0">
              <a:lnSpc>
                <a:spcPct val="115000"/>
              </a:lnSpc>
              <a:buNone/>
            </a:pPr>
            <a:r>
              <a:rPr lang="en-US" sz="4400" i="1" dirty="0">
                <a:solidFill>
                  <a:srgbClr val="F2F0EA"/>
                </a:solidFill>
                <a:latin typeface="Georgia" pitchFamily="34" charset="0"/>
                <a:ea typeface="Georgia" pitchFamily="34" charset="-122"/>
                <a:cs typeface="Georgia" pitchFamily="34" charset="-120"/>
              </a:rPr>
              <a:t>Em que palavra da estrofe percebes que o louvor prometido não vai ser cumprido?</a:t>
            </a:r>
            <a:endParaRPr lang="en-US" sz="4400" dirty="0"/>
          </a:p>
        </p:txBody>
      </p:sp>
      <p:sp>
        <p:nvSpPr>
          <p:cNvPr id="8" name="Shape 6"/>
          <p:cNvSpPr/>
          <p:nvPr/>
        </p:nvSpPr>
        <p:spPr>
          <a:xfrm>
            <a:off x="822960" y="4526280"/>
            <a:ext cx="640080" cy="64008"/>
          </a:xfrm>
          <a:prstGeom prst="rect">
            <a:avLst/>
          </a:prstGeom>
          <a:solidFill>
            <a:srgbClr val="E4555C"/>
          </a:solidFill>
          <a:ln w="12700">
            <a:solidFill>
              <a:srgbClr val="E4555C"/>
            </a:solidFill>
            <a:prstDash val="solid"/>
          </a:ln>
        </p:spPr>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1, aula 6: A voz emprestada</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22</a:t>
            </a:r>
            <a:endParaRPr lang="en-US" sz="1000" dirty="0"/>
          </a:p>
        </p:txBody>
      </p:sp>
      <p:sp>
        <p:nvSpPr>
          <p:cNvPr id="5" name="Shape 3"/>
          <p:cNvSpPr/>
          <p:nvPr/>
        </p:nvSpPr>
        <p:spPr>
          <a:xfrm>
            <a:off x="822960" y="502920"/>
            <a:ext cx="201168" cy="201168"/>
          </a:xfrm>
          <a:prstGeom prst="rect">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RESPONDE NO TELEMÓVEL</a:t>
            </a:r>
            <a:endParaRPr lang="en-US" sz="1100" dirty="0"/>
          </a:p>
        </p:txBody>
      </p:sp>
      <p:sp>
        <p:nvSpPr>
          <p:cNvPr id="7" name="Text 5"/>
          <p:cNvSpPr/>
          <p:nvPr/>
        </p:nvSpPr>
        <p:spPr>
          <a:xfrm>
            <a:off x="822960" y="914400"/>
            <a:ext cx="9814255" cy="1234440"/>
          </a:xfrm>
          <a:prstGeom prst="rect">
            <a:avLst/>
          </a:prstGeom>
          <a:noFill/>
          <a:ln/>
        </p:spPr>
        <p:txBody>
          <a:bodyPr wrap="square" lIns="0" tIns="0" rIns="0" bIns="0" rtlCol="0" anchor="t">
            <a:normAutofit/>
          </a:bodyPr>
          <a:lstStyle/>
          <a:p>
            <a:pPr indent="0" marL="0">
              <a:buNone/>
            </a:pPr>
            <a:r>
              <a:rPr lang="en-US" sz="3200" dirty="0">
                <a:solidFill>
                  <a:srgbClr val="F2F0EA"/>
                </a:solidFill>
                <a:latin typeface="Georgia" pitchFamily="34" charset="0"/>
                <a:ea typeface="Georgia" pitchFamily="34" charset="-122"/>
                <a:cs typeface="Georgia" pitchFamily="34" charset="-120"/>
              </a:rPr>
              <a:t>Toca nas duas palavras com que o trovador promete o louvor que não vai dar.</a:t>
            </a:r>
            <a:endParaRPr lang="en-US" sz="3200" dirty="0"/>
          </a:p>
        </p:txBody>
      </p:sp>
      <p:sp>
        <p:nvSpPr>
          <p:cNvPr id="8" name="Shape 6"/>
          <p:cNvSpPr/>
          <p:nvPr/>
        </p:nvSpPr>
        <p:spPr>
          <a:xfrm>
            <a:off x="822960" y="2240280"/>
            <a:ext cx="640080" cy="64008"/>
          </a:xfrm>
          <a:prstGeom prst="rect">
            <a:avLst/>
          </a:prstGeom>
          <a:solidFill>
            <a:srgbClr val="E4555C"/>
          </a:solidFill>
          <a:ln w="12700">
            <a:solidFill>
              <a:srgbClr val="E4555C"/>
            </a:solidFill>
            <a:prstDash val="solid"/>
          </a:ln>
        </p:spPr>
      </p:sp>
      <p:sp>
        <p:nvSpPr>
          <p:cNvPr id="9" name="Text 7"/>
          <p:cNvSpPr/>
          <p:nvPr/>
        </p:nvSpPr>
        <p:spPr>
          <a:xfrm>
            <a:off x="822960" y="2514600"/>
            <a:ext cx="9814255" cy="1188720"/>
          </a:xfrm>
          <a:prstGeom prst="rect">
            <a:avLst/>
          </a:prstGeom>
          <a:noFill/>
          <a:ln/>
        </p:spPr>
        <p:txBody>
          <a:bodyPr wrap="square" lIns="0" tIns="0" rIns="0" bIns="0" rtlCol="0" anchor="t">
            <a:normAutofit/>
          </a:bodyPr>
          <a:lstStyle/>
          <a:p>
            <a:pPr indent="0" marL="0">
              <a:buNone/>
            </a:pPr>
            <a:r>
              <a:rPr lang="en-US" sz="2400" i="1" dirty="0">
                <a:solidFill>
                  <a:srgbClr val="F2F0EA"/>
                </a:solidFill>
                <a:latin typeface="Georgia" pitchFamily="34" charset="0"/>
                <a:ea typeface="Georgia" pitchFamily="34" charset="-122"/>
                <a:cs typeface="Georgia" pitchFamily="34" charset="-120"/>
              </a:rPr>
              <a:t>mais ora quero fazer um cantar em que vos loarei todavia; e vedes como vos quero loar: dona fea, velha e sandia!</a:t>
            </a:r>
            <a:endParaRPr lang="en-US" sz="2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1, aula 6: A voz emprestada</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23</a:t>
            </a:r>
            <a:endParaRPr lang="en-US" sz="1000" dirty="0"/>
          </a:p>
        </p:txBody>
      </p:sp>
      <p:sp>
        <p:nvSpPr>
          <p:cNvPr id="5" name="Shape 3"/>
          <p:cNvSpPr/>
          <p:nvPr/>
        </p:nvSpPr>
        <p:spPr>
          <a:xfrm>
            <a:off x="822960" y="502920"/>
            <a:ext cx="201168" cy="201168"/>
          </a:xfrm>
          <a:prstGeom prst="rect">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RESPOSTA</a:t>
            </a:r>
            <a:endParaRPr lang="en-US" sz="1100" dirty="0"/>
          </a:p>
        </p:txBody>
      </p:sp>
      <p:sp>
        <p:nvSpPr>
          <p:cNvPr id="7" name="Text 5"/>
          <p:cNvSpPr/>
          <p:nvPr/>
        </p:nvSpPr>
        <p:spPr>
          <a:xfrm>
            <a:off x="822960" y="1005840"/>
            <a:ext cx="9814255" cy="1463040"/>
          </a:xfrm>
          <a:prstGeom prst="rect">
            <a:avLst/>
          </a:prstGeom>
          <a:noFill/>
          <a:ln/>
        </p:spPr>
        <p:txBody>
          <a:bodyPr wrap="square" lIns="0" tIns="0" rIns="0" bIns="0" rtlCol="0" anchor="t">
            <a:normAutofit/>
          </a:bodyPr>
          <a:lstStyle/>
          <a:p>
            <a:pPr indent="0" marL="0">
              <a:buNone/>
            </a:pPr>
            <a:r>
              <a:rPr lang="en-US" sz="3400" b="1" dirty="0">
                <a:solidFill>
                  <a:srgbClr val="F2F0EA"/>
                </a:solidFill>
                <a:latin typeface="Arial" pitchFamily="34" charset="0"/>
                <a:ea typeface="Arial" pitchFamily="34" charset="-122"/>
                <a:cs typeface="Arial" pitchFamily="34" charset="-120"/>
              </a:rPr>
              <a:t>loarei loar:</a:t>
            </a:r>
            <a:endParaRPr lang="en-US" sz="3400" dirty="0"/>
          </a:p>
        </p:txBody>
      </p:sp>
      <p:sp>
        <p:nvSpPr>
          <p:cNvPr id="8" name="Shape 6"/>
          <p:cNvSpPr/>
          <p:nvPr/>
        </p:nvSpPr>
        <p:spPr>
          <a:xfrm>
            <a:off x="822960" y="2606040"/>
            <a:ext cx="640080" cy="64008"/>
          </a:xfrm>
          <a:prstGeom prst="rect">
            <a:avLst/>
          </a:prstGeom>
          <a:solidFill>
            <a:srgbClr val="E4555C"/>
          </a:solidFill>
          <a:ln w="12700">
            <a:solidFill>
              <a:srgbClr val="E4555C"/>
            </a:solidFill>
            <a:prstDash val="solid"/>
          </a:ln>
        </p:spPr>
      </p:sp>
      <p:sp>
        <p:nvSpPr>
          <p:cNvPr id="9" name="Text 7"/>
          <p:cNvSpPr/>
          <p:nvPr/>
        </p:nvSpPr>
        <p:spPr>
          <a:xfrm>
            <a:off x="822960" y="2880360"/>
            <a:ext cx="9814255" cy="3246120"/>
          </a:xfrm>
          <a:prstGeom prst="rect">
            <a:avLst/>
          </a:prstGeom>
          <a:noFill/>
          <a:ln/>
        </p:spPr>
        <p:txBody>
          <a:bodyPr wrap="square" lIns="0" tIns="0" rIns="0" bIns="0" rtlCol="0" anchor="t">
            <a:normAutofit/>
          </a:bodyPr>
          <a:lstStyle/>
          <a:p>
            <a:pPr indent="0" marL="0">
              <a:lnSpc>
                <a:spcPct val="120000"/>
              </a:lnSpc>
              <a:buNone/>
            </a:pPr>
            <a:r>
              <a:rPr lang="en-US" sz="2200" dirty="0">
                <a:solidFill>
                  <a:srgbClr val="F2F0EA"/>
                </a:solidFill>
                <a:latin typeface="Georgia" pitchFamily="34" charset="0"/>
                <a:ea typeface="Georgia" pitchFamily="34" charset="-122"/>
                <a:cs typeface="Georgia" pitchFamily="34" charset="-120"/>
              </a:rPr>
              <a:t>«loarei» e «loar»: duas vezes a promessa, e logo a seguir «dona fea, velha e sandia». O refrão entrega o contrário do que as duas palavras anunciam. A forma é a do elogio; o sentido é o insulto: paródia.</a:t>
            </a:r>
            <a:endParaRPr lang="en-US" sz="2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1, aula 6: A voz emprestada</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24</a:t>
            </a:r>
            <a:endParaRPr lang="en-US" sz="1000" dirty="0"/>
          </a:p>
        </p:txBody>
      </p:sp>
      <p:sp>
        <p:nvSpPr>
          <p:cNvPr id="5" name="Shape 3"/>
          <p:cNvSpPr/>
          <p:nvPr/>
        </p:nvSpPr>
        <p:spPr>
          <a:xfrm>
            <a:off x="822960" y="502920"/>
            <a:ext cx="201168" cy="201168"/>
          </a:xfrm>
          <a:prstGeom prst="rect">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RESPONDE NO TELEMÓVEL</a:t>
            </a:r>
            <a:endParaRPr lang="en-US" sz="1100" dirty="0"/>
          </a:p>
        </p:txBody>
      </p:sp>
      <p:sp>
        <p:nvSpPr>
          <p:cNvPr id="7" name="Text 5"/>
          <p:cNvSpPr/>
          <p:nvPr/>
        </p:nvSpPr>
        <p:spPr>
          <a:xfrm>
            <a:off x="822960" y="914400"/>
            <a:ext cx="9814255" cy="1234440"/>
          </a:xfrm>
          <a:prstGeom prst="rect">
            <a:avLst/>
          </a:prstGeom>
          <a:noFill/>
          <a:ln/>
        </p:spPr>
        <p:txBody>
          <a:bodyPr wrap="square" lIns="0" tIns="0" rIns="0" bIns="0" rtlCol="0" anchor="t">
            <a:normAutofit/>
          </a:bodyPr>
          <a:lstStyle/>
          <a:p>
            <a:pPr indent="0" marL="0">
              <a:buNone/>
            </a:pPr>
            <a:r>
              <a:rPr lang="en-US" sz="2800" dirty="0">
                <a:solidFill>
                  <a:srgbClr val="F2F0EA"/>
                </a:solidFill>
                <a:latin typeface="Georgia" pitchFamily="34" charset="0"/>
                <a:ea typeface="Georgia" pitchFamily="34" charset="-122"/>
                <a:cs typeface="Georgia" pitchFamily="34" charset="-120"/>
              </a:rPr>
              <a:t>Seleciona os dois sinais de que «Ai dona fea» faz a paródia de uma cantiga de amor como a de D. Dinis.</a:t>
            </a:r>
            <a:endParaRPr lang="en-US" sz="2800" dirty="0"/>
          </a:p>
        </p:txBody>
      </p:sp>
      <p:sp>
        <p:nvSpPr>
          <p:cNvPr id="8" name="Shape 6"/>
          <p:cNvSpPr/>
          <p:nvPr/>
        </p:nvSpPr>
        <p:spPr>
          <a:xfrm>
            <a:off x="822960" y="2240280"/>
            <a:ext cx="640080" cy="64008"/>
          </a:xfrm>
          <a:prstGeom prst="rect">
            <a:avLst/>
          </a:prstGeom>
          <a:solidFill>
            <a:srgbClr val="E4555C"/>
          </a:solidFill>
          <a:ln w="12700">
            <a:solidFill>
              <a:srgbClr val="E4555C"/>
            </a:solidFill>
            <a:prstDash val="solid"/>
          </a:ln>
        </p:spPr>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1, aula 6: A voz emprestada</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25</a:t>
            </a:r>
            <a:endParaRPr lang="en-US" sz="1000" dirty="0"/>
          </a:p>
        </p:txBody>
      </p:sp>
      <p:sp>
        <p:nvSpPr>
          <p:cNvPr id="5" name="Shape 3"/>
          <p:cNvSpPr/>
          <p:nvPr/>
        </p:nvSpPr>
        <p:spPr>
          <a:xfrm>
            <a:off x="822960" y="502920"/>
            <a:ext cx="201168" cy="201168"/>
          </a:xfrm>
          <a:prstGeom prst="rect">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RESPOSTA</a:t>
            </a:r>
            <a:endParaRPr lang="en-US" sz="1100" dirty="0"/>
          </a:p>
        </p:txBody>
      </p:sp>
      <p:sp>
        <p:nvSpPr>
          <p:cNvPr id="7" name="Shape 5"/>
          <p:cNvSpPr/>
          <p:nvPr/>
        </p:nvSpPr>
        <p:spPr>
          <a:xfrm>
            <a:off x="822960" y="1005840"/>
            <a:ext cx="640080" cy="64008"/>
          </a:xfrm>
          <a:prstGeom prst="rect">
            <a:avLst/>
          </a:prstGeom>
          <a:solidFill>
            <a:srgbClr val="E4555C"/>
          </a:solidFill>
          <a:ln w="12700">
            <a:solidFill>
              <a:srgbClr val="E4555C"/>
            </a:solidFill>
            <a:prstDash val="solid"/>
          </a:ln>
        </p:spPr>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1, aula 6: A voz emprestada</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26</a:t>
            </a:r>
            <a:endParaRPr lang="en-US" sz="1000" dirty="0"/>
          </a:p>
        </p:txBody>
      </p:sp>
      <p:sp>
        <p:nvSpPr>
          <p:cNvPr id="5" name="Shape 3"/>
          <p:cNvSpPr/>
          <p:nvPr/>
        </p:nvSpPr>
        <p:spPr>
          <a:xfrm>
            <a:off x="822960" y="502920"/>
            <a:ext cx="201168" cy="201168"/>
          </a:xfrm>
          <a:prstGeom prst="rect">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RESPONDE NO TELEMÓVEL</a:t>
            </a:r>
            <a:endParaRPr lang="en-US" sz="1100" dirty="0"/>
          </a:p>
        </p:txBody>
      </p:sp>
      <p:sp>
        <p:nvSpPr>
          <p:cNvPr id="7" name="Text 5"/>
          <p:cNvSpPr/>
          <p:nvPr/>
        </p:nvSpPr>
        <p:spPr>
          <a:xfrm>
            <a:off x="822960" y="914400"/>
            <a:ext cx="9814255" cy="1234440"/>
          </a:xfrm>
          <a:prstGeom prst="rect">
            <a:avLst/>
          </a:prstGeom>
          <a:noFill/>
          <a:ln/>
        </p:spPr>
        <p:txBody>
          <a:bodyPr wrap="square" lIns="0" tIns="0" rIns="0" bIns="0" rtlCol="0" anchor="t">
            <a:normAutofit/>
          </a:bodyPr>
          <a:lstStyle/>
          <a:p>
            <a:pPr indent="0" marL="0">
              <a:buNone/>
            </a:pPr>
            <a:r>
              <a:rPr lang="en-US" sz="3200" dirty="0">
                <a:solidFill>
                  <a:srgbClr val="F2F0EA"/>
                </a:solidFill>
                <a:latin typeface="Georgia" pitchFamily="34" charset="0"/>
                <a:ea typeface="Georgia" pitchFamily="34" charset="-122"/>
                <a:cs typeface="Georgia" pitchFamily="34" charset="-120"/>
              </a:rPr>
              <a:t>Põe por ordem os passos do argumento de «Ai dona fea».</a:t>
            </a:r>
            <a:endParaRPr lang="en-US" sz="3200" dirty="0"/>
          </a:p>
        </p:txBody>
      </p:sp>
      <p:sp>
        <p:nvSpPr>
          <p:cNvPr id="8" name="Shape 6"/>
          <p:cNvSpPr/>
          <p:nvPr/>
        </p:nvSpPr>
        <p:spPr>
          <a:xfrm>
            <a:off x="822960" y="2240280"/>
            <a:ext cx="640080" cy="64008"/>
          </a:xfrm>
          <a:prstGeom prst="rect">
            <a:avLst/>
          </a:prstGeom>
          <a:solidFill>
            <a:srgbClr val="E4555C"/>
          </a:solidFill>
          <a:ln w="12700">
            <a:solidFill>
              <a:srgbClr val="E4555C"/>
            </a:solidFill>
            <a:prstDash val="solid"/>
          </a:ln>
        </p:spPr>
      </p:sp>
      <p:sp>
        <p:nvSpPr>
          <p:cNvPr id="9" name="Text 7"/>
          <p:cNvSpPr/>
          <p:nvPr/>
        </p:nvSpPr>
        <p:spPr>
          <a:xfrm>
            <a:off x="822960" y="2514600"/>
            <a:ext cx="9814255" cy="3611880"/>
          </a:xfrm>
          <a:prstGeom prst="rect">
            <a:avLst/>
          </a:prstGeom>
          <a:noFill/>
          <a:ln/>
        </p:spPr>
        <p:txBody>
          <a:bodyPr wrap="square" lIns="0" tIns="0" rIns="0" bIns="0" rtlCol="0" anchor="t">
            <a:normAutofit/>
          </a:bodyPr>
          <a:lstStyle/>
          <a:p>
            <a:pPr marL="342900" indent="-342900">
              <a:spcAft>
                <a:spcPts val="600"/>
              </a:spcAft>
              <a:buSzPct val="100000"/>
              <a:buChar char="–"/>
            </a:pPr>
            <a:r>
              <a:rPr lang="en-US" sz="2000" dirty="0">
                <a:solidFill>
                  <a:srgbClr val="F2F0EA"/>
                </a:solidFill>
                <a:latin typeface="Arial" pitchFamily="34" charset="0"/>
                <a:ea typeface="Arial" pitchFamily="34" charset="-122"/>
                <a:cs typeface="Arial" pitchFamily="34" charset="-120"/>
              </a:rPr>
              <a:t>A dona queixa-se de nunca ser louvada no cantar do trovador</a:t>
            </a:r>
            <a:endParaRPr lang="en-US" sz="2000" dirty="0"/>
          </a:p>
          <a:p>
            <a:pPr marL="342900" indent="-342900">
              <a:spcAft>
                <a:spcPts val="600"/>
              </a:spcAft>
              <a:buSzPct val="100000"/>
              <a:buChar char="–"/>
            </a:pPr>
            <a:r>
              <a:rPr lang="en-US" sz="2000" dirty="0">
                <a:solidFill>
                  <a:srgbClr val="F2F0EA"/>
                </a:solidFill>
                <a:latin typeface="Arial" pitchFamily="34" charset="0"/>
                <a:ea typeface="Arial" pitchFamily="34" charset="-122"/>
                <a:cs typeface="Arial" pitchFamily="34" charset="-120"/>
              </a:rPr>
              <a:t>O trovador promete fazer agora um cantar em que a louvará</a:t>
            </a:r>
            <a:endParaRPr lang="en-US" sz="2000" dirty="0"/>
          </a:p>
          <a:p>
            <a:pPr marL="342900" indent="-342900">
              <a:spcAft>
                <a:spcPts val="600"/>
              </a:spcAft>
              <a:buSzPct val="100000"/>
              <a:buChar char="–"/>
            </a:pPr>
            <a:r>
              <a:rPr lang="en-US" sz="2000" dirty="0">
                <a:solidFill>
                  <a:srgbClr val="F2F0EA"/>
                </a:solidFill>
                <a:latin typeface="Arial" pitchFamily="34" charset="0"/>
                <a:ea typeface="Arial" pitchFamily="34" charset="-122"/>
                <a:cs typeface="Arial" pitchFamily="34" charset="-120"/>
              </a:rPr>
              <a:t>Anuncia o louvor: «vedes como vos quero loar»</a:t>
            </a:r>
            <a:endParaRPr lang="en-US" sz="2000" dirty="0"/>
          </a:p>
          <a:p>
            <a:pPr marL="342900" indent="-342900">
              <a:spcAft>
                <a:spcPts val="600"/>
              </a:spcAft>
              <a:buSzPct val="100000"/>
              <a:buChar char="–"/>
            </a:pPr>
            <a:r>
              <a:rPr lang="en-US" sz="2000" dirty="0">
                <a:solidFill>
                  <a:srgbClr val="F2F0EA"/>
                </a:solidFill>
                <a:latin typeface="Arial" pitchFamily="34" charset="0"/>
                <a:ea typeface="Arial" pitchFamily="34" charset="-122"/>
                <a:cs typeface="Arial" pitchFamily="34" charset="-120"/>
              </a:rPr>
              <a:t>O refrão entrega o insulto: «dona fea, velha e sandia»</a:t>
            </a:r>
            <a:endParaRPr lang="en-US" sz="2000" dirty="0"/>
          </a:p>
          <a:p>
            <a:pPr marL="342900" indent="-342900">
              <a:spcAft>
                <a:spcPts val="600"/>
              </a:spcAft>
              <a:buSzPct val="100000"/>
              <a:buChar char="–"/>
            </a:pPr>
            <a:r>
              <a:rPr lang="en-US" sz="2000" dirty="0">
                <a:solidFill>
                  <a:srgbClr val="F2F0EA"/>
                </a:solidFill>
                <a:latin typeface="Arial" pitchFamily="34" charset="0"/>
                <a:ea typeface="Arial" pitchFamily="34" charset="-122"/>
                <a:cs typeface="Arial" pitchFamily="34" charset="-120"/>
              </a:rPr>
              <a:t>Quem ouve percebe que a forma do elogio serviu para o contrário</a:t>
            </a:r>
            <a:endParaRPr lang="en-US" sz="2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1, aula 6: A voz emprestada</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27</a:t>
            </a:r>
            <a:endParaRPr lang="en-US" sz="1000" dirty="0"/>
          </a:p>
        </p:txBody>
      </p:sp>
      <p:sp>
        <p:nvSpPr>
          <p:cNvPr id="5" name="Shape 3"/>
          <p:cNvSpPr/>
          <p:nvPr/>
        </p:nvSpPr>
        <p:spPr>
          <a:xfrm>
            <a:off x="822960" y="502920"/>
            <a:ext cx="201168" cy="201168"/>
          </a:xfrm>
          <a:prstGeom prst="rect">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RESPOSTA</a:t>
            </a:r>
            <a:endParaRPr lang="en-US" sz="1100" dirty="0"/>
          </a:p>
        </p:txBody>
      </p:sp>
      <p:sp>
        <p:nvSpPr>
          <p:cNvPr id="7" name="Text 5"/>
          <p:cNvSpPr/>
          <p:nvPr/>
        </p:nvSpPr>
        <p:spPr>
          <a:xfrm>
            <a:off x="822960" y="1005840"/>
            <a:ext cx="9814255" cy="2377440"/>
          </a:xfrm>
          <a:prstGeom prst="rect">
            <a:avLst/>
          </a:prstGeom>
          <a:noFill/>
          <a:ln/>
        </p:spPr>
        <p:txBody>
          <a:bodyPr wrap="square" lIns="0" tIns="0" rIns="0" bIns="0" rtlCol="0" anchor="t">
            <a:normAutofit/>
          </a:bodyPr>
          <a:lstStyle/>
          <a:p>
            <a:pPr marL="342900" indent="-342900">
              <a:spcAft>
                <a:spcPts val="400"/>
              </a:spcAft>
              <a:buSzPct val="100000"/>
              <a:buFont typeface="+mj-lt"/>
              <a:buAutoNum type="arabicPeriod" startAt="1"/>
            </a:pPr>
            <a:r>
              <a:rPr lang="en-US" sz="2200" dirty="0">
                <a:solidFill>
                  <a:srgbClr val="F2F0EA"/>
                </a:solidFill>
                <a:latin typeface="Arial" pitchFamily="34" charset="0"/>
                <a:ea typeface="Arial" pitchFamily="34" charset="-122"/>
                <a:cs typeface="Arial" pitchFamily="34" charset="-120"/>
              </a:rPr>
              <a:t>A dona queixa-se de nunca ser louvada no cantar do trovador</a:t>
            </a:r>
            <a:endParaRPr lang="en-US" sz="2200" dirty="0"/>
          </a:p>
          <a:p>
            <a:pPr marL="342900" indent="-342900">
              <a:spcAft>
                <a:spcPts val="400"/>
              </a:spcAft>
              <a:buSzPct val="100000"/>
              <a:buFont typeface="+mj-lt"/>
              <a:buAutoNum type="arabicPeriod" startAt="1"/>
            </a:pPr>
            <a:r>
              <a:rPr lang="en-US" sz="2200" dirty="0">
                <a:solidFill>
                  <a:srgbClr val="F2F0EA"/>
                </a:solidFill>
                <a:latin typeface="Arial" pitchFamily="34" charset="0"/>
                <a:ea typeface="Arial" pitchFamily="34" charset="-122"/>
                <a:cs typeface="Arial" pitchFamily="34" charset="-120"/>
              </a:rPr>
              <a:t>O trovador promete fazer agora um cantar em que a louvará</a:t>
            </a:r>
            <a:endParaRPr lang="en-US" sz="2200" dirty="0"/>
          </a:p>
          <a:p>
            <a:pPr marL="342900" indent="-342900">
              <a:spcAft>
                <a:spcPts val="400"/>
              </a:spcAft>
              <a:buSzPct val="100000"/>
              <a:buFont typeface="+mj-lt"/>
              <a:buAutoNum type="arabicPeriod" startAt="1"/>
            </a:pPr>
            <a:r>
              <a:rPr lang="en-US" sz="2200" dirty="0">
                <a:solidFill>
                  <a:srgbClr val="F2F0EA"/>
                </a:solidFill>
                <a:latin typeface="Arial" pitchFamily="34" charset="0"/>
                <a:ea typeface="Arial" pitchFamily="34" charset="-122"/>
                <a:cs typeface="Arial" pitchFamily="34" charset="-120"/>
              </a:rPr>
              <a:t>Anuncia o louvor: «vedes como vos quero loar»</a:t>
            </a:r>
            <a:endParaRPr lang="en-US" sz="2200" dirty="0"/>
          </a:p>
          <a:p>
            <a:pPr marL="342900" indent="-342900">
              <a:spcAft>
                <a:spcPts val="400"/>
              </a:spcAft>
              <a:buSzPct val="100000"/>
              <a:buFont typeface="+mj-lt"/>
              <a:buAutoNum type="arabicPeriod" startAt="1"/>
            </a:pPr>
            <a:r>
              <a:rPr lang="en-US" sz="2200" dirty="0">
                <a:solidFill>
                  <a:srgbClr val="F2F0EA"/>
                </a:solidFill>
                <a:latin typeface="Arial" pitchFamily="34" charset="0"/>
                <a:ea typeface="Arial" pitchFamily="34" charset="-122"/>
                <a:cs typeface="Arial" pitchFamily="34" charset="-120"/>
              </a:rPr>
              <a:t>O refrão entrega o insulto: «dona fea, velha e sandia»</a:t>
            </a:r>
            <a:endParaRPr lang="en-US" sz="2200" dirty="0"/>
          </a:p>
          <a:p>
            <a:pPr marL="342900" indent="-342900">
              <a:spcAft>
                <a:spcPts val="400"/>
              </a:spcAft>
              <a:buSzPct val="100000"/>
              <a:buFont typeface="+mj-lt"/>
              <a:buAutoNum type="arabicPeriod" startAt="1"/>
            </a:pPr>
            <a:r>
              <a:rPr lang="en-US" sz="2200" dirty="0">
                <a:solidFill>
                  <a:srgbClr val="F2F0EA"/>
                </a:solidFill>
                <a:latin typeface="Arial" pitchFamily="34" charset="0"/>
                <a:ea typeface="Arial" pitchFamily="34" charset="-122"/>
                <a:cs typeface="Arial" pitchFamily="34" charset="-120"/>
              </a:rPr>
              <a:t>Quem ouve percebe que a forma do elogio serviu para o contrário</a:t>
            </a:r>
            <a:endParaRPr lang="en-US" sz="2200" dirty="0"/>
          </a:p>
        </p:txBody>
      </p:sp>
      <p:sp>
        <p:nvSpPr>
          <p:cNvPr id="8" name="Shape 6"/>
          <p:cNvSpPr/>
          <p:nvPr/>
        </p:nvSpPr>
        <p:spPr>
          <a:xfrm>
            <a:off x="822960" y="3520440"/>
            <a:ext cx="640080" cy="64008"/>
          </a:xfrm>
          <a:prstGeom prst="rect">
            <a:avLst/>
          </a:prstGeom>
          <a:solidFill>
            <a:srgbClr val="E4555C"/>
          </a:solidFill>
          <a:ln w="12700">
            <a:solidFill>
              <a:srgbClr val="E4555C"/>
            </a:solidFill>
            <a:prstDash val="solid"/>
          </a:ln>
        </p:spPr>
      </p:sp>
      <p:sp>
        <p:nvSpPr>
          <p:cNvPr id="9" name="Text 7"/>
          <p:cNvSpPr/>
          <p:nvPr/>
        </p:nvSpPr>
        <p:spPr>
          <a:xfrm>
            <a:off x="822960" y="3794760"/>
            <a:ext cx="9814255" cy="2331720"/>
          </a:xfrm>
          <a:prstGeom prst="rect">
            <a:avLst/>
          </a:prstGeom>
          <a:noFill/>
          <a:ln/>
        </p:spPr>
        <p:txBody>
          <a:bodyPr wrap="square" lIns="0" tIns="0" rIns="0" bIns="0" rtlCol="0" anchor="t">
            <a:normAutofit/>
          </a:bodyPr>
          <a:lstStyle/>
          <a:p>
            <a:pPr indent="0" marL="0">
              <a:lnSpc>
                <a:spcPct val="120000"/>
              </a:lnSpc>
              <a:buNone/>
            </a:pPr>
            <a:r>
              <a:rPr lang="en-US" sz="2200" dirty="0">
                <a:solidFill>
                  <a:srgbClr val="F2F0EA"/>
                </a:solidFill>
                <a:latin typeface="Georgia" pitchFamily="34" charset="0"/>
                <a:ea typeface="Georgia" pitchFamily="34" charset="-122"/>
                <a:cs typeface="Georgia" pitchFamily="34" charset="-120"/>
              </a:rPr>
              <a:t>Queixa, promessa, anúncio, insulto, e só no fim a leitura: a paródia precisa de que o ouvinte espere um louvor até ao último verso. Se o insulto viesse primeiro, não havia surpresa, só maldizer.</a:t>
            </a:r>
            <a:endParaRPr lang="en-US" sz="2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1, aula 6: A voz emprestada</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28</a:t>
            </a:r>
            <a:endParaRPr lang="en-US" sz="1000" dirty="0"/>
          </a:p>
        </p:txBody>
      </p:sp>
      <p:sp>
        <p:nvSpPr>
          <p:cNvPr id="5" name="Shape 3"/>
          <p:cNvSpPr/>
          <p:nvPr/>
        </p:nvSpPr>
        <p:spPr>
          <a:xfrm>
            <a:off x="822960" y="502920"/>
            <a:ext cx="201168" cy="201168"/>
          </a:xfrm>
          <a:prstGeom prst="ellipse">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ATO 3</a:t>
            </a:r>
            <a:endParaRPr lang="en-US" sz="1100" dirty="0"/>
          </a:p>
        </p:txBody>
      </p:sp>
      <p:sp>
        <p:nvSpPr>
          <p:cNvPr id="7" name="Text 5"/>
          <p:cNvSpPr/>
          <p:nvPr/>
        </p:nvSpPr>
        <p:spPr>
          <a:xfrm>
            <a:off x="822960" y="868680"/>
            <a:ext cx="9814255" cy="822960"/>
          </a:xfrm>
          <a:prstGeom prst="rect">
            <a:avLst/>
          </a:prstGeom>
          <a:noFill/>
          <a:ln/>
        </p:spPr>
        <p:txBody>
          <a:bodyPr wrap="square" lIns="0" tIns="0" rIns="0" bIns="0" rtlCol="0" anchor="b">
            <a:normAutofit/>
          </a:bodyPr>
          <a:lstStyle/>
          <a:p>
            <a:pPr indent="0" marL="0">
              <a:buNone/>
            </a:pPr>
            <a:r>
              <a:rPr lang="en-US" sz="3400" dirty="0">
                <a:solidFill>
                  <a:srgbClr val="F2F0EA"/>
                </a:solidFill>
                <a:latin typeface="Arial" pitchFamily="34" charset="0"/>
                <a:ea typeface="Arial" pitchFamily="34" charset="-122"/>
                <a:cs typeface="Arial" pitchFamily="34" charset="-120"/>
              </a:rPr>
              <a:t>A regra do tempo</a:t>
            </a:r>
            <a:endParaRPr lang="en-US" sz="3400" dirty="0"/>
          </a:p>
        </p:txBody>
      </p:sp>
      <p:sp>
        <p:nvSpPr>
          <p:cNvPr id="8" name="Shape 6"/>
          <p:cNvSpPr/>
          <p:nvPr/>
        </p:nvSpPr>
        <p:spPr>
          <a:xfrm>
            <a:off x="822960" y="1746504"/>
            <a:ext cx="640080" cy="64008"/>
          </a:xfrm>
          <a:prstGeom prst="rect">
            <a:avLst/>
          </a:prstGeom>
          <a:solidFill>
            <a:srgbClr val="E4555C"/>
          </a:solidFill>
          <a:ln w="12700">
            <a:solidFill>
              <a:srgbClr val="E4555C"/>
            </a:solidFill>
            <a:prstDash val="solid"/>
          </a:ln>
        </p:spPr>
      </p:sp>
      <p:sp>
        <p:nvSpPr>
          <p:cNvPr id="9" name="Text 7"/>
          <p:cNvSpPr/>
          <p:nvPr/>
        </p:nvSpPr>
        <p:spPr>
          <a:xfrm>
            <a:off x="822960" y="2103120"/>
            <a:ext cx="9814255" cy="3931920"/>
          </a:xfrm>
          <a:prstGeom prst="rect">
            <a:avLst/>
          </a:prstGeom>
          <a:noFill/>
          <a:ln/>
        </p:spPr>
        <p:txBody>
          <a:bodyPr wrap="square" lIns="0" tIns="0" rIns="0" bIns="0" rtlCol="0" anchor="t">
            <a:normAutofit/>
          </a:bodyPr>
          <a:lstStyle/>
          <a:p>
            <a:pPr indent="0" marL="0">
              <a:lnSpc>
                <a:spcPct val="120000"/>
              </a:lnSpc>
              <a:spcAft>
                <a:spcPts val="800"/>
              </a:spcAft>
              <a:buNone/>
            </a:pPr>
            <a:r>
              <a:rPr lang="en-US" sz="2000" dirty="0">
                <a:solidFill>
                  <a:srgbClr val="F2F0EA"/>
                </a:solidFill>
                <a:latin typeface="Georgia" pitchFamily="34" charset="0"/>
                <a:ea typeface="Georgia" pitchFamily="34" charset="-122"/>
                <a:cs typeface="Georgia" pitchFamily="34" charset="-120"/>
              </a:rPr>
              <a:t>Os trovadores tinham a sua regra escrita. A </a:t>
            </a:r>
            <a:pPr indent="0" marL="0">
              <a:lnSpc>
                <a:spcPct val="120000"/>
              </a:lnSpc>
              <a:spcAft>
                <a:spcPts val="800"/>
              </a:spcAft>
              <a:buNone/>
            </a:pPr>
            <a:r>
              <a:rPr lang="en-US" sz="2000" i="1" dirty="0">
                <a:solidFill>
                  <a:srgbClr val="F2F0EA"/>
                </a:solidFill>
                <a:latin typeface="Georgia" pitchFamily="34" charset="0"/>
                <a:ea typeface="Georgia" pitchFamily="34" charset="-122"/>
                <a:cs typeface="Georgia" pitchFamily="34" charset="-120"/>
              </a:rPr>
              <a:t>Arte de Trovar</a:t>
            </a:r>
            <a:pPr indent="0" marL="0">
              <a:lnSpc>
                <a:spcPct val="120000"/>
              </a:lnSpc>
              <a:spcAft>
                <a:spcPts val="800"/>
              </a:spcAft>
              <a:buNone/>
            </a:pPr>
            <a:r>
              <a:rPr lang="en-US" sz="2000" dirty="0">
                <a:solidFill>
                  <a:srgbClr val="F2F0EA"/>
                </a:solidFill>
                <a:latin typeface="Georgia" pitchFamily="34" charset="0"/>
                <a:ea typeface="Georgia" pitchFamily="34" charset="-122"/>
                <a:cs typeface="Georgia" pitchFamily="34" charset="-120"/>
              </a:rPr>
              <a:t>, tratado anónimo que abre o </a:t>
            </a:r>
            <a:pPr indent="0" marL="0">
              <a:lnSpc>
                <a:spcPct val="120000"/>
              </a:lnSpc>
              <a:spcAft>
                <a:spcPts val="800"/>
              </a:spcAft>
              <a:buNone/>
            </a:pPr>
            <a:r>
              <a:rPr lang="en-US" sz="2000" i="1" dirty="0">
                <a:solidFill>
                  <a:srgbClr val="F2F0EA"/>
                </a:solidFill>
                <a:latin typeface="Georgia" pitchFamily="34" charset="0"/>
                <a:ea typeface="Georgia" pitchFamily="34" charset="-122"/>
                <a:cs typeface="Georgia" pitchFamily="34" charset="-120"/>
              </a:rPr>
              <a:t>Cancioneiro da Biblioteca Nacional</a:t>
            </a:r>
            <a:pPr indent="0" marL="0">
              <a:lnSpc>
                <a:spcPct val="120000"/>
              </a:lnSpc>
              <a:spcAft>
                <a:spcPts val="800"/>
              </a:spcAft>
              <a:buNone/>
            </a:pPr>
            <a:r>
              <a:rPr lang="en-US" sz="2000" dirty="0">
                <a:solidFill>
                  <a:srgbClr val="F2F0EA"/>
                </a:solidFill>
                <a:latin typeface="Georgia" pitchFamily="34" charset="0"/>
                <a:ea typeface="Georgia" pitchFamily="34" charset="-122"/>
                <a:cs typeface="Georgia" pitchFamily="34" charset="-120"/>
              </a:rPr>
              <a:t>, separa a troça em duas: o escárnio diz mal por palavras cobertas, com dois entendimentos; o maldizer diz mal «descobertamente». Lê a definição de escárnio e decide de que lado cai «Ai dona fea».Cantigas d'escarneo som aquelas que os trobadores fazem querendo dizer mal d'alguém em elas, e dizem-lho per palavras cobertas que hajam dous entendimentos […].Anónimo, </a:t>
            </a:r>
            <a:pPr indent="0" marL="0">
              <a:lnSpc>
                <a:spcPct val="120000"/>
              </a:lnSpc>
              <a:spcAft>
                <a:spcPts val="800"/>
              </a:spcAft>
              <a:buNone/>
            </a:pPr>
            <a:r>
              <a:rPr lang="en-US" sz="2000" i="1" dirty="0">
                <a:solidFill>
                  <a:srgbClr val="F2F0EA"/>
                </a:solidFill>
                <a:latin typeface="Georgia" pitchFamily="34" charset="0"/>
                <a:ea typeface="Georgia" pitchFamily="34" charset="-122"/>
                <a:cs typeface="Georgia" pitchFamily="34" charset="-120"/>
              </a:rPr>
              <a:t>Arte de Trovar (Cancioneiro da Biblioteca Nacional)</a:t>
            </a:r>
            <a:pPr indent="0" marL="0">
              <a:lnSpc>
                <a:spcPct val="120000"/>
              </a:lnSpc>
              <a:spcAft>
                <a:spcPts val="800"/>
              </a:spcAft>
              <a:buNone/>
            </a:pPr>
            <a:r>
              <a:rPr lang="en-US" sz="2000" dirty="0">
                <a:solidFill>
                  <a:srgbClr val="F2F0EA"/>
                </a:solidFill>
                <a:latin typeface="Georgia" pitchFamily="34" charset="0"/>
                <a:ea typeface="Georgia" pitchFamily="34" charset="-122"/>
                <a:cs typeface="Georgia" pitchFamily="34" charset="-120"/>
              </a:rPr>
              <a:t>, cap. V. ed. FCSH/NOVA, em linha</a:t>
            </a:r>
            <a:endParaRPr lang="en-US" sz="2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1, aula 6: A voz emprestada</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29</a:t>
            </a:r>
            <a:endParaRPr lang="en-US" sz="1000" dirty="0"/>
          </a:p>
        </p:txBody>
      </p:sp>
      <p:sp>
        <p:nvSpPr>
          <p:cNvPr id="5" name="Shape 3"/>
          <p:cNvSpPr/>
          <p:nvPr/>
        </p:nvSpPr>
        <p:spPr>
          <a:xfrm>
            <a:off x="822960" y="502920"/>
            <a:ext cx="201168" cy="201168"/>
          </a:xfrm>
          <a:prstGeom prst="rect">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PENSA PRIMEIRO: DECIDE EM SILÊNCIO</a:t>
            </a:r>
            <a:endParaRPr lang="en-US" sz="1100" dirty="0"/>
          </a:p>
        </p:txBody>
      </p:sp>
      <p:sp>
        <p:nvSpPr>
          <p:cNvPr id="7" name="Text 5"/>
          <p:cNvSpPr/>
          <p:nvPr/>
        </p:nvSpPr>
        <p:spPr>
          <a:xfrm>
            <a:off x="822960" y="1097280"/>
            <a:ext cx="9814255" cy="3291840"/>
          </a:xfrm>
          <a:prstGeom prst="rect">
            <a:avLst/>
          </a:prstGeom>
          <a:noFill/>
          <a:ln/>
        </p:spPr>
        <p:txBody>
          <a:bodyPr wrap="square" lIns="0" tIns="0" rIns="0" bIns="0" rtlCol="0" anchor="b">
            <a:normAutofit/>
          </a:bodyPr>
          <a:lstStyle/>
          <a:p>
            <a:pPr indent="0" marL="0">
              <a:lnSpc>
                <a:spcPct val="115000"/>
              </a:lnSpc>
              <a:buNone/>
            </a:pPr>
            <a:r>
              <a:rPr lang="en-US" sz="4400" i="1" dirty="0">
                <a:solidFill>
                  <a:srgbClr val="F2F0EA"/>
                </a:solidFill>
                <a:latin typeface="Georgia" pitchFamily="34" charset="0"/>
                <a:ea typeface="Georgia" pitchFamily="34" charset="-122"/>
                <a:cs typeface="Georgia" pitchFamily="34" charset="-120"/>
              </a:rPr>
              <a:t>«dona fea, velha e sandia»: isto são palavras cobertas ou dizer mal descobertamente?</a:t>
            </a:r>
            <a:endParaRPr lang="en-US" sz="4400" dirty="0"/>
          </a:p>
        </p:txBody>
      </p:sp>
      <p:sp>
        <p:nvSpPr>
          <p:cNvPr id="8" name="Shape 6"/>
          <p:cNvSpPr/>
          <p:nvPr/>
        </p:nvSpPr>
        <p:spPr>
          <a:xfrm>
            <a:off x="822960" y="4526280"/>
            <a:ext cx="640080" cy="64008"/>
          </a:xfrm>
          <a:prstGeom prst="rect">
            <a:avLst/>
          </a:prstGeom>
          <a:solidFill>
            <a:srgbClr val="E4555C"/>
          </a:solidFill>
          <a:ln w="12700">
            <a:solidFill>
              <a:srgbClr val="E4555C"/>
            </a:solidFill>
            <a:prstDash val="solid"/>
          </a:ln>
        </p:spPr>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1, aula 6: A voz emprestada</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30</a:t>
            </a:r>
            <a:endParaRPr lang="en-US" sz="1000" dirty="0"/>
          </a:p>
        </p:txBody>
      </p:sp>
      <p:sp>
        <p:nvSpPr>
          <p:cNvPr id="5" name="Shape 3"/>
          <p:cNvSpPr/>
          <p:nvPr/>
        </p:nvSpPr>
        <p:spPr>
          <a:xfrm>
            <a:off x="822960" y="502920"/>
            <a:ext cx="201168" cy="201168"/>
          </a:xfrm>
          <a:prstGeom prst="rect">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ESCOLHE UMA POSIÇÃO</a:t>
            </a:r>
            <a:endParaRPr lang="en-US" sz="1100" dirty="0"/>
          </a:p>
        </p:txBody>
      </p:sp>
      <p:sp>
        <p:nvSpPr>
          <p:cNvPr id="7" name="Text 5"/>
          <p:cNvSpPr/>
          <p:nvPr/>
        </p:nvSpPr>
        <p:spPr>
          <a:xfrm>
            <a:off x="822960" y="914400"/>
            <a:ext cx="9814255" cy="1234440"/>
          </a:xfrm>
          <a:prstGeom prst="rect">
            <a:avLst/>
          </a:prstGeom>
          <a:noFill/>
          <a:ln/>
        </p:spPr>
        <p:txBody>
          <a:bodyPr wrap="square" lIns="0" tIns="0" rIns="0" bIns="0" rtlCol="0" anchor="t">
            <a:normAutofit/>
          </a:bodyPr>
          <a:lstStyle/>
          <a:p>
            <a:pPr indent="0" marL="0">
              <a:buNone/>
            </a:pPr>
            <a:r>
              <a:rPr lang="en-US" sz="3200" dirty="0">
                <a:solidFill>
                  <a:srgbClr val="F2F0EA"/>
                </a:solidFill>
                <a:latin typeface="Georgia" pitchFamily="34" charset="0"/>
                <a:ea typeface="Georgia" pitchFamily="34" charset="-122"/>
                <a:cs typeface="Georgia" pitchFamily="34" charset="-120"/>
              </a:rPr>
              <a:t>Pela regra da </a:t>
            </a:r>
            <a:pPr indent="0" marL="0">
              <a:buNone/>
            </a:pPr>
            <a:r>
              <a:rPr lang="en-US" sz="3200" i="1" dirty="0">
                <a:solidFill>
                  <a:srgbClr val="F2F0EA"/>
                </a:solidFill>
                <a:latin typeface="Georgia" pitchFamily="34" charset="0"/>
                <a:ea typeface="Georgia" pitchFamily="34" charset="-122"/>
                <a:cs typeface="Georgia" pitchFamily="34" charset="-120"/>
              </a:rPr>
              <a:t>Arte de Trovar</a:t>
            </a:r>
            <a:pPr indent="0" marL="0">
              <a:buNone/>
            </a:pPr>
            <a:r>
              <a:rPr lang="en-US" sz="3200" dirty="0">
                <a:solidFill>
                  <a:srgbClr val="F2F0EA"/>
                </a:solidFill>
                <a:latin typeface="Georgia" pitchFamily="34" charset="0"/>
                <a:ea typeface="Georgia" pitchFamily="34" charset="-122"/>
                <a:cs typeface="Georgia" pitchFamily="34" charset="-120"/>
              </a:rPr>
              <a:t>, «Ai dona fea» é escárnio ou maldizer?</a:t>
            </a:r>
            <a:endParaRPr lang="en-US" sz="3200" dirty="0"/>
          </a:p>
        </p:txBody>
      </p:sp>
      <p:sp>
        <p:nvSpPr>
          <p:cNvPr id="8" name="Shape 6"/>
          <p:cNvSpPr/>
          <p:nvPr/>
        </p:nvSpPr>
        <p:spPr>
          <a:xfrm>
            <a:off x="822960" y="2240280"/>
            <a:ext cx="640080" cy="64008"/>
          </a:xfrm>
          <a:prstGeom prst="rect">
            <a:avLst/>
          </a:prstGeom>
          <a:solidFill>
            <a:srgbClr val="E4555C"/>
          </a:solidFill>
          <a:ln w="12700">
            <a:solidFill>
              <a:srgbClr val="E4555C"/>
            </a:solidFill>
            <a:prstDash val="solid"/>
          </a:ln>
        </p:spPr>
      </p:sp>
      <p:sp>
        <p:nvSpPr>
          <p:cNvPr id="9" name="Shape 7"/>
          <p:cNvSpPr/>
          <p:nvPr/>
        </p:nvSpPr>
        <p:spPr>
          <a:xfrm>
            <a:off x="1005840" y="2697480"/>
            <a:ext cx="0" cy="1200912"/>
          </a:xfrm>
          <a:prstGeom prst="line">
            <a:avLst/>
          </a:prstGeom>
          <a:noFill/>
          <a:ln w="12700">
            <a:solidFill>
              <a:srgbClr val="A9A79F"/>
            </a:solidFill>
            <a:prstDash val="solid"/>
          </a:ln>
        </p:spPr>
      </p:sp>
      <p:sp>
        <p:nvSpPr>
          <p:cNvPr id="10" name="Shape 8"/>
          <p:cNvSpPr/>
          <p:nvPr/>
        </p:nvSpPr>
        <p:spPr>
          <a:xfrm>
            <a:off x="822960" y="2514600"/>
            <a:ext cx="365760" cy="365760"/>
          </a:xfrm>
          <a:prstGeom prst="ellipse">
            <a:avLst/>
          </a:prstGeom>
          <a:solidFill>
            <a:srgbClr val="111111"/>
          </a:solidFill>
          <a:ln w="15875">
            <a:solidFill>
              <a:srgbClr val="F2F0EA"/>
            </a:solidFill>
            <a:prstDash val="solid"/>
          </a:ln>
        </p:spPr>
      </p:sp>
      <p:sp>
        <p:nvSpPr>
          <p:cNvPr id="11" name="Text 9"/>
          <p:cNvSpPr/>
          <p:nvPr/>
        </p:nvSpPr>
        <p:spPr>
          <a:xfrm>
            <a:off x="822960" y="2514600"/>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A</a:t>
            </a:r>
            <a:endParaRPr lang="en-US" sz="1300" dirty="0"/>
          </a:p>
        </p:txBody>
      </p:sp>
      <p:sp>
        <p:nvSpPr>
          <p:cNvPr id="12" name="Text 10"/>
          <p:cNvSpPr/>
          <p:nvPr/>
        </p:nvSpPr>
        <p:spPr>
          <a:xfrm>
            <a:off x="1417320" y="2523744"/>
            <a:ext cx="9174175" cy="600456"/>
          </a:xfrm>
          <a:prstGeom prst="rect">
            <a:avLst/>
          </a:prstGeom>
          <a:noFill/>
          <a:ln/>
        </p:spPr>
        <p:txBody>
          <a:bodyPr wrap="square" lIns="0" tIns="0" rIns="0" bIns="0" rtlCol="0" anchor="t">
            <a:normAutofit/>
          </a:bodyPr>
          <a:lstStyle/>
          <a:p>
            <a:pPr indent="0" marL="0">
              <a:lnSpc>
                <a:spcPct val="105000"/>
              </a:lnSpc>
              <a:buNone/>
            </a:pPr>
            <a:r>
              <a:rPr lang="en-US" sz="2400" dirty="0">
                <a:solidFill>
                  <a:srgbClr val="F2F0EA"/>
                </a:solidFill>
                <a:latin typeface="Arial" pitchFamily="34" charset="0"/>
                <a:ea typeface="Arial" pitchFamily="34" charset="-122"/>
                <a:cs typeface="Arial" pitchFamily="34" charset="-120"/>
              </a:rPr>
              <a:t>Escárnio</a:t>
            </a:r>
            <a:endParaRPr lang="en-US" sz="2400" dirty="0"/>
          </a:p>
        </p:txBody>
      </p:sp>
      <p:sp>
        <p:nvSpPr>
          <p:cNvPr id="13" name="Shape 11"/>
          <p:cNvSpPr/>
          <p:nvPr/>
        </p:nvSpPr>
        <p:spPr>
          <a:xfrm>
            <a:off x="822960" y="3115056"/>
            <a:ext cx="365760" cy="365760"/>
          </a:xfrm>
          <a:prstGeom prst="ellipse">
            <a:avLst/>
          </a:prstGeom>
          <a:solidFill>
            <a:srgbClr val="111111"/>
          </a:solidFill>
          <a:ln w="15875">
            <a:solidFill>
              <a:srgbClr val="F2F0EA"/>
            </a:solidFill>
            <a:prstDash val="solid"/>
          </a:ln>
        </p:spPr>
      </p:sp>
      <p:sp>
        <p:nvSpPr>
          <p:cNvPr id="14" name="Text 12"/>
          <p:cNvSpPr/>
          <p:nvPr/>
        </p:nvSpPr>
        <p:spPr>
          <a:xfrm>
            <a:off x="822960" y="3115056"/>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B</a:t>
            </a:r>
            <a:endParaRPr lang="en-US" sz="1300" dirty="0"/>
          </a:p>
        </p:txBody>
      </p:sp>
      <p:sp>
        <p:nvSpPr>
          <p:cNvPr id="15" name="Text 13"/>
          <p:cNvSpPr/>
          <p:nvPr/>
        </p:nvSpPr>
        <p:spPr>
          <a:xfrm>
            <a:off x="1417320" y="3124200"/>
            <a:ext cx="9174175" cy="600456"/>
          </a:xfrm>
          <a:prstGeom prst="rect">
            <a:avLst/>
          </a:prstGeom>
          <a:noFill/>
          <a:ln/>
        </p:spPr>
        <p:txBody>
          <a:bodyPr wrap="square" lIns="0" tIns="0" rIns="0" bIns="0" rtlCol="0" anchor="t">
            <a:normAutofit/>
          </a:bodyPr>
          <a:lstStyle/>
          <a:p>
            <a:pPr indent="0" marL="0">
              <a:lnSpc>
                <a:spcPct val="105000"/>
              </a:lnSpc>
              <a:buNone/>
            </a:pPr>
            <a:r>
              <a:rPr lang="en-US" sz="2400" dirty="0">
                <a:solidFill>
                  <a:srgbClr val="F2F0EA"/>
                </a:solidFill>
                <a:latin typeface="Arial" pitchFamily="34" charset="0"/>
                <a:ea typeface="Arial" pitchFamily="34" charset="-122"/>
                <a:cs typeface="Arial" pitchFamily="34" charset="-120"/>
              </a:rPr>
              <a:t>Maldizer</a:t>
            </a:r>
            <a:endParaRPr lang="en-US" sz="2400" dirty="0"/>
          </a:p>
        </p:txBody>
      </p:sp>
      <p:sp>
        <p:nvSpPr>
          <p:cNvPr id="16" name="Shape 14"/>
          <p:cNvSpPr/>
          <p:nvPr/>
        </p:nvSpPr>
        <p:spPr>
          <a:xfrm>
            <a:off x="822960" y="3715512"/>
            <a:ext cx="365760" cy="365760"/>
          </a:xfrm>
          <a:prstGeom prst="ellipse">
            <a:avLst/>
          </a:prstGeom>
          <a:solidFill>
            <a:srgbClr val="111111"/>
          </a:solidFill>
          <a:ln w="15875">
            <a:solidFill>
              <a:srgbClr val="F2F0EA"/>
            </a:solidFill>
            <a:prstDash val="solid"/>
          </a:ln>
        </p:spPr>
      </p:sp>
      <p:sp>
        <p:nvSpPr>
          <p:cNvPr id="17" name="Text 15"/>
          <p:cNvSpPr/>
          <p:nvPr/>
        </p:nvSpPr>
        <p:spPr>
          <a:xfrm>
            <a:off x="822960" y="3715512"/>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C</a:t>
            </a:r>
            <a:endParaRPr lang="en-US" sz="1300" dirty="0"/>
          </a:p>
        </p:txBody>
      </p:sp>
      <p:sp>
        <p:nvSpPr>
          <p:cNvPr id="18" name="Text 16"/>
          <p:cNvSpPr/>
          <p:nvPr/>
        </p:nvSpPr>
        <p:spPr>
          <a:xfrm>
            <a:off x="1417320" y="3724656"/>
            <a:ext cx="9174175" cy="600456"/>
          </a:xfrm>
          <a:prstGeom prst="rect">
            <a:avLst/>
          </a:prstGeom>
          <a:noFill/>
          <a:ln/>
        </p:spPr>
        <p:txBody>
          <a:bodyPr wrap="square" lIns="0" tIns="0" rIns="0" bIns="0" rtlCol="0" anchor="t">
            <a:normAutofit/>
          </a:bodyPr>
          <a:lstStyle/>
          <a:p>
            <a:pPr indent="0" marL="0">
              <a:lnSpc>
                <a:spcPct val="105000"/>
              </a:lnSpc>
              <a:buNone/>
            </a:pPr>
            <a:r>
              <a:rPr lang="en-US" sz="2400" dirty="0">
                <a:solidFill>
                  <a:srgbClr val="F2F0EA"/>
                </a:solidFill>
                <a:latin typeface="Arial" pitchFamily="34" charset="0"/>
                <a:ea typeface="Arial" pitchFamily="34" charset="-122"/>
                <a:cs typeface="Arial" pitchFamily="34" charset="-120"/>
              </a:rPr>
              <a:t>Os dois ao mesmo tempo</a:t>
            </a:r>
            <a:endParaRPr lang="en-US" sz="2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1, aula 6: A voz emprestada</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31</a:t>
            </a:r>
            <a:endParaRPr lang="en-US" sz="1000" dirty="0"/>
          </a:p>
        </p:txBody>
      </p:sp>
      <p:sp>
        <p:nvSpPr>
          <p:cNvPr id="5" name="Shape 3"/>
          <p:cNvSpPr/>
          <p:nvPr/>
        </p:nvSpPr>
        <p:spPr>
          <a:xfrm>
            <a:off x="822960" y="502920"/>
            <a:ext cx="201168" cy="201168"/>
          </a:xfrm>
          <a:prstGeom prst="ellipse">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ATO 4</a:t>
            </a:r>
            <a:endParaRPr lang="en-US" sz="1100" dirty="0"/>
          </a:p>
        </p:txBody>
      </p:sp>
      <p:sp>
        <p:nvSpPr>
          <p:cNvPr id="7" name="Text 5"/>
          <p:cNvSpPr/>
          <p:nvPr/>
        </p:nvSpPr>
        <p:spPr>
          <a:xfrm>
            <a:off x="822960" y="868680"/>
            <a:ext cx="9814255" cy="822960"/>
          </a:xfrm>
          <a:prstGeom prst="rect">
            <a:avLst/>
          </a:prstGeom>
          <a:noFill/>
          <a:ln/>
        </p:spPr>
        <p:txBody>
          <a:bodyPr wrap="square" lIns="0" tIns="0" rIns="0" bIns="0" rtlCol="0" anchor="b">
            <a:normAutofit/>
          </a:bodyPr>
          <a:lstStyle/>
          <a:p>
            <a:pPr indent="0" marL="0">
              <a:buNone/>
            </a:pPr>
            <a:r>
              <a:rPr lang="en-US" sz="3400" dirty="0">
                <a:solidFill>
                  <a:srgbClr val="F2F0EA"/>
                </a:solidFill>
                <a:latin typeface="Arial" pitchFamily="34" charset="0"/>
                <a:ea typeface="Arial" pitchFamily="34" charset="-122"/>
                <a:cs typeface="Arial" pitchFamily="34" charset="-120"/>
              </a:rPr>
              <a:t>A objeção</a:t>
            </a:r>
            <a:endParaRPr lang="en-US" sz="3400" dirty="0"/>
          </a:p>
        </p:txBody>
      </p:sp>
      <p:sp>
        <p:nvSpPr>
          <p:cNvPr id="8" name="Shape 6"/>
          <p:cNvSpPr/>
          <p:nvPr/>
        </p:nvSpPr>
        <p:spPr>
          <a:xfrm>
            <a:off x="822960" y="1746504"/>
            <a:ext cx="640080" cy="64008"/>
          </a:xfrm>
          <a:prstGeom prst="rect">
            <a:avLst/>
          </a:prstGeom>
          <a:solidFill>
            <a:srgbClr val="E4555C"/>
          </a:solidFill>
          <a:ln w="12700">
            <a:solidFill>
              <a:srgbClr val="E4555C"/>
            </a:solidFill>
            <a:prstDash val="solid"/>
          </a:ln>
        </p:spPr>
      </p:sp>
      <p:sp>
        <p:nvSpPr>
          <p:cNvPr id="9" name="Text 7"/>
          <p:cNvSpPr/>
          <p:nvPr/>
        </p:nvSpPr>
        <p:spPr>
          <a:xfrm>
            <a:off x="822960" y="2103120"/>
            <a:ext cx="9814255" cy="3931920"/>
          </a:xfrm>
          <a:prstGeom prst="rect">
            <a:avLst/>
          </a:prstGeom>
          <a:noFill/>
          <a:ln/>
        </p:spPr>
        <p:txBody>
          <a:bodyPr wrap="square" lIns="0" tIns="0" rIns="0" bIns="0" rtlCol="0" anchor="t">
            <a:normAutofit/>
          </a:bodyPr>
          <a:lstStyle/>
          <a:p>
            <a:pPr indent="0" marL="0">
              <a:lnSpc>
                <a:spcPct val="120000"/>
              </a:lnSpc>
              <a:spcAft>
                <a:spcPts val="800"/>
              </a:spcAft>
              <a:buNone/>
            </a:pPr>
            <a:r>
              <a:rPr lang="en-US" sz="2000" dirty="0">
                <a:solidFill>
                  <a:srgbClr val="F2F0EA"/>
                </a:solidFill>
                <a:latin typeface="Georgia" pitchFamily="34" charset="0"/>
                <a:ea typeface="Georgia" pitchFamily="34" charset="-122"/>
                <a:cs typeface="Georgia" pitchFamily="34" charset="-120"/>
              </a:rPr>
              <a:t>Volta à rapariga de Mendinho. A melhor objeção ao que fizeste até aqui é esta: se a voz é emprestada, então a rapariga não existe. O que ela diz é o que um homem da corte imaginou que uma rapariga diria. A cantiga de amigo diz-te mais sobre quem a escreveu do que sobre ela.Há uma cantiga em que a pergunta de quem tem direito à voz se discute abertamente. Na tenção, dois homens alternam estrofes: Guilhade, o trovador, e Lourenço, o jogral, o homem pago para cantar e tocar. Guilhade diz-lhe que toca, canta, trova e já se tem «por trobador». Lê a resposta de Lourenço.</a:t>
            </a:r>
            <a:pPr indent="0" marL="0">
              <a:lnSpc>
                <a:spcPct val="120000"/>
              </a:lnSpc>
              <a:spcAft>
                <a:spcPts val="800"/>
              </a:spcAft>
              <a:buNone/>
            </a:pPr>
            <a:r>
              <a:rPr lang="en-US" sz="2000" b="1" dirty="0">
                <a:solidFill>
                  <a:srgbClr val="F2F0EA"/>
                </a:solidFill>
                <a:latin typeface="Georgia" pitchFamily="34" charset="0"/>
                <a:ea typeface="Georgia" pitchFamily="34" charset="-122"/>
                <a:cs typeface="Georgia" pitchFamily="34" charset="-120"/>
              </a:rPr>
              <a:t>Guilhade:</a:t>
            </a:r>
            <a:pPr indent="0" marL="0">
              <a:lnSpc>
                <a:spcPct val="120000"/>
              </a:lnSpc>
              <a:spcAft>
                <a:spcPts val="800"/>
              </a:spcAft>
              <a:buNone/>
            </a:pPr>
            <a:r>
              <a:rPr lang="en-US" sz="2000" dirty="0">
                <a:solidFill>
                  <a:srgbClr val="F2F0EA"/>
                </a:solidFill>
                <a:latin typeface="Georgia" pitchFamily="34" charset="0"/>
                <a:ea typeface="Georgia" pitchFamily="34" charset="-122"/>
                <a:cs typeface="Georgia" pitchFamily="34" charset="-120"/>
              </a:rPr>
              <a:t>Lourenço jograr, hás mui gram saborde citolares, ar queres cantar,des i ar filhas-te log'a trobare teens-t'ora já…</a:t>
            </a:r>
            <a:endParaRPr lang="en-US" sz="2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1, aula 6: A voz emprestada</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32</a:t>
            </a:r>
            <a:endParaRPr lang="en-US" sz="1000" dirty="0"/>
          </a:p>
        </p:txBody>
      </p:sp>
      <p:sp>
        <p:nvSpPr>
          <p:cNvPr id="5" name="Shape 3"/>
          <p:cNvSpPr/>
          <p:nvPr/>
        </p:nvSpPr>
        <p:spPr>
          <a:xfrm>
            <a:off x="822960" y="502920"/>
            <a:ext cx="201168" cy="201168"/>
          </a:xfrm>
          <a:prstGeom prst="rect">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PENSA PRIMEIRO: DECIDE EM SILÊNCIO</a:t>
            </a:r>
            <a:endParaRPr lang="en-US" sz="1100" dirty="0"/>
          </a:p>
        </p:txBody>
      </p:sp>
      <p:sp>
        <p:nvSpPr>
          <p:cNvPr id="7" name="Text 5"/>
          <p:cNvSpPr/>
          <p:nvPr/>
        </p:nvSpPr>
        <p:spPr>
          <a:xfrm>
            <a:off x="822960" y="1097280"/>
            <a:ext cx="9814255" cy="3291840"/>
          </a:xfrm>
          <a:prstGeom prst="rect">
            <a:avLst/>
          </a:prstGeom>
          <a:noFill/>
          <a:ln/>
        </p:spPr>
        <p:txBody>
          <a:bodyPr wrap="square" lIns="0" tIns="0" rIns="0" bIns="0" rtlCol="0" anchor="b">
            <a:normAutofit/>
          </a:bodyPr>
          <a:lstStyle/>
          <a:p>
            <a:pPr indent="0" marL="0">
              <a:lnSpc>
                <a:spcPct val="115000"/>
              </a:lnSpc>
              <a:buNone/>
            </a:pPr>
            <a:r>
              <a:rPr lang="en-US" sz="4400" i="1" dirty="0">
                <a:solidFill>
                  <a:srgbClr val="F2F0EA"/>
                </a:solidFill>
                <a:latin typeface="Georgia" pitchFamily="34" charset="0"/>
                <a:ea typeface="Georgia" pitchFamily="34" charset="-122"/>
                <a:cs typeface="Georgia" pitchFamily="34" charset="-120"/>
              </a:rPr>
              <a:t>Quem decide se Lourenço é trovador: Lourenço, Guilhade, ou quem os ouve?</a:t>
            </a:r>
            <a:endParaRPr lang="en-US" sz="4400" dirty="0"/>
          </a:p>
        </p:txBody>
      </p:sp>
      <p:sp>
        <p:nvSpPr>
          <p:cNvPr id="8" name="Shape 6"/>
          <p:cNvSpPr/>
          <p:nvPr/>
        </p:nvSpPr>
        <p:spPr>
          <a:xfrm>
            <a:off x="822960" y="4526280"/>
            <a:ext cx="640080" cy="64008"/>
          </a:xfrm>
          <a:prstGeom prst="rect">
            <a:avLst/>
          </a:prstGeom>
          <a:solidFill>
            <a:srgbClr val="E4555C"/>
          </a:solidFill>
          <a:ln w="12700">
            <a:solidFill>
              <a:srgbClr val="E4555C"/>
            </a:solidFill>
            <a:prstDash val="solid"/>
          </a:ln>
        </p:spPr>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1, aula 6: A voz emprestada</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33</a:t>
            </a:r>
            <a:endParaRPr lang="en-US" sz="1000" dirty="0"/>
          </a:p>
        </p:txBody>
      </p:sp>
      <p:sp>
        <p:nvSpPr>
          <p:cNvPr id="5" name="Shape 3"/>
          <p:cNvSpPr/>
          <p:nvPr/>
        </p:nvSpPr>
        <p:spPr>
          <a:xfrm>
            <a:off x="822960" y="502920"/>
            <a:ext cx="201168" cy="201168"/>
          </a:xfrm>
          <a:prstGeom prst="rect">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RESPONDE NO TELEMÓVEL</a:t>
            </a:r>
            <a:endParaRPr lang="en-US" sz="1100" dirty="0"/>
          </a:p>
        </p:txBody>
      </p:sp>
      <p:sp>
        <p:nvSpPr>
          <p:cNvPr id="7" name="Text 5"/>
          <p:cNvSpPr/>
          <p:nvPr/>
        </p:nvSpPr>
        <p:spPr>
          <a:xfrm>
            <a:off x="822960" y="914400"/>
            <a:ext cx="9814255" cy="1234440"/>
          </a:xfrm>
          <a:prstGeom prst="rect">
            <a:avLst/>
          </a:prstGeom>
          <a:noFill/>
          <a:ln/>
        </p:spPr>
        <p:txBody>
          <a:bodyPr wrap="square" lIns="0" tIns="0" rIns="0" bIns="0" rtlCol="0" anchor="t">
            <a:normAutofit/>
          </a:bodyPr>
          <a:lstStyle/>
          <a:p>
            <a:pPr indent="0" marL="0">
              <a:buNone/>
            </a:pPr>
            <a:r>
              <a:rPr lang="en-US" sz="3200" dirty="0">
                <a:solidFill>
                  <a:srgbClr val="F2F0EA"/>
                </a:solidFill>
                <a:latin typeface="Georgia" pitchFamily="34" charset="0"/>
                <a:ea typeface="Georgia" pitchFamily="34" charset="-122"/>
                <a:cs typeface="Georgia" pitchFamily="34" charset="-120"/>
              </a:rPr>
              <a:t>O que responde Lourenço a Guilhade?</a:t>
            </a:r>
            <a:endParaRPr lang="en-US" sz="3200" dirty="0"/>
          </a:p>
        </p:txBody>
      </p:sp>
      <p:sp>
        <p:nvSpPr>
          <p:cNvPr id="8" name="Shape 6"/>
          <p:cNvSpPr/>
          <p:nvPr/>
        </p:nvSpPr>
        <p:spPr>
          <a:xfrm>
            <a:off x="822960" y="2240280"/>
            <a:ext cx="640080" cy="64008"/>
          </a:xfrm>
          <a:prstGeom prst="rect">
            <a:avLst/>
          </a:prstGeom>
          <a:solidFill>
            <a:srgbClr val="E4555C"/>
          </a:solidFill>
          <a:ln w="12700">
            <a:solidFill>
              <a:srgbClr val="E4555C"/>
            </a:solidFill>
            <a:prstDash val="solid"/>
          </a:ln>
        </p:spPr>
      </p:sp>
      <p:sp>
        <p:nvSpPr>
          <p:cNvPr id="9" name="Shape 7"/>
          <p:cNvSpPr/>
          <p:nvPr/>
        </p:nvSpPr>
        <p:spPr>
          <a:xfrm>
            <a:off x="1005840" y="2697480"/>
            <a:ext cx="0" cy="2563368"/>
          </a:xfrm>
          <a:prstGeom prst="line">
            <a:avLst/>
          </a:prstGeom>
          <a:noFill/>
          <a:ln w="12700">
            <a:solidFill>
              <a:srgbClr val="A9A79F"/>
            </a:solidFill>
            <a:prstDash val="solid"/>
          </a:ln>
        </p:spPr>
      </p:sp>
      <p:sp>
        <p:nvSpPr>
          <p:cNvPr id="10" name="Shape 8"/>
          <p:cNvSpPr/>
          <p:nvPr/>
        </p:nvSpPr>
        <p:spPr>
          <a:xfrm>
            <a:off x="822960" y="2514600"/>
            <a:ext cx="365760" cy="365760"/>
          </a:xfrm>
          <a:prstGeom prst="ellipse">
            <a:avLst/>
          </a:prstGeom>
          <a:solidFill>
            <a:srgbClr val="111111"/>
          </a:solidFill>
          <a:ln w="15875">
            <a:solidFill>
              <a:srgbClr val="F2F0EA"/>
            </a:solidFill>
            <a:prstDash val="solid"/>
          </a:ln>
        </p:spPr>
      </p:sp>
      <p:sp>
        <p:nvSpPr>
          <p:cNvPr id="11" name="Text 9"/>
          <p:cNvSpPr/>
          <p:nvPr/>
        </p:nvSpPr>
        <p:spPr>
          <a:xfrm>
            <a:off x="822960" y="2514600"/>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A</a:t>
            </a:r>
            <a:endParaRPr lang="en-US" sz="1300" dirty="0"/>
          </a:p>
        </p:txBody>
      </p:sp>
      <p:sp>
        <p:nvSpPr>
          <p:cNvPr id="12" name="Text 10"/>
          <p:cNvSpPr/>
          <p:nvPr/>
        </p:nvSpPr>
        <p:spPr>
          <a:xfrm>
            <a:off x="1417320" y="2523744"/>
            <a:ext cx="9174175" cy="981456"/>
          </a:xfrm>
          <a:prstGeom prst="rect">
            <a:avLst/>
          </a:prstGeom>
          <a:noFill/>
          <a:ln/>
        </p:spPr>
        <p:txBody>
          <a:bodyPr wrap="square" lIns="0" tIns="0" rIns="0" bIns="0" rtlCol="0" anchor="t">
            <a:normAutofit/>
          </a:bodyPr>
          <a:lstStyle/>
          <a:p>
            <a:pPr indent="0" marL="0">
              <a:lnSpc>
                <a:spcPct val="105000"/>
              </a:lnSpc>
              <a:buNone/>
            </a:pPr>
            <a:r>
              <a:rPr lang="en-US" sz="2400" dirty="0">
                <a:solidFill>
                  <a:srgbClr val="F2F0EA"/>
                </a:solidFill>
                <a:latin typeface="Arial" pitchFamily="34" charset="0"/>
                <a:ea typeface="Arial" pitchFamily="34" charset="-122"/>
                <a:cs typeface="Arial" pitchFamily="34" charset="-120"/>
              </a:rPr>
              <a:t>Que sabe fazer bem os seus ofícios e que Guilhade não é quem pode julgá-los</a:t>
            </a:r>
            <a:endParaRPr lang="en-US" sz="2400" dirty="0"/>
          </a:p>
        </p:txBody>
      </p:sp>
      <p:sp>
        <p:nvSpPr>
          <p:cNvPr id="13" name="Shape 11"/>
          <p:cNvSpPr/>
          <p:nvPr/>
        </p:nvSpPr>
        <p:spPr>
          <a:xfrm>
            <a:off x="822960" y="3496056"/>
            <a:ext cx="365760" cy="365760"/>
          </a:xfrm>
          <a:prstGeom prst="ellipse">
            <a:avLst/>
          </a:prstGeom>
          <a:solidFill>
            <a:srgbClr val="111111"/>
          </a:solidFill>
          <a:ln w="15875">
            <a:solidFill>
              <a:srgbClr val="F2F0EA"/>
            </a:solidFill>
            <a:prstDash val="solid"/>
          </a:ln>
        </p:spPr>
      </p:sp>
      <p:sp>
        <p:nvSpPr>
          <p:cNvPr id="14" name="Text 12"/>
          <p:cNvSpPr/>
          <p:nvPr/>
        </p:nvSpPr>
        <p:spPr>
          <a:xfrm>
            <a:off x="822960" y="3496056"/>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B</a:t>
            </a:r>
            <a:endParaRPr lang="en-US" sz="1300" dirty="0"/>
          </a:p>
        </p:txBody>
      </p:sp>
      <p:sp>
        <p:nvSpPr>
          <p:cNvPr id="15" name="Text 13"/>
          <p:cNvSpPr/>
          <p:nvPr/>
        </p:nvSpPr>
        <p:spPr>
          <a:xfrm>
            <a:off x="1417320" y="3505200"/>
            <a:ext cx="9174175" cy="600456"/>
          </a:xfrm>
          <a:prstGeom prst="rect">
            <a:avLst/>
          </a:prstGeom>
          <a:noFill/>
          <a:ln/>
        </p:spPr>
        <p:txBody>
          <a:bodyPr wrap="square" lIns="0" tIns="0" rIns="0" bIns="0" rtlCol="0" anchor="t">
            <a:normAutofit/>
          </a:bodyPr>
          <a:lstStyle/>
          <a:p>
            <a:pPr indent="0" marL="0">
              <a:lnSpc>
                <a:spcPct val="105000"/>
              </a:lnSpc>
              <a:buNone/>
            </a:pPr>
            <a:r>
              <a:rPr lang="en-US" sz="2400" dirty="0">
                <a:solidFill>
                  <a:srgbClr val="F2F0EA"/>
                </a:solidFill>
                <a:latin typeface="Arial" pitchFamily="34" charset="0"/>
                <a:ea typeface="Arial" pitchFamily="34" charset="-122"/>
                <a:cs typeface="Arial" pitchFamily="34" charset="-120"/>
              </a:rPr>
              <a:t>Que desiste de trovar e volta a tocar cítola</a:t>
            </a:r>
            <a:endParaRPr lang="en-US" sz="2400" dirty="0"/>
          </a:p>
        </p:txBody>
      </p:sp>
      <p:sp>
        <p:nvSpPr>
          <p:cNvPr id="16" name="Shape 14"/>
          <p:cNvSpPr/>
          <p:nvPr/>
        </p:nvSpPr>
        <p:spPr>
          <a:xfrm>
            <a:off x="822960" y="4096512"/>
            <a:ext cx="365760" cy="365760"/>
          </a:xfrm>
          <a:prstGeom prst="ellipse">
            <a:avLst/>
          </a:prstGeom>
          <a:solidFill>
            <a:srgbClr val="111111"/>
          </a:solidFill>
          <a:ln w="15875">
            <a:solidFill>
              <a:srgbClr val="F2F0EA"/>
            </a:solidFill>
            <a:prstDash val="solid"/>
          </a:ln>
        </p:spPr>
      </p:sp>
      <p:sp>
        <p:nvSpPr>
          <p:cNvPr id="17" name="Text 15"/>
          <p:cNvSpPr/>
          <p:nvPr/>
        </p:nvSpPr>
        <p:spPr>
          <a:xfrm>
            <a:off x="822960" y="4096512"/>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C</a:t>
            </a:r>
            <a:endParaRPr lang="en-US" sz="1300" dirty="0"/>
          </a:p>
        </p:txBody>
      </p:sp>
      <p:sp>
        <p:nvSpPr>
          <p:cNvPr id="18" name="Text 16"/>
          <p:cNvSpPr/>
          <p:nvPr/>
        </p:nvSpPr>
        <p:spPr>
          <a:xfrm>
            <a:off x="1417320" y="4105656"/>
            <a:ext cx="9174175" cy="981456"/>
          </a:xfrm>
          <a:prstGeom prst="rect">
            <a:avLst/>
          </a:prstGeom>
          <a:noFill/>
          <a:ln/>
        </p:spPr>
        <p:txBody>
          <a:bodyPr wrap="square" lIns="0" tIns="0" rIns="0" bIns="0" rtlCol="0" anchor="t">
            <a:normAutofit/>
          </a:bodyPr>
          <a:lstStyle/>
          <a:p>
            <a:pPr indent="0" marL="0">
              <a:lnSpc>
                <a:spcPct val="105000"/>
              </a:lnSpc>
              <a:buNone/>
            </a:pPr>
            <a:r>
              <a:rPr lang="en-US" sz="2400" dirty="0">
                <a:solidFill>
                  <a:srgbClr val="F2F0EA"/>
                </a:solidFill>
                <a:latin typeface="Arial" pitchFamily="34" charset="0"/>
                <a:ea typeface="Arial" pitchFamily="34" charset="-122"/>
                <a:cs typeface="Arial" pitchFamily="34" charset="-120"/>
              </a:rPr>
              <a:t>Que Guilhade canta melhor do que ele e por isso tem razão</a:t>
            </a:r>
            <a:endParaRPr lang="en-US" sz="2400" dirty="0"/>
          </a:p>
        </p:txBody>
      </p:sp>
      <p:sp>
        <p:nvSpPr>
          <p:cNvPr id="19" name="Shape 17"/>
          <p:cNvSpPr/>
          <p:nvPr/>
        </p:nvSpPr>
        <p:spPr>
          <a:xfrm>
            <a:off x="822960" y="5077968"/>
            <a:ext cx="365760" cy="365760"/>
          </a:xfrm>
          <a:prstGeom prst="ellipse">
            <a:avLst/>
          </a:prstGeom>
          <a:solidFill>
            <a:srgbClr val="111111"/>
          </a:solidFill>
          <a:ln w="15875">
            <a:solidFill>
              <a:srgbClr val="F2F0EA"/>
            </a:solidFill>
            <a:prstDash val="solid"/>
          </a:ln>
        </p:spPr>
      </p:sp>
      <p:sp>
        <p:nvSpPr>
          <p:cNvPr id="20" name="Text 18"/>
          <p:cNvSpPr/>
          <p:nvPr/>
        </p:nvSpPr>
        <p:spPr>
          <a:xfrm>
            <a:off x="822960" y="5077968"/>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D</a:t>
            </a:r>
            <a:endParaRPr lang="en-US" sz="1300" dirty="0"/>
          </a:p>
        </p:txBody>
      </p:sp>
      <p:sp>
        <p:nvSpPr>
          <p:cNvPr id="21" name="Text 19"/>
          <p:cNvSpPr/>
          <p:nvPr/>
        </p:nvSpPr>
        <p:spPr>
          <a:xfrm>
            <a:off x="1417320" y="5087112"/>
            <a:ext cx="9174175" cy="600456"/>
          </a:xfrm>
          <a:prstGeom prst="rect">
            <a:avLst/>
          </a:prstGeom>
          <a:noFill/>
          <a:ln/>
        </p:spPr>
        <p:txBody>
          <a:bodyPr wrap="square" lIns="0" tIns="0" rIns="0" bIns="0" rtlCol="0" anchor="t">
            <a:normAutofit/>
          </a:bodyPr>
          <a:lstStyle/>
          <a:p>
            <a:pPr indent="0" marL="0">
              <a:lnSpc>
                <a:spcPct val="105000"/>
              </a:lnSpc>
              <a:buNone/>
            </a:pPr>
            <a:r>
              <a:rPr lang="en-US" sz="2400" dirty="0">
                <a:solidFill>
                  <a:srgbClr val="F2F0EA"/>
                </a:solidFill>
                <a:latin typeface="Arial" pitchFamily="34" charset="0"/>
                <a:ea typeface="Arial" pitchFamily="34" charset="-122"/>
                <a:cs typeface="Arial" pitchFamily="34" charset="-120"/>
              </a:rPr>
              <a:t>Que nunca quis ser trovador, só jogral</a:t>
            </a:r>
            <a:endParaRPr lang="en-US" sz="2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1, aula 6: A voz emprestada</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34</a:t>
            </a:r>
            <a:endParaRPr lang="en-US" sz="1000" dirty="0"/>
          </a:p>
        </p:txBody>
      </p:sp>
      <p:sp>
        <p:nvSpPr>
          <p:cNvPr id="5" name="Shape 3"/>
          <p:cNvSpPr/>
          <p:nvPr/>
        </p:nvSpPr>
        <p:spPr>
          <a:xfrm>
            <a:off x="822960" y="502920"/>
            <a:ext cx="201168" cy="201168"/>
          </a:xfrm>
          <a:prstGeom prst="rect">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RESPOSTA</a:t>
            </a:r>
            <a:endParaRPr lang="en-US" sz="1100" dirty="0"/>
          </a:p>
        </p:txBody>
      </p:sp>
      <p:sp>
        <p:nvSpPr>
          <p:cNvPr id="7" name="Text 5"/>
          <p:cNvSpPr/>
          <p:nvPr/>
        </p:nvSpPr>
        <p:spPr>
          <a:xfrm>
            <a:off x="822960" y="1005840"/>
            <a:ext cx="9814255" cy="1463040"/>
          </a:xfrm>
          <a:prstGeom prst="rect">
            <a:avLst/>
          </a:prstGeom>
          <a:noFill/>
          <a:ln/>
        </p:spPr>
        <p:txBody>
          <a:bodyPr wrap="square" lIns="0" tIns="0" rIns="0" bIns="0" rtlCol="0" anchor="t">
            <a:normAutofit/>
          </a:bodyPr>
          <a:lstStyle/>
          <a:p>
            <a:pPr indent="0" marL="0">
              <a:buNone/>
            </a:pPr>
            <a:r>
              <a:rPr lang="en-US" sz="3400" b="1" dirty="0">
                <a:solidFill>
                  <a:srgbClr val="F2F0EA"/>
                </a:solidFill>
                <a:latin typeface="Arial" pitchFamily="34" charset="0"/>
                <a:ea typeface="Arial" pitchFamily="34" charset="-122"/>
                <a:cs typeface="Arial" pitchFamily="34" charset="-120"/>
              </a:rPr>
              <a:t>Que sabe fazer bem os seus ofícios e que Guilhade não é quem pode julgá-los</a:t>
            </a:r>
            <a:endParaRPr lang="en-US" sz="3400" dirty="0"/>
          </a:p>
        </p:txBody>
      </p:sp>
      <p:sp>
        <p:nvSpPr>
          <p:cNvPr id="8" name="Shape 6"/>
          <p:cNvSpPr/>
          <p:nvPr/>
        </p:nvSpPr>
        <p:spPr>
          <a:xfrm>
            <a:off x="822960" y="2606040"/>
            <a:ext cx="640080" cy="64008"/>
          </a:xfrm>
          <a:prstGeom prst="rect">
            <a:avLst/>
          </a:prstGeom>
          <a:solidFill>
            <a:srgbClr val="E4555C"/>
          </a:solidFill>
          <a:ln w="12700">
            <a:solidFill>
              <a:srgbClr val="E4555C"/>
            </a:solidFill>
            <a:prstDash val="solid"/>
          </a:ln>
        </p:spPr>
      </p:sp>
      <p:sp>
        <p:nvSpPr>
          <p:cNvPr id="9" name="Text 7"/>
          <p:cNvSpPr/>
          <p:nvPr/>
        </p:nvSpPr>
        <p:spPr>
          <a:xfrm>
            <a:off x="822960" y="2880360"/>
            <a:ext cx="9814255" cy="3246120"/>
          </a:xfrm>
          <a:prstGeom prst="rect">
            <a:avLst/>
          </a:prstGeom>
          <a:noFill/>
          <a:ln/>
        </p:spPr>
        <p:txBody>
          <a:bodyPr wrap="square" lIns="0" tIns="0" rIns="0" bIns="0" rtlCol="0" anchor="t">
            <a:normAutofit/>
          </a:bodyPr>
          <a:lstStyle/>
          <a:p>
            <a:pPr indent="0" marL="0">
              <a:lnSpc>
                <a:spcPct val="120000"/>
              </a:lnSpc>
              <a:buNone/>
            </a:pPr>
            <a:r>
              <a:rPr lang="en-US" sz="2200" dirty="0">
                <a:solidFill>
                  <a:srgbClr val="F2F0EA"/>
                </a:solidFill>
                <a:latin typeface="Georgia" pitchFamily="34" charset="0"/>
                <a:ea typeface="Georgia" pitchFamily="34" charset="-122"/>
                <a:cs typeface="Georgia" pitchFamily="34" charset="-120"/>
              </a:rPr>
              <a:t>«sõo sabedor de meus mesteres» e «vós nom sodes i conhocedor»: o jogral defende os ofícios e nega ao trovador o direito de os julgar. Não desiste, não dá razão a Guilhade e não recusa o título: reclama-o. Na tenção a voz não é emprestada: cada um fala por si, e é por isso que discutem.</a:t>
            </a:r>
            <a:endParaRPr lang="en-US" sz="2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1, aula 6: A voz emprestada</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35</a:t>
            </a:r>
            <a:endParaRPr lang="en-US" sz="1000" dirty="0"/>
          </a:p>
        </p:txBody>
      </p:sp>
      <p:sp>
        <p:nvSpPr>
          <p:cNvPr id="5" name="Shape 3"/>
          <p:cNvSpPr/>
          <p:nvPr/>
        </p:nvSpPr>
        <p:spPr>
          <a:xfrm>
            <a:off x="822960" y="502920"/>
            <a:ext cx="201168" cy="201168"/>
          </a:xfrm>
          <a:prstGeom prst="rect">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RESPONDE NO TELEMÓVEL</a:t>
            </a:r>
            <a:endParaRPr lang="en-US" sz="1100" dirty="0"/>
          </a:p>
        </p:txBody>
      </p:sp>
      <p:sp>
        <p:nvSpPr>
          <p:cNvPr id="7" name="Text 5"/>
          <p:cNvSpPr/>
          <p:nvPr/>
        </p:nvSpPr>
        <p:spPr>
          <a:xfrm>
            <a:off x="822960" y="914400"/>
            <a:ext cx="9814255" cy="1234440"/>
          </a:xfrm>
          <a:prstGeom prst="rect">
            <a:avLst/>
          </a:prstGeom>
          <a:noFill/>
          <a:ln/>
        </p:spPr>
        <p:txBody>
          <a:bodyPr wrap="square" lIns="0" tIns="0" rIns="0" bIns="0" rtlCol="0" anchor="t">
            <a:normAutofit/>
          </a:bodyPr>
          <a:lstStyle/>
          <a:p>
            <a:pPr indent="0" marL="0">
              <a:buNone/>
            </a:pPr>
            <a:r>
              <a:rPr lang="en-US" sz="2800" dirty="0">
                <a:solidFill>
                  <a:srgbClr val="F2F0EA"/>
                </a:solidFill>
                <a:latin typeface="Georgia" pitchFamily="34" charset="0"/>
                <a:ea typeface="Georgia" pitchFamily="34" charset="-122"/>
                <a:cs typeface="Georgia" pitchFamily="34" charset="-120"/>
              </a:rPr>
              <a:t>Na tenção, Lourenço aceita que Guilhade, por ser trovador, é quem sabe julgar os seus ofícios.</a:t>
            </a:r>
            <a:endParaRPr lang="en-US" sz="2800" dirty="0"/>
          </a:p>
        </p:txBody>
      </p:sp>
      <p:sp>
        <p:nvSpPr>
          <p:cNvPr id="8" name="Shape 6"/>
          <p:cNvSpPr/>
          <p:nvPr/>
        </p:nvSpPr>
        <p:spPr>
          <a:xfrm>
            <a:off x="822960" y="2240280"/>
            <a:ext cx="640080" cy="64008"/>
          </a:xfrm>
          <a:prstGeom prst="rect">
            <a:avLst/>
          </a:prstGeom>
          <a:solidFill>
            <a:srgbClr val="E4555C"/>
          </a:solidFill>
          <a:ln w="12700">
            <a:solidFill>
              <a:srgbClr val="E4555C"/>
            </a:solidFill>
            <a:prstDash val="solid"/>
          </a:ln>
        </p:spPr>
      </p:sp>
      <p:sp>
        <p:nvSpPr>
          <p:cNvPr id="9" name="Shape 7"/>
          <p:cNvSpPr/>
          <p:nvPr/>
        </p:nvSpPr>
        <p:spPr>
          <a:xfrm>
            <a:off x="1005840" y="2697480"/>
            <a:ext cx="0" cy="600456"/>
          </a:xfrm>
          <a:prstGeom prst="line">
            <a:avLst/>
          </a:prstGeom>
          <a:noFill/>
          <a:ln w="12700">
            <a:solidFill>
              <a:srgbClr val="A9A79F"/>
            </a:solidFill>
            <a:prstDash val="solid"/>
          </a:ln>
        </p:spPr>
      </p:sp>
      <p:sp>
        <p:nvSpPr>
          <p:cNvPr id="10" name="Shape 8"/>
          <p:cNvSpPr/>
          <p:nvPr/>
        </p:nvSpPr>
        <p:spPr>
          <a:xfrm>
            <a:off x="822960" y="2514600"/>
            <a:ext cx="365760" cy="365760"/>
          </a:xfrm>
          <a:prstGeom prst="ellipse">
            <a:avLst/>
          </a:prstGeom>
          <a:solidFill>
            <a:srgbClr val="111111"/>
          </a:solidFill>
          <a:ln w="15875">
            <a:solidFill>
              <a:srgbClr val="F2F0EA"/>
            </a:solidFill>
            <a:prstDash val="solid"/>
          </a:ln>
        </p:spPr>
      </p:sp>
      <p:sp>
        <p:nvSpPr>
          <p:cNvPr id="11" name="Text 9"/>
          <p:cNvSpPr/>
          <p:nvPr/>
        </p:nvSpPr>
        <p:spPr>
          <a:xfrm>
            <a:off x="822960" y="2514600"/>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A</a:t>
            </a:r>
            <a:endParaRPr lang="en-US" sz="1300" dirty="0"/>
          </a:p>
        </p:txBody>
      </p:sp>
      <p:sp>
        <p:nvSpPr>
          <p:cNvPr id="12" name="Text 10"/>
          <p:cNvSpPr/>
          <p:nvPr/>
        </p:nvSpPr>
        <p:spPr>
          <a:xfrm>
            <a:off x="1417320" y="2523744"/>
            <a:ext cx="9174175" cy="600456"/>
          </a:xfrm>
          <a:prstGeom prst="rect">
            <a:avLst/>
          </a:prstGeom>
          <a:noFill/>
          <a:ln/>
        </p:spPr>
        <p:txBody>
          <a:bodyPr wrap="square" lIns="0" tIns="0" rIns="0" bIns="0" rtlCol="0" anchor="t">
            <a:normAutofit/>
          </a:bodyPr>
          <a:lstStyle/>
          <a:p>
            <a:pPr indent="0" marL="0">
              <a:lnSpc>
                <a:spcPct val="105000"/>
              </a:lnSpc>
              <a:buNone/>
            </a:pPr>
            <a:r>
              <a:rPr lang="en-US" sz="2400" dirty="0">
                <a:solidFill>
                  <a:srgbClr val="F2F0EA"/>
                </a:solidFill>
                <a:latin typeface="Arial" pitchFamily="34" charset="0"/>
                <a:ea typeface="Arial" pitchFamily="34" charset="-122"/>
                <a:cs typeface="Arial" pitchFamily="34" charset="-120"/>
              </a:rPr>
              <a:t>Verdadeiro</a:t>
            </a:r>
            <a:endParaRPr lang="en-US" sz="2400" dirty="0"/>
          </a:p>
        </p:txBody>
      </p:sp>
      <p:sp>
        <p:nvSpPr>
          <p:cNvPr id="13" name="Shape 11"/>
          <p:cNvSpPr/>
          <p:nvPr/>
        </p:nvSpPr>
        <p:spPr>
          <a:xfrm>
            <a:off x="822960" y="3115056"/>
            <a:ext cx="365760" cy="365760"/>
          </a:xfrm>
          <a:prstGeom prst="ellipse">
            <a:avLst/>
          </a:prstGeom>
          <a:solidFill>
            <a:srgbClr val="111111"/>
          </a:solidFill>
          <a:ln w="15875">
            <a:solidFill>
              <a:srgbClr val="F2F0EA"/>
            </a:solidFill>
            <a:prstDash val="solid"/>
          </a:ln>
        </p:spPr>
      </p:sp>
      <p:sp>
        <p:nvSpPr>
          <p:cNvPr id="14" name="Text 12"/>
          <p:cNvSpPr/>
          <p:nvPr/>
        </p:nvSpPr>
        <p:spPr>
          <a:xfrm>
            <a:off x="822960" y="3115056"/>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B</a:t>
            </a:r>
            <a:endParaRPr lang="en-US" sz="1300" dirty="0"/>
          </a:p>
        </p:txBody>
      </p:sp>
      <p:sp>
        <p:nvSpPr>
          <p:cNvPr id="15" name="Text 13"/>
          <p:cNvSpPr/>
          <p:nvPr/>
        </p:nvSpPr>
        <p:spPr>
          <a:xfrm>
            <a:off x="1417320" y="3124200"/>
            <a:ext cx="9174175" cy="600456"/>
          </a:xfrm>
          <a:prstGeom prst="rect">
            <a:avLst/>
          </a:prstGeom>
          <a:noFill/>
          <a:ln/>
        </p:spPr>
        <p:txBody>
          <a:bodyPr wrap="square" lIns="0" tIns="0" rIns="0" bIns="0" rtlCol="0" anchor="t">
            <a:normAutofit/>
          </a:bodyPr>
          <a:lstStyle/>
          <a:p>
            <a:pPr indent="0" marL="0">
              <a:lnSpc>
                <a:spcPct val="105000"/>
              </a:lnSpc>
              <a:buNone/>
            </a:pPr>
            <a:r>
              <a:rPr lang="en-US" sz="2400" dirty="0">
                <a:solidFill>
                  <a:srgbClr val="F2F0EA"/>
                </a:solidFill>
                <a:latin typeface="Arial" pitchFamily="34" charset="0"/>
                <a:ea typeface="Arial" pitchFamily="34" charset="-122"/>
                <a:cs typeface="Arial" pitchFamily="34" charset="-120"/>
              </a:rPr>
              <a:t>Falso</a:t>
            </a:r>
            <a:endParaRPr lang="en-US" sz="2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1, aula 6: A voz emprestada</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36</a:t>
            </a:r>
            <a:endParaRPr lang="en-US" sz="1000" dirty="0"/>
          </a:p>
        </p:txBody>
      </p:sp>
      <p:sp>
        <p:nvSpPr>
          <p:cNvPr id="5" name="Shape 3"/>
          <p:cNvSpPr/>
          <p:nvPr/>
        </p:nvSpPr>
        <p:spPr>
          <a:xfrm>
            <a:off x="822960" y="502920"/>
            <a:ext cx="201168" cy="201168"/>
          </a:xfrm>
          <a:prstGeom prst="rect">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RESPOSTA</a:t>
            </a:r>
            <a:endParaRPr lang="en-US" sz="1100" dirty="0"/>
          </a:p>
        </p:txBody>
      </p:sp>
      <p:sp>
        <p:nvSpPr>
          <p:cNvPr id="7" name="Text 5"/>
          <p:cNvSpPr/>
          <p:nvPr/>
        </p:nvSpPr>
        <p:spPr>
          <a:xfrm>
            <a:off x="822960" y="1005840"/>
            <a:ext cx="9814255" cy="1463040"/>
          </a:xfrm>
          <a:prstGeom prst="rect">
            <a:avLst/>
          </a:prstGeom>
          <a:noFill/>
          <a:ln/>
        </p:spPr>
        <p:txBody>
          <a:bodyPr wrap="square" lIns="0" tIns="0" rIns="0" bIns="0" rtlCol="0" anchor="t">
            <a:normAutofit/>
          </a:bodyPr>
          <a:lstStyle/>
          <a:p>
            <a:pPr indent="0" marL="0">
              <a:buNone/>
            </a:pPr>
            <a:r>
              <a:rPr lang="en-US" sz="3400" b="1" dirty="0">
                <a:solidFill>
                  <a:srgbClr val="F2F0EA"/>
                </a:solidFill>
                <a:latin typeface="Arial" pitchFamily="34" charset="0"/>
                <a:ea typeface="Arial" pitchFamily="34" charset="-122"/>
                <a:cs typeface="Arial" pitchFamily="34" charset="-120"/>
              </a:rPr>
              <a:t>Falso.</a:t>
            </a:r>
            <a:endParaRPr lang="en-US" sz="3400" dirty="0"/>
          </a:p>
        </p:txBody>
      </p:sp>
      <p:sp>
        <p:nvSpPr>
          <p:cNvPr id="8" name="Shape 6"/>
          <p:cNvSpPr/>
          <p:nvPr/>
        </p:nvSpPr>
        <p:spPr>
          <a:xfrm>
            <a:off x="822960" y="2606040"/>
            <a:ext cx="640080" cy="64008"/>
          </a:xfrm>
          <a:prstGeom prst="rect">
            <a:avLst/>
          </a:prstGeom>
          <a:solidFill>
            <a:srgbClr val="E4555C"/>
          </a:solidFill>
          <a:ln w="12700">
            <a:solidFill>
              <a:srgbClr val="E4555C"/>
            </a:solidFill>
            <a:prstDash val="solid"/>
          </a:ln>
        </p:spPr>
      </p:sp>
      <p:sp>
        <p:nvSpPr>
          <p:cNvPr id="9" name="Text 7"/>
          <p:cNvSpPr/>
          <p:nvPr/>
        </p:nvSpPr>
        <p:spPr>
          <a:xfrm>
            <a:off x="822960" y="2880360"/>
            <a:ext cx="9814255" cy="3246120"/>
          </a:xfrm>
          <a:prstGeom prst="rect">
            <a:avLst/>
          </a:prstGeom>
          <a:noFill/>
          <a:ln/>
        </p:spPr>
        <p:txBody>
          <a:bodyPr wrap="square" lIns="0" tIns="0" rIns="0" bIns="0" rtlCol="0" anchor="t">
            <a:normAutofit/>
          </a:bodyPr>
          <a:lstStyle/>
          <a:p>
            <a:pPr indent="0" marL="0">
              <a:lnSpc>
                <a:spcPct val="120000"/>
              </a:lnSpc>
              <a:buNone/>
            </a:pPr>
            <a:r>
              <a:rPr lang="en-US" sz="2200" dirty="0">
                <a:solidFill>
                  <a:srgbClr val="F2F0EA"/>
                </a:solidFill>
                <a:latin typeface="Georgia" pitchFamily="34" charset="0"/>
                <a:ea typeface="Georgia" pitchFamily="34" charset="-122"/>
                <a:cs typeface="Georgia" pitchFamily="34" charset="-120"/>
              </a:rPr>
              <a:t>Falso. Lourenço diz o contrário: «mais vós nom sodes i conhocedor». E a tenção não acaba com o jogral a pedir perdão: Guilhade ameaça partir-lhe a cítola na cabeça e Lourenço mantém que diz «mui gram verdade». Quem tem a voz não é só quem tem o título.</a:t>
            </a:r>
            <a:endParaRPr lang="en-US" sz="2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1, aula 6: A voz emprestada</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37</a:t>
            </a:r>
            <a:endParaRPr lang="en-US" sz="1000" dirty="0"/>
          </a:p>
        </p:txBody>
      </p:sp>
      <p:sp>
        <p:nvSpPr>
          <p:cNvPr id="5" name="Shape 3"/>
          <p:cNvSpPr/>
          <p:nvPr/>
        </p:nvSpPr>
        <p:spPr>
          <a:xfrm>
            <a:off x="822960" y="502920"/>
            <a:ext cx="201168" cy="201168"/>
          </a:xfrm>
          <a:prstGeom prst="rect">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ESCOLHE UMA POSIÇÃO</a:t>
            </a:r>
            <a:endParaRPr lang="en-US" sz="1100" dirty="0"/>
          </a:p>
        </p:txBody>
      </p:sp>
      <p:sp>
        <p:nvSpPr>
          <p:cNvPr id="7" name="Text 5"/>
          <p:cNvSpPr/>
          <p:nvPr/>
        </p:nvSpPr>
        <p:spPr>
          <a:xfrm>
            <a:off x="822960" y="914400"/>
            <a:ext cx="9814255" cy="1234440"/>
          </a:xfrm>
          <a:prstGeom prst="rect">
            <a:avLst/>
          </a:prstGeom>
          <a:noFill/>
          <a:ln/>
        </p:spPr>
        <p:txBody>
          <a:bodyPr wrap="square" lIns="0" tIns="0" rIns="0" bIns="0" rtlCol="0" anchor="t">
            <a:normAutofit/>
          </a:bodyPr>
          <a:lstStyle/>
          <a:p>
            <a:pPr indent="0" marL="0">
              <a:buNone/>
            </a:pPr>
            <a:r>
              <a:rPr lang="en-US" sz="2800" dirty="0">
                <a:solidFill>
                  <a:srgbClr val="F2F0EA"/>
                </a:solidFill>
                <a:latin typeface="Georgia" pitchFamily="34" charset="0"/>
                <a:ea typeface="Georgia" pitchFamily="34" charset="-122"/>
                <a:cs typeface="Georgia" pitchFamily="34" charset="-120"/>
              </a:rPr>
              <a:t>Depois da objeção: o que te diz, afinal, a cantiga de amigo sobre uma rapariga do século XIII?</a:t>
            </a:r>
            <a:endParaRPr lang="en-US" sz="2800" dirty="0"/>
          </a:p>
        </p:txBody>
      </p:sp>
      <p:sp>
        <p:nvSpPr>
          <p:cNvPr id="8" name="Shape 6"/>
          <p:cNvSpPr/>
          <p:nvPr/>
        </p:nvSpPr>
        <p:spPr>
          <a:xfrm>
            <a:off x="822960" y="2240280"/>
            <a:ext cx="640080" cy="64008"/>
          </a:xfrm>
          <a:prstGeom prst="rect">
            <a:avLst/>
          </a:prstGeom>
          <a:solidFill>
            <a:srgbClr val="E4555C"/>
          </a:solidFill>
          <a:ln w="12700">
            <a:solidFill>
              <a:srgbClr val="E4555C"/>
            </a:solidFill>
            <a:prstDash val="solid"/>
          </a:ln>
        </p:spPr>
      </p:sp>
      <p:sp>
        <p:nvSpPr>
          <p:cNvPr id="9" name="Shape 7"/>
          <p:cNvSpPr/>
          <p:nvPr/>
        </p:nvSpPr>
        <p:spPr>
          <a:xfrm>
            <a:off x="1005840" y="2697480"/>
            <a:ext cx="0" cy="1200912"/>
          </a:xfrm>
          <a:prstGeom prst="line">
            <a:avLst/>
          </a:prstGeom>
          <a:noFill/>
          <a:ln w="12700">
            <a:solidFill>
              <a:srgbClr val="A9A79F"/>
            </a:solidFill>
            <a:prstDash val="solid"/>
          </a:ln>
        </p:spPr>
      </p:sp>
      <p:sp>
        <p:nvSpPr>
          <p:cNvPr id="10" name="Shape 8"/>
          <p:cNvSpPr/>
          <p:nvPr/>
        </p:nvSpPr>
        <p:spPr>
          <a:xfrm>
            <a:off x="822960" y="2514600"/>
            <a:ext cx="365760" cy="365760"/>
          </a:xfrm>
          <a:prstGeom prst="ellipse">
            <a:avLst/>
          </a:prstGeom>
          <a:solidFill>
            <a:srgbClr val="111111"/>
          </a:solidFill>
          <a:ln w="15875">
            <a:solidFill>
              <a:srgbClr val="F2F0EA"/>
            </a:solidFill>
            <a:prstDash val="solid"/>
          </a:ln>
        </p:spPr>
      </p:sp>
      <p:sp>
        <p:nvSpPr>
          <p:cNvPr id="11" name="Text 9"/>
          <p:cNvSpPr/>
          <p:nvPr/>
        </p:nvSpPr>
        <p:spPr>
          <a:xfrm>
            <a:off x="822960" y="2514600"/>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A</a:t>
            </a:r>
            <a:endParaRPr lang="en-US" sz="1300" dirty="0"/>
          </a:p>
        </p:txBody>
      </p:sp>
      <p:sp>
        <p:nvSpPr>
          <p:cNvPr id="12" name="Text 10"/>
          <p:cNvSpPr/>
          <p:nvPr/>
        </p:nvSpPr>
        <p:spPr>
          <a:xfrm>
            <a:off x="1417320" y="2523744"/>
            <a:ext cx="9174175" cy="600456"/>
          </a:xfrm>
          <a:prstGeom prst="rect">
            <a:avLst/>
          </a:prstGeom>
          <a:noFill/>
          <a:ln/>
        </p:spPr>
        <p:txBody>
          <a:bodyPr wrap="square" lIns="0" tIns="0" rIns="0" bIns="0" rtlCol="0" anchor="t">
            <a:normAutofit/>
          </a:bodyPr>
          <a:lstStyle/>
          <a:p>
            <a:pPr indent="0" marL="0">
              <a:lnSpc>
                <a:spcPct val="105000"/>
              </a:lnSpc>
              <a:buNone/>
            </a:pPr>
            <a:r>
              <a:rPr lang="en-US" sz="2400" dirty="0">
                <a:solidFill>
                  <a:srgbClr val="F2F0EA"/>
                </a:solidFill>
                <a:latin typeface="Arial" pitchFamily="34" charset="0"/>
                <a:ea typeface="Arial" pitchFamily="34" charset="-122"/>
                <a:cs typeface="Arial" pitchFamily="34" charset="-120"/>
              </a:rPr>
              <a:t>Nada de certo</a:t>
            </a:r>
            <a:endParaRPr lang="en-US" sz="2400" dirty="0"/>
          </a:p>
        </p:txBody>
      </p:sp>
      <p:sp>
        <p:nvSpPr>
          <p:cNvPr id="13" name="Shape 11"/>
          <p:cNvSpPr/>
          <p:nvPr/>
        </p:nvSpPr>
        <p:spPr>
          <a:xfrm>
            <a:off x="822960" y="3115056"/>
            <a:ext cx="365760" cy="365760"/>
          </a:xfrm>
          <a:prstGeom prst="ellipse">
            <a:avLst/>
          </a:prstGeom>
          <a:solidFill>
            <a:srgbClr val="111111"/>
          </a:solidFill>
          <a:ln w="15875">
            <a:solidFill>
              <a:srgbClr val="F2F0EA"/>
            </a:solidFill>
            <a:prstDash val="solid"/>
          </a:ln>
        </p:spPr>
      </p:sp>
      <p:sp>
        <p:nvSpPr>
          <p:cNvPr id="14" name="Text 12"/>
          <p:cNvSpPr/>
          <p:nvPr/>
        </p:nvSpPr>
        <p:spPr>
          <a:xfrm>
            <a:off x="822960" y="3115056"/>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B</a:t>
            </a:r>
            <a:endParaRPr lang="en-US" sz="1300" dirty="0"/>
          </a:p>
        </p:txBody>
      </p:sp>
      <p:sp>
        <p:nvSpPr>
          <p:cNvPr id="15" name="Text 13"/>
          <p:cNvSpPr/>
          <p:nvPr/>
        </p:nvSpPr>
        <p:spPr>
          <a:xfrm>
            <a:off x="1417320" y="3124200"/>
            <a:ext cx="9174175" cy="600456"/>
          </a:xfrm>
          <a:prstGeom prst="rect">
            <a:avLst/>
          </a:prstGeom>
          <a:noFill/>
          <a:ln/>
        </p:spPr>
        <p:txBody>
          <a:bodyPr wrap="square" lIns="0" tIns="0" rIns="0" bIns="0" rtlCol="0" anchor="t">
            <a:normAutofit/>
          </a:bodyPr>
          <a:lstStyle/>
          <a:p>
            <a:pPr indent="0" marL="0">
              <a:lnSpc>
                <a:spcPct val="105000"/>
              </a:lnSpc>
              <a:buNone/>
            </a:pPr>
            <a:r>
              <a:rPr lang="en-US" sz="2400" dirty="0">
                <a:solidFill>
                  <a:srgbClr val="F2F0EA"/>
                </a:solidFill>
                <a:latin typeface="Arial" pitchFamily="34" charset="0"/>
                <a:ea typeface="Arial" pitchFamily="34" charset="-122"/>
                <a:cs typeface="Arial" pitchFamily="34" charset="-120"/>
              </a:rPr>
              <a:t>Alguma coisa</a:t>
            </a:r>
            <a:endParaRPr lang="en-US" sz="2400" dirty="0"/>
          </a:p>
        </p:txBody>
      </p:sp>
      <p:sp>
        <p:nvSpPr>
          <p:cNvPr id="16" name="Shape 14"/>
          <p:cNvSpPr/>
          <p:nvPr/>
        </p:nvSpPr>
        <p:spPr>
          <a:xfrm>
            <a:off x="822960" y="3715512"/>
            <a:ext cx="365760" cy="365760"/>
          </a:xfrm>
          <a:prstGeom prst="ellipse">
            <a:avLst/>
          </a:prstGeom>
          <a:solidFill>
            <a:srgbClr val="111111"/>
          </a:solidFill>
          <a:ln w="15875">
            <a:solidFill>
              <a:srgbClr val="F2F0EA"/>
            </a:solidFill>
            <a:prstDash val="solid"/>
          </a:ln>
        </p:spPr>
      </p:sp>
      <p:sp>
        <p:nvSpPr>
          <p:cNvPr id="17" name="Text 15"/>
          <p:cNvSpPr/>
          <p:nvPr/>
        </p:nvSpPr>
        <p:spPr>
          <a:xfrm>
            <a:off x="822960" y="3715512"/>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C</a:t>
            </a:r>
            <a:endParaRPr lang="en-US" sz="1300" dirty="0"/>
          </a:p>
        </p:txBody>
      </p:sp>
      <p:sp>
        <p:nvSpPr>
          <p:cNvPr id="18" name="Text 16"/>
          <p:cNvSpPr/>
          <p:nvPr/>
        </p:nvSpPr>
        <p:spPr>
          <a:xfrm>
            <a:off x="1417320" y="3724656"/>
            <a:ext cx="9174175" cy="600456"/>
          </a:xfrm>
          <a:prstGeom prst="rect">
            <a:avLst/>
          </a:prstGeom>
          <a:noFill/>
          <a:ln/>
        </p:spPr>
        <p:txBody>
          <a:bodyPr wrap="square" lIns="0" tIns="0" rIns="0" bIns="0" rtlCol="0" anchor="t">
            <a:normAutofit/>
          </a:bodyPr>
          <a:lstStyle/>
          <a:p>
            <a:pPr indent="0" marL="0">
              <a:lnSpc>
                <a:spcPct val="105000"/>
              </a:lnSpc>
              <a:buNone/>
            </a:pPr>
            <a:r>
              <a:rPr lang="en-US" sz="2400" dirty="0">
                <a:solidFill>
                  <a:srgbClr val="F2F0EA"/>
                </a:solidFill>
                <a:latin typeface="Arial" pitchFamily="34" charset="0"/>
                <a:ea typeface="Arial" pitchFamily="34" charset="-122"/>
                <a:cs typeface="Arial" pitchFamily="34" charset="-120"/>
              </a:rPr>
              <a:t>O que a corte queria ouvir</a:t>
            </a:r>
            <a:endParaRPr lang="en-US" sz="24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1, aula 6: A voz emprestada</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38</a:t>
            </a:r>
            <a:endParaRPr lang="en-US" sz="1000" dirty="0"/>
          </a:p>
        </p:txBody>
      </p:sp>
      <p:sp>
        <p:nvSpPr>
          <p:cNvPr id="5" name="Shape 3"/>
          <p:cNvSpPr/>
          <p:nvPr/>
        </p:nvSpPr>
        <p:spPr>
          <a:xfrm>
            <a:off x="822960" y="502920"/>
            <a:ext cx="201168" cy="201168"/>
          </a:xfrm>
          <a:prstGeom prst="ellipse">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ATO 5</a:t>
            </a:r>
            <a:endParaRPr lang="en-US" sz="1100" dirty="0"/>
          </a:p>
        </p:txBody>
      </p:sp>
      <p:sp>
        <p:nvSpPr>
          <p:cNvPr id="7" name="Text 5"/>
          <p:cNvSpPr/>
          <p:nvPr/>
        </p:nvSpPr>
        <p:spPr>
          <a:xfrm>
            <a:off x="822960" y="868680"/>
            <a:ext cx="9814255" cy="822960"/>
          </a:xfrm>
          <a:prstGeom prst="rect">
            <a:avLst/>
          </a:prstGeom>
          <a:noFill/>
          <a:ln/>
        </p:spPr>
        <p:txBody>
          <a:bodyPr wrap="square" lIns="0" tIns="0" rIns="0" bIns="0" rtlCol="0" anchor="b">
            <a:normAutofit/>
          </a:bodyPr>
          <a:lstStyle/>
          <a:p>
            <a:pPr indent="0" marL="0">
              <a:buNone/>
            </a:pPr>
            <a:r>
              <a:rPr lang="en-US" sz="3400" dirty="0">
                <a:solidFill>
                  <a:srgbClr val="F2F0EA"/>
                </a:solidFill>
                <a:latin typeface="Arial" pitchFamily="34" charset="0"/>
                <a:ea typeface="Arial" pitchFamily="34" charset="-122"/>
                <a:cs typeface="Arial" pitchFamily="34" charset="-120"/>
              </a:rPr>
              <a:t>O caso ao contrário</a:t>
            </a:r>
            <a:endParaRPr lang="en-US" sz="3400" dirty="0"/>
          </a:p>
        </p:txBody>
      </p:sp>
      <p:sp>
        <p:nvSpPr>
          <p:cNvPr id="8" name="Shape 6"/>
          <p:cNvSpPr/>
          <p:nvPr/>
        </p:nvSpPr>
        <p:spPr>
          <a:xfrm>
            <a:off x="822960" y="1746504"/>
            <a:ext cx="640080" cy="64008"/>
          </a:xfrm>
          <a:prstGeom prst="rect">
            <a:avLst/>
          </a:prstGeom>
          <a:solidFill>
            <a:srgbClr val="E4555C"/>
          </a:solidFill>
          <a:ln w="12700">
            <a:solidFill>
              <a:srgbClr val="E4555C"/>
            </a:solidFill>
            <a:prstDash val="solid"/>
          </a:ln>
        </p:spPr>
      </p:sp>
      <p:sp>
        <p:nvSpPr>
          <p:cNvPr id="9" name="Text 7"/>
          <p:cNvSpPr/>
          <p:nvPr/>
        </p:nvSpPr>
        <p:spPr>
          <a:xfrm>
            <a:off x="822960" y="2103120"/>
            <a:ext cx="9814255" cy="3931920"/>
          </a:xfrm>
          <a:prstGeom prst="rect">
            <a:avLst/>
          </a:prstGeom>
          <a:noFill/>
          <a:ln/>
        </p:spPr>
        <p:txBody>
          <a:bodyPr wrap="square" lIns="0" tIns="0" rIns="0" bIns="0" rtlCol="0" anchor="t">
            <a:normAutofit/>
          </a:bodyPr>
          <a:lstStyle/>
          <a:p>
            <a:pPr indent="0" marL="0">
              <a:lnSpc>
                <a:spcPct val="120000"/>
              </a:lnSpc>
              <a:spcAft>
                <a:spcPts val="800"/>
              </a:spcAft>
              <a:buNone/>
            </a:pPr>
            <a:r>
              <a:rPr lang="en-US" sz="2000" dirty="0">
                <a:solidFill>
                  <a:srgbClr val="F2F0EA"/>
                </a:solidFill>
                <a:latin typeface="Georgia" pitchFamily="34" charset="0"/>
                <a:ea typeface="Georgia" pitchFamily="34" charset="-122"/>
                <a:cs typeface="Georgia" pitchFamily="34" charset="-120"/>
              </a:rPr>
              <a:t>Vira o caso. Na cantiga de amigo, o «eu» é claramente emprestado. Mas na cantiga de amor o trovador diz «eu» em nome próprio. Esse «eu» é mais verdadeiro? D. Dinis discute isso com os provençais: eles trovam bem, mas só «no tempo da flor», e por isso, diz ele, não sofrem a coita que ele sofre pela senhora. Lê a primeira estrofe.Proençaes soem mui bem trobare dizem eles que é com amor;mais os que trobam no tempo da flore nom em outro, sei eu bem que nomham tam gram coita no seu coraçomqual m'eu por mia senhor vejo levar.D. Dinis, </a:t>
            </a:r>
            <a:pPr indent="0" marL="0">
              <a:lnSpc>
                <a:spcPct val="120000"/>
              </a:lnSpc>
              <a:spcAft>
                <a:spcPts val="800"/>
              </a:spcAft>
              <a:buNone/>
            </a:pPr>
            <a:r>
              <a:rPr lang="en-US" sz="2000" i="1" dirty="0">
                <a:solidFill>
                  <a:srgbClr val="F2F0EA"/>
                </a:solidFill>
                <a:latin typeface="Georgia" pitchFamily="34" charset="0"/>
                <a:ea typeface="Georgia" pitchFamily="34" charset="-122"/>
                <a:cs typeface="Georgia" pitchFamily="34" charset="-120"/>
              </a:rPr>
              <a:t>Cantigas Medievais Galego-Portuguesas</a:t>
            </a:r>
            <a:pPr indent="0" marL="0">
              <a:lnSpc>
                <a:spcPct val="120000"/>
              </a:lnSpc>
              <a:spcAft>
                <a:spcPts val="800"/>
              </a:spcAft>
              <a:buNone/>
            </a:pPr>
            <a:r>
              <a:rPr lang="en-US" sz="2000" dirty="0">
                <a:solidFill>
                  <a:srgbClr val="F2F0EA"/>
                </a:solidFill>
                <a:latin typeface="Georgia" pitchFamily="34" charset="0"/>
                <a:ea typeface="Georgia" pitchFamily="34" charset="-122"/>
                <a:cs typeface="Georgia" pitchFamily="34" charset="-120"/>
              </a:rPr>
              <a:t>, cantiga 548, «Proençaes soem mui bem trobar», integral. base de dados da FCSH/NOVA (ed. Graça Videira Lopes, Manuel Pedro…</a:t>
            </a:r>
            <a:endParaRPr lang="en-US" sz="2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1, aula 6: A voz emprestada</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39</a:t>
            </a:r>
            <a:endParaRPr lang="en-US" sz="1000" dirty="0"/>
          </a:p>
        </p:txBody>
      </p:sp>
      <p:sp>
        <p:nvSpPr>
          <p:cNvPr id="5" name="Shape 3"/>
          <p:cNvSpPr/>
          <p:nvPr/>
        </p:nvSpPr>
        <p:spPr>
          <a:xfrm>
            <a:off x="822960" y="502920"/>
            <a:ext cx="201168" cy="201168"/>
          </a:xfrm>
          <a:prstGeom prst="rect">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PENSA PRIMEIRO: DECIDE EM SILÊNCIO</a:t>
            </a:r>
            <a:endParaRPr lang="en-US" sz="1100" dirty="0"/>
          </a:p>
        </p:txBody>
      </p:sp>
      <p:sp>
        <p:nvSpPr>
          <p:cNvPr id="7" name="Text 5"/>
          <p:cNvSpPr/>
          <p:nvPr/>
        </p:nvSpPr>
        <p:spPr>
          <a:xfrm>
            <a:off x="822960" y="1097280"/>
            <a:ext cx="9814255" cy="3291840"/>
          </a:xfrm>
          <a:prstGeom prst="rect">
            <a:avLst/>
          </a:prstGeom>
          <a:noFill/>
          <a:ln/>
        </p:spPr>
        <p:txBody>
          <a:bodyPr wrap="square" lIns="0" tIns="0" rIns="0" bIns="0" rtlCol="0" anchor="b">
            <a:normAutofit/>
          </a:bodyPr>
          <a:lstStyle/>
          <a:p>
            <a:pPr indent="0" marL="0">
              <a:lnSpc>
                <a:spcPct val="115000"/>
              </a:lnSpc>
              <a:buNone/>
            </a:pPr>
            <a:r>
              <a:rPr lang="en-US" sz="3600" i="1" dirty="0">
                <a:solidFill>
                  <a:srgbClr val="F2F0EA"/>
                </a:solidFill>
                <a:latin typeface="Georgia" pitchFamily="34" charset="0"/>
                <a:ea typeface="Georgia" pitchFamily="34" charset="-122"/>
                <a:cs typeface="Georgia" pitchFamily="34" charset="-120"/>
              </a:rPr>
              <a:t>Quando D. Dinis diz que a sua coita é maior do que a dos provençais, acreditas mais neste «eu» do que no da rapariga?</a:t>
            </a:r>
            <a:endParaRPr lang="en-US" sz="3600" dirty="0"/>
          </a:p>
        </p:txBody>
      </p:sp>
      <p:sp>
        <p:nvSpPr>
          <p:cNvPr id="8" name="Shape 6"/>
          <p:cNvSpPr/>
          <p:nvPr/>
        </p:nvSpPr>
        <p:spPr>
          <a:xfrm>
            <a:off x="822960" y="4526280"/>
            <a:ext cx="640080" cy="64008"/>
          </a:xfrm>
          <a:prstGeom prst="rect">
            <a:avLst/>
          </a:prstGeom>
          <a:solidFill>
            <a:srgbClr val="E4555C"/>
          </a:solidFill>
          <a:ln w="12700">
            <a:solidFill>
              <a:srgbClr val="E4555C"/>
            </a:solidFill>
            <a:prstDash val="solid"/>
          </a:ln>
        </p:spPr>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1, aula 6: A voz emprestada</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40</a:t>
            </a:r>
            <a:endParaRPr lang="en-US" sz="1000" dirty="0"/>
          </a:p>
        </p:txBody>
      </p:sp>
      <p:sp>
        <p:nvSpPr>
          <p:cNvPr id="5" name="Shape 3"/>
          <p:cNvSpPr/>
          <p:nvPr/>
        </p:nvSpPr>
        <p:spPr>
          <a:xfrm>
            <a:off x="822960" y="502920"/>
            <a:ext cx="201168" cy="201168"/>
          </a:xfrm>
          <a:prstGeom prst="rect">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RESPONDE NO TELEMÓVEL</a:t>
            </a:r>
            <a:endParaRPr lang="en-US" sz="1100" dirty="0"/>
          </a:p>
        </p:txBody>
      </p:sp>
      <p:sp>
        <p:nvSpPr>
          <p:cNvPr id="7" name="Text 5"/>
          <p:cNvSpPr/>
          <p:nvPr/>
        </p:nvSpPr>
        <p:spPr>
          <a:xfrm>
            <a:off x="822960" y="914400"/>
            <a:ext cx="9814255" cy="1234440"/>
          </a:xfrm>
          <a:prstGeom prst="rect">
            <a:avLst/>
          </a:prstGeom>
          <a:noFill/>
          <a:ln/>
        </p:spPr>
        <p:txBody>
          <a:bodyPr wrap="square" lIns="0" tIns="0" rIns="0" bIns="0" rtlCol="0" anchor="t">
            <a:normAutofit/>
          </a:bodyPr>
          <a:lstStyle/>
          <a:p>
            <a:pPr indent="0" marL="0">
              <a:buNone/>
            </a:pPr>
            <a:r>
              <a:rPr lang="en-US" sz="3200" dirty="0">
                <a:solidFill>
                  <a:srgbClr val="F2F0EA"/>
                </a:solidFill>
                <a:latin typeface="Georgia" pitchFamily="34" charset="0"/>
                <a:ea typeface="Georgia" pitchFamily="34" charset="-122"/>
                <a:cs typeface="Georgia" pitchFamily="34" charset="-120"/>
              </a:rPr>
              <a:t>O que diz D. Dinis dos provençais, e para quê?</a:t>
            </a:r>
            <a:endParaRPr lang="en-US" sz="3200" dirty="0"/>
          </a:p>
        </p:txBody>
      </p:sp>
      <p:sp>
        <p:nvSpPr>
          <p:cNvPr id="8" name="Shape 6"/>
          <p:cNvSpPr/>
          <p:nvPr/>
        </p:nvSpPr>
        <p:spPr>
          <a:xfrm>
            <a:off x="822960" y="2240280"/>
            <a:ext cx="640080" cy="64008"/>
          </a:xfrm>
          <a:prstGeom prst="rect">
            <a:avLst/>
          </a:prstGeom>
          <a:solidFill>
            <a:srgbClr val="E4555C"/>
          </a:solidFill>
          <a:ln w="12700">
            <a:solidFill>
              <a:srgbClr val="E4555C"/>
            </a:solidFill>
            <a:prstDash val="solid"/>
          </a:ln>
        </p:spPr>
      </p:sp>
      <p:sp>
        <p:nvSpPr>
          <p:cNvPr id="9" name="Shape 7"/>
          <p:cNvSpPr/>
          <p:nvPr/>
        </p:nvSpPr>
        <p:spPr>
          <a:xfrm>
            <a:off x="1005840" y="2697480"/>
            <a:ext cx="0" cy="2944368"/>
          </a:xfrm>
          <a:prstGeom prst="line">
            <a:avLst/>
          </a:prstGeom>
          <a:noFill/>
          <a:ln w="12700">
            <a:solidFill>
              <a:srgbClr val="A9A79F"/>
            </a:solidFill>
            <a:prstDash val="solid"/>
          </a:ln>
        </p:spPr>
      </p:sp>
      <p:sp>
        <p:nvSpPr>
          <p:cNvPr id="10" name="Shape 8"/>
          <p:cNvSpPr/>
          <p:nvPr/>
        </p:nvSpPr>
        <p:spPr>
          <a:xfrm>
            <a:off x="822960" y="2514600"/>
            <a:ext cx="365760" cy="365760"/>
          </a:xfrm>
          <a:prstGeom prst="ellipse">
            <a:avLst/>
          </a:prstGeom>
          <a:solidFill>
            <a:srgbClr val="111111"/>
          </a:solidFill>
          <a:ln w="15875">
            <a:solidFill>
              <a:srgbClr val="F2F0EA"/>
            </a:solidFill>
            <a:prstDash val="solid"/>
          </a:ln>
        </p:spPr>
      </p:sp>
      <p:sp>
        <p:nvSpPr>
          <p:cNvPr id="11" name="Text 9"/>
          <p:cNvSpPr/>
          <p:nvPr/>
        </p:nvSpPr>
        <p:spPr>
          <a:xfrm>
            <a:off x="822960" y="2514600"/>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A</a:t>
            </a:r>
            <a:endParaRPr lang="en-US" sz="1300" dirty="0"/>
          </a:p>
        </p:txBody>
      </p:sp>
      <p:sp>
        <p:nvSpPr>
          <p:cNvPr id="12" name="Text 10"/>
          <p:cNvSpPr/>
          <p:nvPr/>
        </p:nvSpPr>
        <p:spPr>
          <a:xfrm>
            <a:off x="1417320" y="2523744"/>
            <a:ext cx="9174175" cy="1362456"/>
          </a:xfrm>
          <a:prstGeom prst="rect">
            <a:avLst/>
          </a:prstGeom>
          <a:noFill/>
          <a:ln/>
        </p:spPr>
        <p:txBody>
          <a:bodyPr wrap="square" lIns="0" tIns="0" rIns="0" bIns="0" rtlCol="0" anchor="t">
            <a:normAutofit/>
          </a:bodyPr>
          <a:lstStyle/>
          <a:p>
            <a:pPr indent="0" marL="0">
              <a:lnSpc>
                <a:spcPct val="105000"/>
              </a:lnSpc>
              <a:buNone/>
            </a:pPr>
            <a:r>
              <a:rPr lang="en-US" sz="2400" dirty="0">
                <a:solidFill>
                  <a:srgbClr val="F2F0EA"/>
                </a:solidFill>
                <a:latin typeface="Arial" pitchFamily="34" charset="0"/>
                <a:ea typeface="Arial" pitchFamily="34" charset="-122"/>
                <a:cs typeface="Arial" pitchFamily="34" charset="-120"/>
              </a:rPr>
              <a:t>Que só cantam o amor no tempo da flor, para afirmar que a coita dele, que não depende da estação, é verdadeira</a:t>
            </a:r>
            <a:endParaRPr lang="en-US" sz="2400" dirty="0"/>
          </a:p>
        </p:txBody>
      </p:sp>
      <p:sp>
        <p:nvSpPr>
          <p:cNvPr id="13" name="Shape 11"/>
          <p:cNvSpPr/>
          <p:nvPr/>
        </p:nvSpPr>
        <p:spPr>
          <a:xfrm>
            <a:off x="822960" y="3877056"/>
            <a:ext cx="365760" cy="365760"/>
          </a:xfrm>
          <a:prstGeom prst="ellipse">
            <a:avLst/>
          </a:prstGeom>
          <a:solidFill>
            <a:srgbClr val="111111"/>
          </a:solidFill>
          <a:ln w="15875">
            <a:solidFill>
              <a:srgbClr val="F2F0EA"/>
            </a:solidFill>
            <a:prstDash val="solid"/>
          </a:ln>
        </p:spPr>
      </p:sp>
      <p:sp>
        <p:nvSpPr>
          <p:cNvPr id="14" name="Text 12"/>
          <p:cNvSpPr/>
          <p:nvPr/>
        </p:nvSpPr>
        <p:spPr>
          <a:xfrm>
            <a:off x="822960" y="3877056"/>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B</a:t>
            </a:r>
            <a:endParaRPr lang="en-US" sz="1300" dirty="0"/>
          </a:p>
        </p:txBody>
      </p:sp>
      <p:sp>
        <p:nvSpPr>
          <p:cNvPr id="15" name="Text 13"/>
          <p:cNvSpPr/>
          <p:nvPr/>
        </p:nvSpPr>
        <p:spPr>
          <a:xfrm>
            <a:off x="1417320" y="3886200"/>
            <a:ext cx="9174175" cy="981456"/>
          </a:xfrm>
          <a:prstGeom prst="rect">
            <a:avLst/>
          </a:prstGeom>
          <a:noFill/>
          <a:ln/>
        </p:spPr>
        <p:txBody>
          <a:bodyPr wrap="square" lIns="0" tIns="0" rIns="0" bIns="0" rtlCol="0" anchor="t">
            <a:normAutofit/>
          </a:bodyPr>
          <a:lstStyle/>
          <a:p>
            <a:pPr indent="0" marL="0">
              <a:lnSpc>
                <a:spcPct val="105000"/>
              </a:lnSpc>
              <a:buNone/>
            </a:pPr>
            <a:r>
              <a:rPr lang="en-US" sz="2400" dirty="0">
                <a:solidFill>
                  <a:srgbClr val="F2F0EA"/>
                </a:solidFill>
                <a:latin typeface="Arial" pitchFamily="34" charset="0"/>
                <a:ea typeface="Arial" pitchFamily="34" charset="-122"/>
                <a:cs typeface="Arial" pitchFamily="34" charset="-120"/>
              </a:rPr>
              <a:t>Que cantam mal, para mostrar que o galego-português é melhor língua</a:t>
            </a:r>
            <a:endParaRPr lang="en-US" sz="2400" dirty="0"/>
          </a:p>
        </p:txBody>
      </p:sp>
      <p:sp>
        <p:nvSpPr>
          <p:cNvPr id="16" name="Shape 14"/>
          <p:cNvSpPr/>
          <p:nvPr/>
        </p:nvSpPr>
        <p:spPr>
          <a:xfrm>
            <a:off x="822960" y="4858512"/>
            <a:ext cx="365760" cy="365760"/>
          </a:xfrm>
          <a:prstGeom prst="ellipse">
            <a:avLst/>
          </a:prstGeom>
          <a:solidFill>
            <a:srgbClr val="111111"/>
          </a:solidFill>
          <a:ln w="15875">
            <a:solidFill>
              <a:srgbClr val="F2F0EA"/>
            </a:solidFill>
            <a:prstDash val="solid"/>
          </a:ln>
        </p:spPr>
      </p:sp>
      <p:sp>
        <p:nvSpPr>
          <p:cNvPr id="17" name="Text 15"/>
          <p:cNvSpPr/>
          <p:nvPr/>
        </p:nvSpPr>
        <p:spPr>
          <a:xfrm>
            <a:off x="822960" y="4858512"/>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C</a:t>
            </a:r>
            <a:endParaRPr lang="en-US" sz="1300" dirty="0"/>
          </a:p>
        </p:txBody>
      </p:sp>
      <p:sp>
        <p:nvSpPr>
          <p:cNvPr id="18" name="Text 16"/>
          <p:cNvSpPr/>
          <p:nvPr/>
        </p:nvSpPr>
        <p:spPr>
          <a:xfrm>
            <a:off x="1417320" y="4867656"/>
            <a:ext cx="9174175" cy="600456"/>
          </a:xfrm>
          <a:prstGeom prst="rect">
            <a:avLst/>
          </a:prstGeom>
          <a:noFill/>
          <a:ln/>
        </p:spPr>
        <p:txBody>
          <a:bodyPr wrap="square" lIns="0" tIns="0" rIns="0" bIns="0" rtlCol="0" anchor="t">
            <a:normAutofit/>
          </a:bodyPr>
          <a:lstStyle/>
          <a:p>
            <a:pPr indent="0" marL="0">
              <a:lnSpc>
                <a:spcPct val="105000"/>
              </a:lnSpc>
              <a:buNone/>
            </a:pPr>
            <a:r>
              <a:rPr lang="en-US" sz="2400" dirty="0">
                <a:solidFill>
                  <a:srgbClr val="F2F0EA"/>
                </a:solidFill>
                <a:latin typeface="Arial" pitchFamily="34" charset="0"/>
                <a:ea typeface="Arial" pitchFamily="34" charset="-122"/>
                <a:cs typeface="Arial" pitchFamily="34" charset="-120"/>
              </a:rPr>
              <a:t>Que não têm senhora, para se rir deles</a:t>
            </a:r>
            <a:endParaRPr lang="en-US" sz="2400" dirty="0"/>
          </a:p>
        </p:txBody>
      </p:sp>
      <p:sp>
        <p:nvSpPr>
          <p:cNvPr id="19" name="Shape 17"/>
          <p:cNvSpPr/>
          <p:nvPr/>
        </p:nvSpPr>
        <p:spPr>
          <a:xfrm>
            <a:off x="822960" y="5458968"/>
            <a:ext cx="365760" cy="365760"/>
          </a:xfrm>
          <a:prstGeom prst="ellipse">
            <a:avLst/>
          </a:prstGeom>
          <a:solidFill>
            <a:srgbClr val="111111"/>
          </a:solidFill>
          <a:ln w="15875">
            <a:solidFill>
              <a:srgbClr val="F2F0EA"/>
            </a:solidFill>
            <a:prstDash val="solid"/>
          </a:ln>
        </p:spPr>
      </p:sp>
      <p:sp>
        <p:nvSpPr>
          <p:cNvPr id="20" name="Text 18"/>
          <p:cNvSpPr/>
          <p:nvPr/>
        </p:nvSpPr>
        <p:spPr>
          <a:xfrm>
            <a:off x="822960" y="5458968"/>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D</a:t>
            </a:r>
            <a:endParaRPr lang="en-US" sz="1300" dirty="0"/>
          </a:p>
        </p:txBody>
      </p:sp>
      <p:sp>
        <p:nvSpPr>
          <p:cNvPr id="21" name="Text 19"/>
          <p:cNvSpPr/>
          <p:nvPr/>
        </p:nvSpPr>
        <p:spPr>
          <a:xfrm>
            <a:off x="1417320" y="5468112"/>
            <a:ext cx="9174175" cy="600456"/>
          </a:xfrm>
          <a:prstGeom prst="rect">
            <a:avLst/>
          </a:prstGeom>
          <a:noFill/>
          <a:ln/>
        </p:spPr>
        <p:txBody>
          <a:bodyPr wrap="square" lIns="0" tIns="0" rIns="0" bIns="0" rtlCol="0" anchor="t">
            <a:normAutofit/>
          </a:bodyPr>
          <a:lstStyle/>
          <a:p>
            <a:pPr indent="0" marL="0">
              <a:lnSpc>
                <a:spcPct val="105000"/>
              </a:lnSpc>
              <a:buNone/>
            </a:pPr>
            <a:r>
              <a:rPr lang="en-US" sz="2400" dirty="0">
                <a:solidFill>
                  <a:srgbClr val="F2F0EA"/>
                </a:solidFill>
                <a:latin typeface="Arial" pitchFamily="34" charset="0"/>
                <a:ea typeface="Arial" pitchFamily="34" charset="-122"/>
                <a:cs typeface="Arial" pitchFamily="34" charset="-120"/>
              </a:rPr>
              <a:t>Que o ensinaram a trovar, para lhes agradecer</a:t>
            </a:r>
            <a:endParaRPr lang="en-US" sz="2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1, aula 6: A voz emprestada</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41</a:t>
            </a:r>
            <a:endParaRPr lang="en-US" sz="1000" dirty="0"/>
          </a:p>
        </p:txBody>
      </p:sp>
      <p:sp>
        <p:nvSpPr>
          <p:cNvPr id="5" name="Shape 3"/>
          <p:cNvSpPr/>
          <p:nvPr/>
        </p:nvSpPr>
        <p:spPr>
          <a:xfrm>
            <a:off x="822960" y="502920"/>
            <a:ext cx="201168" cy="201168"/>
          </a:xfrm>
          <a:prstGeom prst="rect">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RESPOSTA</a:t>
            </a:r>
            <a:endParaRPr lang="en-US" sz="1100" dirty="0"/>
          </a:p>
        </p:txBody>
      </p:sp>
      <p:sp>
        <p:nvSpPr>
          <p:cNvPr id="7" name="Text 5"/>
          <p:cNvSpPr/>
          <p:nvPr/>
        </p:nvSpPr>
        <p:spPr>
          <a:xfrm>
            <a:off x="822960" y="1005840"/>
            <a:ext cx="9814255" cy="1463040"/>
          </a:xfrm>
          <a:prstGeom prst="rect">
            <a:avLst/>
          </a:prstGeom>
          <a:noFill/>
          <a:ln/>
        </p:spPr>
        <p:txBody>
          <a:bodyPr wrap="square" lIns="0" tIns="0" rIns="0" bIns="0" rtlCol="0" anchor="t">
            <a:normAutofit/>
          </a:bodyPr>
          <a:lstStyle/>
          <a:p>
            <a:pPr indent="0" marL="0">
              <a:buNone/>
            </a:pPr>
            <a:r>
              <a:rPr lang="en-US" sz="2800" b="1" dirty="0">
                <a:solidFill>
                  <a:srgbClr val="F2F0EA"/>
                </a:solidFill>
                <a:latin typeface="Arial" pitchFamily="34" charset="0"/>
                <a:ea typeface="Arial" pitchFamily="34" charset="-122"/>
                <a:cs typeface="Arial" pitchFamily="34" charset="-120"/>
              </a:rPr>
              <a:t>Que só cantam o amor no tempo da flor, para afirmar que a coita dele, que não depende da estação, é verdadeira</a:t>
            </a:r>
            <a:endParaRPr lang="en-US" sz="2800" dirty="0"/>
          </a:p>
        </p:txBody>
      </p:sp>
      <p:sp>
        <p:nvSpPr>
          <p:cNvPr id="8" name="Shape 6"/>
          <p:cNvSpPr/>
          <p:nvPr/>
        </p:nvSpPr>
        <p:spPr>
          <a:xfrm>
            <a:off x="822960" y="2606040"/>
            <a:ext cx="640080" cy="64008"/>
          </a:xfrm>
          <a:prstGeom prst="rect">
            <a:avLst/>
          </a:prstGeom>
          <a:solidFill>
            <a:srgbClr val="E4555C"/>
          </a:solidFill>
          <a:ln w="12700">
            <a:solidFill>
              <a:srgbClr val="E4555C"/>
            </a:solidFill>
            <a:prstDash val="solid"/>
          </a:ln>
        </p:spPr>
      </p:sp>
      <p:sp>
        <p:nvSpPr>
          <p:cNvPr id="9" name="Text 7"/>
          <p:cNvSpPr/>
          <p:nvPr/>
        </p:nvSpPr>
        <p:spPr>
          <a:xfrm>
            <a:off x="822960" y="2880360"/>
            <a:ext cx="9814255" cy="3246120"/>
          </a:xfrm>
          <a:prstGeom prst="rect">
            <a:avLst/>
          </a:prstGeom>
          <a:noFill/>
          <a:ln/>
        </p:spPr>
        <p:txBody>
          <a:bodyPr wrap="square" lIns="0" tIns="0" rIns="0" bIns="0" rtlCol="0" anchor="t">
            <a:normAutofit/>
          </a:bodyPr>
          <a:lstStyle/>
          <a:p>
            <a:pPr indent="0" marL="0">
              <a:lnSpc>
                <a:spcPct val="120000"/>
              </a:lnSpc>
              <a:buNone/>
            </a:pPr>
            <a:r>
              <a:rPr lang="en-US" sz="2200" dirty="0">
                <a:solidFill>
                  <a:srgbClr val="F2F0EA"/>
                </a:solidFill>
                <a:latin typeface="Georgia" pitchFamily="34" charset="0"/>
                <a:ea typeface="Georgia" pitchFamily="34" charset="-122"/>
                <a:cs typeface="Georgia" pitchFamily="34" charset="-120"/>
              </a:rPr>
              <a:t>«os que trobam no tempo da flor e nom em outro» não têm «tam gram coita» como a dele: a comparação serve para dar ao seu «eu» um sinal de verdade. Mas repara: é um «eu» que afirma ser verdadeiro dentro de uma cantiga que segue regras, como a outra, «em maneira de proençal». A sinceridade é também um gesto do género. Não fala da língua, não ri deles nem lhes agradece.</a:t>
            </a:r>
            <a:endParaRPr lang="en-US" sz="22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1, aula 6: A voz emprestada</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42</a:t>
            </a:r>
            <a:endParaRPr lang="en-US" sz="1000" dirty="0"/>
          </a:p>
        </p:txBody>
      </p:sp>
      <p:sp>
        <p:nvSpPr>
          <p:cNvPr id="5" name="Shape 3"/>
          <p:cNvSpPr/>
          <p:nvPr/>
        </p:nvSpPr>
        <p:spPr>
          <a:xfrm>
            <a:off x="822960" y="502920"/>
            <a:ext cx="201168" cy="201168"/>
          </a:xfrm>
          <a:prstGeom prst="ellipse">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ATO 5</a:t>
            </a:r>
            <a:endParaRPr lang="en-US" sz="1100" dirty="0"/>
          </a:p>
        </p:txBody>
      </p:sp>
      <p:sp>
        <p:nvSpPr>
          <p:cNvPr id="7" name="Text 5"/>
          <p:cNvSpPr/>
          <p:nvPr/>
        </p:nvSpPr>
        <p:spPr>
          <a:xfrm>
            <a:off x="822960" y="868680"/>
            <a:ext cx="9814255" cy="822960"/>
          </a:xfrm>
          <a:prstGeom prst="rect">
            <a:avLst/>
          </a:prstGeom>
          <a:noFill/>
          <a:ln/>
        </p:spPr>
        <p:txBody>
          <a:bodyPr wrap="square" lIns="0" tIns="0" rIns="0" bIns="0" rtlCol="0" anchor="b">
            <a:normAutofit/>
          </a:bodyPr>
          <a:lstStyle/>
          <a:p>
            <a:pPr indent="0" marL="0">
              <a:buNone/>
            </a:pPr>
            <a:r>
              <a:rPr lang="en-US" sz="3400" dirty="0">
                <a:solidFill>
                  <a:srgbClr val="F2F0EA"/>
                </a:solidFill>
                <a:latin typeface="Arial" pitchFamily="34" charset="0"/>
                <a:ea typeface="Arial" pitchFamily="34" charset="-122"/>
                <a:cs typeface="Arial" pitchFamily="34" charset="-120"/>
              </a:rPr>
              <a:t>De boca em boca</a:t>
            </a:r>
            <a:endParaRPr lang="en-US" sz="3400" dirty="0"/>
          </a:p>
        </p:txBody>
      </p:sp>
      <p:sp>
        <p:nvSpPr>
          <p:cNvPr id="8" name="Shape 6"/>
          <p:cNvSpPr/>
          <p:nvPr/>
        </p:nvSpPr>
        <p:spPr>
          <a:xfrm>
            <a:off x="822960" y="1746504"/>
            <a:ext cx="640080" cy="64008"/>
          </a:xfrm>
          <a:prstGeom prst="rect">
            <a:avLst/>
          </a:prstGeom>
          <a:solidFill>
            <a:srgbClr val="E4555C"/>
          </a:solidFill>
          <a:ln w="12700">
            <a:solidFill>
              <a:srgbClr val="E4555C"/>
            </a:solidFill>
            <a:prstDash val="solid"/>
          </a:ln>
        </p:spPr>
      </p:sp>
      <p:sp>
        <p:nvSpPr>
          <p:cNvPr id="9" name="Text 7"/>
          <p:cNvSpPr/>
          <p:nvPr/>
        </p:nvSpPr>
        <p:spPr>
          <a:xfrm>
            <a:off x="822960" y="2103120"/>
            <a:ext cx="9814255" cy="3931920"/>
          </a:xfrm>
          <a:prstGeom prst="rect">
            <a:avLst/>
          </a:prstGeom>
          <a:noFill/>
          <a:ln/>
        </p:spPr>
        <p:txBody>
          <a:bodyPr wrap="square" lIns="0" tIns="0" rIns="0" bIns="0" rtlCol="0" anchor="t">
            <a:normAutofit/>
          </a:bodyPr>
          <a:lstStyle/>
          <a:p>
            <a:pPr indent="0" marL="0">
              <a:lnSpc>
                <a:spcPct val="120000"/>
              </a:lnSpc>
              <a:spcAft>
                <a:spcPts val="800"/>
              </a:spcAft>
              <a:buNone/>
            </a:pPr>
            <a:r>
              <a:rPr lang="en-US" sz="2000" dirty="0">
                <a:solidFill>
                  <a:srgbClr val="F2F0EA"/>
                </a:solidFill>
                <a:latin typeface="Georgia" pitchFamily="34" charset="0"/>
                <a:ea typeface="Georgia" pitchFamily="34" charset="-122"/>
                <a:cs typeface="Georgia" pitchFamily="34" charset="-120"/>
              </a:rPr>
              <a:t>Falta uma voz. As cantigas eram para ser cantadas, e da música quase nada chegou: dois pergaminhos. Quem as levava de sala em sala era quem as sabia de cor: o autor ou o jogral que o servia. O «eu» da rapariga saía da boca de quem a cantava; o «eu» de D. Dinis também. Entre quem escreve e quem ouve há sempre uma terceira pessoa.A cantiga trovadoresca como um todo dependia, para a sua circulação, sobretudo da memória e do bom ouvido, quer dos autores quer dos jograis que os serviam […].Graça Videira Lopes (coord.), «Sobre as cantigas», Cantigas Medievais Galego-Portuguesas, secção sobre a circulação das cantigas. FCSH/NOVA, em linha</a:t>
            </a:r>
            <a:endParaRPr lang="en-US" sz="20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1, aula 6: A voz emprestada</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43</a:t>
            </a:r>
            <a:endParaRPr lang="en-US" sz="1000" dirty="0"/>
          </a:p>
        </p:txBody>
      </p:sp>
      <p:sp>
        <p:nvSpPr>
          <p:cNvPr id="5" name="Shape 3"/>
          <p:cNvSpPr/>
          <p:nvPr/>
        </p:nvSpPr>
        <p:spPr>
          <a:xfrm>
            <a:off x="822960" y="502920"/>
            <a:ext cx="201168" cy="201168"/>
          </a:xfrm>
          <a:prstGeom prst="rect">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ESCOLHE UMA POSIÇÃO</a:t>
            </a:r>
            <a:endParaRPr lang="en-US" sz="1100" dirty="0"/>
          </a:p>
        </p:txBody>
      </p:sp>
      <p:sp>
        <p:nvSpPr>
          <p:cNvPr id="7" name="Text 5"/>
          <p:cNvSpPr/>
          <p:nvPr/>
        </p:nvSpPr>
        <p:spPr>
          <a:xfrm>
            <a:off x="822960" y="914400"/>
            <a:ext cx="9814255" cy="1234440"/>
          </a:xfrm>
          <a:prstGeom prst="rect">
            <a:avLst/>
          </a:prstGeom>
          <a:noFill/>
          <a:ln/>
        </p:spPr>
        <p:txBody>
          <a:bodyPr wrap="square" lIns="0" tIns="0" rIns="0" bIns="0" rtlCol="0" anchor="t">
            <a:normAutofit/>
          </a:bodyPr>
          <a:lstStyle/>
          <a:p>
            <a:pPr indent="0" marL="0">
              <a:buNone/>
            </a:pPr>
            <a:r>
              <a:rPr lang="en-US" sz="3200" dirty="0">
                <a:solidFill>
                  <a:srgbClr val="F2F0EA"/>
                </a:solidFill>
                <a:latin typeface="Georgia" pitchFamily="34" charset="0"/>
                <a:ea typeface="Georgia" pitchFamily="34" charset="-122"/>
                <a:cs typeface="Georgia" pitchFamily="34" charset="-120"/>
              </a:rPr>
              <a:t>Quatro pessoas à volta de um «eu»: abre as quatro e compara o que cada uma sabe e decide.</a:t>
            </a:r>
            <a:endParaRPr lang="en-US" sz="3200" dirty="0"/>
          </a:p>
        </p:txBody>
      </p:sp>
      <p:sp>
        <p:nvSpPr>
          <p:cNvPr id="8" name="Shape 6"/>
          <p:cNvSpPr/>
          <p:nvPr/>
        </p:nvSpPr>
        <p:spPr>
          <a:xfrm>
            <a:off x="822960" y="2240280"/>
            <a:ext cx="640080" cy="64008"/>
          </a:xfrm>
          <a:prstGeom prst="rect">
            <a:avLst/>
          </a:prstGeom>
          <a:solidFill>
            <a:srgbClr val="E4555C"/>
          </a:solidFill>
          <a:ln w="12700">
            <a:solidFill>
              <a:srgbClr val="E4555C"/>
            </a:solidFill>
            <a:prstDash val="solid"/>
          </a:ln>
        </p:spPr>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1, aula 6: A voz emprestada</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44</a:t>
            </a:r>
            <a:endParaRPr lang="en-US" sz="1000" dirty="0"/>
          </a:p>
        </p:txBody>
      </p:sp>
      <p:sp>
        <p:nvSpPr>
          <p:cNvPr id="5" name="Shape 3"/>
          <p:cNvSpPr/>
          <p:nvPr/>
        </p:nvSpPr>
        <p:spPr>
          <a:xfrm>
            <a:off x="822960" y="502920"/>
            <a:ext cx="201168" cy="201168"/>
          </a:xfrm>
          <a:prstGeom prst="rect">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ESCOLHE UMA POSIÇÃO</a:t>
            </a:r>
            <a:endParaRPr lang="en-US" sz="1100" dirty="0"/>
          </a:p>
        </p:txBody>
      </p:sp>
      <p:sp>
        <p:nvSpPr>
          <p:cNvPr id="7" name="Text 5"/>
          <p:cNvSpPr/>
          <p:nvPr/>
        </p:nvSpPr>
        <p:spPr>
          <a:xfrm>
            <a:off x="822960" y="914400"/>
            <a:ext cx="9814255" cy="1234440"/>
          </a:xfrm>
          <a:prstGeom prst="rect">
            <a:avLst/>
          </a:prstGeom>
          <a:noFill/>
          <a:ln/>
        </p:spPr>
        <p:txBody>
          <a:bodyPr wrap="square" lIns="0" tIns="0" rIns="0" bIns="0" rtlCol="0" anchor="t">
            <a:normAutofit/>
          </a:bodyPr>
          <a:lstStyle/>
          <a:p>
            <a:pPr indent="0" marL="0">
              <a:buNone/>
            </a:pPr>
            <a:r>
              <a:rPr lang="en-US" sz="2800" dirty="0">
                <a:solidFill>
                  <a:srgbClr val="F2F0EA"/>
                </a:solidFill>
                <a:latin typeface="Georgia" pitchFamily="34" charset="0"/>
                <a:ea typeface="Georgia" pitchFamily="34" charset="-122"/>
                <a:cs typeface="Georgia" pitchFamily="34" charset="-120"/>
              </a:rPr>
              <a:t>Quando uma cantiga diz «eu», de quem é a voz? Escolhe a resposta que defendes e justifica-a em voz alta a alguém.</a:t>
            </a:r>
            <a:endParaRPr lang="en-US" sz="2800" dirty="0"/>
          </a:p>
        </p:txBody>
      </p:sp>
      <p:sp>
        <p:nvSpPr>
          <p:cNvPr id="8" name="Shape 6"/>
          <p:cNvSpPr/>
          <p:nvPr/>
        </p:nvSpPr>
        <p:spPr>
          <a:xfrm>
            <a:off x="822960" y="2240280"/>
            <a:ext cx="640080" cy="64008"/>
          </a:xfrm>
          <a:prstGeom prst="rect">
            <a:avLst/>
          </a:prstGeom>
          <a:solidFill>
            <a:srgbClr val="E4555C"/>
          </a:solidFill>
          <a:ln w="12700">
            <a:solidFill>
              <a:srgbClr val="E4555C"/>
            </a:solidFill>
            <a:prstDash val="solid"/>
          </a:ln>
        </p:spPr>
      </p:sp>
      <p:sp>
        <p:nvSpPr>
          <p:cNvPr id="9" name="Shape 7"/>
          <p:cNvSpPr/>
          <p:nvPr/>
        </p:nvSpPr>
        <p:spPr>
          <a:xfrm>
            <a:off x="1005840" y="2697480"/>
            <a:ext cx="0" cy="1200912"/>
          </a:xfrm>
          <a:prstGeom prst="line">
            <a:avLst/>
          </a:prstGeom>
          <a:noFill/>
          <a:ln w="12700">
            <a:solidFill>
              <a:srgbClr val="A9A79F"/>
            </a:solidFill>
            <a:prstDash val="solid"/>
          </a:ln>
        </p:spPr>
      </p:sp>
      <p:sp>
        <p:nvSpPr>
          <p:cNvPr id="10" name="Shape 8"/>
          <p:cNvSpPr/>
          <p:nvPr/>
        </p:nvSpPr>
        <p:spPr>
          <a:xfrm>
            <a:off x="822960" y="2514600"/>
            <a:ext cx="365760" cy="365760"/>
          </a:xfrm>
          <a:prstGeom prst="ellipse">
            <a:avLst/>
          </a:prstGeom>
          <a:solidFill>
            <a:srgbClr val="111111"/>
          </a:solidFill>
          <a:ln w="15875">
            <a:solidFill>
              <a:srgbClr val="F2F0EA"/>
            </a:solidFill>
            <a:prstDash val="solid"/>
          </a:ln>
        </p:spPr>
      </p:sp>
      <p:sp>
        <p:nvSpPr>
          <p:cNvPr id="11" name="Text 9"/>
          <p:cNvSpPr/>
          <p:nvPr/>
        </p:nvSpPr>
        <p:spPr>
          <a:xfrm>
            <a:off x="822960" y="2514600"/>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A</a:t>
            </a:r>
            <a:endParaRPr lang="en-US" sz="1300" dirty="0"/>
          </a:p>
        </p:txBody>
      </p:sp>
      <p:sp>
        <p:nvSpPr>
          <p:cNvPr id="12" name="Text 10"/>
          <p:cNvSpPr/>
          <p:nvPr/>
        </p:nvSpPr>
        <p:spPr>
          <a:xfrm>
            <a:off x="1417320" y="2523744"/>
            <a:ext cx="9174175" cy="600456"/>
          </a:xfrm>
          <a:prstGeom prst="rect">
            <a:avLst/>
          </a:prstGeom>
          <a:noFill/>
          <a:ln/>
        </p:spPr>
        <p:txBody>
          <a:bodyPr wrap="square" lIns="0" tIns="0" rIns="0" bIns="0" rtlCol="0" anchor="t">
            <a:normAutofit/>
          </a:bodyPr>
          <a:lstStyle/>
          <a:p>
            <a:pPr indent="0" marL="0">
              <a:lnSpc>
                <a:spcPct val="105000"/>
              </a:lnSpc>
              <a:buNone/>
            </a:pPr>
            <a:r>
              <a:rPr lang="en-US" sz="2400" dirty="0">
                <a:solidFill>
                  <a:srgbClr val="F2F0EA"/>
                </a:solidFill>
                <a:latin typeface="Arial" pitchFamily="34" charset="0"/>
                <a:ea typeface="Arial" pitchFamily="34" charset="-122"/>
                <a:cs typeface="Arial" pitchFamily="34" charset="-120"/>
              </a:rPr>
              <a:t>De quem a escreveu</a:t>
            </a:r>
            <a:endParaRPr lang="en-US" sz="2400" dirty="0"/>
          </a:p>
        </p:txBody>
      </p:sp>
      <p:sp>
        <p:nvSpPr>
          <p:cNvPr id="13" name="Shape 11"/>
          <p:cNvSpPr/>
          <p:nvPr/>
        </p:nvSpPr>
        <p:spPr>
          <a:xfrm>
            <a:off x="822960" y="3115056"/>
            <a:ext cx="365760" cy="365760"/>
          </a:xfrm>
          <a:prstGeom prst="ellipse">
            <a:avLst/>
          </a:prstGeom>
          <a:solidFill>
            <a:srgbClr val="111111"/>
          </a:solidFill>
          <a:ln w="15875">
            <a:solidFill>
              <a:srgbClr val="F2F0EA"/>
            </a:solidFill>
            <a:prstDash val="solid"/>
          </a:ln>
        </p:spPr>
      </p:sp>
      <p:sp>
        <p:nvSpPr>
          <p:cNvPr id="14" name="Text 12"/>
          <p:cNvSpPr/>
          <p:nvPr/>
        </p:nvSpPr>
        <p:spPr>
          <a:xfrm>
            <a:off x="822960" y="3115056"/>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B</a:t>
            </a:r>
            <a:endParaRPr lang="en-US" sz="1300" dirty="0"/>
          </a:p>
        </p:txBody>
      </p:sp>
      <p:sp>
        <p:nvSpPr>
          <p:cNvPr id="15" name="Text 13"/>
          <p:cNvSpPr/>
          <p:nvPr/>
        </p:nvSpPr>
        <p:spPr>
          <a:xfrm>
            <a:off x="1417320" y="3124200"/>
            <a:ext cx="9174175" cy="600456"/>
          </a:xfrm>
          <a:prstGeom prst="rect">
            <a:avLst/>
          </a:prstGeom>
          <a:noFill/>
          <a:ln/>
        </p:spPr>
        <p:txBody>
          <a:bodyPr wrap="square" lIns="0" tIns="0" rIns="0" bIns="0" rtlCol="0" anchor="t">
            <a:normAutofit/>
          </a:bodyPr>
          <a:lstStyle/>
          <a:p>
            <a:pPr indent="0" marL="0">
              <a:lnSpc>
                <a:spcPct val="105000"/>
              </a:lnSpc>
              <a:buNone/>
            </a:pPr>
            <a:r>
              <a:rPr lang="en-US" sz="2400" dirty="0">
                <a:solidFill>
                  <a:srgbClr val="F2F0EA"/>
                </a:solidFill>
                <a:latin typeface="Arial" pitchFamily="34" charset="0"/>
                <a:ea typeface="Arial" pitchFamily="34" charset="-122"/>
                <a:cs typeface="Arial" pitchFamily="34" charset="-120"/>
              </a:rPr>
              <a:t>De quem fala dentro dela</a:t>
            </a:r>
            <a:endParaRPr lang="en-US" sz="2400" dirty="0"/>
          </a:p>
        </p:txBody>
      </p:sp>
      <p:sp>
        <p:nvSpPr>
          <p:cNvPr id="16" name="Shape 14"/>
          <p:cNvSpPr/>
          <p:nvPr/>
        </p:nvSpPr>
        <p:spPr>
          <a:xfrm>
            <a:off x="822960" y="3715512"/>
            <a:ext cx="365760" cy="365760"/>
          </a:xfrm>
          <a:prstGeom prst="ellipse">
            <a:avLst/>
          </a:prstGeom>
          <a:solidFill>
            <a:srgbClr val="111111"/>
          </a:solidFill>
          <a:ln w="15875">
            <a:solidFill>
              <a:srgbClr val="F2F0EA"/>
            </a:solidFill>
            <a:prstDash val="solid"/>
          </a:ln>
        </p:spPr>
      </p:sp>
      <p:sp>
        <p:nvSpPr>
          <p:cNvPr id="17" name="Text 15"/>
          <p:cNvSpPr/>
          <p:nvPr/>
        </p:nvSpPr>
        <p:spPr>
          <a:xfrm>
            <a:off x="822960" y="3715512"/>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C</a:t>
            </a:r>
            <a:endParaRPr lang="en-US" sz="1300" dirty="0"/>
          </a:p>
        </p:txBody>
      </p:sp>
      <p:sp>
        <p:nvSpPr>
          <p:cNvPr id="18" name="Text 16"/>
          <p:cNvSpPr/>
          <p:nvPr/>
        </p:nvSpPr>
        <p:spPr>
          <a:xfrm>
            <a:off x="1417320" y="3724656"/>
            <a:ext cx="9174175" cy="600456"/>
          </a:xfrm>
          <a:prstGeom prst="rect">
            <a:avLst/>
          </a:prstGeom>
          <a:noFill/>
          <a:ln/>
        </p:spPr>
        <p:txBody>
          <a:bodyPr wrap="square" lIns="0" tIns="0" rIns="0" bIns="0" rtlCol="0" anchor="t">
            <a:normAutofit/>
          </a:bodyPr>
          <a:lstStyle/>
          <a:p>
            <a:pPr indent="0" marL="0">
              <a:lnSpc>
                <a:spcPct val="105000"/>
              </a:lnSpc>
              <a:buNone/>
            </a:pPr>
            <a:r>
              <a:rPr lang="en-US" sz="2400" dirty="0">
                <a:solidFill>
                  <a:srgbClr val="F2F0EA"/>
                </a:solidFill>
                <a:latin typeface="Arial" pitchFamily="34" charset="0"/>
                <a:ea typeface="Arial" pitchFamily="34" charset="-122"/>
                <a:cs typeface="Arial" pitchFamily="34" charset="-120"/>
              </a:rPr>
              <a:t>De ninguém: é construída</a:t>
            </a:r>
            <a:endParaRPr lang="en-US" sz="24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1, aula 6: A voz emprestada</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45</a:t>
            </a:r>
            <a:endParaRPr lang="en-US" sz="1000" dirty="0"/>
          </a:p>
        </p:txBody>
      </p:sp>
      <p:sp>
        <p:nvSpPr>
          <p:cNvPr id="5" name="Shape 3"/>
          <p:cNvSpPr/>
          <p:nvPr/>
        </p:nvSpPr>
        <p:spPr>
          <a:xfrm>
            <a:off x="822960" y="502920"/>
            <a:ext cx="201168" cy="201168"/>
          </a:xfrm>
          <a:prstGeom prst="rect">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PARA DISCUTIR, 1 DE 3</a:t>
            </a:r>
            <a:endParaRPr lang="en-US" sz="1100" dirty="0"/>
          </a:p>
        </p:txBody>
      </p:sp>
      <p:sp>
        <p:nvSpPr>
          <p:cNvPr id="7" name="Text 5"/>
          <p:cNvSpPr/>
          <p:nvPr/>
        </p:nvSpPr>
        <p:spPr>
          <a:xfrm>
            <a:off x="822960" y="1097280"/>
            <a:ext cx="9814255" cy="3291840"/>
          </a:xfrm>
          <a:prstGeom prst="rect">
            <a:avLst/>
          </a:prstGeom>
          <a:noFill/>
          <a:ln/>
        </p:spPr>
        <p:txBody>
          <a:bodyPr wrap="square" lIns="0" tIns="0" rIns="0" bIns="0" rtlCol="0" anchor="b">
            <a:normAutofit/>
          </a:bodyPr>
          <a:lstStyle/>
          <a:p>
            <a:pPr indent="0" marL="0">
              <a:lnSpc>
                <a:spcPct val="115000"/>
              </a:lnSpc>
              <a:buNone/>
            </a:pPr>
            <a:r>
              <a:rPr lang="en-US" sz="3600" i="1" dirty="0">
                <a:solidFill>
                  <a:srgbClr val="F2F0EA"/>
                </a:solidFill>
                <a:latin typeface="Georgia" pitchFamily="34" charset="0"/>
                <a:ea typeface="Georgia" pitchFamily="34" charset="-122"/>
                <a:cs typeface="Georgia" pitchFamily="34" charset="-120"/>
              </a:rPr>
              <a:t>Caso imaginário: na festa da escola, um rapaz da turma canta «Ondas do mar de Vigo». De quem é o «eu» que se ouve?</a:t>
            </a:r>
            <a:endParaRPr lang="en-US" sz="3600" dirty="0"/>
          </a:p>
        </p:txBody>
      </p:sp>
      <p:sp>
        <p:nvSpPr>
          <p:cNvPr id="8" name="Shape 6"/>
          <p:cNvSpPr/>
          <p:nvPr/>
        </p:nvSpPr>
        <p:spPr>
          <a:xfrm>
            <a:off x="822960" y="4526280"/>
            <a:ext cx="640080" cy="64008"/>
          </a:xfrm>
          <a:prstGeom prst="rect">
            <a:avLst/>
          </a:prstGeom>
          <a:solidFill>
            <a:srgbClr val="E4555C"/>
          </a:solidFill>
          <a:ln w="12700">
            <a:solidFill>
              <a:srgbClr val="E4555C"/>
            </a:solidFill>
            <a:prstDash val="solid"/>
          </a:ln>
        </p:spPr>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1, aula 6: A voz emprestada</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46</a:t>
            </a:r>
            <a:endParaRPr lang="en-US" sz="1000" dirty="0"/>
          </a:p>
        </p:txBody>
      </p:sp>
      <p:sp>
        <p:nvSpPr>
          <p:cNvPr id="5" name="Shape 3"/>
          <p:cNvSpPr/>
          <p:nvPr/>
        </p:nvSpPr>
        <p:spPr>
          <a:xfrm>
            <a:off x="822960" y="502920"/>
            <a:ext cx="201168" cy="201168"/>
          </a:xfrm>
          <a:prstGeom prst="rect">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PARA DISCUTIR, 2 DE 3</a:t>
            </a:r>
            <a:endParaRPr lang="en-US" sz="1100" dirty="0"/>
          </a:p>
        </p:txBody>
      </p:sp>
      <p:sp>
        <p:nvSpPr>
          <p:cNvPr id="7" name="Text 5"/>
          <p:cNvSpPr/>
          <p:nvPr/>
        </p:nvSpPr>
        <p:spPr>
          <a:xfrm>
            <a:off x="822960" y="1097280"/>
            <a:ext cx="9814255" cy="3291840"/>
          </a:xfrm>
          <a:prstGeom prst="rect">
            <a:avLst/>
          </a:prstGeom>
          <a:noFill/>
          <a:ln/>
        </p:spPr>
        <p:txBody>
          <a:bodyPr wrap="square" lIns="0" tIns="0" rIns="0" bIns="0" rtlCol="0" anchor="b">
            <a:normAutofit/>
          </a:bodyPr>
          <a:lstStyle/>
          <a:p>
            <a:pPr indent="0" marL="0">
              <a:lnSpc>
                <a:spcPct val="115000"/>
              </a:lnSpc>
              <a:buNone/>
            </a:pPr>
            <a:r>
              <a:rPr lang="en-US" sz="4400" i="1" dirty="0">
                <a:solidFill>
                  <a:srgbClr val="F2F0EA"/>
                </a:solidFill>
                <a:latin typeface="Georgia" pitchFamily="34" charset="0"/>
                <a:ea typeface="Georgia" pitchFamily="34" charset="-122"/>
                <a:cs typeface="Georgia" pitchFamily="34" charset="-120"/>
              </a:rPr>
              <a:t>Quem fala, e quem nunca chega a falar?</a:t>
            </a:r>
            <a:endParaRPr lang="en-US" sz="4400" dirty="0"/>
          </a:p>
        </p:txBody>
      </p:sp>
      <p:sp>
        <p:nvSpPr>
          <p:cNvPr id="8" name="Shape 6"/>
          <p:cNvSpPr/>
          <p:nvPr/>
        </p:nvSpPr>
        <p:spPr>
          <a:xfrm>
            <a:off x="822960" y="4526280"/>
            <a:ext cx="640080" cy="64008"/>
          </a:xfrm>
          <a:prstGeom prst="rect">
            <a:avLst/>
          </a:prstGeom>
          <a:solidFill>
            <a:srgbClr val="E4555C"/>
          </a:solidFill>
          <a:ln w="12700">
            <a:solidFill>
              <a:srgbClr val="E4555C"/>
            </a:solidFill>
            <a:prstDash val="solid"/>
          </a:ln>
        </p:spPr>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1, aula 6: A voz emprestada</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47</a:t>
            </a:r>
            <a:endParaRPr lang="en-US" sz="1000" dirty="0"/>
          </a:p>
        </p:txBody>
      </p:sp>
      <p:sp>
        <p:nvSpPr>
          <p:cNvPr id="5" name="Shape 3"/>
          <p:cNvSpPr/>
          <p:nvPr/>
        </p:nvSpPr>
        <p:spPr>
          <a:xfrm>
            <a:off x="822960" y="502920"/>
            <a:ext cx="201168" cy="201168"/>
          </a:xfrm>
          <a:prstGeom prst="rect">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PARA DISCUTIR, 3 DE 3</a:t>
            </a:r>
            <a:endParaRPr lang="en-US" sz="1100" dirty="0"/>
          </a:p>
        </p:txBody>
      </p:sp>
      <p:sp>
        <p:nvSpPr>
          <p:cNvPr id="7" name="Text 5"/>
          <p:cNvSpPr/>
          <p:nvPr/>
        </p:nvSpPr>
        <p:spPr>
          <a:xfrm>
            <a:off x="822960" y="1097280"/>
            <a:ext cx="9814255" cy="3291840"/>
          </a:xfrm>
          <a:prstGeom prst="rect">
            <a:avLst/>
          </a:prstGeom>
          <a:noFill/>
          <a:ln/>
        </p:spPr>
        <p:txBody>
          <a:bodyPr wrap="square" lIns="0" tIns="0" rIns="0" bIns="0" rtlCol="0" anchor="b">
            <a:normAutofit/>
          </a:bodyPr>
          <a:lstStyle/>
          <a:p>
            <a:pPr indent="0" marL="0">
              <a:lnSpc>
                <a:spcPct val="115000"/>
              </a:lnSpc>
              <a:buNone/>
            </a:pPr>
            <a:r>
              <a:rPr lang="en-US" sz="4400" i="1" dirty="0">
                <a:solidFill>
                  <a:srgbClr val="F2F0EA"/>
                </a:solidFill>
                <a:latin typeface="Georgia" pitchFamily="34" charset="0"/>
                <a:ea typeface="Georgia" pitchFamily="34" charset="-122"/>
                <a:cs typeface="Georgia" pitchFamily="34" charset="-120"/>
              </a:rPr>
              <a:t>Quando é que um elogio deixa de ser elogio?</a:t>
            </a:r>
            <a:endParaRPr lang="en-US" sz="4400" dirty="0"/>
          </a:p>
        </p:txBody>
      </p:sp>
      <p:sp>
        <p:nvSpPr>
          <p:cNvPr id="8" name="Shape 6"/>
          <p:cNvSpPr/>
          <p:nvPr/>
        </p:nvSpPr>
        <p:spPr>
          <a:xfrm>
            <a:off x="822960" y="4526280"/>
            <a:ext cx="640080" cy="64008"/>
          </a:xfrm>
          <a:prstGeom prst="rect">
            <a:avLst/>
          </a:prstGeom>
          <a:solidFill>
            <a:srgbClr val="E4555C"/>
          </a:solidFill>
          <a:ln w="12700">
            <a:solidFill>
              <a:srgbClr val="E4555C"/>
            </a:solidFill>
            <a:prstDash val="solid"/>
          </a:ln>
        </p:spPr>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1, aula 6: A voz emprestada</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48</a:t>
            </a:r>
            <a:endParaRPr lang="en-US" sz="1000" dirty="0"/>
          </a:p>
        </p:txBody>
      </p:sp>
      <p:sp>
        <p:nvSpPr>
          <p:cNvPr id="5" name="Shape 3"/>
          <p:cNvSpPr/>
          <p:nvPr/>
        </p:nvSpPr>
        <p:spPr>
          <a:xfrm>
            <a:off x="822960" y="502920"/>
            <a:ext cx="201168" cy="201168"/>
          </a:xfrm>
          <a:prstGeom prst="rect">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EM PAPEL, O QUE SE ENTREGA</a:t>
            </a:r>
            <a:endParaRPr lang="en-US" sz="1100" dirty="0"/>
          </a:p>
        </p:txBody>
      </p:sp>
      <p:sp>
        <p:nvSpPr>
          <p:cNvPr id="7" name="Text 5"/>
          <p:cNvSpPr/>
          <p:nvPr/>
        </p:nvSpPr>
        <p:spPr>
          <a:xfrm>
            <a:off x="822960" y="1005840"/>
            <a:ext cx="9814255" cy="1554480"/>
          </a:xfrm>
          <a:prstGeom prst="rect">
            <a:avLst/>
          </a:prstGeom>
          <a:noFill/>
          <a:ln/>
        </p:spPr>
        <p:txBody>
          <a:bodyPr wrap="square" lIns="0" tIns="0" rIns="0" bIns="0" rtlCol="0" anchor="b">
            <a:normAutofit/>
          </a:bodyPr>
          <a:lstStyle/>
          <a:p>
            <a:pPr indent="0" marL="0">
              <a:buNone/>
            </a:pPr>
            <a:r>
              <a:rPr lang="en-US" sz="2800" dirty="0">
                <a:solidFill>
                  <a:srgbClr val="F2F0EA"/>
                </a:solidFill>
                <a:latin typeface="Georgia" pitchFamily="34" charset="0"/>
                <a:ea typeface="Georgia" pitchFamily="34" charset="-122"/>
                <a:cs typeface="Georgia" pitchFamily="34" charset="-120"/>
              </a:rPr>
              <a:t>Como se dá voz ao desejo, ao elogio e à crítica? Responde em seis a oito linhas, com duas passagens de aulas diferentes da unidade 1, citadas entre aspas.</a:t>
            </a:r>
            <a:endParaRPr lang="en-US" sz="2800" dirty="0"/>
          </a:p>
        </p:txBody>
      </p:sp>
      <p:sp>
        <p:nvSpPr>
          <p:cNvPr id="8" name="Shape 6"/>
          <p:cNvSpPr/>
          <p:nvPr/>
        </p:nvSpPr>
        <p:spPr>
          <a:xfrm>
            <a:off x="822960" y="2697480"/>
            <a:ext cx="640080" cy="64008"/>
          </a:xfrm>
          <a:prstGeom prst="rect">
            <a:avLst/>
          </a:prstGeom>
          <a:solidFill>
            <a:srgbClr val="E4555C"/>
          </a:solidFill>
          <a:ln w="12700">
            <a:solidFill>
              <a:srgbClr val="E4555C"/>
            </a:solidFill>
            <a:prstDash val="solid"/>
          </a:ln>
        </p:spPr>
      </p:sp>
      <p:sp>
        <p:nvSpPr>
          <p:cNvPr id="9" name="Text 7"/>
          <p:cNvSpPr/>
          <p:nvPr/>
        </p:nvSpPr>
        <p:spPr>
          <a:xfrm>
            <a:off x="822960" y="2971800"/>
            <a:ext cx="9814255" cy="320040"/>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O QUE CONTA</a:t>
            </a:r>
            <a:endParaRPr lang="en-US" sz="1100" dirty="0"/>
          </a:p>
        </p:txBody>
      </p:sp>
      <p:sp>
        <p:nvSpPr>
          <p:cNvPr id="10" name="Shape 8"/>
          <p:cNvSpPr/>
          <p:nvPr/>
        </p:nvSpPr>
        <p:spPr>
          <a:xfrm>
            <a:off x="1005840" y="3611880"/>
            <a:ext cx="0" cy="1991868"/>
          </a:xfrm>
          <a:prstGeom prst="line">
            <a:avLst/>
          </a:prstGeom>
          <a:noFill/>
          <a:ln w="12700">
            <a:solidFill>
              <a:srgbClr val="A9A79F"/>
            </a:solidFill>
            <a:prstDash val="solid"/>
          </a:ln>
        </p:spPr>
      </p:sp>
      <p:sp>
        <p:nvSpPr>
          <p:cNvPr id="11" name="Shape 9"/>
          <p:cNvSpPr/>
          <p:nvPr/>
        </p:nvSpPr>
        <p:spPr>
          <a:xfrm>
            <a:off x="822960" y="3429000"/>
            <a:ext cx="365760" cy="365760"/>
          </a:xfrm>
          <a:prstGeom prst="ellipse">
            <a:avLst/>
          </a:prstGeom>
          <a:solidFill>
            <a:srgbClr val="111111"/>
          </a:solidFill>
          <a:ln w="15875">
            <a:solidFill>
              <a:srgbClr val="F2F0EA"/>
            </a:solidFill>
            <a:prstDash val="solid"/>
          </a:ln>
        </p:spPr>
      </p:sp>
      <p:sp>
        <p:nvSpPr>
          <p:cNvPr id="12" name="Text 10"/>
          <p:cNvSpPr/>
          <p:nvPr/>
        </p:nvSpPr>
        <p:spPr>
          <a:xfrm>
            <a:off x="822960" y="3429000"/>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1</a:t>
            </a:r>
            <a:endParaRPr lang="en-US" sz="1300" dirty="0"/>
          </a:p>
        </p:txBody>
      </p:sp>
      <p:sp>
        <p:nvSpPr>
          <p:cNvPr id="13" name="Text 11"/>
          <p:cNvSpPr/>
          <p:nvPr/>
        </p:nvSpPr>
        <p:spPr>
          <a:xfrm>
            <a:off x="1417320" y="3438144"/>
            <a:ext cx="9174175" cy="663956"/>
          </a:xfrm>
          <a:prstGeom prst="rect">
            <a:avLst/>
          </a:prstGeom>
          <a:noFill/>
          <a:ln/>
        </p:spPr>
        <p:txBody>
          <a:bodyPr wrap="square" lIns="0" tIns="0" rIns="0" bIns="0" rtlCol="0" anchor="t">
            <a:normAutofit/>
          </a:bodyPr>
          <a:lstStyle/>
          <a:p>
            <a:pPr indent="0" marL="0">
              <a:lnSpc>
                <a:spcPct val="105000"/>
              </a:lnSpc>
              <a:buNone/>
            </a:pPr>
            <a:r>
              <a:rPr lang="en-US" sz="1400" dirty="0">
                <a:solidFill>
                  <a:srgbClr val="F2F0EA"/>
                </a:solidFill>
                <a:latin typeface="Arial" pitchFamily="34" charset="0"/>
                <a:ea typeface="Arial" pitchFamily="34" charset="-122"/>
                <a:cs typeface="Arial" pitchFamily="34" charset="-120"/>
              </a:rPr>
              <a:t>Diz na primeira frase como se dá voz a pelo menos dois dos três: o desejo, o elogio, a crítica.</a:t>
            </a:r>
            <a:endParaRPr lang="en-US" sz="1400" dirty="0"/>
          </a:p>
        </p:txBody>
      </p:sp>
      <p:sp>
        <p:nvSpPr>
          <p:cNvPr id="14" name="Shape 12"/>
          <p:cNvSpPr/>
          <p:nvPr/>
        </p:nvSpPr>
        <p:spPr>
          <a:xfrm>
            <a:off x="822960" y="4092956"/>
            <a:ext cx="365760" cy="365760"/>
          </a:xfrm>
          <a:prstGeom prst="ellipse">
            <a:avLst/>
          </a:prstGeom>
          <a:solidFill>
            <a:srgbClr val="111111"/>
          </a:solidFill>
          <a:ln w="15875">
            <a:solidFill>
              <a:srgbClr val="F2F0EA"/>
            </a:solidFill>
            <a:prstDash val="solid"/>
          </a:ln>
        </p:spPr>
      </p:sp>
      <p:sp>
        <p:nvSpPr>
          <p:cNvPr id="15" name="Text 13"/>
          <p:cNvSpPr/>
          <p:nvPr/>
        </p:nvSpPr>
        <p:spPr>
          <a:xfrm>
            <a:off x="822960" y="4092956"/>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2</a:t>
            </a:r>
            <a:endParaRPr lang="en-US" sz="1300" dirty="0"/>
          </a:p>
        </p:txBody>
      </p:sp>
      <p:sp>
        <p:nvSpPr>
          <p:cNvPr id="16" name="Text 14"/>
          <p:cNvSpPr/>
          <p:nvPr/>
        </p:nvSpPr>
        <p:spPr>
          <a:xfrm>
            <a:off x="1417320" y="4102100"/>
            <a:ext cx="9174175" cy="663956"/>
          </a:xfrm>
          <a:prstGeom prst="rect">
            <a:avLst/>
          </a:prstGeom>
          <a:noFill/>
          <a:ln/>
        </p:spPr>
        <p:txBody>
          <a:bodyPr wrap="square" lIns="0" tIns="0" rIns="0" bIns="0" rtlCol="0" anchor="t">
            <a:normAutofit/>
          </a:bodyPr>
          <a:lstStyle/>
          <a:p>
            <a:pPr indent="0" marL="0">
              <a:lnSpc>
                <a:spcPct val="105000"/>
              </a:lnSpc>
              <a:buNone/>
            </a:pPr>
            <a:r>
              <a:rPr lang="en-US" sz="1400" dirty="0">
                <a:solidFill>
                  <a:srgbClr val="F2F0EA"/>
                </a:solidFill>
                <a:latin typeface="Arial" pitchFamily="34" charset="0"/>
                <a:ea typeface="Arial" pitchFamily="34" charset="-122"/>
                <a:cs typeface="Arial" pitchFamily="34" charset="-120"/>
              </a:rPr>
              <a:t>Usa duas passagens de aulas diferentes da unidade, citadas corretamente e entre aspas, e diz de que cantiga são.</a:t>
            </a:r>
            <a:endParaRPr lang="en-US" sz="1400" dirty="0"/>
          </a:p>
        </p:txBody>
      </p:sp>
      <p:sp>
        <p:nvSpPr>
          <p:cNvPr id="17" name="Shape 15"/>
          <p:cNvSpPr/>
          <p:nvPr/>
        </p:nvSpPr>
        <p:spPr>
          <a:xfrm>
            <a:off x="822960" y="4756912"/>
            <a:ext cx="365760" cy="365760"/>
          </a:xfrm>
          <a:prstGeom prst="ellipse">
            <a:avLst/>
          </a:prstGeom>
          <a:solidFill>
            <a:srgbClr val="111111"/>
          </a:solidFill>
          <a:ln w="15875">
            <a:solidFill>
              <a:srgbClr val="F2F0EA"/>
            </a:solidFill>
            <a:prstDash val="solid"/>
          </a:ln>
        </p:spPr>
      </p:sp>
      <p:sp>
        <p:nvSpPr>
          <p:cNvPr id="18" name="Text 16"/>
          <p:cNvSpPr/>
          <p:nvPr/>
        </p:nvSpPr>
        <p:spPr>
          <a:xfrm>
            <a:off x="822960" y="4756912"/>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3</a:t>
            </a:r>
            <a:endParaRPr lang="en-US" sz="1300" dirty="0"/>
          </a:p>
        </p:txBody>
      </p:sp>
      <p:sp>
        <p:nvSpPr>
          <p:cNvPr id="19" name="Text 17"/>
          <p:cNvSpPr/>
          <p:nvPr/>
        </p:nvSpPr>
        <p:spPr>
          <a:xfrm>
            <a:off x="1417320" y="4766056"/>
            <a:ext cx="9174175" cy="663956"/>
          </a:xfrm>
          <a:prstGeom prst="rect">
            <a:avLst/>
          </a:prstGeom>
          <a:noFill/>
          <a:ln/>
        </p:spPr>
        <p:txBody>
          <a:bodyPr wrap="square" lIns="0" tIns="0" rIns="0" bIns="0" rtlCol="0" anchor="t">
            <a:normAutofit/>
          </a:bodyPr>
          <a:lstStyle/>
          <a:p>
            <a:pPr indent="0" marL="0">
              <a:lnSpc>
                <a:spcPct val="105000"/>
              </a:lnSpc>
              <a:buNone/>
            </a:pPr>
            <a:r>
              <a:rPr lang="en-US" sz="1400" dirty="0">
                <a:solidFill>
                  <a:srgbClr val="F2F0EA"/>
                </a:solidFill>
                <a:latin typeface="Arial" pitchFamily="34" charset="0"/>
                <a:ea typeface="Arial" pitchFamily="34" charset="-122"/>
                <a:cs typeface="Arial" pitchFamily="34" charset="-120"/>
              </a:rPr>
              <a:t>Separa quem escreve de quem diz «eu» e usa pelo menos um termo da unidade com o seu sentido (cantiga de amigo, cantiga de amor, hipérbole, escárnio e maldizer, ironia, paródia).</a:t>
            </a:r>
            <a:endParaRPr lang="en-US" sz="1400" dirty="0"/>
          </a:p>
        </p:txBody>
      </p:sp>
      <p:sp>
        <p:nvSpPr>
          <p:cNvPr id="20" name="Shape 18"/>
          <p:cNvSpPr/>
          <p:nvPr/>
        </p:nvSpPr>
        <p:spPr>
          <a:xfrm>
            <a:off x="822960" y="5420868"/>
            <a:ext cx="365760" cy="365760"/>
          </a:xfrm>
          <a:prstGeom prst="ellipse">
            <a:avLst/>
          </a:prstGeom>
          <a:solidFill>
            <a:srgbClr val="111111"/>
          </a:solidFill>
          <a:ln w="15875">
            <a:solidFill>
              <a:srgbClr val="F2F0EA"/>
            </a:solidFill>
            <a:prstDash val="solid"/>
          </a:ln>
        </p:spPr>
      </p:sp>
      <p:sp>
        <p:nvSpPr>
          <p:cNvPr id="21" name="Text 19"/>
          <p:cNvSpPr/>
          <p:nvPr/>
        </p:nvSpPr>
        <p:spPr>
          <a:xfrm>
            <a:off x="822960" y="5420868"/>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4</a:t>
            </a:r>
            <a:endParaRPr lang="en-US" sz="1300" dirty="0"/>
          </a:p>
        </p:txBody>
      </p:sp>
      <p:sp>
        <p:nvSpPr>
          <p:cNvPr id="22" name="Text 20"/>
          <p:cNvSpPr/>
          <p:nvPr/>
        </p:nvSpPr>
        <p:spPr>
          <a:xfrm>
            <a:off x="1417320" y="5430012"/>
            <a:ext cx="9174175" cy="441706"/>
          </a:xfrm>
          <a:prstGeom prst="rect">
            <a:avLst/>
          </a:prstGeom>
          <a:noFill/>
          <a:ln/>
        </p:spPr>
        <p:txBody>
          <a:bodyPr wrap="square" lIns="0" tIns="0" rIns="0" bIns="0" rtlCol="0" anchor="t">
            <a:normAutofit/>
          </a:bodyPr>
          <a:lstStyle/>
          <a:p>
            <a:pPr indent="0" marL="0">
              <a:lnSpc>
                <a:spcPct val="105000"/>
              </a:lnSpc>
              <a:buNone/>
            </a:pPr>
            <a:r>
              <a:rPr lang="en-US" sz="1400" dirty="0">
                <a:solidFill>
                  <a:srgbClr val="F2F0EA"/>
                </a:solidFill>
                <a:latin typeface="Arial" pitchFamily="34" charset="0"/>
                <a:ea typeface="Arial" pitchFamily="34" charset="-122"/>
                <a:cs typeface="Arial" pitchFamily="34" charset="-120"/>
              </a:rPr>
              <a:t>Explica o que cada passagem mostra, sem ficar pela citação.</a:t>
            </a:r>
            <a:endParaRPr lang="en-US" sz="14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1, aula 6: A voz emprestada</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49</a:t>
            </a:r>
            <a:endParaRPr lang="en-US" sz="1000" dirty="0"/>
          </a:p>
        </p:txBody>
      </p:sp>
      <p:sp>
        <p:nvSpPr>
          <p:cNvPr id="5" name="Shape 3"/>
          <p:cNvSpPr/>
          <p:nvPr/>
        </p:nvSpPr>
        <p:spPr>
          <a:xfrm>
            <a:off x="822960" y="502920"/>
            <a:ext cx="201168" cy="201168"/>
          </a:xfrm>
          <a:prstGeom prst="triangle">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PARA LEVAR</a:t>
            </a:r>
            <a:endParaRPr lang="en-US" sz="1100" dirty="0"/>
          </a:p>
        </p:txBody>
      </p:sp>
      <p:sp>
        <p:nvSpPr>
          <p:cNvPr id="7" name="Text 5"/>
          <p:cNvSpPr/>
          <p:nvPr/>
        </p:nvSpPr>
        <p:spPr>
          <a:xfrm>
            <a:off x="822960" y="1097280"/>
            <a:ext cx="9814255" cy="3291840"/>
          </a:xfrm>
          <a:prstGeom prst="rect">
            <a:avLst/>
          </a:prstGeom>
          <a:noFill/>
          <a:ln/>
        </p:spPr>
        <p:txBody>
          <a:bodyPr wrap="square" lIns="0" tIns="0" rIns="0" bIns="0" rtlCol="0" anchor="b">
            <a:normAutofit/>
          </a:bodyPr>
          <a:lstStyle/>
          <a:p>
            <a:pPr indent="0" marL="0">
              <a:lnSpc>
                <a:spcPct val="115000"/>
              </a:lnSpc>
              <a:buNone/>
            </a:pPr>
            <a:r>
              <a:rPr lang="en-US" sz="3600" i="1" dirty="0">
                <a:solidFill>
                  <a:srgbClr val="F2F0EA"/>
                </a:solidFill>
                <a:latin typeface="Georgia" pitchFamily="34" charset="0"/>
                <a:ea typeface="Georgia" pitchFamily="34" charset="-122"/>
                <a:cs typeface="Georgia" pitchFamily="34" charset="-120"/>
              </a:rPr>
              <a:t>O «eu» de uma cantiga é uma voz emprestada: alguém a escreveu, alguém a cantou, alguém a aceitou. Ler é perguntar quem, a quem, e para quê.</a:t>
            </a:r>
            <a:endParaRPr lang="en-US" sz="3600" dirty="0"/>
          </a:p>
        </p:txBody>
      </p:sp>
      <p:sp>
        <p:nvSpPr>
          <p:cNvPr id="8" name="Shape 6"/>
          <p:cNvSpPr/>
          <p:nvPr/>
        </p:nvSpPr>
        <p:spPr>
          <a:xfrm>
            <a:off x="822960" y="4526280"/>
            <a:ext cx="640080" cy="64008"/>
          </a:xfrm>
          <a:prstGeom prst="rect">
            <a:avLst/>
          </a:prstGeom>
          <a:solidFill>
            <a:srgbClr val="E4555C"/>
          </a:solidFill>
          <a:ln w="12700">
            <a:solidFill>
              <a:srgbClr val="E4555C"/>
            </a:solidFill>
            <a:prstDash val="solid"/>
          </a:ln>
        </p:spPr>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3"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Módulo 1, aula 6: A voz emprestada</a:t>
            </a:r>
            <a:endParaRPr lang="en-US" sz="1000" dirty="0"/>
          </a:p>
        </p:txBody>
      </p:sp>
      <p:sp>
        <p:nvSpPr>
          <p:cNvPr id="4"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50</a:t>
            </a:r>
            <a:endParaRPr lang="en-US" sz="1000" dirty="0"/>
          </a:p>
        </p:txBody>
      </p:sp>
      <p:sp>
        <p:nvSpPr>
          <p:cNvPr id="5" name="Shape 3"/>
          <p:cNvSpPr/>
          <p:nvPr/>
        </p:nvSpPr>
        <p:spPr>
          <a:xfrm>
            <a:off x="822960" y="502920"/>
            <a:ext cx="201168" cy="201168"/>
          </a:xfrm>
          <a:prstGeom prst="triangle">
            <a:avLst/>
          </a:prstGeom>
          <a:ln w="19050">
            <a:solidFill>
              <a:srgbClr val="F2F0EA"/>
            </a:solidFill>
            <a:prstDash val="solid"/>
          </a:ln>
        </p:spPr>
      </p:sp>
      <p:sp>
        <p:nvSpPr>
          <p:cNvPr id="6"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ATÉ À PRÓXIMA AULA</a:t>
            </a:r>
            <a:endParaRPr lang="en-US" sz="1100" dirty="0"/>
          </a:p>
        </p:txBody>
      </p:sp>
      <p:sp>
        <p:nvSpPr>
          <p:cNvPr id="7" name="Text 5"/>
          <p:cNvSpPr/>
          <p:nvPr/>
        </p:nvSpPr>
        <p:spPr>
          <a:xfrm>
            <a:off x="822960" y="868680"/>
            <a:ext cx="6705295" cy="822960"/>
          </a:xfrm>
          <a:prstGeom prst="rect">
            <a:avLst/>
          </a:prstGeom>
          <a:noFill/>
          <a:ln/>
        </p:spPr>
        <p:txBody>
          <a:bodyPr wrap="square" lIns="0" tIns="0" rIns="0" bIns="0" rtlCol="0" anchor="b"/>
          <a:lstStyle/>
          <a:p>
            <a:pPr indent="0" marL="0">
              <a:buNone/>
            </a:pPr>
            <a:r>
              <a:rPr lang="en-US" sz="3600" dirty="0">
                <a:solidFill>
                  <a:srgbClr val="F2F0EA"/>
                </a:solidFill>
                <a:latin typeface="Arial" pitchFamily="34" charset="0"/>
                <a:ea typeface="Arial" pitchFamily="34" charset="-122"/>
                <a:cs typeface="Arial" pitchFamily="34" charset="-120"/>
              </a:rPr>
              <a:t>Para ir mais longe</a:t>
            </a:r>
            <a:endParaRPr lang="en-US" sz="3600" dirty="0"/>
          </a:p>
        </p:txBody>
      </p:sp>
      <p:sp>
        <p:nvSpPr>
          <p:cNvPr id="8" name="Shape 6"/>
          <p:cNvSpPr/>
          <p:nvPr/>
        </p:nvSpPr>
        <p:spPr>
          <a:xfrm>
            <a:off x="822960" y="1746504"/>
            <a:ext cx="640080" cy="64008"/>
          </a:xfrm>
          <a:prstGeom prst="rect">
            <a:avLst/>
          </a:prstGeom>
          <a:solidFill>
            <a:srgbClr val="E4555C"/>
          </a:solidFill>
          <a:ln w="12700">
            <a:solidFill>
              <a:srgbClr val="E4555C"/>
            </a:solidFill>
            <a:prstDash val="solid"/>
          </a:ln>
        </p:spPr>
      </p:sp>
      <p:sp>
        <p:nvSpPr>
          <p:cNvPr id="9" name="Text 7"/>
          <p:cNvSpPr/>
          <p:nvPr/>
        </p:nvSpPr>
        <p:spPr>
          <a:xfrm>
            <a:off x="822960" y="2103120"/>
            <a:ext cx="6522415" cy="3291840"/>
          </a:xfrm>
          <a:prstGeom prst="rect">
            <a:avLst/>
          </a:prstGeom>
          <a:noFill/>
          <a:ln/>
        </p:spPr>
        <p:txBody>
          <a:bodyPr wrap="square" lIns="0" tIns="0" rIns="0" bIns="0" rtlCol="0" anchor="t">
            <a:normAutofit/>
          </a:bodyPr>
          <a:lstStyle/>
          <a:p>
            <a:pPr indent="0" marL="0">
              <a:lnSpc>
                <a:spcPct val="120000"/>
              </a:lnSpc>
              <a:buNone/>
            </a:pPr>
            <a:r>
              <a:rPr lang="en-US" sz="2400" dirty="0">
                <a:solidFill>
                  <a:srgbClr val="F2F0EA"/>
                </a:solidFill>
                <a:latin typeface="Georgia" pitchFamily="34" charset="0"/>
                <a:ea typeface="Georgia" pitchFamily="34" charset="-122"/>
                <a:cs typeface="Georgia" pitchFamily="34" charset="-120"/>
              </a:rPr>
              <a:t>Para ir mais longe (opcional): refazer o exercício sozinho, no telemóvel, ao teu ritmo (cerca de 22 minutos); e, depois de leres o Ler a fundo «No tempo da flor» (D. Dinis, cantiga 548), escrever no caderno, em três linhas, se o «eu» de D. Dinis te convence mais do que o da rapariga de Mendinho, com um verso de cada. Quem não passou o desafio repete-o, com perguntas novas; todos registam a síntese no percurso. Se quiseres mais: o Ler a fundo «As flores respondem» (a cantiga do Ato 2 inteira), Corta!, «A madrugada de Torneol», no percurso, e, se não entraram na aula 5, o Ler a fundo «Louvar e troçar» e o Olhar «Cancioneiro da Ajuda».</a:t>
            </a:r>
            <a:endParaRPr lang="en-US" sz="2400" dirty="0"/>
          </a:p>
        </p:txBody>
      </p:sp>
      <p:sp>
        <p:nvSpPr>
          <p:cNvPr id="10" name="Shape 8"/>
          <p:cNvSpPr/>
          <p:nvPr/>
        </p:nvSpPr>
        <p:spPr>
          <a:xfrm>
            <a:off x="8515807" y="1078992"/>
            <a:ext cx="2962656" cy="2962656"/>
          </a:xfrm>
          <a:prstGeom prst="rect">
            <a:avLst/>
          </a:prstGeom>
          <a:solidFill>
            <a:srgbClr val="FFFFFF"/>
          </a:solidFill>
          <a:ln w="12700">
            <a:solidFill>
              <a:srgbClr val="F2F0EA"/>
            </a:solidFill>
            <a:prstDash val="solid"/>
          </a:ln>
        </p:spPr>
      </p:sp>
      <p:pic>
        <p:nvPicPr>
          <p:cNvPr id="11" name="Image 0" descr="/tmp/aulas-diap-TXxbXe/qr-6.png">    </p:cNvPr>
          <p:cNvPicPr>
            <a:picLocks noChangeAspect="1"/>
          </p:cNvPicPr>
          <p:nvPr/>
        </p:nvPicPr>
        <p:blipFill>
          <a:blip r:embed="rId1"/>
          <a:stretch>
            <a:fillRect/>
          </a:stretch>
        </p:blipFill>
        <p:spPr>
          <a:xfrm>
            <a:off x="8625535" y="1188720"/>
            <a:ext cx="2743200" cy="27432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Módulo 1, aula 6: A voz emprestada</dc:title>
  <dc:subject>PptxGenJS Presentation</dc:subject>
  <dc:creator>EPI, Português</dc:creator>
  <cp:lastModifiedBy>EPI, Português</cp:lastModifiedBy>
  <cp:revision>1</cp:revision>
  <dcterms:created xsi:type="dcterms:W3CDTF">2026-10-24T11:04:22Z</dcterms:created>
  <dcterms:modified xsi:type="dcterms:W3CDTF">2026-10-24T11:04:22Z</dcterms:modified>
</cp:coreProperties>
</file>