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14: Ondas, gritos e grãos de trigo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1.º ANO, MÓDULO 1, UNIDADE 2: A CIDADE NA CRÓNICA DE FERNÃO LOPES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68580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50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Ondas, gritos e grãos de trigo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9768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Pôr lado a lado a voz que sofre sozinha na cantiga de Martim Codax e a multidão sem nome da crónica de Fernão Lopes, rever a forma da cantiga (paralelismo e refrão) e a apócope de «mar», ver por dentro uma resposta curta e fechar a unidade 2 com o desafio e a síntese.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515807" y="1078992"/>
            <a:ext cx="2962656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5" name="Image 0" descr="/tmp/aulas-diap-TXxbXe/qr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5535" y="1188720"/>
            <a:ext cx="2743200" cy="27432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442655" y="4160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pedrohfernandes-klk.github.io/pt/m1/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licao-m1-f11/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14: Ondas, gritos e grãos de trigo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HOJE, 90 MINUTOS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Ondas, gritos e grãos de trigo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0" y="209397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Pôr lado a lado a voz que sofre sozinha na cantiga de Martim Codax e a multidão sem nome da crónica de Fernão Lopes, rever a forma da cantiga (paralelismo e refrão) e a apócope de «mar», ver por dentro uma resposta curta e fechar a unidade 2 com o desafio e a síntese.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2296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341985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minutos: 12 cartões, uma resposta curta vista por dentro, o desafio da unidade 2 e a síntese escrita.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22960" y="4800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0" y="474573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papel, seis a oito linhas, individual: como transforma o cronista uma multidão em protagonista? Com duas passagens de aulas diferentes, entre aspas.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14: Ondas, gritos e grãos de trigo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</a:t>
            </a:r>
            <a:endParaRPr lang="en-US" sz="1100" dirty="0"/>
          </a:p>
        </p:txBody>
      </p:sp>
      <p:pic>
        <p:nvPicPr>
          <p:cNvPr id="7" name="Image 0" descr="Duas páginas de pergaminho escritas a duas colunas: linhas de texto com letras iniciais grandes a vermelho e azul e, por cima de algumas linhas, pautas vermelhas com notas de música preta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914400"/>
            <a:ext cx="4206240" cy="304451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032069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Pergaminho Vindel, com cantigas de Martim Codax e a música. Domínio público.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0" y="914400"/>
            <a:ext cx="5516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Ondas, gritos e grãos de trigo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822960" y="1901952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0" y="2148840"/>
            <a:ext cx="551657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Procura as notas de música: as cantigas de Martim Codax cantavam-se, e no alto à esquerda começa a de uma rapariga que pergunta às ondas pelo amigo. Na crónica de Fernão Lopes, sem música, homens e moços esgravatam a terra por um grão de trigo.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5486400" y="4389120"/>
            <a:ext cx="55165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voz sozinha, uma multidão sem nome: como faz cada texto sentir quem sofre?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14: Ondas, gritos e grãos de trigo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TEXTO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101800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Martim Codax, «Ondas do mar de Vigo»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822960" y="1810512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057400"/>
            <a:ext cx="101800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LER  </a:t>
            </a:r>
            <a:pPr indent="0" marL="0"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as duas estrofes em voz alta. Repara no verso que fecha as duas: a pergunta que a rapariga faz chega a ter resposta?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566160"/>
            <a:ext cx="101800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Ondas do mar de Vigo, se vistes meu amigo? e ai Deus, se verrá cedo? Ondas do mar levado, 5se vistes meu amado? e ai Deus, se verrá cedo?Martim Codax (séc. XIII), «Ondas do mar de Vigo», cantiga 1308, </a:t>
            </a:r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Cantigas Medievais Galego-Portuguesas</a:t>
            </a:r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(FCSH/NOVA): as duas primeiras estrofes de quatro.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14: Ondas, gritos e grãos de trigo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i="1" dirty="0">
                <a:solidFill>
                  <a:srgbClr val="A9A7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«Ondas do mar de Vigo, / se vistes meu amigo?»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Toca nas duas palavras da estrofe 2 que não estão na estrofe 1.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291840"/>
            <a:ext cx="98142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Ondas do mar levado, se vistes meu amado?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14: Ondas, gritos e grãos de trigo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levado, amado?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Levado</a:t>
            </a:r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troca «de Vigo» e </a:t>
            </a:r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amado</a:t>
            </a:r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troca «amigo»; o resto repete-se. É o </a:t>
            </a:r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paralelismo</a:t>
            </a:r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a estrofe 2 diz quase o mesmo que a 1, com duas palavras trocadas. O refrão, esse, fica igual.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14: Ondas, gritos e grãos de trigo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i="1" dirty="0">
                <a:solidFill>
                  <a:srgbClr val="A9A7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«Ondas do mar de Vigo,»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«Mar» vem do latim «mare». Um colega diz: «É síncope, porque a palavra encurtou.» Onde erra?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474720"/>
            <a:ext cx="0" cy="1200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30098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Erra no processo: juntou-se um som, é paragoge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22960" y="38922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892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90144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Caiu o </a:t>
            </a:r>
            <a:pPr indent="0" marL="0">
              <a:lnSpc>
                <a:spcPct val="105000"/>
              </a:lnSpc>
              <a:buNone/>
            </a:pPr>
            <a:r>
              <a:rPr lang="en-US" sz="24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 fim: é apócope; a síncope é no meio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22960" y="449275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92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50189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Erra no lugar: caiu o som do início, é aférese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14: Ondas, gritos e grãos de trigo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Caiu o </a:t>
            </a:r>
            <a:pPr indent="0" marL="0">
              <a:buNone/>
            </a:pPr>
            <a:r>
              <a:rPr lang="en-US" sz="3400" b="1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 fim: é apócope; a síncope é no meio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Cai o </a:t>
            </a:r>
            <a:pPr indent="0" marL="0">
              <a:lnSpc>
                <a:spcPct val="120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do fim de «mare»: </a:t>
            </a:r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apócope</a:t>
            </a:r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O nome vem do lugar do som que cai: no início, aférese; no meio, síncope; no fim, apócope (aula 3). A gramática da prova também mora dentro da cantiga.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14: Ondas, gritos e grãos de trigo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LER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 iluminura, Lisboa cercada vista de fora: lá dentro, só figuras pequenas numa praça. Lê o que o cronista mostra lá dentro: procura quem age, e se alguém tem nome.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14: Ondas, gritos e grãos de trigo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TEXTO: B. FERNÃO LOPES, O GRÃO DE TRIGO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[1]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No lugar onde costumavam a vender o trigo, andavam homens e moços esgravatando a terra, e se achavam algum grão de trigo metiam-no na boca, sem tendo outro mantimento.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Fernão Lopes, </a:t>
            </a:r>
            <a:pPr indent="0" marL="0">
              <a:buNone/>
            </a:pPr>
            <a:r>
              <a:rPr lang="en-US" sz="11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Crónica de D. João I</a:t>
            </a:r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(edição de 1897), cap. CXLVIII, grafia atualizada (excerto).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14: Ondas, gritos e grãos de trigo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i="1" dirty="0">
                <a:solidFill>
                  <a:srgbClr val="A9A7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«andavam homens e moços esgravatando a terra»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 cantiga sofre um «eu». Aqui, «homens e moços» sem nome. Que efeito tem isso?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474720"/>
            <a:ext cx="0" cy="1200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30098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quem sofre é um grupo inteiro, não uma pessoa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22960" y="38922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892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90144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o lugar importa mais do que as pessoas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22960" y="449275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92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50189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o cronista não sabia quem eles eram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14: Ondas, gritos e grãos de trigo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quem sofre é um grupo inteiro, não uma pessoa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 nomes e com o mesmo gesto, os «homens e moços» são uma </a:t>
            </a:r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personagem coletiva</a:t>
            </a:r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(aula 7): quem sofre não é um, é um grupo inteiro. Na cantiga, ao contrário, sofre um «eu» que fala de si.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14: Ondas, gritos e grãos de trigo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PARALELO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Cantiga e crónica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Cantiga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22960" y="2651760"/>
            <a:ext cx="49985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Fala uma rapariga, de si, e pergunta às ondas.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Sofrimento individual de amor: «e ai Deus, se verrá cedo?»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forma repete: refrão e paralelismo.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370168" y="2103120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Crónica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370168" y="2651760"/>
            <a:ext cx="49985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narrador construído por Fernão Lopes conta o que os outros fazem.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Sofrimento coletivo pela fome: homens e moços «esgravatando a terra».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ver: o grão metido na boca.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095848" y="2103120"/>
            <a:ext cx="0" cy="28346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16636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 cantiga, quem diz «eu» é o sujeito poético; na crónica, quem conta é o narrador: nenhum se confunde com o autor.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14: Ondas, gritos e grãos de trigo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Versos e frases de outras aulas: de quem é a voz em cada um?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14600"/>
            <a:ext cx="463280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«logo todos direitamente corriam pera lá»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«Matam o Mestre! Matam o Mestre nos paços da rainha!»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«não cabiam pelas ruas principais e atravessavam lugares escusos»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«Sedia-m'eu na ermida de Sam Simion» (Mendinho)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04408" y="2514600"/>
            <a:ext cx="463280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narrador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personagem, em discurso direto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sujeito poético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14: Ondas, gritos e grãos de trigo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«Sedia-m'eu na ermida de Sam Simion» (Mendinho) → sujeito poético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«não cabiam pelas ruas principais e atravessavam lugares escusos» → narrador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«logo todos direitamente corriam pera lá» → narrador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«Matam o Mestre! Matam o Mestre nos paços da rainha!» → uma personagem, em discurso direto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35204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794760"/>
            <a:ext cx="9814255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 </a:t>
            </a:r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cantiga</a:t>
            </a:r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quem diz «eu» é o sujeito poético. Na </a:t>
            </a:r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crónica</a:t>
            </a:r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o narrador conta a multidão e dá a palavra ao pajem, em discurso direto. Fernão Lopes é o autor; e a rapariga de Mendinho também não se confunde com quem a escreveu.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14: Ondas, gritos e grãos de trigo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MODELO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resposta curta, por dentro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981425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faz o refrão na cantiga de Codax?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 refrão faz durar a espera.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«e ai Deus, se verrá cedo?» fecha as duas estrofes, igual; o paralelismo troca «amigo» por «amado», e a pergunta não muda.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Mas o refrão pode servir só para ajudar a cantar.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Mesmo assim, a pergunta volta sem resposta: a espera não acaba.Resposta feita para a lição.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14: Ondas, gritos e grãos de trigo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Resposta curta: porque escreve Fernão Lopes como um repórter? Põe as frases por ordem.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14600"/>
            <a:ext cx="9814255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ver «homens e moços esgravatando a terra» e «todos» a correr ao sino.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 escreve décadas depois do cerco, por encomenda régia.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Mesmo assim, faz ver a cena como quem lá esteve.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Escreve como um repórter: põe quem lê no meio da cena.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14: Ondas, gritos e grãos de trigo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Escreve como um repórter: põe quem lê no meio da cena.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ver «homens e moços esgravatando a terra» e «todos» a correr ao sino.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 escreve décadas depois do cerco, por encomenda régia.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Mesmo assim, faz ver a cena como quem lá esteve.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35204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794760"/>
            <a:ext cx="9814255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Primeiro a resposta; depois as duas provas, os «homens e moços» e «todos» ao sino; a objeção, com «Mas»; e, com «Mesmo assim», o que fica de pé. A ordem do modelo, noutra pergunta.</a:t>
            </a:r>
            <a:endParaRPr lang="en-US" sz="2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14: Ondas, gritos e grãos de trigo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1 DE 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 cantiga, as estrofes trocam duas palavras e a pergunta do fim nunca muda. Porque não acaba a cantiga com uma resposta?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14: Ondas, gritos e grãos de trigo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2 DE 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resposta curta acaba no que fica de pé depois da objeção. Porque não acabar logo nas provas, sem objeção?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14: Ondas, gritos e grãos de trigo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3 DE 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«Um narrador construído por Fernão Lopes»: porque não dizer só que quem conta é Fernão Lopes?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14: Ondas, gritos e grãos de trigo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4 DE 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transforma o cronista uma multidão em protagonista?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14: Ondas, gritos e grãos de trigo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PAPEL, O QUE SE ENTREGA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transforma o cronista uma multidão em protagonista? Responde em seis a oito linhas, com duas passagens de aulas diferentes, entre aspas.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6974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71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CONTA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0" y="3611880"/>
            <a:ext cx="0" cy="176961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4290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438144"/>
            <a:ext cx="9174175" cy="663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na primeira frase: o cronista faz a multidão agir como uma só figura, sem nomes (personagem coletiva).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40929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0929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4102100"/>
            <a:ext cx="9174175" cy="663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duas passagens de aulas diferentes da unidade, entre aspas, e diz o que cada uma mostra.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" y="47569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756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766056"/>
            <a:ext cx="9174175" cy="441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 como o cronista faz ver a multidão: um gesto, um som ou um movimento (visualismo).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" y="519861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19861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5207762"/>
            <a:ext cx="9174175" cy="441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a uma objeção com o texto e diz o que fica de pé.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14: Ondas, gritos e grãos de trigo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«E ai Deus, se verrá cedo?»: a pergunta que fica sem resposta, na cantiga de Martim Codax.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14: Ondas, gritos e grãos de trigo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6705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ir mais longe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65224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ir mais longe (opcional, em casa): 5 cartões de pergunta e 3 de leitura. O leixa-pren que não há entre as estrofes 1 e 2 de Codax; um incêndio contado por uma multidão sem nomes ou por um «eu»; a gramática para a prova, com o «Recorda» dos complementos e quatro grupos novos (um deles de Codax) e o «Recorda» das coordenadas com o «mas» trocado por «e»; e um plano para a exposição da prova, com o exemplo que serve ao primeiro desenvolvimento. No percurso: registar a síntese como feita, repetir o desafio se não passou, e a atividade «Ondas do mar de Vigo» (Ler a fundo).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515807" y="1078992"/>
            <a:ext cx="2962656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1" name="Image 0" descr="/tmp/aulas-diap-TXxbXe/qr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5535" y="118872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1, aula 14: Ondas, gritos e grãos de trigo</dc:title>
  <dc:subject>PptxGenJS Presentation</dc:subject>
  <dc:creator>EPI, Português</dc:creator>
  <cp:lastModifiedBy>EPI, Português</cp:lastModifiedBy>
  <cp:revision>1</cp:revision>
  <dcterms:created xsi:type="dcterms:W3CDTF">2026-10-24T11:04:22Z</dcterms:created>
  <dcterms:modified xsi:type="dcterms:W3CDTF">2026-10-24T11:04:22Z</dcterms:modified>
</cp:coreProperties>
</file>