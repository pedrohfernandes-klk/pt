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1-1.jpg" ContentType="image/jpg"/>
  <Override PartName="/ppt/media/image-3-1.jpg" ContentType="image/jpg"/>
  <Override PartName="/ppt/media/image-4-1.jpg" ContentType="image/jpg"/>
  <Override PartName="/ppt/media/image-5-1.jpg" ContentType="image/jpg"/>
  <Override PartName="/ppt/media/image-6-1.jpg" ContentType="image/jpg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M5-F10, Sombrio casarão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" y="45720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PORTUGUÊS, 2.º ANO, MÓDULO 5, LIÇÃO M5-F10, UNIDADE 2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777240" y="685800"/>
            <a:ext cx="5212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5000" dirty="0"/>
          </a:p>
        </p:txBody>
      </p:sp>
      <p:sp>
        <p:nvSpPr>
          <p:cNvPr id="8" name="Text 5"/>
          <p:cNvSpPr/>
          <p:nvPr/>
        </p:nvSpPr>
        <p:spPr>
          <a:xfrm>
            <a:off x="822960" y="2697480"/>
            <a:ext cx="5212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4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Sombrio casarão</a:t>
            </a:r>
            <a:endParaRPr lang="en-US" sz="4000" dirty="0"/>
          </a:p>
        </p:txBody>
      </p:sp>
      <p:sp>
        <p:nvSpPr>
          <p:cNvPr id="9" name="Shape 6"/>
          <p:cNvSpPr/>
          <p:nvPr/>
        </p:nvSpPr>
        <p:spPr>
          <a:xfrm>
            <a:off x="822960" y="40690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22960" y="6089904"/>
            <a:ext cx="182880" cy="182880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52144" y="6089904"/>
            <a:ext cx="182880" cy="182880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481328" y="6089904"/>
            <a:ext cx="182880" cy="182880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874520" y="606247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lê, faz, leva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822960" y="4297680"/>
            <a:ext cx="52120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casa chama-se Ramalhete e parece uma residência de padres. O romance abre e fecha com ela, quase nas mesmas palavras.</a:t>
            </a:r>
            <a:endParaRPr lang="en-US" sz="2000" dirty="0"/>
          </a:p>
        </p:txBody>
      </p:sp>
      <p:pic>
        <p:nvPicPr>
          <p:cNvPr id="15" name="Image 0" descr="/home/user/epi-portugues-fontes/_interno/biblioteca-imagens/fontes/eca-de-queiros-guedes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613855" y="914400"/>
            <a:ext cx="4754880" cy="457200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6613855" y="914400"/>
            <a:ext cx="4754880" cy="4572000"/>
          </a:xfrm>
          <a:prstGeom prst="rect">
            <a:avLst/>
          </a:prstGeom>
          <a:ln w="12700">
            <a:solidFill>
              <a:srgbClr val="F2F0EA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613855" y="55778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Eça de Queirós (Fotografia Guedes, Porto, c. 1895). Domínio público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M5-F10, Sombrio casarão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ABRIR, CINCO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Falha-se a vida, ou deixa-se falhar?</a:t>
            </a:r>
            <a:endParaRPr lang="en-US" sz="4600" dirty="0"/>
          </a:p>
        </p:txBody>
      </p:sp>
      <p:sp>
        <p:nvSpPr>
          <p:cNvPr id="9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M5-F10, Sombrio casarão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pic>
        <p:nvPicPr>
          <p:cNvPr id="6" name="Image 0" descr="/home/user/epi-portugues-fontes/_interno/biblioteca-imagens/fontes/eca-de-queiros-guedes.jpg">    </p:cNvPr>
          <p:cNvPicPr>
            <a:picLocks noChangeAspect="1"/>
          </p:cNvPicPr>
          <p:nvPr/>
        </p:nvPicPr>
        <p:blipFill>
          <a:blip r:embed="rId1">
            <a:alphaModFix amt="8000"/>
          </a:blip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LER: A — INÍCIO (CAP. I) (1 DE 2)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22960" y="1005840"/>
            <a:ext cx="9814255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casa que os Maias vieram habitar em Lisboa, no outono de 1875, era conhecida na visinhança da rua de S. Francisco de Paula, e em todo o bairro das Janellas Verdes, pela </a:t>
            </a:r>
            <a:pPr indent="0" marL="0">
              <a:lnSpc>
                <a:spcPct val="125000"/>
              </a:lnSpc>
              <a:buNone/>
            </a:pPr>
            <a:r>
              <a:rPr lang="en-US" sz="22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casa do Ramalhete</a:t>
            </a:r>
            <a:pPr indent="0" marL="0">
              <a:lnSpc>
                <a:spcPct val="12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ou simplesmente o </a:t>
            </a:r>
            <a:pPr indent="0" marL="0">
              <a:lnSpc>
                <a:spcPct val="125000"/>
              </a:lnSpc>
              <a:buNone/>
            </a:pPr>
            <a:r>
              <a:rPr lang="en-US" sz="22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Ramalhete</a:t>
            </a:r>
            <a:pPr indent="0" marL="0">
              <a:lnSpc>
                <a:spcPct val="12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Apesar d'este fresco nome de vivenda campestre, o </a:t>
            </a:r>
            <a:pPr indent="0" marL="0">
              <a:lnSpc>
                <a:spcPct val="125000"/>
              </a:lnSpc>
              <a:buNone/>
            </a:pPr>
            <a:r>
              <a:rPr lang="en-US" sz="22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Ramalhete</a:t>
            </a:r>
            <a:pPr indent="0" marL="0">
              <a:lnSpc>
                <a:spcPct val="12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, sombrio casarão de paredes severas, com um renque de estreitas varandas de ferro no primeiro andar, e por cima uma timida fila de janellinhas abrigadas á beira do telhado, tinha o aspecto tristonho de Residencia Ecclesiastica que competia a uma edificação do reinado da sr.^a D. Maria I: com uma sineta e com uma cruz no topo assimilhar-se-hia a um Collegio de Jesuitas. O nome de Ramalhete provinha de certo d'um revestimento quadrado de azulejos fazendo painel no logar heraldico do Escudo d'Armas, que nunca chegara a ser collocado, e representando um grande ramo de girasoes atado por uma fita onde se distinguiam letras e numeros d'uma data.</a:t>
            </a:r>
            <a:endParaRPr lang="en-US" sz="2200" dirty="0"/>
          </a:p>
        </p:txBody>
      </p:sp>
      <p:sp>
        <p:nvSpPr>
          <p:cNvPr id="10" name="Text 6"/>
          <p:cNvSpPr/>
          <p:nvPr/>
        </p:nvSpPr>
        <p:spPr>
          <a:xfrm>
            <a:off x="822960" y="603504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Eça de Queirós, </a:t>
            </a:r>
            <a:pPr indent="0" marL="0">
              <a:buNone/>
            </a:pPr>
            <a:r>
              <a:rPr lang="en-US" sz="1200" i="1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Maias</a:t>
            </a:r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(1888), cap. I, grafia da edição.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M5-F10, Sombrio casarão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pic>
        <p:nvPicPr>
          <p:cNvPr id="6" name="Image 0" descr="/home/user/epi-portugues-fontes/_interno/biblioteca-imagens/fontes/eca-de-queiros-guedes.jpg">    </p:cNvPr>
          <p:cNvPicPr>
            <a:picLocks noChangeAspect="1"/>
          </p:cNvPicPr>
          <p:nvPr/>
        </p:nvPicPr>
        <p:blipFill>
          <a:blip r:embed="rId1">
            <a:alphaModFix amt="8000"/>
          </a:blip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LER: A — INÍCIO (CAP. I) (2 DE 2)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22960" y="1005840"/>
            <a:ext cx="9814255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Longos annos o Ramalhete permanecera deshabitado, com teias d'aranha pelas grades dos postigos terreos, e cobrindo-se de tons de ruina. Em 1858 Monsenhor Buccarini, Nuncio de S. Santidade, visitara-o com idéa d'installar lá a Nunciatura, seduzido pela gravidade clerical do edificio e pela paz dormente do bairro: e o interior do casarão agradara-lhe tambem, com a sua disposição apalaçada, os tectos apainelados, as paredes cobertas de </a:t>
            </a:r>
            <a:pPr indent="0" marL="0">
              <a:lnSpc>
                <a:spcPct val="125000"/>
              </a:lnSpc>
              <a:buNone/>
            </a:pPr>
            <a:r>
              <a:rPr lang="en-US" sz="22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frescos</a:t>
            </a:r>
            <a:pPr indent="0" marL="0">
              <a:lnSpc>
                <a:spcPct val="12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onde já desmaiavam as rosas das grinaldas e as faces dos Cupidinhos. Mas Monsenhor, com os seus habitos de rico prelado romano, necessitava na sua vivenda os arvoredos e as agoas d'um jardim de luxo: e o Ramalhete possuia apenas, ao fundo d'um terraço de tijolo, um pobre quintal inculto, abandonado ás hervas bravas, com um cypreste, um cedro, uma cascatasinha secca, um tanque entulhado, e uma estatua de marmore (onde Monsenhor reconheceu logo Venus Citherêa) ennegrecendo a um canto na lenta humidade das ramagens silvestres. Além d'isso, a renda que pedio o velho Villaça, procurador dos Maias, pareceu tão exagerada a Monsenhor, que lhe perguntou sorrindo se ainda julgava a Egreja nos tempos de Leão X. Villaça respondeu — que tambem a nobreza não estava nos tempos do sr. D. João V. E o Ramalhete continuou deshabitado.</a:t>
            </a:r>
            <a:endParaRPr lang="en-US" sz="2200" dirty="0"/>
          </a:p>
        </p:txBody>
      </p:sp>
      <p:sp>
        <p:nvSpPr>
          <p:cNvPr id="10" name="Text 6"/>
          <p:cNvSpPr/>
          <p:nvPr/>
        </p:nvSpPr>
        <p:spPr>
          <a:xfrm>
            <a:off x="822960" y="603504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Eça de Queirós, </a:t>
            </a:r>
            <a:pPr indent="0" marL="0">
              <a:buNone/>
            </a:pPr>
            <a:r>
              <a:rPr lang="en-US" sz="1200" i="1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Maias</a:t>
            </a:r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(1888), cap. I, grafia da edição.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M5-F10, Sombrio casarão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pic>
        <p:nvPicPr>
          <p:cNvPr id="6" name="Image 0" descr="/home/user/epi-portugues-fontes/_interno/biblioteca-imagens/fontes/eca-de-queiros-guedes.jpg">    </p:cNvPr>
          <p:cNvPicPr>
            <a:picLocks noChangeAspect="1"/>
          </p:cNvPicPr>
          <p:nvPr/>
        </p:nvPicPr>
        <p:blipFill>
          <a:blip r:embed="rId1">
            <a:alphaModFix amt="8000"/>
          </a:blip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LER: B — FIM (ÚLTIMO CAPÍTULO) (1 DE 2)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22960" y="1005840"/>
            <a:ext cx="9814255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Depois na rua Carlos parou, deu um longo olhar ao sombrio casarão, que n'aquella primeira penumbra tomava um aspecto mais carregado de residencia ecclesiastica, com as suas paredes severas, a sua fila de janellinhas fechadas, as grades dos postigos terreos cheias de treva, mudo, para sempre deshabitado, cobrindo-se já de tons de ruina.</a:t>
            </a:r>
            <a:endParaRPr lang="en-US" sz="2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Uma commoção passou-lhe n'alma, murmurou, travando do braço do Ega:</a:t>
            </a:r>
            <a:endParaRPr lang="en-US" sz="2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É curioso! Só vivi dois annos n'esta casa, e é n'ella que me parece estar mettida a minha vida inteira!</a:t>
            </a:r>
            <a:endParaRPr lang="en-US" sz="2200" dirty="0"/>
          </a:p>
        </p:txBody>
      </p:sp>
      <p:sp>
        <p:nvSpPr>
          <p:cNvPr id="10" name="Text 6"/>
          <p:cNvSpPr/>
          <p:nvPr/>
        </p:nvSpPr>
        <p:spPr>
          <a:xfrm>
            <a:off x="822960" y="603504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Eça de Queirós, </a:t>
            </a:r>
            <a:pPr indent="0" marL="0">
              <a:buNone/>
            </a:pPr>
            <a:r>
              <a:rPr lang="en-US" sz="1200" i="1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Maias</a:t>
            </a:r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(1888), último capítulo, grafia da edição.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M5-F10, Sombrio casarão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pic>
        <p:nvPicPr>
          <p:cNvPr id="6" name="Image 0" descr="/home/user/epi-portugues-fontes/_interno/biblioteca-imagens/fontes/eca-de-queiros-guedes.jpg">    </p:cNvPr>
          <p:cNvPicPr>
            <a:picLocks noChangeAspect="1"/>
          </p:cNvPicPr>
          <p:nvPr/>
        </p:nvPicPr>
        <p:blipFill>
          <a:blip r:embed="rId1">
            <a:alphaModFix amt="8000"/>
          </a:blip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LER: B — FIM (ÚLTIMO CAPÍTULO) (2 DE 2)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22960" y="1005840"/>
            <a:ext cx="9814255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Ega não se admirava. Só alli no Ramalhete elle vivera realmente d'aquillo que dá sabôr e relevo á vida — a paixão.</a:t>
            </a:r>
            <a:endParaRPr lang="en-US" sz="2600" dirty="0"/>
          </a:p>
        </p:txBody>
      </p:sp>
      <p:sp>
        <p:nvSpPr>
          <p:cNvPr id="10" name="Text 6"/>
          <p:cNvSpPr/>
          <p:nvPr/>
        </p:nvSpPr>
        <p:spPr>
          <a:xfrm>
            <a:off x="822960" y="603504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Eça de Queirós, </a:t>
            </a:r>
            <a:pPr indent="0" marL="0">
              <a:buNone/>
            </a:pPr>
            <a:r>
              <a:rPr lang="en-US" sz="1200" i="1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Maias</a:t>
            </a:r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(1888), último capítulo, grafia da edição.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M5-F10, Sombrio casarão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ESSENCIAL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coisas 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447544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</a:t>
            </a:r>
            <a:pPr indent="0" marL="0">
              <a:lnSpc>
                <a:spcPct val="105000"/>
              </a:lnSpc>
              <a:buNone/>
            </a:pPr>
            <a:r>
              <a:rPr lang="en-US" sz="2200" i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Maias</a:t>
            </a:r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(1888), de Eça de Queirós, a casa do Ramalhete, em Lisboa, recebe os Maias no outono de 1875 e abre e fecha o romance.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descrição do fim repete a do início, «sombrio casarão», «paredes severas», «tons de ruina», e agrava-a: janelinhas fechadas, treva, «para sempre deshabitado».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5506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550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559808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Ficas a ler um espaço como símbolo: o nome fresco contra o aspeto sombrio, o quintal com cipreste e Vénus a enegrecer, a estrutura circular.</a:t>
            </a:r>
            <a:endParaRPr lang="en-US" sz="2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M5-F10, Sombrio casarão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VER, E COMPLETAR NO CADERNO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Completa no caderno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057400"/>
          <a:ext cx="10545775" cy="914400"/>
        </p:xfrm>
        <a:graphic>
          <a:graphicData uri="http://schemas.openxmlformats.org/drawingml/2006/table">
            <a:tbl>
              <a:tblPr/>
              <a:tblGrid>
                <a:gridCol w="4429226"/>
                <a:gridCol w="3058275"/>
                <a:gridCol w="3058275"/>
              </a:tblGrid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— INÍCIO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 — FIM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Expressões repetidas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 que mudou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Luz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Estado da família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M5-F10, Sombrio casarão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AGORA NO TELEMÓVEL, QUINZE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a lição no telemóvel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e responde aos cartões, um de cada vez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fim, o cartão extra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percurso marca a lição como feita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5-f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pedrohfernandes-klk.github.io/​pt/​m5/​licao-m5-f10/​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M5-F10, Sombrio casarão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PAUSA: CARTÕES NO TELEMÓVEL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minutos, com placar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lição, toca em «Sala» e escreve o código do ecrã e uma alcunha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os cartões que o ecrã indica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acabares, olha para o placar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5-f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pedrohfernandes-klk.github.io/​pt/​m5/​licao-m5-f10/​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M5-F10, Sombrio casarão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SÍNTESE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106676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Ramalhete, «sombrio casarão de paredes severas», contradiz o seu «fresco nome de vivenda campestre»: o nome promete vida e o edifício mostra ruína.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quintal, a Vénus a enegrecer e o cipreste juntam amor e morte antes de os Maias chegarem, no outono de 1875.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209796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2097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218940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último capítulo, as mesmas palavras voltam, agravadas em «para sempre deshabitado»: a estrutura circular fecha a família, com Afonso morto e Carlos de partida.</a:t>
            </a:r>
            <a:endParaRPr lang="en-US" sz="2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M5-F10, Sombrio casarão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ATÉ À PRÓXIMA AULA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telemóvel ou no PC da escola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765808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 o baralho da lição M5-F10 e o cartão extra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Espreita a lição seguinte, «Jantar no Hotel Central»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188968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188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198112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sair: foto do caderno para o portefólio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passo-m5-f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pedrohfernandes-klk.github.io/​pt/​m5/​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M5 · Sessão 06 · M5-F10 · Sombrio casarão</dc:title>
  <dc:subject>PptxGenJS Presentation</dc:subject>
  <dc:creator>EPI · Português</dc:creator>
  <cp:lastModifiedBy>EPI · Português</cp:lastModifiedBy>
  <cp:revision>1</cp:revision>
  <dcterms:created xsi:type="dcterms:W3CDTF">2026-10-11T03:02:53Z</dcterms:created>
  <dcterms:modified xsi:type="dcterms:W3CDTF">2026-10-11T03:02:53Z</dcterms:modified>
  <dc:description/>
</cp:coreProperties>
</file>