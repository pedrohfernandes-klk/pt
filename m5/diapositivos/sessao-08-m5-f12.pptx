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-1-1.jpg" ContentType="image/jpg"/>
  <Override PartName="/ppt/media/image-3-1.jpg" ContentType="image/jpg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M5-F12, A voz que se infiltra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822960" y="45720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PORTUGUÊS, 2.º ANO, MÓDULO 5, LIÇÃO M5-F12, UNIDADE 2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777240" y="685800"/>
            <a:ext cx="52120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5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5000" dirty="0"/>
          </a:p>
        </p:txBody>
      </p:sp>
      <p:sp>
        <p:nvSpPr>
          <p:cNvPr id="8" name="Text 5"/>
          <p:cNvSpPr/>
          <p:nvPr/>
        </p:nvSpPr>
        <p:spPr>
          <a:xfrm>
            <a:off x="822960" y="2697480"/>
            <a:ext cx="52120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4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voz que se infiltra</a:t>
            </a:r>
            <a:endParaRPr lang="en-US" sz="4000" dirty="0"/>
          </a:p>
        </p:txBody>
      </p:sp>
      <p:sp>
        <p:nvSpPr>
          <p:cNvPr id="9" name="Shape 6"/>
          <p:cNvSpPr/>
          <p:nvPr/>
        </p:nvSpPr>
        <p:spPr>
          <a:xfrm>
            <a:off x="822960" y="40690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22960" y="6089904"/>
            <a:ext cx="182880" cy="182880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1152144" y="6089904"/>
            <a:ext cx="182880" cy="182880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481328" y="6089904"/>
            <a:ext cx="182880" cy="182880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74520" y="6062472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lê, faz, leva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22960" y="4297680"/>
            <a:ext cx="52120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Há frases em que já não se sabe quem fala: se o narrador, se a personagem. Eça faz isso de propósito — e é aí que está a ironia.</a:t>
            </a:r>
            <a:endParaRPr lang="en-US" sz="1800" dirty="0"/>
          </a:p>
        </p:txBody>
      </p:sp>
      <p:pic>
        <p:nvPicPr>
          <p:cNvPr id="15" name="Image 0" descr="/home/user/epi-portugues-fontes/_interno/biblioteca-imagens/fontes/praca-dos-remolares-1860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613855" y="914400"/>
            <a:ext cx="4754880" cy="4572000"/>
          </a:xfrm>
          <a:prstGeom prst="rect">
            <a:avLst/>
          </a:prstGeom>
        </p:spPr>
      </p:pic>
      <p:sp>
        <p:nvSpPr>
          <p:cNvPr id="16" name="Shape 12"/>
          <p:cNvSpPr/>
          <p:nvPr/>
        </p:nvSpPr>
        <p:spPr>
          <a:xfrm>
            <a:off x="6613855" y="914400"/>
            <a:ext cx="4754880" cy="4572000"/>
          </a:xfrm>
          <a:prstGeom prst="rect">
            <a:avLst/>
          </a:prstGeom>
          <a:ln w="12700">
            <a:solidFill>
              <a:srgbClr val="F2F0EA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613855" y="55778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Praça dos Remolares, Lisboa, gravura do Archivo Pittoresco (Francisco Augusto Nogueira da Silva, 1860). Domínio público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M5-F12, A voz que se infiltra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ABRIR, CINCO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1097280"/>
            <a:ext cx="9814255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46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Falha-se a vida, ou deixa-se falhar?</a:t>
            </a:r>
            <a:endParaRPr lang="en-US" sz="4600" dirty="0"/>
          </a:p>
        </p:txBody>
      </p:sp>
      <p:sp>
        <p:nvSpPr>
          <p:cNvPr id="9" name="Shape 6"/>
          <p:cNvSpPr/>
          <p:nvPr/>
        </p:nvSpPr>
        <p:spPr>
          <a:xfrm>
            <a:off x="822960" y="4526280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M5-F12, A voz que se infiltra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000" dirty="0"/>
          </a:p>
        </p:txBody>
      </p:sp>
      <p:pic>
        <p:nvPicPr>
          <p:cNvPr id="6" name="Image 0" descr="/home/user/epi-portugues-fontes/_interno/biblioteca-imagens/fontes/praca-dos-remolares-1860.jpg">    </p:cNvPr>
          <p:cNvPicPr>
            <a:picLocks noChangeAspect="1"/>
          </p:cNvPicPr>
          <p:nvPr/>
        </p:nvPicPr>
        <p:blipFill>
          <a:blip r:embed="rId1">
            <a:alphaModFix amt="8000"/>
          </a:blip>
          <a:srcRect l="0" r="0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LER: TRÊS PASSAGENS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822960" y="1005840"/>
            <a:ext cx="9814255" cy="4937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Então Ega perguntou, do fundo do sofá onde se enterrára, se, n'esses ultimos annos, elle não tivera a idéa, o vago desejo de voltar para Portugal... Carlos considerou Ega com espanto. Para que? Para arrastar os passos tristes desde o Gremio até á Casa Havaneza? Não! Paris era o unico logar da terra congenere com o typo definitivo em que elle se fixára […]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naturalismo, com as suas alluviões de obscenidade, ameaçava corromper o pudor social? Pois bem. Elle, Alencar, seria o paladino da Moral, o gendarme dos bons costumes.</a:t>
            </a:r>
            <a:endParaRPr lang="en-US" sz="22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Ega mostrou-se impressionado. Olha que brincadeira, hein! E todos escutavam o Cohen.</a:t>
            </a:r>
            <a:endParaRPr lang="en-US" sz="2200" dirty="0"/>
          </a:p>
        </p:txBody>
      </p:sp>
      <p:sp>
        <p:nvSpPr>
          <p:cNvPr id="10" name="Text 6"/>
          <p:cNvSpPr/>
          <p:nvPr/>
        </p:nvSpPr>
        <p:spPr>
          <a:xfrm>
            <a:off x="822960" y="6035040"/>
            <a:ext cx="981425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Eça de Queirós, </a:t>
            </a:r>
            <a:pPr indent="0" marL="0">
              <a:buNone/>
            </a:pPr>
            <a:r>
              <a:rPr lang="en-US" sz="1200" i="1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Maias</a:t>
            </a:r>
            <a:pPr indent="0" marL="0">
              <a:buNone/>
            </a:pPr>
            <a:r>
              <a:rPr lang="en-US" sz="12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(1888), grafia da edição.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M5-F12, A voz que se infiltra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ESSENCIAL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coisas 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 lição de gramática trata três modos de relatar o que se diz, com passagens de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Maias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discurso direto, discurso indireto e discurso indireto livre.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indireto livre, a voz da personagem entra na do narrador, sem verbo declarativo nem travessão, mantendo exclamações e interrogações na terceira pessoa e no imperfeito.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Ficas a reconhecer de quem é a voz em «Olha que brincadeira, hein!», a reescrever em direto e indireto e a ligar o indireto livre à ironia de Eça.</a:t>
            </a:r>
            <a:endParaRPr lang="en-US" sz="2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M5-F12, A voz que se infiltra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VER, E COMPLETAR NO CADERNO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Completa no caderno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2057400"/>
          <a:ext cx="10545775" cy="914400"/>
        </p:xfrm>
        <a:graphic>
          <a:graphicData uri="http://schemas.openxmlformats.org/drawingml/2006/table">
            <a:tbl>
              <a:tblPr/>
              <a:tblGrid>
                <a:gridCol w="4429226"/>
                <a:gridCol w="3058275"/>
                <a:gridCol w="3058275"/>
              </a:tblGrid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PASSAGEM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MARCA(S)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spc="150" kern="0" dirty="0">
                          <a:solidFill>
                            <a:srgbClr val="A9A79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 QUEM É A VOZ?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9050" cap="flat" cmpd="sng" algn="ctr">
                      <a:solidFill>
                        <a:srgbClr val="F2F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[1] «Então Ega perguntou…»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[2] «O naturalismo, com as suas alluviões…»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[3] «Ega mostrou-se impressionado…»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 </a:t>
                      </a:r>
                      <a:endParaRPr lang="en-US" sz="1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F2F0EA"/>
                          </a:solidFill>
                          <a:latin typeface="Georgia" pitchFamily="34" charset="0"/>
                          <a:ea typeface="Georgia" pitchFamily="34" charset="-122"/>
                          <a:cs typeface="Georgia" pitchFamily="34" charset="-120"/>
                        </a:rPr>
                        <a:t> </a:t>
                      </a:r>
                      <a:endParaRPr lang="en-US" sz="1800" dirty="0">
                        <a:latin typeface="Georgia" charset="0"/>
                        <a:ea typeface="Georgia" charset="0"/>
                        <a:cs typeface="Georgia" charset="0"/>
                      </a:endParaRPr>
                    </a:p>
                  </a:txBody>
                  <a:tcPr marL="73152" marR="73152" marT="73152" marB="73152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9525" cap="flat" cmpd="sng" algn="ctr">
                      <a:solidFill>
                        <a:srgbClr val="BBBBB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M5-F12, A voz que se infiltra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ellips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modos de relatar o que se diz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02082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286000"/>
            <a:ext cx="9814255" cy="37490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Direto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reproduz as palavras, com travessão ou aspas («— Não!»).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Indireto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o narrador relata, com verbo declarativo e subordinação («Carlos disse que não»); mudam pessoas, tempos e deíticos. </a:t>
            </a:r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Indireto livre</a:t>
            </a:r>
            <a:pPr indent="0" marL="0">
              <a:lnSpc>
                <a:spcPct val="120000"/>
              </a:lnSpc>
              <a:buNone/>
            </a:pPr>
            <a:r>
              <a:rPr lang="en-US" sz="23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: a voz da personagem entra na do narrador, sem verbo declarativo nem travessão, mantendo exclamações, interrogações e expressões da personagem, na 3.ª pessoa e no imperfeito.</a:t>
            </a:r>
            <a:endParaRPr lang="en-US" sz="2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M5-F12, A voz que se infiltra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AGORA NO TELEMÓVEL, QUINZE MINUTOS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Abre a lição no telemóvel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 e responde aos cartões, um de cada vez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fim, o cartão extra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percurso marca a lição como feita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5-f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pedrohfernandes-klk.github.io/​pt/​m5/​licao-m5-f12/​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M5-F12, A voz que se infiltra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rect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PAUSA: CARTÕES NO TELEMÓVEL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8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minutos, com placar</a:t>
            </a:r>
            <a:endParaRPr lang="en-US" sz="38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424940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 lição, toca em «Sala» e escreve o código do ecrã e uma alcunha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Faz os cartões que o ecrã indica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384810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38481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3857244"/>
            <a:ext cx="6430975" cy="54203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Quando acabares, olha para o placar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licao-m5-f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pedrohfernandes-klk.github.io/​pt/​m5/​licao-m5-f12/​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M5-F12, A voz que se infiltra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ATLAS LUSÓFONO (OPCIONAL)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Machado de Assis, Brasil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822960" y="2057400"/>
            <a:ext cx="9814255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 1878, Machado criticou </a:t>
            </a:r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2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Primo Basílio</a:t>
            </a:r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, de Eça. Compara o narrador que se infiltra em </a:t>
            </a:r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2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Os Maias</a:t>
            </a:r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 com o defunto que narra </a:t>
            </a:r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2800" i="1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Memórias Póstumas de Brás Cubas</a:t>
            </a:r>
            <a:pPr indent="0" marL="0">
              <a:lnSpc>
                <a:spcPct val="110000"/>
              </a:lnSpc>
              <a:spcAft>
                <a:spcPts val="1400"/>
              </a:spcAft>
              <a:buNone/>
            </a:pPr>
            <a:r>
              <a:rPr lang="en-US" sz="2800" dirty="0">
                <a:solidFill>
                  <a:srgbClr val="F2F0E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.</a:t>
            </a:r>
            <a:endParaRPr lang="en-US" sz="2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M5-F12, A voz que se infiltra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4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fixar</a:t>
            </a:r>
            <a:endParaRPr lang="en-US" sz="3400" dirty="0"/>
          </a:p>
        </p:txBody>
      </p:sp>
      <p:sp>
        <p:nvSpPr>
          <p:cNvPr id="9" name="Shape 6"/>
          <p:cNvSpPr/>
          <p:nvPr/>
        </p:nvSpPr>
        <p:spPr>
          <a:xfrm>
            <a:off x="822960" y="1746504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286000"/>
            <a:ext cx="0" cy="2447544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10312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1031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112264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passar a fala de Carlos a indireto, escolhes um verbo declarativo, subordinas com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ou </a:t>
            </a:r>
            <a:pPr indent="0" marL="0">
              <a:lnSpc>
                <a:spcPct val="105000"/>
              </a:lnSpc>
              <a:buNone/>
            </a:pPr>
            <a:r>
              <a:rPr lang="en-US" sz="2200" i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</a:t>
            </a:r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 tiras as exclamações e as interrogações.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26892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2689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36036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indireto livre mantém-nas, na 3.ª pessoa, e reconhece-se por isso, como «Para que? […] Não!» de Carlos ou «Olha que brincadeira, hein!» de Ega.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5506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550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559808"/>
            <a:ext cx="9174175" cy="122377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aí que Eça ganha a ironia: está dentro de Alencar quando ele se vê «paladino da Moral» e ri-se dele ao mesmo tempo.</a:t>
            </a:r>
            <a:endParaRPr lang="en-US" sz="2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10637215" y="384048"/>
            <a:ext cx="731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spc="30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EPI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22960" y="6400800"/>
            <a:ext cx="96313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Lição M5-F12, A voz que se infiltra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10637215" y="64008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822960" y="502920"/>
            <a:ext cx="201168" cy="201168"/>
          </a:xfrm>
          <a:prstGeom prst="triangle">
            <a:avLst/>
          </a:prstGeom>
          <a:ln w="19050">
            <a:solidFill>
              <a:srgbClr val="F2F0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188720" y="457200"/>
            <a:ext cx="94484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50" kern="0" dirty="0">
                <a:solidFill>
                  <a:srgbClr val="A9A79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ATÉ À PRÓXIMA AULA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822960" y="868680"/>
            <a:ext cx="707105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>
            <a:normAutofit/>
          </a:bodyPr>
          <a:lstStyle/>
          <a:p>
            <a:pPr indent="0" marL="0">
              <a:buNone/>
            </a:pPr>
            <a:r>
              <a:rPr lang="en-US" sz="30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telemóvel ou no PC da escola</a:t>
            </a:r>
            <a:endParaRPr lang="en-US" sz="3000" dirty="0"/>
          </a:p>
        </p:txBody>
      </p:sp>
      <p:sp>
        <p:nvSpPr>
          <p:cNvPr id="9" name="Shape 6"/>
          <p:cNvSpPr/>
          <p:nvPr/>
        </p:nvSpPr>
        <p:spPr>
          <a:xfrm>
            <a:off x="822960" y="2121408"/>
            <a:ext cx="640080" cy="64008"/>
          </a:xfrm>
          <a:prstGeom prst="rect">
            <a:avLst/>
          </a:prstGeom>
          <a:solidFill>
            <a:srgbClr val="E4555C"/>
          </a:solidFill>
          <a:ln w="12700">
            <a:solidFill>
              <a:srgbClr val="E455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005840" y="2606040"/>
            <a:ext cx="0" cy="1765808"/>
          </a:xfrm>
          <a:prstGeom prst="line">
            <a:avLst/>
          </a:prstGeom>
          <a:noFill/>
          <a:ln w="12700">
            <a:solidFill>
              <a:srgbClr val="A9A79F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822960" y="2423160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22960" y="24231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1417320" y="2432304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Termina o baralho da lição M5-F12 e o cartão extra</a:t>
            </a:r>
            <a:endParaRPr lang="en-US" sz="2200" dirty="0"/>
          </a:p>
        </p:txBody>
      </p:sp>
      <p:sp>
        <p:nvSpPr>
          <p:cNvPr id="14" name="Shape 11"/>
          <p:cNvSpPr/>
          <p:nvPr/>
        </p:nvSpPr>
        <p:spPr>
          <a:xfrm>
            <a:off x="822960" y="3306064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822960" y="33060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1417320" y="3315208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Espreita a lição seguinte, «Do livro ao ecrã»</a:t>
            </a:r>
            <a:endParaRPr lang="en-US" sz="2200" dirty="0"/>
          </a:p>
        </p:txBody>
      </p:sp>
      <p:sp>
        <p:nvSpPr>
          <p:cNvPr id="17" name="Shape 14"/>
          <p:cNvSpPr/>
          <p:nvPr/>
        </p:nvSpPr>
        <p:spPr>
          <a:xfrm>
            <a:off x="822960" y="4188968"/>
            <a:ext cx="365760" cy="365760"/>
          </a:xfrm>
          <a:prstGeom prst="ellipse">
            <a:avLst/>
          </a:prstGeom>
          <a:solidFill>
            <a:srgbClr val="111111"/>
          </a:solidFill>
          <a:ln w="15875">
            <a:solidFill>
              <a:srgbClr val="F2F0E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822960" y="418896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1417320" y="4198112"/>
            <a:ext cx="6430975" cy="8829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sair: foto do caderno para o portefólio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8332927" y="1033272"/>
            <a:ext cx="3145536" cy="3145536"/>
          </a:xfrm>
          <a:prstGeom prst="rect">
            <a:avLst/>
          </a:prstGeom>
          <a:solidFill>
            <a:srgbClr val="FFFFFF"/>
          </a:solidFill>
          <a:ln w="12700">
            <a:solidFill>
              <a:srgbClr val="F2F0EA"/>
            </a:solidFill>
            <a:prstDash val="solid"/>
          </a:ln>
        </p:spPr>
      </p:sp>
      <p:pic>
        <p:nvPicPr>
          <p:cNvPr id="21" name="Image 0" descr="/home/user/epi-portugues-fontes/_interno/biblioteca-imagens/qr/passo-m5-f1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42655" y="1143000"/>
            <a:ext cx="2926080" cy="2926080"/>
          </a:xfrm>
          <a:prstGeom prst="rect">
            <a:avLst/>
          </a:prstGeom>
        </p:spPr>
      </p:pic>
      <p:sp>
        <p:nvSpPr>
          <p:cNvPr id="22" name="Text 18"/>
          <p:cNvSpPr/>
          <p:nvPr/>
        </p:nvSpPr>
        <p:spPr>
          <a:xfrm>
            <a:off x="8332927" y="4343400"/>
            <a:ext cx="314553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200" dirty="0">
                <a:solidFill>
                  <a:srgbClr val="F2F0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pedrohfernandes-klk.github.io/​pt/​m5/​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M5 · Sessão 08 · M5-F12 · A voz que se infiltra</dc:title>
  <dc:subject>PptxGenJS Presentation</dc:subject>
  <dc:creator>EPI · Português</dc:creator>
  <cp:lastModifiedBy>EPI · Português</cp:lastModifiedBy>
  <cp:revision>1</cp:revision>
  <dcterms:created xsi:type="dcterms:W3CDTF">2026-10-11T03:02:53Z</dcterms:created>
  <dcterms:modified xsi:type="dcterms:W3CDTF">2026-10-11T03:02:53Z</dcterms:modified>
  <dc:description/>
</cp:coreProperties>
</file>