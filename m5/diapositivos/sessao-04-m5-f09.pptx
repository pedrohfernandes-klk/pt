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8b20dbc9554238" /><Relationship Type="http://schemas.openxmlformats.org/officeDocument/2006/relationships/extended-properties" Target="/docProps/app.xml" Id="Rdc8b8270b6194fe3" /><Relationship Type="http://schemas.openxmlformats.org/officeDocument/2006/relationships/officeDocument" Target="/ppt/presentation.xml" Id="R9c13093b32e642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549d8d16244a68"/>
  </p:sldMasterIdLst>
  <p:notesMasterIdLst>
    <p:notesMasterId xmlns:r="http://schemas.openxmlformats.org/officeDocument/2006/relationships" r:id="R76606b76236a4cfa"/>
  </p:notesMasterIdLst>
  <p:sldIdLst>
    <p:sldId xmlns:r="http://schemas.openxmlformats.org/officeDocument/2006/relationships" id="256" r:id="R80a8de7b4f604efb"/>
    <p:sldId xmlns:r="http://schemas.openxmlformats.org/officeDocument/2006/relationships" id="257" r:id="R7ba42e7395704942"/>
    <p:sldId xmlns:r="http://schemas.openxmlformats.org/officeDocument/2006/relationships" id="258" r:id="Rc81d116b21594680"/>
    <p:sldId xmlns:r="http://schemas.openxmlformats.org/officeDocument/2006/relationships" id="259" r:id="R8142935d9ab9437f"/>
    <p:sldId xmlns:r="http://schemas.openxmlformats.org/officeDocument/2006/relationships" id="260" r:id="R5c1cc93b2c47439c"/>
    <p:sldId xmlns:r="http://schemas.openxmlformats.org/officeDocument/2006/relationships" id="261" r:id="Rb5da420dae94434a"/>
    <p:sldId xmlns:r="http://schemas.openxmlformats.org/officeDocument/2006/relationships" id="262" r:id="R48791f118aab40b2"/>
    <p:sldId xmlns:r="http://schemas.openxmlformats.org/officeDocument/2006/relationships" id="263" r:id="R7a8797eb7e894b23"/>
    <p:sldId xmlns:r="http://schemas.openxmlformats.org/officeDocument/2006/relationships" id="264" r:id="Rd7c0ee17d6d04326"/>
    <p:sldId xmlns:r="http://schemas.openxmlformats.org/officeDocument/2006/relationships" id="265" r:id="Ra56a30f103af4d53"/>
    <p:sldId xmlns:r="http://schemas.openxmlformats.org/officeDocument/2006/relationships" id="266" r:id="R71b164656b53449b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6fce8dd3dc4af4" /><Relationship Type="http://schemas.openxmlformats.org/officeDocument/2006/relationships/slideMaster" Target="/ppt/slideMasters/slideMaster1.xml" Id="R5e549d8d16244a68" /><Relationship Type="http://schemas.openxmlformats.org/officeDocument/2006/relationships/notesMaster" Target="/ppt/notesMasters/notesMaster1.xml" Id="R76606b76236a4cfa" /><Relationship Type="http://schemas.openxmlformats.org/officeDocument/2006/relationships/presProps" Target="/ppt/presProps.xml" Id="Rd7d0338d0f43435d" /><Relationship Type="http://schemas.openxmlformats.org/officeDocument/2006/relationships/viewProps" Target="/ppt/viewProps.xml" Id="R82b3690b61a74dc4" /><Relationship Type="http://schemas.openxmlformats.org/officeDocument/2006/relationships/tableStyles" Target="/ppt/tableStyles.xml" Id="R572de5a293f04573" /><Relationship Type="http://schemas.openxmlformats.org/officeDocument/2006/relationships/slide" Target="/ppt/slides/slide1.xml" Id="R80a8de7b4f604efb" /><Relationship Type="http://schemas.openxmlformats.org/officeDocument/2006/relationships/slide" Target="/ppt/slides/slide2.xml" Id="R7ba42e7395704942" /><Relationship Type="http://schemas.openxmlformats.org/officeDocument/2006/relationships/slide" Target="/ppt/slides/slide3.xml" Id="Rc81d116b21594680" /><Relationship Type="http://schemas.openxmlformats.org/officeDocument/2006/relationships/slide" Target="/ppt/slides/slide4.xml" Id="R8142935d9ab9437f" /><Relationship Type="http://schemas.openxmlformats.org/officeDocument/2006/relationships/slide" Target="/ppt/slides/slide5.xml" Id="R5c1cc93b2c47439c" /><Relationship Type="http://schemas.openxmlformats.org/officeDocument/2006/relationships/slide" Target="/ppt/slides/slide6.xml" Id="Rb5da420dae94434a" /><Relationship Type="http://schemas.openxmlformats.org/officeDocument/2006/relationships/slide" Target="/ppt/slides/slide7.xml" Id="R48791f118aab40b2" /><Relationship Type="http://schemas.openxmlformats.org/officeDocument/2006/relationships/slide" Target="/ppt/slides/slide8.xml" Id="R7a8797eb7e894b23" /><Relationship Type="http://schemas.openxmlformats.org/officeDocument/2006/relationships/slide" Target="/ppt/slides/slide9.xml" Id="Rd7c0ee17d6d04326" /><Relationship Type="http://schemas.openxmlformats.org/officeDocument/2006/relationships/slide" Target="/ppt/slides/slide10.xml" Id="Ra56a30f103af4d53" /><Relationship Type="http://schemas.openxmlformats.org/officeDocument/2006/relationships/slide" Target="/ppt/slides/slide11.xml" Id="R71b164656b5344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95c30df3524a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7a801493394565" /><Relationship Type="http://schemas.openxmlformats.org/officeDocument/2006/relationships/notesMaster" Target="/ppt/notesMasters/notesMaster1.xml" Id="R02d663e1761247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297e64813c4b98" /><Relationship Type="http://schemas.openxmlformats.org/officeDocument/2006/relationships/notesMaster" Target="/ppt/notesMasters/notesMaster1.xml" Id="Rc99245cceb2f4b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3a2d1fc32a43c1" /><Relationship Type="http://schemas.openxmlformats.org/officeDocument/2006/relationships/notesMaster" Target="/ppt/notesMasters/notesMaster1.xml" Id="R20f26c6d778549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9e328d2bc94960" /><Relationship Type="http://schemas.openxmlformats.org/officeDocument/2006/relationships/notesMaster" Target="/ppt/notesMasters/notesMaster1.xml" Id="Rc0a8fcee83e64c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8ed634261c4b06" /><Relationship Type="http://schemas.openxmlformats.org/officeDocument/2006/relationships/notesMaster" Target="/ppt/notesMasters/notesMaster1.xml" Id="R01de272639694d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17e67162564108" /><Relationship Type="http://schemas.openxmlformats.org/officeDocument/2006/relationships/notesMaster" Target="/ppt/notesMasters/notesMaster1.xml" Id="R5e010077351b44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120d48c8cc4d14" /><Relationship Type="http://schemas.openxmlformats.org/officeDocument/2006/relationships/notesMaster" Target="/ppt/notesMasters/notesMaster1.xml" Id="R22c0689fbd2848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19491aa5354bef" /><Relationship Type="http://schemas.openxmlformats.org/officeDocument/2006/relationships/notesMaster" Target="/ppt/notesMasters/notesMaster1.xml" Id="R6e68b5ad67cd4e8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e60c79663c435e" /><Relationship Type="http://schemas.openxmlformats.org/officeDocument/2006/relationships/notesMaster" Target="/ppt/notesMasters/notesMaster1.xml" Id="R0d12ec4af44c40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13964d6aea4804" /><Relationship Type="http://schemas.openxmlformats.org/officeDocument/2006/relationships/notesMaster" Target="/ppt/notesMasters/notesMaster1.xml" Id="R6d41fd794dbd4d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d41a46a0c84a0a" /><Relationship Type="http://schemas.openxmlformats.org/officeDocument/2006/relationships/notesMaster" Target="/ppt/notesMasters/notesMaster1.xml" Id="R4b2438e0debd48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 de verificação: Centro Português de Fotografia, Documento do mês, Porta da Cela de Camilo: https://cpf.pt/documento-mes-fundos-e-colecoes-36/ ; Centro Nacional de Cultura / Patrimatic, Casa de Camilo: https://www.e-cultura.pt/patrimonio_item/4910 . Consulta: 25/10/2026.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 de verificação: Centro Português de Fotografia, Documento do mês, Porta da Cela de Camilo: https://cpf.pt/documento-mes-fundos-e-colecoes-36/ ; Centro Nacional de Cultura / Patrimatic, Casa de Camilo: https://www.e-cultura.pt/patrimonio_item/4910 . Consulta: 25/10/2026.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 de verificação: Centro Português de Fotografia, Documento do mês, Porta da Cela de Camilo: https://cpf.pt/documento-mes-fundos-e-colecoes-36/ ; Centro Nacional de Cultura / Patrimatic, Casa de Camilo: https://www.e-cultura.pt/patrimonio_item/4910 . Consulta: 25/10/2026.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Exemplos de observação e interpretação criados para esta atividade. Não são citações do romance nem descrições de uma fotografia específica.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Produção autónoma no caderno, sem necessidade de abrir o HTML. A revisão retoma a distinção entre observação, interpretação e autor/personagem já trabalhada nesta lição.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 de verificação: Centro Português de Fotografia, Documento do mês, Porta da Cela de Camilo: https://cpf.pt/documento-mes-fundos-e-colecoes-36/ ; Centro Nacional de Cultura / Patrimatic, Casa de Camilo: https://www.e-cultura.pt/patrimonio_item/4910 . Consulta: 25/10/2026.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addffc7e034ed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a8d6584629455d" /><Relationship Type="http://schemas.openxmlformats.org/officeDocument/2006/relationships/slideLayout" Target="/ppt/slideLayouts/slideLayout1.xml" Id="R595ef0074af0483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5ef0074af0483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43e39cff34613" /><Relationship Type="http://schemas.openxmlformats.org/officeDocument/2006/relationships/image" Target="/ppt/media/image.jpeg" Id="R7eea75ad0ae04cf9" /><Relationship Type="http://schemas.openxmlformats.org/officeDocument/2006/relationships/notesSlide" Target="/ppt/notesSlides/notesSlide1.xml" Id="Re67547312faf45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dd701215c447c" /><Relationship Type="http://schemas.openxmlformats.org/officeDocument/2006/relationships/notesSlide" Target="/ppt/notesSlides/notesSlide2.xml" Id="R687198a93ff542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38d5dd3224986" /><Relationship Type="http://schemas.openxmlformats.org/officeDocument/2006/relationships/notesSlide" Target="/ppt/notesSlides/notesSlide3.xml" Id="R29450b59801242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4b91b88bd4633" /><Relationship Type="http://schemas.openxmlformats.org/officeDocument/2006/relationships/notesSlide" Target="/ppt/notesSlides/notesSlide4.xml" Id="R75b1626bd8654c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e5a839a6a4bf9" /><Relationship Type="http://schemas.openxmlformats.org/officeDocument/2006/relationships/notesSlide" Target="/ppt/notesSlides/notesSlide5.xml" Id="R66721619636445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1add13ec549cc" /><Relationship Type="http://schemas.openxmlformats.org/officeDocument/2006/relationships/notesSlide" Target="/ppt/notesSlides/notesSlide6.xml" Id="R695c28b7a06f44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d4a46dbc24ebe" /><Relationship Type="http://schemas.openxmlformats.org/officeDocument/2006/relationships/notesSlide" Target="/ppt/notesSlides/notesSlide7.xml" Id="R5c592040daed4be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8c585e9e814e29" /><Relationship Type="http://schemas.openxmlformats.org/officeDocument/2006/relationships/image" Target="/ppt/media/image.png" Id="Red2e5f0ebf58497e" /><Relationship Type="http://schemas.openxmlformats.org/officeDocument/2006/relationships/hyperlink" Target="https://pedrohfernandes-klk.github.io/pt/m5/licao-m5-f09/" TargetMode="External" Id="R63b4b06776a740bb" /><Relationship Type="http://schemas.openxmlformats.org/officeDocument/2006/relationships/notesSlide" Target="/ppt/notesSlides/notesSlide8.xml" Id="Rbb63ecf4959c48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f5b05ead945d5" /><Relationship Type="http://schemas.openxmlformats.org/officeDocument/2006/relationships/image" Target="/ppt/media/image2.png" Id="R818b171f45774ee9" /><Relationship Type="http://schemas.openxmlformats.org/officeDocument/2006/relationships/hyperlink" Target="https://pedrohfernandes-klk.github.io/pt/m5/licao-m5-f09/" TargetMode="External" Id="R4afe5285a942423a" /><Relationship Type="http://schemas.openxmlformats.org/officeDocument/2006/relationships/notesSlide" Target="/ppt/notesSlides/notesSlide9.xml" Id="R07fe3f3d1a2940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d80ee6fe1f408a" /><Relationship Type="http://schemas.openxmlformats.org/officeDocument/2006/relationships/notesSlide" Target="/ppt/notesSlides/notesSlide10.xml" Id="R6fb84a25ae67438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b9029398094672" /><Relationship Type="http://schemas.openxmlformats.org/officeDocument/2006/relationships/image" Target="/ppt/media/image3.png" Id="R17c7f196f78a4a14" /><Relationship Type="http://schemas.openxmlformats.org/officeDocument/2006/relationships/hyperlink" Target="https://pedrohfernandes-klk.github.io/pt/m5/" TargetMode="External" Id="R2c53450f535849f1" /><Relationship Type="http://schemas.openxmlformats.org/officeDocument/2006/relationships/notesSlide" Target="/ppt/notesSlides/notesSlide11.xml" Id="R2205ec08728b47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6B2423E-67FC-483C-8E84-7A2951D5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4B0990-3A32-49E0-8D73-38FC6B45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CD563B2-ADA7-4B91-BD72-8AD170CA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1</a:t>
            </a:r>
            <a:endParaRPr sz="10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C648699-2E80-43CA-A4FC-6257A173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"/>
            <a:ext cx="981425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PORTUGUÊS, 2.º ANO, MÓDULO 5, LIÇÃO M5-F09, UNIDADE 1</a:t>
            </a:r>
            <a:endParaRPr sz="11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C8E0E85-1521-4C0B-BD27-C2DFF504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85800"/>
            <a:ext cx="521208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0">
                <a:solidFill>
                  <a:srgbClr val="F2F0EA"/>
                </a:solidFill>
                <a:latin typeface="Arial"/>
                <a:ea typeface="Arial"/>
                <a:cs typeface="Arial"/>
              </a:rPr>
              <a:t>4</a:t>
            </a:r>
            <a:endParaRPr sz="150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B3B8187-69CF-49FD-BD95-B03B7B19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521208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>
                <a:solidFill>
                  <a:srgbClr val="F2F0EA"/>
                </a:solidFill>
                <a:latin typeface="Arial"/>
                <a:ea typeface="Arial"/>
                <a:cs typeface="Arial"/>
              </a:rPr>
              <a:t>Os lugares de Camilo</a:t>
            </a:r>
            <a:endParaRPr sz="40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9C0E7662-A091-437C-84CD-F3C32BF6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69080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1AC3AA9A-09AC-41D7-9E8D-D30AE7ED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82880" cy="182880"/>
          </a:xfrm>
          <a:prstGeom xmlns:a="http://schemas.openxmlformats.org/drawingml/2006/main" prst="ellips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1B7203D-A2FC-49D3-B970-BC8D8578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089904"/>
            <a:ext cx="182880" cy="182880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77AD99-FC9A-4DC8-8613-CD296F16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6089904"/>
            <a:ext cx="182880" cy="182880"/>
          </a:xfrm>
          <a:prstGeom xmlns:a="http://schemas.openxmlformats.org/drawingml/2006/main" prst="triangl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1D77552-2755-4083-9610-29577BF0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6062472"/>
            <a:ext cx="2743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9A79F"/>
                </a:solidFill>
                <a:latin typeface="Arial"/>
                <a:ea typeface="Arial"/>
                <a:cs typeface="Arial"/>
              </a:rPr>
              <a:t>lê, faz, leva</a:t>
            </a:r>
            <a:endParaRPr sz="1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65AB033-B18B-47E6-A78F-FAB59850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97680"/>
            <a:ext cx="5212080" cy="160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2000" i="1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Simão esteve preso na Cadeia da Relação do Porto. Camilo também — e foi lá que escreveu o romance. Vais ver o sítio.</a:t>
            </a:r>
            <a:endParaRPr sz="2000"/>
          </a:p>
        </p:txBody>
      </p:sp>
      <p:pic>
        <p:nvPicPr>
          <p:cNvPr id="15" name="Image 0">
            <a:extLst xmlns:a="http://schemas.openxmlformats.org/drawingml/2006/main">
              <a:ext uri="{FF2B5EF4-FFF2-40B4-BE49-F238E27FC236}">
                <a16:creationId xmlns:a16="http://schemas.microsoft.com/office/drawing/2014/main" id="{FC971698-77CB-4EA7-A0B8-38935B414C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a75ad0ae04cf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613855" y="914400"/>
            <a:ext cx="4754880" cy="4572000"/>
          </a:xfrm>
          <a:prstGeom xmlns:a="http://schemas.openxmlformats.org/drawingml/2006/main" prst="rect">
            <a:avLst/>
          </a:prstGeom>
        </p:spPr>
      </p:pic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F204DBFB-6892-4548-B5A8-A46F7FBC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855" y="914400"/>
            <a:ext cx="4754880" cy="4572000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F2F0EA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60E5B2BD-DB29-4658-8498-C9B7BC83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855" y="5577840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9A79F"/>
                </a:solidFill>
                <a:latin typeface="Arial"/>
                <a:ea typeface="Arial"/>
                <a:cs typeface="Arial"/>
              </a:rPr>
              <a:t>Camilo Castelo Branco (fotografia da União, Photographia da Casa Real, Porto, 1882). Domínio público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959314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FCAEF3D-E13A-41C1-942D-EF02D4E0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167B2207-3BCD-4BF8-AB6D-2ACF364F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4C4EC05-B87A-42E1-8062-5C44D74B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2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6261DA3F-302D-4869-96B2-D9FDC89B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ellips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C87E92D-DB28-4156-9C52-4BE798B4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ABRIR, CINCO MINUTOS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EFF90B8-EFF3-4BAC-863D-B1FAFDAE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097280"/>
            <a:ext cx="9814255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4600" i="1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Quem decide por quem, quando se ama?</a:t>
            </a:r>
            <a:endParaRPr sz="46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EE7700EE-0AD4-49B5-90EE-58C56A3D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26280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384208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93629C5-DC77-41F3-965B-447D07D0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C08D3BA-F791-49B2-9F90-F074314F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D0B3F14-AFA3-4369-91C3-2C6BC2D5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3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B48D63E6-0B0F-4C78-BB8A-2AB8662C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ellips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47313BE8-DB8B-4C48-925D-400C9408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LER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9EED0678-2F2A-4B40-A4AE-450965AF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981425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>
                <a:solidFill>
                  <a:srgbClr val="F2F0EA"/>
                </a:solidFill>
                <a:latin typeface="Arial"/>
                <a:ea typeface="Arial"/>
                <a:cs typeface="Arial"/>
              </a:rPr>
              <a:t>Os lugares</a:t>
            </a:r>
            <a:endParaRPr sz="34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6D53681F-9B76-4D4C-9747-3BA83B04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46504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ED7655-F6F2-4A6F-8227-3422770B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11680"/>
            <a:ext cx="9814255" cy="402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2300" b="1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Cadeia da Relação</a:t>
            </a:r>
            <a:r>
              <a:rPr sz="2300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, Porto: hoje Centro Português de Fotografia, no Largo Amor de Perdição, junto à Torre dos Clérigos. Aqui estiveram presos Simão (no romance) e Camilo (a dedicatória é datada da cadeia, 1861). </a:t>
            </a:r>
            <a:r>
              <a:rPr sz="2300" b="1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Casa de Camilo</a:t>
            </a:r>
            <a:r>
              <a:rPr sz="2300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, São Miguel de Seide, Vila Nova de Famalicão: casa-museu reconstituída, onde o escritor viveu. Quem não puder ir faz a visita pelas páginas dos dois museus, com o mesmo caderno de campo.</a:t>
            </a:r>
            <a:endParaRPr sz="2300"/>
          </a:p>
        </p:txBody>
      </p:sp>
    </p:spTree>
    <p:extLst>
      <p:ext uri="{BB962C8B-B14F-4D97-AF65-F5344CB8AC3E}">
        <p14:creationId xmlns:p14="http://schemas.microsoft.com/office/powerpoint/2010/main" val="16865682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8FDCCBB-74E5-4407-94F6-1A90E8DB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10E5DCB7-9EBF-464E-9654-7B2141B0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2DA172B-9C1D-423B-9389-F660A742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4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42AA7C08-CFAD-4A69-86A7-9B4B37A3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ellips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F4C0D61-E280-4F90-A92F-8FF528FD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O ESSENCIAL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89062FF-F63F-4522-81A7-A393D86E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981425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>
                <a:solidFill>
                  <a:srgbClr val="F2F0EA"/>
                </a:solidFill>
                <a:latin typeface="Arial"/>
                <a:ea typeface="Arial"/>
                <a:cs typeface="Arial"/>
              </a:rPr>
              <a:t>Três coisas a fixar</a:t>
            </a:r>
            <a:endParaRPr sz="34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926AA39-26D1-4570-B258-B7F39FB7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46504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A1058417-32FB-4362-B394-5E00E3A9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86000"/>
            <a:ext cx="0" cy="24475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A3FD547C-9B27-4C04-A0CD-1BCA95FF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169B883-A20C-4477-87D7-A8B01BD4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FDA7631-8937-4C25-94FA-76B568CD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112264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Esta lição é uma visita de estudo a dois lugares de Camilo: a Cadeia da Relação do Porto, hoje Centro Português de Fotografia, e a Casa de Camilo, em São Miguel de Seide.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3058AE47-734A-42D0-997B-891722C5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2689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C5724C6-934D-4280-8789-7AA866F7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2689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5812A5F-24A5-454B-8737-5F6139D7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36036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Na cadeia estiveram presos Simão, no romance, e Camilo, que aí datou a dedicatória em 1861; a casa-museu é o lugar onde o escritor viveu.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3490CBB-4B40-4206-B6FA-1C54C835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506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D0BE378-C4C4-41A7-B2D2-953EB15B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506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AE10A06-770A-4E04-A88F-A0F4B26C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559808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Preenches um caderno de campo com o que vês e ligas o espaço real ao cárcere de Simão, sem confundir autor e personagem.</a:t>
            </a:r>
            <a:endParaRPr sz="2200"/>
          </a:p>
        </p:txBody>
      </p:sp>
    </p:spTree>
    <p:extLst>
      <p:ext uri="{BB962C8B-B14F-4D97-AF65-F5344CB8AC3E}">
        <p14:creationId xmlns:p14="http://schemas.microsoft.com/office/powerpoint/2010/main" val="16596119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7F3E4F2B-262F-4E22-8447-870984DA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CB7A334-2380-470E-B8E2-BFAC5C2E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171EC6-2CDF-42AA-8693-AB5CDBE0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5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81B054F-DDD9-4C24-ADDB-D4FBA0E6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1CD7447-0343-4231-8CE0-3C3F2760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VER, E COMPLETAR NO CADERNO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11BBCB1-AC21-4070-8A96-51B9D30B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981425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>
                <a:solidFill>
                  <a:srgbClr val="F2F0EA"/>
                </a:solidFill>
                <a:latin typeface="Arial"/>
                <a:ea typeface="Arial"/>
                <a:cs typeface="Arial"/>
              </a:rPr>
              <a:t>Completa no caderno</a:t>
            </a:r>
            <a:endParaRPr sz="34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6D7BE34-6441-4337-9BFA-BB6BFC3C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46504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graphicFrame>
        <p:nvGraphicFramePr>
          <p:cNvPr id="10" name="Table 0">
            <a:extLst xmlns:a="http://schemas.openxmlformats.org/drawingml/2006/main">
              <a:ext uri="{FF2B5EF4-FFF2-40B4-BE49-F238E27FC236}">
                <a16:creationId xmlns:a16="http://schemas.microsoft.com/office/drawing/2014/main" id="{143FB273-C0C8-4952-BDFB-79D14867927F}"/>
              </a:ext>
            </a:extLst>
          </p:cNvPr>
          <p:cNvGraphicFramePr/>
          <p:nvPr/>
        </p:nvGraphicFramePr>
        <p:xfrm>
          <a:off xmlns:a="http://schemas.openxmlformats.org/drawingml/2006/main" x="822960" y="2057400"/>
          <a:ext xmlns:a="http://schemas.openxmlformats.org/drawingml/2006/main" cx="10545775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50">
                          <a:solidFill>
                            <a:srgbClr val="A9A79F"/>
                          </a:solidFill>
                          <a:latin typeface="Arial"/>
                          <a:ea typeface="Arial"/>
                          <a:cs typeface="Arial"/>
                        </a:rPr>
                        <a:t>OBSERVAR</a:t>
                      </a:r>
                      <a:endParaRPr sz="11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9050" cmpd="sng">
                      <a:solidFill>
                        <a:srgbClr val="F2F0EA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50">
                          <a:solidFill>
                            <a:srgbClr val="A9A79F"/>
                          </a:solidFill>
                          <a:latin typeface="Arial"/>
                          <a:ea typeface="Arial"/>
                          <a:cs typeface="Arial"/>
                        </a:rPr>
                        <a:t>O QUE VI</a:t>
                      </a:r>
                      <a:endParaRPr sz="11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9050" cmpd="sng">
                      <a:solidFill>
                        <a:srgbClr val="F2F0EA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50">
                          <a:solidFill>
                            <a:srgbClr val="A9A79F"/>
                          </a:solidFill>
                          <a:latin typeface="Arial"/>
                          <a:ea typeface="Arial"/>
                          <a:cs typeface="Arial"/>
                        </a:rPr>
                        <a:t>LIGAÇÃO AO ROMANCE OU AO AUTOR</a:t>
                      </a:r>
                      <a:endParaRPr sz="11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9050" cmpd="sng">
                      <a:solidFill>
                        <a:srgbClr val="F2F0EA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Um espaço da cadeia (cela, janela, grade)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Georgia"/>
                          <a:ea typeface="Georgia"/>
                          <a:cs typeface="Georgia"/>
                        </a:rPr>
                        <a:t> </a:t>
                      </a:r>
                      <a:endParaRPr sz="1800">
                        <a:latin typeface="Georgia"/>
                        <a:ea typeface="Georgia"/>
                        <a:cs typeface="Georgia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Uma fotografia da exposição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Georgia"/>
                          <a:ea typeface="Georgia"/>
                          <a:cs typeface="Georgia"/>
                        </a:rPr>
                        <a:t> </a:t>
                      </a:r>
                      <a:endParaRPr sz="1800">
                        <a:latin typeface="Georgia"/>
                        <a:ea typeface="Georgia"/>
                        <a:cs typeface="Georgia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Um objeto da Casa de Camilo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Georgia"/>
                          <a:ea typeface="Georgia"/>
                          <a:cs typeface="Georgia"/>
                        </a:rPr>
                        <a:t> </a:t>
                      </a:r>
                      <a:endParaRPr sz="1800">
                        <a:latin typeface="Georgia"/>
                        <a:ea typeface="Georgia"/>
                        <a:cs typeface="Georgia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Uma frase que ouvi na visita guiada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Georgia"/>
                          <a:ea typeface="Georgia"/>
                          <a:cs typeface="Georgia"/>
                        </a:rPr>
                        <a:t> </a:t>
                      </a:r>
                      <a:endParaRPr sz="1800">
                        <a:latin typeface="Georgia"/>
                        <a:ea typeface="Georgia"/>
                        <a:cs typeface="Georgia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50080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pi">
            <a:extLst xmlns:a="http://schemas.openxmlformats.org/drawingml/2006/main">
              <a:ext uri="{FF2B5EF4-FFF2-40B4-BE49-F238E27FC236}">
                <a16:creationId xmlns:a16="http://schemas.microsoft.com/office/drawing/2014/main" id="{808D6E8E-CFC2-4FC6-9D42-6675DA72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D79AB19-9BCD-43B2-B50A-A4B3125E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"/>
            <a:ext cx="9631394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MODELO · OBSERVAÇÃO E INTERPRETAÇÃO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2E31F4-1841-49C8-91AC-507FE3C8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88720"/>
            <a:ext cx="105460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2F0EA"/>
                </a:solidFill>
                <a:latin typeface="Arial"/>
                <a:ea typeface="Arial"/>
                <a:cs typeface="Arial"/>
              </a:rPr>
              <a:t>Observar e interpretar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F6DB428-CA0F-430E-A8DC-83477CBD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94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82994E-98AE-4EC9-8E54-ADCA4EE1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BE9D4CE8-0BEF-47C0-A2AF-2CAF85D7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66950"/>
            <a:ext cx="1054608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O QUE SE VÊ</a:t>
            </a:r>
          </a:p>
        </p:txBody>
      </p:sp>
      <p:sp>
        <p:nvSpPr>
          <p:cNvPr id="7" name="observation">
            <a:extLst xmlns:a="http://schemas.openxmlformats.org/drawingml/2006/main">
              <a:ext uri="{FF2B5EF4-FFF2-40B4-BE49-F238E27FC236}">
                <a16:creationId xmlns:a16="http://schemas.microsoft.com/office/drawing/2014/main" id="{20202E66-840C-4028-9D98-2D62D2EC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67000"/>
            <a:ext cx="1054608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defPPr>
            <a:lvl1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1pPr>
            <a:lvl2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2pPr>
            <a:lvl3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3pPr>
            <a:lvl4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4pPr>
            <a:lvl5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5pPr>
            <a:lvl6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6pPr>
            <a:lvl7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7pPr>
            <a:lvl8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8pPr>
            <a:lvl9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pPr>
            <a:r>
              <a:rPr sz="2800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A janela tem uma grade de ferro.</a:t>
            </a:r>
          </a:p>
        </p:txBody>
      </p:sp>
      <p:sp>
        <p:nvSpPr>
          <p:cNvPr id="8" name="interpretation-label">
            <a:extLst xmlns:a="http://schemas.openxmlformats.org/drawingml/2006/main">
              <a:ext uri="{FF2B5EF4-FFF2-40B4-BE49-F238E27FC236}">
                <a16:creationId xmlns:a16="http://schemas.microsoft.com/office/drawing/2014/main" id="{115A7D4E-1900-42D2-AB53-DF2C8F4A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81400"/>
            <a:ext cx="1054608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O SENTIDO QUE PROPÕES</a:t>
            </a:r>
          </a:p>
        </p:txBody>
      </p:sp>
      <p:sp>
        <p:nvSpPr>
          <p:cNvPr id="9" name="interpretation">
            <a:extLst xmlns:a="http://schemas.openxmlformats.org/drawingml/2006/main">
              <a:ext uri="{FF2B5EF4-FFF2-40B4-BE49-F238E27FC236}">
                <a16:creationId xmlns:a16="http://schemas.microsoft.com/office/drawing/2014/main" id="{8B58CAE7-BF2E-4EA8-9BB1-697C9F7F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81450"/>
            <a:ext cx="1054608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defPPr>
            <a:lvl1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1pPr>
            <a:lvl2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2pPr>
            <a:lvl3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3pPr>
            <a:lvl4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4pPr>
            <a:lvl5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5pPr>
            <a:lvl6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6pPr>
            <a:lvl7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7pPr>
            <a:lvl8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8pPr>
            <a:lvl9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8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pPr>
            <a:r>
              <a:rPr sz="2800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A grade pode sugerir o confinamento de Simão.</a:t>
            </a:r>
          </a:p>
        </p:txBody>
      </p:sp>
      <p:sp>
        <p:nvSpPr>
          <p:cNvPr id="10" name="model-caveat">
            <a:extLst xmlns:a="http://schemas.openxmlformats.org/drawingml/2006/main">
              <a:ext uri="{FF2B5EF4-FFF2-40B4-BE49-F238E27FC236}">
                <a16:creationId xmlns:a16="http://schemas.microsoft.com/office/drawing/2014/main" id="{62ACE996-B77F-4512-9987-2CE79A36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34000"/>
            <a:ext cx="1054608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1700">
                <a:solidFill>
                  <a:srgbClr val="F2F0EA"/>
                </a:solidFill>
                <a:latin typeface="Arial"/>
                <a:ea typeface="Arial"/>
                <a:cs typeface="Arial"/>
              </a:rPr>
              <a:t>Exemplos criados para treinar. Primeiro descreves; depois relacionas o pormenor com o romance.</a:t>
            </a:r>
          </a:p>
        </p:txBody>
      </p:sp>
    </p:spTree>
    <p:extLst>
      <p:ext uri="{BB962C8B-B14F-4D97-AF65-F5344CB8AC3E}">
        <p14:creationId xmlns:p14="http://schemas.microsoft.com/office/powerpoint/2010/main" val="828411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pi">
            <a:extLst xmlns:a="http://schemas.openxmlformats.org/drawingml/2006/main">
              <a:ext uri="{FF2B5EF4-FFF2-40B4-BE49-F238E27FC236}">
                <a16:creationId xmlns:a16="http://schemas.microsoft.com/office/drawing/2014/main" id="{1BC318FB-D395-426C-8741-C217A8D9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34B877C-5F17-40AE-BD4A-DC319130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"/>
            <a:ext cx="9631394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NO CADERNO · 12 MINUTOS + 5 DE REVISÃO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37460AD-CFC4-47A6-84D3-5D6521BB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88720"/>
            <a:ext cx="105460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2F0EA"/>
                </a:solidFill>
                <a:latin typeface="Arial"/>
                <a:ea typeface="Arial"/>
                <a:cs typeface="Arial"/>
              </a:rPr>
              <a:t>Um lugar, uma leitura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30B4188F-C855-4C7B-9885-D025366D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94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B3167F2-10BB-47A1-A339-44978711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production">
            <a:extLst xmlns:a="http://schemas.openxmlformats.org/drawingml/2006/main">
              <a:ext uri="{FF2B5EF4-FFF2-40B4-BE49-F238E27FC236}">
                <a16:creationId xmlns:a16="http://schemas.microsoft.com/office/drawing/2014/main" id="{AF54EF7E-7367-4F25-8B40-08A77CDC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66950"/>
            <a:ext cx="1054608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Escolhe um espaço ou objeto da visita, real ou virtual.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Em 6–8 linhas, descreve dois pormenores e relaciona um deles com a prisão de Simão ou com a vida de Camilo.</a:t>
            </a:r>
          </a:p>
        </p:txBody>
      </p:sp>
      <p:sp>
        <p:nvSpPr>
          <p:cNvPr id="7" name="review">
            <a:extLst xmlns:a="http://schemas.openxmlformats.org/drawingml/2006/main">
              <a:ext uri="{FF2B5EF4-FFF2-40B4-BE49-F238E27FC236}">
                <a16:creationId xmlns:a16="http://schemas.microsoft.com/office/drawing/2014/main" id="{B560E8A8-F22A-40E2-838F-06912991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62500"/>
            <a:ext cx="1054608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Revê em pares: os pormenores são observáveis? A ligação está explicada? Distingues autor e personagem?</a:t>
            </a:r>
          </a:p>
        </p:txBody>
      </p:sp>
    </p:spTree>
    <p:extLst>
      <p:ext uri="{BB962C8B-B14F-4D97-AF65-F5344CB8AC3E}">
        <p14:creationId xmlns:p14="http://schemas.microsoft.com/office/powerpoint/2010/main" val="11870124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1479946D-C768-4033-9248-4C48AE62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A6D0193-817D-4389-8181-2AC65C5D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CE595C5-BAF5-4F40-BB5D-E40F6276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8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8A3A20C-2730-4907-B50F-475E9FDC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F56F09A-9DAA-4394-9358-247A38D7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OPCIONAL: NO SITE, QUINZE MINUTOS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B597779-D00C-4C0E-A75B-7365FA13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7071055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>
                <a:solidFill>
                  <a:srgbClr val="F2F0EA"/>
                </a:solidFill>
                <a:latin typeface="Arial"/>
                <a:ea typeface="Arial"/>
                <a:cs typeface="Arial"/>
              </a:rPr>
              <a:t>Continua no site, se quiseres</a:t>
            </a:r>
            <a:endParaRPr sz="38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AA420AC-9A12-4694-A1E8-B503A724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21408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AA9-CFAF-44FE-828B-10B4FECF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0" cy="14249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CC0A69F-1DBA-4E74-8048-A5E2C0B0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83F5B3B-18CA-46FC-9955-6D5BBD32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BC6725D-F5C2-466E-AD8F-366AA755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32304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Lê e responde aos cartões, um de cada vez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66A5A12-58AA-4171-82DE-B8234528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29CF35B-AD32-460A-ACFF-E419C8C7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E3F86CC-C58E-4ED9-BA68-665777EF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15208"/>
            <a:ext cx="6430975" cy="5420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No fim, o cartão extra: «Dezoito anos!»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D7DCE16-7075-40A6-BB16-702CEC05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81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5705EE0-A1E5-4C93-B7CD-F67BAE0A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810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4F4B464E-EF44-46E5-93D7-0C90ABB1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857244"/>
            <a:ext cx="6430975" cy="5420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O percurso marca a lição como feita</a:t>
            </a:r>
            <a:endParaRPr sz="22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7DF44A9-5EFF-422B-86AC-7A8654A8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1033272"/>
            <a:ext cx="3145536" cy="31455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2F0EA"/>
            </a:solidFill>
            <a:prstDash val="solid"/>
          </a:ln>
        </p:spPr>
      </p:sp>
      <p:pic>
        <p:nvPicPr>
          <p:cNvPr id="21" name="Image 0">
            <a:extLst xmlns:a="http://schemas.openxmlformats.org/drawingml/2006/main">
              <a:ext uri="{FF2B5EF4-FFF2-40B4-BE49-F238E27FC236}">
                <a16:creationId xmlns:a16="http://schemas.microsoft.com/office/drawing/2014/main" id="{CCAEA1C1-9D2F-4132-A292-A09D673A0E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2e5f0ebf5849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42655" y="1143000"/>
            <a:ext cx="2926080" cy="2926080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2190157-0D1C-449C-BB78-BB539607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4343400"/>
            <a:ext cx="314553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F2F0EA"/>
                </a:solidFill>
                <a:latin typeface="Arial"/>
                <a:ea typeface="Arial"/>
                <a:cs typeface="Arial"/>
                <a:hlinkClick xmlns:r="http://schemas.openxmlformats.org/officeDocument/2006/relationships" r:id="R63b4b06776a740bb"/>
              </a:rPr>
              <a:t>pedrohfernandes-klk.github.io/​pt/​m5/​licao-m5-f09/​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66907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0265BE2-A5E8-45C5-AAE8-95AD8CB2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67AF69DE-DD8A-45CC-9096-645A49E4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3AEA010-4F4A-4626-B0A8-97B05F9F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9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BADB865F-973F-4FBD-92C0-BAA6AC9F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34CDB63-DC8C-4D79-8672-D4B66669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OPCIONAL: SALA NO TELEMÓVEL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DFCBD0A-CEE2-49A4-8086-2363E689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7071055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>
                <a:solidFill>
                  <a:srgbClr val="F2F0EA"/>
                </a:solidFill>
                <a:latin typeface="Arial"/>
                <a:ea typeface="Arial"/>
                <a:cs typeface="Arial"/>
              </a:rPr>
              <a:t>Três minutos, com placar</a:t>
            </a:r>
            <a:endParaRPr sz="38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800ED98-342D-48BC-BF01-70E7AC31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21408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C8772444-8BE2-4D52-81F9-32BD25B2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0" cy="14249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58D3049-743F-4936-B1D0-3C821348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F1DFA01-6C5D-4333-8E24-DD2393EE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CD2A711-6D7A-4CF5-B951-1611C1B4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32304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Na lição, toca em «Sala» e escreve o código do ecrã e uma alcunha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7BFC144-7092-44B8-A309-2706EAFE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ED2D87D-6F23-486A-B172-9665F1E9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895EB9CF-96E2-4E60-A352-B2E973D1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15208"/>
            <a:ext cx="6430975" cy="5420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Faz os cartões que o ecrã indica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D00DA29-F8C6-4512-8D35-4B827AD0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81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7C0CE5E-2ED8-4BF5-93BE-3B529408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810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5ED82796-D2CC-430B-93E4-B360325F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857244"/>
            <a:ext cx="6430975" cy="5420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Quando acabares, olha para o placar</a:t>
            </a:r>
            <a:endParaRPr sz="22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563D35ED-E8E6-4D8E-9245-AFEE2EEE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1033272"/>
            <a:ext cx="3145536" cy="31455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2F0EA"/>
            </a:solidFill>
            <a:prstDash val="solid"/>
          </a:ln>
        </p:spPr>
      </p:sp>
      <p:pic>
        <p:nvPicPr>
          <p:cNvPr id="21" name="Image 0">
            <a:extLst xmlns:a="http://schemas.openxmlformats.org/drawingml/2006/main">
              <a:ext uri="{FF2B5EF4-FFF2-40B4-BE49-F238E27FC236}">
                <a16:creationId xmlns:a16="http://schemas.microsoft.com/office/drawing/2014/main" id="{3B98DF35-8878-4C0B-BBA8-95F6D574DF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b171f45774e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42655" y="1143000"/>
            <a:ext cx="2926080" cy="2926080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871497A-D577-49B9-AAB3-41C4ED29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4343400"/>
            <a:ext cx="314553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F2F0EA"/>
                </a:solidFill>
                <a:latin typeface="Arial"/>
                <a:ea typeface="Arial"/>
                <a:cs typeface="Arial"/>
                <a:hlinkClick xmlns:r="http://schemas.openxmlformats.org/officeDocument/2006/relationships" r:id="R4afe5285a942423a"/>
              </a:rPr>
              <a:t>pedrohfernandes-klk.github.io/​pt/​m5/​licao-m5-f09/​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00535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86A4B9C-D1E3-43BB-B253-D85D7789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4B2007C-5153-43D9-B8CD-6DB23F5B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E868102-6DD9-4044-A05A-6F1E2E66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10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A4EB8A81-E43A-4962-B2C8-17DD0F5A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triangl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59D623A-098C-4F9B-B0E1-4231434F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SÍNTESE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1A870D3-D1F5-4341-A606-BA0B55F6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981425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>
                <a:solidFill>
                  <a:srgbClr val="F2F0EA"/>
                </a:solidFill>
                <a:latin typeface="Arial"/>
                <a:ea typeface="Arial"/>
                <a:cs typeface="Arial"/>
              </a:rPr>
              <a:t>Para fixar</a:t>
            </a:r>
            <a:endParaRPr sz="34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E387E126-5420-46A5-A2F6-4A242CED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46504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9758D6B2-1DB5-4EB6-B538-23269810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86000"/>
            <a:ext cx="0" cy="24475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566D22B-4C7D-4C22-858D-9B3A4B99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FF4289C-727B-4EA3-A455-88838DC7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351C6C-E1A6-4321-9408-A68DC6A6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112264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O caderno de campo tem uma ordem: observar tamanhos, luz e materiais, escrever a lápis o que se vê e copiar entre aspas a frase do guia.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9A7680A2-E9A5-4B22-9274-65EF4EEC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2689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F38CB82-3035-46E9-8AD6-3F280A76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2689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7C5F27C-E541-4136-9817-E8FB6371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36036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Só no fim da visita a coluna da ligação junta cada observação ao romance ou ao autor: o assento da cadeia, as grades, a escrita na prisão.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E88FC8D-7C70-444F-B5FF-993DF801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506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B41236E-3455-48A9-AA6C-E4AD05C8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506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20EE1F4-C1E6-4CC7-9FAD-E139FBC1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559808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Camilo esteve preso na mesma cadeia, mas isso é sugestão biográfica, não biografia: a história de Simão não é a história do autor.</a:t>
            </a:r>
            <a:endParaRPr sz="2200"/>
          </a:p>
        </p:txBody>
      </p:sp>
    </p:spTree>
    <p:extLst>
      <p:ext uri="{BB962C8B-B14F-4D97-AF65-F5344CB8AC3E}">
        <p14:creationId xmlns:p14="http://schemas.microsoft.com/office/powerpoint/2010/main" val="16668153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552A0EC-DBAD-4FFE-9229-0BB83FEF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6E33D765-F220-4B4B-A6FF-F5035985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M5-F09, Os lugares de Camilo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4D3426B-B758-48F0-8E5B-4701D3AE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11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91E0E4CB-5424-46AE-8067-D86125B8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triangl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2264617-680A-4B67-B478-EC8022B6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ATÉ À PRÓXIMA AULA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2D12F22-D8C0-459E-85CA-30D43057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7071055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>
                <a:solidFill>
                  <a:srgbClr val="F2F0EA"/>
                </a:solidFill>
                <a:latin typeface="Arial"/>
                <a:ea typeface="Arial"/>
                <a:cs typeface="Arial"/>
              </a:rPr>
              <a:t>No telemóvel ou no PC da escola</a:t>
            </a:r>
            <a:endParaRPr sz="30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CFD1611-1102-4292-B887-AED50FF5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21408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6D9E414-2BC8-4B27-B593-5926E074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0" cy="17658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9078A7-3248-439A-A367-705B131A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4F2530C-02C7-4F0F-A51C-347F52A4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C8BEF73-4D1C-49AA-8C4E-D8A25252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32304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Termina o baralho da lição M5-F09 e o cartão extra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3C3B2605-8EDA-4952-B474-DF2FDEFC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706DE499-ADDC-41C3-9F54-0CDB0120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84D4FC91-B36F-4379-9CDE-EB0A5505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15208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Espreita a lição seguinte, «Responder no alto mar»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9FD5A1C0-85EE-4128-B82D-4F9C04E4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88968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C40F04-2783-4130-AD61-8CF0931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88968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A8F55EA-3F37-4B15-AA0D-F04CC24C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198112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Antes de sair: foto do caderno para o portefólio</a:t>
            </a:r>
            <a:endParaRPr sz="22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048E540-FEE6-49FD-8074-F630057F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1033272"/>
            <a:ext cx="3145536" cy="31455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2F0EA"/>
            </a:solidFill>
            <a:prstDash val="solid"/>
          </a:ln>
        </p:spPr>
      </p:sp>
      <p:pic>
        <p:nvPicPr>
          <p:cNvPr id="21" name="Image 0">
            <a:extLst xmlns:a="http://schemas.openxmlformats.org/drawingml/2006/main">
              <a:ext uri="{FF2B5EF4-FFF2-40B4-BE49-F238E27FC236}">
                <a16:creationId xmlns:a16="http://schemas.microsoft.com/office/drawing/2014/main" id="{FE19D698-EFA3-4470-B5F4-E690BAF328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c7f196f78a4a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42655" y="1143000"/>
            <a:ext cx="2926080" cy="2926080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D5B65E3-4B2A-4259-8F14-549D3E57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4343400"/>
            <a:ext cx="314553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F2F0EA"/>
                </a:solidFill>
                <a:latin typeface="Arial"/>
                <a:ea typeface="Arial"/>
                <a:cs typeface="Arial"/>
                <a:hlinkClick xmlns:r="http://schemas.openxmlformats.org/officeDocument/2006/relationships" r:id="R2c53450f535849f1"/>
              </a:rPr>
              <a:t>pedrohfernandes-klk.github.io/​pt/​m5/​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4094785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2026-10-25T19:53:01.0600000Z</dcterms:created>
  <dcterms:modified xsi:type="dcterms:W3CDTF">2026-10-25T19:53:01.0600000Z</dcterms:modified>
</coreProperties>
</file>