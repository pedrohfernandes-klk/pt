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media/image-1-1.jpg" ContentType="image/jpg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image" Target="../media/image-1-1.jpg"/><Relationship Id="rId2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M8-F11, Caderno de campo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000" dirty="0"/>
          </a:p>
        </p:txBody>
      </p:sp>
      <p:sp>
        <p:nvSpPr>
          <p:cNvPr id="6" name="Text 3"/>
          <p:cNvSpPr/>
          <p:nvPr/>
        </p:nvSpPr>
        <p:spPr>
          <a:xfrm>
            <a:off x="822960" y="457200"/>
            <a:ext cx="981425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PORTUGUÊS, 3.º ANO, MÓDULO 8, LIÇÃO M8-F11, UNIDADE 2</a:t>
            </a:r>
            <a:endParaRPr lang="en-US" sz="1100" dirty="0"/>
          </a:p>
        </p:txBody>
      </p:sp>
      <p:sp>
        <p:nvSpPr>
          <p:cNvPr id="7" name="Text 4"/>
          <p:cNvSpPr/>
          <p:nvPr/>
        </p:nvSpPr>
        <p:spPr>
          <a:xfrm>
            <a:off x="777240" y="685800"/>
            <a:ext cx="521208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50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15000" dirty="0"/>
          </a:p>
        </p:txBody>
      </p:sp>
      <p:sp>
        <p:nvSpPr>
          <p:cNvPr id="8" name="Text 5"/>
          <p:cNvSpPr/>
          <p:nvPr/>
        </p:nvSpPr>
        <p:spPr>
          <a:xfrm>
            <a:off x="822960" y="2697480"/>
            <a:ext cx="52120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40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Caderno de campo</a:t>
            </a:r>
            <a:endParaRPr lang="en-US" sz="4000" dirty="0"/>
          </a:p>
        </p:txBody>
      </p:sp>
      <p:sp>
        <p:nvSpPr>
          <p:cNvPr id="9" name="Shape 6"/>
          <p:cNvSpPr/>
          <p:nvPr/>
        </p:nvSpPr>
        <p:spPr>
          <a:xfrm>
            <a:off x="822960" y="4069080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822960" y="6089904"/>
            <a:ext cx="182880" cy="182880"/>
          </a:xfrm>
          <a:prstGeom prst="ellips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1152144" y="6089904"/>
            <a:ext cx="182880" cy="182880"/>
          </a:xfrm>
          <a:prstGeom prst="rect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1481328" y="6089904"/>
            <a:ext cx="182880" cy="182880"/>
          </a:xfrm>
          <a:prstGeom prst="triangl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1874520" y="6062472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lê, faz, leva</a:t>
            </a:r>
            <a:endParaRPr lang="en-US" sz="1100" dirty="0"/>
          </a:p>
        </p:txBody>
      </p:sp>
      <p:sp>
        <p:nvSpPr>
          <p:cNvPr id="14" name="Text 11"/>
          <p:cNvSpPr/>
          <p:nvPr/>
        </p:nvSpPr>
        <p:spPr>
          <a:xfrm>
            <a:off x="822960" y="4297680"/>
            <a:ext cx="521208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2000" i="1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Vais a um lugar e levas um lápis em vez do telemóvel. O que trouxeres de lá é matéria-prima de escrita.</a:t>
            </a:r>
            <a:endParaRPr lang="en-US" sz="2000" dirty="0"/>
          </a:p>
        </p:txBody>
      </p:sp>
      <p:pic>
        <p:nvPicPr>
          <p:cNvPr id="15" name="Image 0" descr="/home/user/epi-portugues-fontes/_interno/biblioteca-imagens/fontes/estacao-do-rossio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613855" y="914400"/>
            <a:ext cx="4754880" cy="4572000"/>
          </a:xfrm>
          <a:prstGeom prst="rect">
            <a:avLst/>
          </a:prstGeom>
        </p:spPr>
      </p:pic>
      <p:sp>
        <p:nvSpPr>
          <p:cNvPr id="16" name="Shape 12"/>
          <p:cNvSpPr/>
          <p:nvPr/>
        </p:nvSpPr>
        <p:spPr>
          <a:xfrm>
            <a:off x="6613855" y="914400"/>
            <a:ext cx="4754880" cy="4572000"/>
          </a:xfrm>
          <a:prstGeom prst="rect">
            <a:avLst/>
          </a:prstGeom>
          <a:ln w="12700">
            <a:solidFill>
              <a:srgbClr val="F2F0EA"/>
            </a:solidFill>
            <a:prstDash val="solid"/>
          </a:ln>
        </p:spPr>
      </p:sp>
      <p:sp>
        <p:nvSpPr>
          <p:cNvPr id="17" name="Text 13"/>
          <p:cNvSpPr/>
          <p:nvPr/>
        </p:nvSpPr>
        <p:spPr>
          <a:xfrm>
            <a:off x="6613855" y="557784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Estação do Rossio, Lisboa (fotografia de Jorge Franganillo, 2024). CC BY 2.0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M8-F11, Caderno de campo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ellips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ABRIR, CINCO MINUTOS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1097280"/>
            <a:ext cx="9814255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4600" i="1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 que deixas de ver num lugar quando olhas para ele através do telemóvel?</a:t>
            </a:r>
            <a:endParaRPr lang="en-US" sz="4600" dirty="0"/>
          </a:p>
        </p:txBody>
      </p:sp>
      <p:sp>
        <p:nvSpPr>
          <p:cNvPr id="9" name="Shape 6"/>
          <p:cNvSpPr/>
          <p:nvPr/>
        </p:nvSpPr>
        <p:spPr>
          <a:xfrm>
            <a:off x="822960" y="4526280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M8-F11, Caderno de campo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ellips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LER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981425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4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Antes da visita</a:t>
            </a:r>
            <a:endParaRPr lang="en-US" sz="3400" dirty="0"/>
          </a:p>
        </p:txBody>
      </p:sp>
      <p:sp>
        <p:nvSpPr>
          <p:cNvPr id="9" name="Shape 6"/>
          <p:cNvSpPr/>
          <p:nvPr/>
        </p:nvSpPr>
        <p:spPr>
          <a:xfrm>
            <a:off x="822960" y="1746504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822960" y="2011680"/>
            <a:ext cx="9814255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20000"/>
              </a:lnSpc>
              <a:spcAft>
                <a:spcPts val="1000"/>
              </a:spcAft>
              <a:buNone/>
            </a:pPr>
            <a:r>
              <a:rPr lang="en-US" sz="23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Local: ______________________</a:t>
            </a:r>
            <a:endParaRPr lang="en-US" sz="2300" dirty="0"/>
          </a:p>
          <a:p>
            <a:pPr indent="0" marL="0">
              <a:lnSpc>
                <a:spcPct val="120000"/>
              </a:lnSpc>
              <a:spcAft>
                <a:spcPts val="1000"/>
              </a:spcAft>
              <a:buNone/>
            </a:pPr>
            <a:r>
              <a:rPr lang="en-US" sz="23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Data: ____/____/______.</a:t>
            </a:r>
            <a:endParaRPr lang="en-US" sz="2300" dirty="0"/>
          </a:p>
          <a:p>
            <a:pPr indent="0" marL="0">
              <a:lnSpc>
                <a:spcPct val="120000"/>
              </a:lnSpc>
              <a:spcAft>
                <a:spcPts val="1000"/>
              </a:spcAft>
              <a:buNone/>
            </a:pPr>
            <a:r>
              <a:rPr lang="en-US" sz="23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Ligação ao módulo: ______________________.</a:t>
            </a:r>
            <a:endParaRPr lang="en-US" sz="2300" dirty="0"/>
          </a:p>
          <a:p>
            <a:pPr indent="0" marL="0">
              <a:lnSpc>
                <a:spcPct val="120000"/>
              </a:lnSpc>
              <a:spcAft>
                <a:spcPts val="1000"/>
              </a:spcAft>
              <a:buNone/>
            </a:pPr>
            <a:r>
              <a:rPr lang="en-US" sz="23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Durante a visita, </a:t>
            </a:r>
            <a:pPr indent="0" marL="0">
              <a:lnSpc>
                <a:spcPct val="120000"/>
              </a:lnSpc>
              <a:spcAft>
                <a:spcPts val="1000"/>
              </a:spcAft>
              <a:buNone/>
            </a:pPr>
            <a:r>
              <a:rPr lang="en-US" sz="2300" b="1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telemóvel guardado</a:t>
            </a:r>
            <a:pPr indent="0" marL="0">
              <a:lnSpc>
                <a:spcPct val="120000"/>
              </a:lnSpc>
              <a:spcAft>
                <a:spcPts val="1000"/>
              </a:spcAft>
              <a:buNone/>
            </a:pPr>
            <a:r>
              <a:rPr lang="en-US" sz="23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: o caderno e um lápis.</a:t>
            </a:r>
            <a:endParaRPr lang="en-US" sz="2300" dirty="0"/>
          </a:p>
          <a:p>
            <a:pPr indent="0" marL="0">
              <a:lnSpc>
                <a:spcPct val="120000"/>
              </a:lnSpc>
              <a:spcAft>
                <a:spcPts val="1000"/>
              </a:spcAft>
              <a:buNone/>
            </a:pPr>
            <a:r>
              <a:rPr lang="en-US" sz="23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Horários e condições: confirmar na semana da visita.</a:t>
            </a:r>
            <a:endParaRPr lang="en-US" sz="2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M8-F11, Caderno de campo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ellips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ESSENCIAL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981425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4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Três coisas a fixar</a:t>
            </a:r>
            <a:endParaRPr lang="en-US" sz="3400" dirty="0"/>
          </a:p>
        </p:txBody>
      </p:sp>
      <p:sp>
        <p:nvSpPr>
          <p:cNvPr id="9" name="Shape 6"/>
          <p:cNvSpPr/>
          <p:nvPr/>
        </p:nvSpPr>
        <p:spPr>
          <a:xfrm>
            <a:off x="822960" y="1746504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005840" y="2286000"/>
            <a:ext cx="0" cy="2447544"/>
          </a:xfrm>
          <a:prstGeom prst="line">
            <a:avLst/>
          </a:prstGeom>
          <a:noFill/>
          <a:ln w="12700">
            <a:solidFill>
              <a:srgbClr val="A9A79F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822960" y="210312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22960" y="21031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1417320" y="2112264"/>
            <a:ext cx="9174175" cy="12237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Visita de estudo a um lugar ligado à poesia ou ao conto do século XX, com lápis em vez de telemóvel; local e data a confirmar com o docente.</a:t>
            </a:r>
            <a:endParaRPr lang="en-US" sz="2200" dirty="0"/>
          </a:p>
        </p:txBody>
      </p:sp>
      <p:sp>
        <p:nvSpPr>
          <p:cNvPr id="14" name="Shape 11"/>
          <p:cNvSpPr/>
          <p:nvPr/>
        </p:nvSpPr>
        <p:spPr>
          <a:xfrm>
            <a:off x="822960" y="3326892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2960" y="332689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1417320" y="3336036"/>
            <a:ext cx="9174175" cy="12237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Registas três pormenores visuais, dois sons, um objeto que contaria uma história, uma frase ouvida ou lida, com a fonte, e uma pergunta que ficou.</a:t>
            </a:r>
            <a:endParaRPr lang="en-US" sz="2200" dirty="0"/>
          </a:p>
        </p:txBody>
      </p:sp>
      <p:sp>
        <p:nvSpPr>
          <p:cNvPr id="17" name="Shape 14"/>
          <p:cNvSpPr/>
          <p:nvPr/>
        </p:nvSpPr>
        <p:spPr>
          <a:xfrm>
            <a:off x="822960" y="4550664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22960" y="455066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1417320" y="4559808"/>
            <a:ext cx="9174175" cy="12237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Aprendes a transformar um objeto observado na primeira frase de um conto e a ligar o lugar a um poema ou a um conto do módulo.</a:t>
            </a:r>
            <a:endParaRPr lang="en-US" sz="2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M8-F11, Caderno de campo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rect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VER, E COMPLETAR NO CADERNO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981425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4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Completa no caderno</a:t>
            </a:r>
            <a:endParaRPr lang="en-US" sz="3400" dirty="0"/>
          </a:p>
        </p:txBody>
      </p:sp>
      <p:sp>
        <p:nvSpPr>
          <p:cNvPr id="9" name="Shape 6"/>
          <p:cNvSpPr/>
          <p:nvPr/>
        </p:nvSpPr>
        <p:spPr>
          <a:xfrm>
            <a:off x="822960" y="1746504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22960" y="2057400"/>
          <a:ext cx="10545775" cy="914400"/>
        </p:xfrm>
        <a:graphic>
          <a:graphicData uri="http://schemas.openxmlformats.org/drawingml/2006/table">
            <a:tbl>
              <a:tblPr/>
              <a:tblGrid>
                <a:gridCol w="4429226"/>
                <a:gridCol w="6116550"/>
              </a:tblGrid>
              <a:tr h="655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spc="150" kern="0" dirty="0">
                          <a:solidFill>
                            <a:srgbClr val="A9A79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REGISTO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F2F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spc="150" kern="0" dirty="0">
                          <a:solidFill>
                            <a:srgbClr val="A9A79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 QUE OBSERVEI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F2F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</a:tr>
              <a:tr h="655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Três pormenores visuais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 </a:t>
                      </a:r>
                      <a:endParaRPr lang="en-US" sz="180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</a:tr>
              <a:tr h="655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Dois sons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 </a:t>
                      </a:r>
                      <a:endParaRPr lang="en-US" sz="180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</a:tr>
              <a:tr h="655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Um objeto que contaria uma história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 </a:t>
                      </a:r>
                      <a:endParaRPr lang="en-US" sz="180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</a:tr>
              <a:tr h="655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Uma frase ouvida ou lida (com fonte)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 </a:t>
                      </a:r>
                      <a:endParaRPr lang="en-US" sz="180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</a:tr>
              <a:tr h="655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Uma pergunta que ficou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 </a:t>
                      </a:r>
                      <a:endParaRPr lang="en-US" sz="180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M8-F11, Caderno de campo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rect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AGORA NO TELEMÓVEL, QUINZE MINUTOS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707105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8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Abre a lição no telemóvel</a:t>
            </a:r>
            <a:endParaRPr lang="en-US" sz="3800" dirty="0"/>
          </a:p>
        </p:txBody>
      </p:sp>
      <p:sp>
        <p:nvSpPr>
          <p:cNvPr id="9" name="Shape 6"/>
          <p:cNvSpPr/>
          <p:nvPr/>
        </p:nvSpPr>
        <p:spPr>
          <a:xfrm>
            <a:off x="822960" y="2121408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005840" y="2606040"/>
            <a:ext cx="0" cy="882904"/>
          </a:xfrm>
          <a:prstGeom prst="line">
            <a:avLst/>
          </a:prstGeom>
          <a:noFill/>
          <a:ln w="12700">
            <a:solidFill>
              <a:srgbClr val="A9A79F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822960" y="242316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22960" y="24231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1417320" y="2432304"/>
            <a:ext cx="6430975" cy="8829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Lê e responde aos cartões, um de cada vez</a:t>
            </a:r>
            <a:endParaRPr lang="en-US" sz="2200" dirty="0"/>
          </a:p>
        </p:txBody>
      </p:sp>
      <p:sp>
        <p:nvSpPr>
          <p:cNvPr id="14" name="Shape 11"/>
          <p:cNvSpPr/>
          <p:nvPr/>
        </p:nvSpPr>
        <p:spPr>
          <a:xfrm>
            <a:off x="822960" y="3306064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2960" y="330606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1417320" y="3315208"/>
            <a:ext cx="6430975" cy="5420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percurso marca a lição como feita</a:t>
            </a:r>
            <a:endParaRPr lang="en-US" sz="2200" dirty="0"/>
          </a:p>
        </p:txBody>
      </p:sp>
      <p:sp>
        <p:nvSpPr>
          <p:cNvPr id="17" name="Shape 14"/>
          <p:cNvSpPr/>
          <p:nvPr/>
        </p:nvSpPr>
        <p:spPr>
          <a:xfrm>
            <a:off x="8332927" y="1033272"/>
            <a:ext cx="3145536" cy="3145536"/>
          </a:xfrm>
          <a:prstGeom prst="rect">
            <a:avLst/>
          </a:prstGeom>
          <a:solidFill>
            <a:srgbClr val="FFFFFF"/>
          </a:solidFill>
          <a:ln w="12700">
            <a:solidFill>
              <a:srgbClr val="F2F0EA"/>
            </a:solidFill>
            <a:prstDash val="solid"/>
          </a:ln>
        </p:spPr>
      </p:sp>
      <p:pic>
        <p:nvPicPr>
          <p:cNvPr id="18" name="Image 0" descr="/home/user/epi-portugues-fontes/_interno/biblioteca-imagens/qr/licao-m8-f1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42655" y="1143000"/>
            <a:ext cx="2926080" cy="2926080"/>
          </a:xfrm>
          <a:prstGeom prst="rect">
            <a:avLst/>
          </a:prstGeom>
        </p:spPr>
      </p:pic>
      <p:sp>
        <p:nvSpPr>
          <p:cNvPr id="19" name="Text 15"/>
          <p:cNvSpPr/>
          <p:nvPr/>
        </p:nvSpPr>
        <p:spPr>
          <a:xfrm>
            <a:off x="8332927" y="4343400"/>
            <a:ext cx="314553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pedrohfernandes-klk.github.io/​pt/​m8/​licao-m8-f11/​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M8-F11, Caderno de campo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rect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PAUSA: CARTÕES NO TELEMÓVEL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707105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8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Três minutos, com placar</a:t>
            </a:r>
            <a:endParaRPr lang="en-US" sz="3800" dirty="0"/>
          </a:p>
        </p:txBody>
      </p:sp>
      <p:sp>
        <p:nvSpPr>
          <p:cNvPr id="9" name="Shape 6"/>
          <p:cNvSpPr/>
          <p:nvPr/>
        </p:nvSpPr>
        <p:spPr>
          <a:xfrm>
            <a:off x="822960" y="2121408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005840" y="2606040"/>
            <a:ext cx="0" cy="1424940"/>
          </a:xfrm>
          <a:prstGeom prst="line">
            <a:avLst/>
          </a:prstGeom>
          <a:noFill/>
          <a:ln w="12700">
            <a:solidFill>
              <a:srgbClr val="A9A79F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822960" y="242316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22960" y="24231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1417320" y="2432304"/>
            <a:ext cx="6430975" cy="8829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 lição, toca em «Sala» e escreve o código do ecrã e uma alcunha</a:t>
            </a:r>
            <a:endParaRPr lang="en-US" sz="2200" dirty="0"/>
          </a:p>
        </p:txBody>
      </p:sp>
      <p:sp>
        <p:nvSpPr>
          <p:cNvPr id="14" name="Shape 11"/>
          <p:cNvSpPr/>
          <p:nvPr/>
        </p:nvSpPr>
        <p:spPr>
          <a:xfrm>
            <a:off x="822960" y="3306064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2960" y="330606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1417320" y="3315208"/>
            <a:ext cx="6430975" cy="5420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Faz os cartões que o ecrã indica</a:t>
            </a:r>
            <a:endParaRPr lang="en-US" sz="2200" dirty="0"/>
          </a:p>
        </p:txBody>
      </p:sp>
      <p:sp>
        <p:nvSpPr>
          <p:cNvPr id="17" name="Shape 14"/>
          <p:cNvSpPr/>
          <p:nvPr/>
        </p:nvSpPr>
        <p:spPr>
          <a:xfrm>
            <a:off x="822960" y="384810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22960" y="38481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1417320" y="3857244"/>
            <a:ext cx="6430975" cy="5420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Quando acabares, olha para o placar</a:t>
            </a:r>
            <a:endParaRPr lang="en-US" sz="2200" dirty="0"/>
          </a:p>
        </p:txBody>
      </p:sp>
      <p:sp>
        <p:nvSpPr>
          <p:cNvPr id="20" name="Shape 17"/>
          <p:cNvSpPr/>
          <p:nvPr/>
        </p:nvSpPr>
        <p:spPr>
          <a:xfrm>
            <a:off x="8332927" y="1033272"/>
            <a:ext cx="3145536" cy="3145536"/>
          </a:xfrm>
          <a:prstGeom prst="rect">
            <a:avLst/>
          </a:prstGeom>
          <a:solidFill>
            <a:srgbClr val="FFFFFF"/>
          </a:solidFill>
          <a:ln w="12700">
            <a:solidFill>
              <a:srgbClr val="F2F0EA"/>
            </a:solidFill>
            <a:prstDash val="solid"/>
          </a:ln>
        </p:spPr>
      </p:sp>
      <p:pic>
        <p:nvPicPr>
          <p:cNvPr id="21" name="Image 0" descr="/home/user/epi-portugues-fontes/_interno/biblioteca-imagens/qr/licao-m8-f1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42655" y="1143000"/>
            <a:ext cx="2926080" cy="2926080"/>
          </a:xfrm>
          <a:prstGeom prst="rect">
            <a:avLst/>
          </a:prstGeom>
        </p:spPr>
      </p:pic>
      <p:sp>
        <p:nvSpPr>
          <p:cNvPr id="22" name="Text 18"/>
          <p:cNvSpPr/>
          <p:nvPr/>
        </p:nvSpPr>
        <p:spPr>
          <a:xfrm>
            <a:off x="8332927" y="4343400"/>
            <a:ext cx="314553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pedrohfernandes-klk.github.io/​pt/​m8/​licao-m8-f11/​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M8-F11, Caderno de campo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triangl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SÍNTESE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981425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4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 fixar</a:t>
            </a:r>
            <a:endParaRPr lang="en-US" sz="3400" dirty="0"/>
          </a:p>
        </p:txBody>
      </p:sp>
      <p:sp>
        <p:nvSpPr>
          <p:cNvPr id="9" name="Shape 6"/>
          <p:cNvSpPr/>
          <p:nvPr/>
        </p:nvSpPr>
        <p:spPr>
          <a:xfrm>
            <a:off x="822960" y="1746504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005840" y="2286000"/>
            <a:ext cx="0" cy="2447544"/>
          </a:xfrm>
          <a:prstGeom prst="line">
            <a:avLst/>
          </a:prstGeom>
          <a:noFill/>
          <a:ln w="12700">
            <a:solidFill>
              <a:srgbClr val="A9A79F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822960" y="210312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22960" y="21031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1417320" y="2112264"/>
            <a:ext cx="9174175" cy="12237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que registas com lápis, telemóvel guardado, é matéria-prima: ainda não é o texto, é o que vais transformar em texto.</a:t>
            </a:r>
            <a:endParaRPr lang="en-US" sz="2200" dirty="0"/>
          </a:p>
        </p:txBody>
      </p:sp>
      <p:sp>
        <p:nvSpPr>
          <p:cNvPr id="14" name="Shape 11"/>
          <p:cNvSpPr/>
          <p:nvPr/>
        </p:nvSpPr>
        <p:spPr>
          <a:xfrm>
            <a:off x="822960" y="3326892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2960" y="332689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1417320" y="3336036"/>
            <a:ext cx="9174175" cy="12237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Depois, o objeto torna-se a primeira frase de um conto, com pormenor concreto e tensão, como a cadeira que o guarda nunca usava.</a:t>
            </a:r>
            <a:endParaRPr lang="en-US" sz="2200" dirty="0"/>
          </a:p>
        </p:txBody>
      </p:sp>
      <p:sp>
        <p:nvSpPr>
          <p:cNvPr id="17" name="Shape 14"/>
          <p:cNvSpPr/>
          <p:nvPr/>
        </p:nvSpPr>
        <p:spPr>
          <a:xfrm>
            <a:off x="822960" y="4550664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22960" y="455066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1417320" y="4559808"/>
            <a:ext cx="9174175" cy="12237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lugar liga-se a um poema ou a um conto do módulo por um pormenor do lugar e um verso ou passo do texto, não só pelo nome do autor.</a:t>
            </a:r>
            <a:endParaRPr lang="en-US" sz="2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M8-F11, Caderno de campo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triangl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ATÉ À PRÓXIMA AULA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707105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0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telemóvel ou no PC da escola</a:t>
            </a:r>
            <a:endParaRPr lang="en-US" sz="3000" dirty="0"/>
          </a:p>
        </p:txBody>
      </p:sp>
      <p:sp>
        <p:nvSpPr>
          <p:cNvPr id="9" name="Shape 6"/>
          <p:cNvSpPr/>
          <p:nvPr/>
        </p:nvSpPr>
        <p:spPr>
          <a:xfrm>
            <a:off x="822960" y="2121408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005840" y="2606040"/>
            <a:ext cx="0" cy="1424940"/>
          </a:xfrm>
          <a:prstGeom prst="line">
            <a:avLst/>
          </a:prstGeom>
          <a:noFill/>
          <a:ln w="12700">
            <a:solidFill>
              <a:srgbClr val="A9A79F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822960" y="242316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22960" y="24231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1417320" y="2432304"/>
            <a:ext cx="6430975" cy="5420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Termina o baralho da lição M8-F11</a:t>
            </a:r>
            <a:endParaRPr lang="en-US" sz="2200" dirty="0"/>
          </a:p>
        </p:txBody>
      </p:sp>
      <p:sp>
        <p:nvSpPr>
          <p:cNvPr id="14" name="Shape 11"/>
          <p:cNvSpPr/>
          <p:nvPr/>
        </p:nvSpPr>
        <p:spPr>
          <a:xfrm>
            <a:off x="822960" y="2965196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2960" y="296519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1417320" y="2974340"/>
            <a:ext cx="6430975" cy="8829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Espreita a lição seguinte, «Três imagens ao acaso»</a:t>
            </a:r>
            <a:endParaRPr lang="en-US" sz="2200" dirty="0"/>
          </a:p>
        </p:txBody>
      </p:sp>
      <p:sp>
        <p:nvSpPr>
          <p:cNvPr id="17" name="Shape 14"/>
          <p:cNvSpPr/>
          <p:nvPr/>
        </p:nvSpPr>
        <p:spPr>
          <a:xfrm>
            <a:off x="822960" y="384810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22960" y="38481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1417320" y="3857244"/>
            <a:ext cx="6430975" cy="8829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Antes de sair: foto do caderno para o portefólio</a:t>
            </a:r>
            <a:endParaRPr lang="en-US" sz="2200" dirty="0"/>
          </a:p>
        </p:txBody>
      </p:sp>
      <p:sp>
        <p:nvSpPr>
          <p:cNvPr id="20" name="Shape 17"/>
          <p:cNvSpPr/>
          <p:nvPr/>
        </p:nvSpPr>
        <p:spPr>
          <a:xfrm>
            <a:off x="8332927" y="1033272"/>
            <a:ext cx="3145536" cy="3145536"/>
          </a:xfrm>
          <a:prstGeom prst="rect">
            <a:avLst/>
          </a:prstGeom>
          <a:solidFill>
            <a:srgbClr val="FFFFFF"/>
          </a:solidFill>
          <a:ln w="12700">
            <a:solidFill>
              <a:srgbClr val="F2F0EA"/>
            </a:solidFill>
            <a:prstDash val="solid"/>
          </a:ln>
        </p:spPr>
      </p:sp>
      <p:pic>
        <p:nvPicPr>
          <p:cNvPr id="21" name="Image 0" descr="/home/user/epi-portugues-fontes/_interno/biblioteca-imagens/qr/passo-m8-f1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42655" y="1143000"/>
            <a:ext cx="2926080" cy="2926080"/>
          </a:xfrm>
          <a:prstGeom prst="rect">
            <a:avLst/>
          </a:prstGeom>
        </p:spPr>
      </p:pic>
      <p:sp>
        <p:nvSpPr>
          <p:cNvPr id="22" name="Text 18"/>
          <p:cNvSpPr/>
          <p:nvPr/>
        </p:nvSpPr>
        <p:spPr>
          <a:xfrm>
            <a:off x="8332927" y="4343400"/>
            <a:ext cx="314553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pedrohfernandes-klk.github.io/​pt/​m8/​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M8 · Sessão 08 · M8-F11 · Caderno de campo</dc:title>
  <dc:subject>PptxGenJS Presentation</dc:subject>
  <dc:creator>EPI · Português</dc:creator>
  <cp:lastModifiedBy>EPI · Português</cp:lastModifiedBy>
  <cp:revision>1</cp:revision>
  <dcterms:created xsi:type="dcterms:W3CDTF">2026-10-11T03:55:42Z</dcterms:created>
  <dcterms:modified xsi:type="dcterms:W3CDTF">2026-10-11T03:55:42Z</dcterms:modified>
  <dc:description/>
</cp:coreProperties>
</file>