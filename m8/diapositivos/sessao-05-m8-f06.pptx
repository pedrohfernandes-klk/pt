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-1-1.jpg" ContentType="image/jpg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M8-F06, Verbos que duram, palavras que apontam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000" dirty="0"/>
          </a:p>
        </p:txBody>
      </p:sp>
      <p:sp>
        <p:nvSpPr>
          <p:cNvPr id="6" name="Text 3"/>
          <p:cNvSpPr/>
          <p:nvPr/>
        </p:nvSpPr>
        <p:spPr>
          <a:xfrm>
            <a:off x="822960" y="457200"/>
            <a:ext cx="98142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PORTUGUÊS, 3.º ANO, MÓDULO 8, LIÇÃO M8-F06, UNIDADE 1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777240" y="685800"/>
            <a:ext cx="521208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indent="0" marL="0">
              <a:buNone/>
            </a:pPr>
            <a:r>
              <a:rPr lang="en-US" sz="15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5000" dirty="0"/>
          </a:p>
        </p:txBody>
      </p:sp>
      <p:sp>
        <p:nvSpPr>
          <p:cNvPr id="8" name="Text 5"/>
          <p:cNvSpPr/>
          <p:nvPr/>
        </p:nvSpPr>
        <p:spPr>
          <a:xfrm>
            <a:off x="822960" y="2697480"/>
            <a:ext cx="52120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Verbos que duram, palavras que apontam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40690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22960" y="6089904"/>
            <a:ext cx="182880" cy="182880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1152144" y="6089904"/>
            <a:ext cx="182880" cy="182880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481328" y="6089904"/>
            <a:ext cx="182880" cy="182880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1874520" y="6062472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lê, faz, leva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822960" y="4297680"/>
            <a:ext cx="521208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18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«Leu» e «lia» dizem a mesma ação e não dizem a mesma coisa. E há palavras que apontam para trás e outras que apontam para a frente.</a:t>
            </a:r>
            <a:endParaRPr lang="en-US" sz="1800" dirty="0"/>
          </a:p>
        </p:txBody>
      </p:sp>
      <p:pic>
        <p:nvPicPr>
          <p:cNvPr id="15" name="Image 0" descr="/home/user/epi-portugues-fontes/_interno/biblioteca-imagens/fontes/goya-tres-de-maio-1814.jp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613855" y="914400"/>
            <a:ext cx="4754880" cy="4572000"/>
          </a:xfrm>
          <a:prstGeom prst="rect">
            <a:avLst/>
          </a:prstGeom>
        </p:spPr>
      </p:pic>
      <p:sp>
        <p:nvSpPr>
          <p:cNvPr id="16" name="Shape 12"/>
          <p:cNvSpPr/>
          <p:nvPr/>
        </p:nvSpPr>
        <p:spPr>
          <a:xfrm>
            <a:off x="6613855" y="914400"/>
            <a:ext cx="4754880" cy="4572000"/>
          </a:xfrm>
          <a:prstGeom prst="rect">
            <a:avLst/>
          </a:prstGeom>
          <a:ln w="12700">
            <a:solidFill>
              <a:srgbClr val="F2F0EA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613855" y="5577840"/>
            <a:ext cx="4754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Os fuzilamentos de 3 de maio de 1808 (Francisco de Goya, 1814, Museo del Prado). Domínio público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M8-F06, Verbos que duram, palavras que apontam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ABRIR, CINCO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1097280"/>
            <a:ext cx="9814255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lnSpc>
                <a:spcPct val="115000"/>
              </a:lnSpc>
              <a:buNone/>
            </a:pPr>
            <a:r>
              <a:rPr lang="en-US" sz="4600" i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«Leu o poema» ou «lia o poema»: o que muda entre as duas frases?</a:t>
            </a:r>
            <a:endParaRPr lang="en-US" sz="4600" dirty="0"/>
          </a:p>
        </p:txBody>
      </p:sp>
      <p:sp>
        <p:nvSpPr>
          <p:cNvPr id="9" name="Shape 6"/>
          <p:cNvSpPr/>
          <p:nvPr/>
        </p:nvSpPr>
        <p:spPr>
          <a:xfrm>
            <a:off x="822960" y="4526280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M8-F06, Verbos que duram, palavras que apontam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LER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Aspeto, anáfora e catáfora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2011680"/>
            <a:ext cx="9814255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Valor aspetual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como se apresenta a situação no tempo.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Perfetivo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(concluída: «leu o poema»);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imperfetivo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(em curso, sem fim marcado: «lia»);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habitual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(«costuma escrever», «escreve todas as manhãs»);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iterativo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(repetida um certo número de vezes: «releu o verso três vezes»);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genérico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(verdade geral: «os poetas observam»).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Situações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estativas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(estados: «saber», «ser») e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eventos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(ações ou processos: «escrever», «chegar»).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Anáfora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expressão que retoma algo já dito («Li o conto. Ele surpreendeu-me»). 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Catáfora</a:t>
            </a:r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: expressão que antecipa algo que vem depois («Isto é o que quero: silêncio»).</a:t>
            </a:r>
            <a:endParaRPr lang="en-US" sz="2000" dirty="0"/>
          </a:p>
          <a:p>
            <a:pPr indent="0" marL="0">
              <a:lnSpc>
                <a:spcPct val="120000"/>
              </a:lnSpc>
              <a:spcAft>
                <a:spcPts val="1000"/>
              </a:spcAft>
              <a:buNone/>
            </a:pPr>
            <a:r>
              <a:rPr lang="en-US" sz="2000" dirty="0">
                <a:solidFill>
                  <a:srgbClr val="F2F0E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Atenção: em retórica, «anáfora» é outra coisa, a mesma palavra a abrir versos ou frases seguidas.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M8-F06, Verbos que duram, palavras que apontam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ellips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ESSENCIAL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coisas 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447544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Valor aspetual é o modo como a frase apresenta a situação no tempo: perfetivo, imperfetivo, habitual, iterativo e genérico; situações estativas e eventos.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2689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2689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3603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anáfora retoma algo já dito («Li o conto. Ele surpreendeu-me»); a catáfora anuncia o que vem depois («Isto é o que quero: silêncio»).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5506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5506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559808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Aprendes a dar nome ao valor aspetual de uma frase e a escrever um parágrafo sobre um poema com uma anáfora, uma catáfora e dois valores aspetuais diferentes.</a:t>
            </a:r>
            <a:endParaRPr lang="en-US" sz="2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M8-F06, Verbos que duram, palavras que apontam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VER, E COMPLETAR NO CADERNO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Completa no caderno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822960" y="2057400"/>
          <a:ext cx="10545775" cy="914400"/>
        </p:xfrm>
        <a:graphic>
          <a:graphicData uri="http://schemas.openxmlformats.org/drawingml/2006/table">
            <a:tbl>
              <a:tblPr/>
              <a:tblGrid>
                <a:gridCol w="4429226"/>
                <a:gridCol w="6116550"/>
              </a:tblGrid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FRASE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spc="150" kern="0" dirty="0">
                          <a:solidFill>
                            <a:srgbClr val="A9A79F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VALOR ASPETUAL</a:t>
                      </a:r>
                      <a:endParaRPr lang="en-US" sz="11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19050" cap="flat" cmpd="sng" algn="ctr">
                      <a:solidFill>
                        <a:srgbClr val="F2F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 pintora terminou o retrato ontem.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Todos os verões, ela voltava à casa da infância.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 poeta riscou a mesma palavra três vezes.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Os contos são narrativas breves.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  <a:tr h="655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Ela pintava quando a campainha tocou.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F2F0EA"/>
                          </a:solidFill>
                          <a:latin typeface="Georgia" pitchFamily="34" charset="0"/>
                          <a:ea typeface="Georgia" pitchFamily="34" charset="-122"/>
                          <a:cs typeface="Georgia" pitchFamily="34" charset="-120"/>
                        </a:rPr>
                        <a:t> </a:t>
                      </a:r>
                      <a:endParaRPr lang="en-US" sz="1800" dirty="0">
                        <a:latin typeface="Georgia" charset="0"/>
                        <a:ea typeface="Georgia" charset="0"/>
                        <a:cs typeface="Georgia" charset="0"/>
                      </a:endParaRPr>
                    </a:p>
                  </a:txBody>
                  <a:tcPr marL="73152" marR="73152" marT="73152" marB="73152" anchor="ctr">
                    <a:lnL w="0" cap="flat" cmpd="sng" algn="ctr">
                      <a:noFill/>
                    </a:lnL>
                    <a:lnR w="0" cap="flat" cmpd="sng" algn="ctr">
                      <a:noFill/>
                    </a:lnR>
                    <a:lnT w="0" cap="flat" cmpd="sng" algn="ctr">
                      <a:noFill/>
                    </a:lnT>
                    <a:lnB w="9525" cap="flat" cmpd="sng" algn="ctr">
                      <a:solidFill>
                        <a:srgbClr val="BBBBB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1111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M8-F06, Verbos que duram, palavras que apontam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AGORA NO TELEMÓVEL, QUINZE MINUTOS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Abre a lição no telemóvel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Lê e responde aos cartões, um de cada vez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fim, o cartão extra: «Fechou, fechava, foi fechando»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percurso marca a lição como feita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pedrohfernandes-klk.github.io/​pt/​m8/​licao-m8-f06/​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M8-F06, Verbos que duram, palavras que apontam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rect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PAUSA: CARTÕES NO TELEMÓVEL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8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Três minutos, com placar</a:t>
            </a:r>
            <a:endParaRPr lang="en-US" sz="38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424940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 lição, toca em «Sala» e escreve o código do ecrã e uma alcunha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Faz os cartões que o ecrã indica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384810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38481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3857244"/>
            <a:ext cx="6430975" cy="5420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Quando acabares, olha para o placar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licao-m8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pedrohfernandes-klk.github.io/​pt/​m8/​licao-m8-f06/​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M8-F06, Verbos que duram, palavras que apontam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SÍNTESE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981425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4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Para fixar</a:t>
            </a:r>
            <a:endParaRPr lang="en-US" sz="3400" dirty="0"/>
          </a:p>
        </p:txBody>
      </p:sp>
      <p:sp>
        <p:nvSpPr>
          <p:cNvPr id="9" name="Shape 6"/>
          <p:cNvSpPr/>
          <p:nvPr/>
        </p:nvSpPr>
        <p:spPr>
          <a:xfrm>
            <a:off x="822960" y="1746504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286000"/>
            <a:ext cx="0" cy="2788412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10312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1031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112264"/>
            <a:ext cx="9174175" cy="156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Deste nome a cinco valores aspetuais: perfetivo («terminou»), imperfetivo («pintava»), habitual («voltava todos os verões»), iterativo («riscou três vezes») e genérico («são»).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6677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6677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676904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Distinguiste anáfora, que retoma («Nele», o espelho), de catáfora, que anuncia («Disse-o», ia partir), e lembraste que em retórica a anáfora é outra coisa.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891532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8915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900676"/>
            <a:ext cx="9174175" cy="12237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 parágrafo de 60 a 80 palavras sobre um poema junta os quatro elementos, como no modelo «Isto é o que fica do poema: uma luz pequena».</a:t>
            </a:r>
            <a:endParaRPr lang="en-US" sz="2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1111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10637215" y="384048"/>
            <a:ext cx="731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spc="30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EPI</a:t>
            </a:r>
            <a:endParaRPr lang="en-US" sz="1200" dirty="0"/>
          </a:p>
        </p:txBody>
      </p:sp>
      <p:sp>
        <p:nvSpPr>
          <p:cNvPr id="4" name="Text 1"/>
          <p:cNvSpPr/>
          <p:nvPr/>
        </p:nvSpPr>
        <p:spPr>
          <a:xfrm>
            <a:off x="822960" y="6400800"/>
            <a:ext cx="96313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Lição M8-F06, Verbos que duram, palavras que apontam</a:t>
            </a:r>
            <a:endParaRPr lang="en-US" sz="1000" dirty="0"/>
          </a:p>
        </p:txBody>
      </p:sp>
      <p:sp>
        <p:nvSpPr>
          <p:cNvPr id="5" name="Text 2"/>
          <p:cNvSpPr/>
          <p:nvPr/>
        </p:nvSpPr>
        <p:spPr>
          <a:xfrm>
            <a:off x="10637215" y="6400800"/>
            <a:ext cx="731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822960" y="502920"/>
            <a:ext cx="201168" cy="201168"/>
          </a:xfrm>
          <a:prstGeom prst="triangle">
            <a:avLst/>
          </a:prstGeom>
          <a:ln w="19050">
            <a:solidFill>
              <a:srgbClr val="F2F0EA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1188720" y="457200"/>
            <a:ext cx="944849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50" kern="0" dirty="0">
                <a:solidFill>
                  <a:srgbClr val="A9A79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ATÉ À PRÓXIMA AULA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22960" y="868680"/>
            <a:ext cx="7071055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b">
            <a:normAutofit/>
          </a:bodyPr>
          <a:lstStyle/>
          <a:p>
            <a:pPr indent="0" marL="0">
              <a:buNone/>
            </a:pPr>
            <a:r>
              <a:rPr lang="en-US" sz="30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telemóvel ou no PC da escola</a:t>
            </a:r>
            <a:endParaRPr lang="en-US" sz="3000" dirty="0"/>
          </a:p>
        </p:txBody>
      </p:sp>
      <p:sp>
        <p:nvSpPr>
          <p:cNvPr id="9" name="Shape 6"/>
          <p:cNvSpPr/>
          <p:nvPr/>
        </p:nvSpPr>
        <p:spPr>
          <a:xfrm>
            <a:off x="822960" y="2121408"/>
            <a:ext cx="640080" cy="64008"/>
          </a:xfrm>
          <a:prstGeom prst="rect">
            <a:avLst/>
          </a:prstGeom>
          <a:solidFill>
            <a:srgbClr val="E4555C"/>
          </a:solidFill>
          <a:ln w="12700">
            <a:solidFill>
              <a:srgbClr val="E4555C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1005840" y="2606040"/>
            <a:ext cx="0" cy="1765808"/>
          </a:xfrm>
          <a:prstGeom prst="line">
            <a:avLst/>
          </a:prstGeom>
          <a:noFill/>
          <a:ln w="12700">
            <a:solidFill>
              <a:srgbClr val="A9A79F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822960" y="2423160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22960" y="242316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1417320" y="2432304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Termina o baralho da lição M8-F06 e o cartão extra</a:t>
            </a:r>
            <a:endParaRPr lang="en-US" sz="2200" dirty="0"/>
          </a:p>
        </p:txBody>
      </p:sp>
      <p:sp>
        <p:nvSpPr>
          <p:cNvPr id="14" name="Shape 11"/>
          <p:cNvSpPr/>
          <p:nvPr/>
        </p:nvSpPr>
        <p:spPr>
          <a:xfrm>
            <a:off x="822960" y="3306064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822960" y="33060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1417320" y="3315208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Espreita a lição seguinte, «Poema com pintura ou álbum»</a:t>
            </a:r>
            <a:endParaRPr lang="en-US" sz="2200" dirty="0"/>
          </a:p>
        </p:txBody>
      </p:sp>
      <p:sp>
        <p:nvSpPr>
          <p:cNvPr id="17" name="Shape 14"/>
          <p:cNvSpPr/>
          <p:nvPr/>
        </p:nvSpPr>
        <p:spPr>
          <a:xfrm>
            <a:off x="822960" y="4188968"/>
            <a:ext cx="365760" cy="365760"/>
          </a:xfrm>
          <a:prstGeom prst="ellipse">
            <a:avLst/>
          </a:prstGeom>
          <a:solidFill>
            <a:srgbClr val="111111"/>
          </a:solidFill>
          <a:ln w="15875">
            <a:solidFill>
              <a:srgbClr val="F2F0E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822960" y="418896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300" dirty="0"/>
          </a:p>
        </p:txBody>
      </p:sp>
      <p:sp>
        <p:nvSpPr>
          <p:cNvPr id="19" name="Text 16"/>
          <p:cNvSpPr/>
          <p:nvPr/>
        </p:nvSpPr>
        <p:spPr>
          <a:xfrm>
            <a:off x="1417320" y="4198112"/>
            <a:ext cx="6430975" cy="88290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lnSpc>
                <a:spcPct val="105000"/>
              </a:lnSpc>
              <a:buNone/>
            </a:pPr>
            <a:r>
              <a:rPr lang="en-US" sz="2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Antes de sair: foto do caderno para o portefólio</a:t>
            </a:r>
            <a:endParaRPr lang="en-US" sz="2200" dirty="0"/>
          </a:p>
        </p:txBody>
      </p:sp>
      <p:sp>
        <p:nvSpPr>
          <p:cNvPr id="20" name="Shape 17"/>
          <p:cNvSpPr/>
          <p:nvPr/>
        </p:nvSpPr>
        <p:spPr>
          <a:xfrm>
            <a:off x="8332927" y="1033272"/>
            <a:ext cx="3145536" cy="3145536"/>
          </a:xfrm>
          <a:prstGeom prst="rect">
            <a:avLst/>
          </a:prstGeom>
          <a:solidFill>
            <a:srgbClr val="FFFFFF"/>
          </a:solidFill>
          <a:ln w="12700">
            <a:solidFill>
              <a:srgbClr val="F2F0EA"/>
            </a:solidFill>
            <a:prstDash val="solid"/>
          </a:ln>
        </p:spPr>
      </p:sp>
      <p:pic>
        <p:nvPicPr>
          <p:cNvPr id="21" name="Image 0" descr="/home/user/epi-portugues-fontes/_interno/biblioteca-imagens/qr/passo-m8-f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442655" y="1143000"/>
            <a:ext cx="2926080" cy="2926080"/>
          </a:xfrm>
          <a:prstGeom prst="rect">
            <a:avLst/>
          </a:prstGeom>
        </p:spPr>
      </p:pic>
      <p:sp>
        <p:nvSpPr>
          <p:cNvPr id="22" name="Text 18"/>
          <p:cNvSpPr/>
          <p:nvPr/>
        </p:nvSpPr>
        <p:spPr>
          <a:xfrm>
            <a:off x="8332927" y="4343400"/>
            <a:ext cx="31455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ctr" indent="0" marL="0">
              <a:buNone/>
            </a:pPr>
            <a:r>
              <a:rPr lang="en-US" sz="1200" dirty="0">
                <a:solidFill>
                  <a:srgbClr val="F2F0E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pedrohfernandes-klk.github.io/​pt/​m8/​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M8 · Sessão 05 · M8-F06 · Verbos que duram, palavras que apontam</dc:title>
  <dc:subject>PptxGenJS Presentation</dc:subject>
  <dc:creator>EPI · Português</dc:creator>
  <cp:lastModifiedBy>EPI · Português</cp:lastModifiedBy>
  <cp:revision>1</cp:revision>
  <dcterms:created xsi:type="dcterms:W3CDTF">2026-10-11T03:55:42Z</dcterms:created>
  <dcterms:modified xsi:type="dcterms:W3CDTF">2026-10-11T03:55:42Z</dcterms:modified>
  <dc:description/>
</cp:coreProperties>
</file>