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3-1.jpg" ContentType="image/jpg"/>
  <Override PartName="/ppt/media/image-4-1.jpg" ContentType="image/jpg"/>
  <Override PartName="/ppt/media/image-5-1.jpg" ContentType="image/jpg"/>
  <Override PartName="/ppt/media/image-6-1.jpg" ContentType="image/jpg"/>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6"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3.º ANO, MÓDULO 9, LIÇÃO M9-F05, UNIDADE 2</a:t>
            </a:r>
            <a:endParaRPr lang="en-US" sz="1100" dirty="0"/>
          </a:p>
        </p:txBody>
      </p:sp>
      <p:sp>
        <p:nvSpPr>
          <p:cNvPr id="7" name="Text 4"/>
          <p:cNvSpPr/>
          <p:nvPr/>
        </p:nvSpPr>
        <p:spPr>
          <a:xfrm>
            <a:off x="777240" y="685800"/>
            <a:ext cx="521208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6</a:t>
            </a:r>
            <a:endParaRPr lang="en-US" sz="15000" dirty="0"/>
          </a:p>
        </p:txBody>
      </p:sp>
      <p:sp>
        <p:nvSpPr>
          <p:cNvPr id="8" name="Text 5"/>
          <p:cNvSpPr/>
          <p:nvPr/>
        </p:nvSpPr>
        <p:spPr>
          <a:xfrm>
            <a:off x="822960" y="2697480"/>
            <a:ext cx="5212080" cy="12801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Os que carregaram a pedra</a:t>
            </a:r>
            <a:endParaRPr lang="en-US" sz="3400" dirty="0"/>
          </a:p>
        </p:txBody>
      </p:sp>
      <p:sp>
        <p:nvSpPr>
          <p:cNvPr id="9"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10" name="Shape 7"/>
          <p:cNvSpPr/>
          <p:nvPr/>
        </p:nvSpPr>
        <p:spPr>
          <a:xfrm>
            <a:off x="822960" y="6089904"/>
            <a:ext cx="182880" cy="182880"/>
          </a:xfrm>
          <a:prstGeom prst="ellipse">
            <a:avLst/>
          </a:prstGeom>
          <a:ln w="19050">
            <a:solidFill>
              <a:srgbClr val="F2F0EA"/>
            </a:solidFill>
            <a:prstDash val="solid"/>
          </a:ln>
        </p:spPr>
      </p:sp>
      <p:sp>
        <p:nvSpPr>
          <p:cNvPr id="11" name="Shape 8"/>
          <p:cNvSpPr/>
          <p:nvPr/>
        </p:nvSpPr>
        <p:spPr>
          <a:xfrm>
            <a:off x="1152144" y="6089904"/>
            <a:ext cx="182880" cy="182880"/>
          </a:xfrm>
          <a:prstGeom prst="rect">
            <a:avLst/>
          </a:prstGeom>
          <a:ln w="19050">
            <a:solidFill>
              <a:srgbClr val="F2F0EA"/>
            </a:solidFill>
            <a:prstDash val="solid"/>
          </a:ln>
        </p:spPr>
      </p:sp>
      <p:sp>
        <p:nvSpPr>
          <p:cNvPr id="12" name="Shape 9"/>
          <p:cNvSpPr/>
          <p:nvPr/>
        </p:nvSpPr>
        <p:spPr>
          <a:xfrm>
            <a:off x="1481328" y="6089904"/>
            <a:ext cx="182880" cy="182880"/>
          </a:xfrm>
          <a:prstGeom prst="triangle">
            <a:avLst/>
          </a:prstGeom>
          <a:ln w="19050">
            <a:solidFill>
              <a:srgbClr val="F2F0EA"/>
            </a:solidFill>
            <a:prstDash val="solid"/>
          </a:ln>
        </p:spPr>
      </p:sp>
      <p:sp>
        <p:nvSpPr>
          <p:cNvPr id="13" name="Text 10"/>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Text 11"/>
          <p:cNvSpPr/>
          <p:nvPr/>
        </p:nvSpPr>
        <p:spPr>
          <a:xfrm>
            <a:off x="822960" y="4297680"/>
            <a:ext cx="5212080" cy="1600200"/>
          </a:xfrm>
          <a:prstGeom prst="rect">
            <a:avLst/>
          </a:prstGeom>
          <a:noFill/>
          <a:ln/>
        </p:spPr>
        <p:txBody>
          <a:bodyPr wrap="square" lIns="0" tIns="0" rIns="0" bIns="0" rtlCol="0" anchor="t">
            <a:normAutofit/>
          </a:bodyPr>
          <a:lstStyle/>
          <a:p>
            <a:pPr indent="0" marL="0">
              <a:lnSpc>
                <a:spcPct val="115000"/>
              </a:lnSpc>
              <a:buNone/>
            </a:pPr>
            <a:r>
              <a:rPr lang="en-US" sz="2000" i="1" dirty="0">
                <a:solidFill>
                  <a:srgbClr val="F2F0EA"/>
                </a:solidFill>
                <a:latin typeface="Georgia" pitchFamily="34" charset="0"/>
                <a:ea typeface="Georgia" pitchFamily="34" charset="-122"/>
                <a:cs typeface="Georgia" pitchFamily="34" charset="-120"/>
              </a:rPr>
              <a:t>O romance dá nome a quem a história oficial não deu. Vão fazer o mesmo, com as ferramentas do vosso curso.</a:t>
            </a:r>
            <a:endParaRPr lang="en-US" sz="2000" dirty="0"/>
          </a:p>
        </p:txBody>
      </p:sp>
      <p:pic>
        <p:nvPicPr>
          <p:cNvPr id="15" name="Image 0" descr="/home/user/epi-portugues-fontes/_interno/biblioteca-imagens/fontes/oliveira-milenar-constancia.jpg">    </p:cNvPr>
          <p:cNvPicPr>
            <a:picLocks noChangeAspect="1"/>
          </p:cNvPicPr>
          <p:nvPr/>
        </p:nvPicPr>
        <p:blipFill>
          <a:blip r:embed="rId1"/>
          <a:srcRect l="0" r="0" t="0" b="0"/>
          <a:stretch/>
        </p:blipFill>
        <p:spPr>
          <a:xfrm>
            <a:off x="6613855" y="914400"/>
            <a:ext cx="4754880" cy="4572000"/>
          </a:xfrm>
          <a:prstGeom prst="rect">
            <a:avLst/>
          </a:prstGeom>
        </p:spPr>
      </p:pic>
      <p:sp>
        <p:nvSpPr>
          <p:cNvPr id="16" name="Shape 12"/>
          <p:cNvSpPr/>
          <p:nvPr/>
        </p:nvSpPr>
        <p:spPr>
          <a:xfrm>
            <a:off x="6613855" y="914400"/>
            <a:ext cx="4754880" cy="4572000"/>
          </a:xfrm>
          <a:prstGeom prst="rect">
            <a:avLst/>
          </a:prstGeom>
          <a:ln w="12700">
            <a:solidFill>
              <a:srgbClr val="F2F0EA"/>
            </a:solidFill>
            <a:prstDash val="solid"/>
          </a:ln>
        </p:spPr>
      </p:sp>
      <p:sp>
        <p:nvSpPr>
          <p:cNvPr id="17" name="Text 13"/>
          <p:cNvSpPr/>
          <p:nvPr/>
        </p:nvSpPr>
        <p:spPr>
          <a:xfrm>
            <a:off x="6613855" y="5577840"/>
            <a:ext cx="4754880" cy="457200"/>
          </a:xfrm>
          <a:prstGeom prst="rect">
            <a:avLst/>
          </a:prstGeom>
          <a:noFill/>
          <a:ln/>
        </p:spPr>
        <p:txBody>
          <a:bodyPr wrap="square" lIns="0" tIns="0" rIns="0" bIns="0" rtlCol="0" anchor="t">
            <a:normAutofit/>
          </a:bodyPr>
          <a:lstStyle/>
          <a:p>
            <a:pPr indent="0" marL="0">
              <a:buNone/>
            </a:pPr>
            <a:r>
              <a:rPr lang="en-US" sz="1100" dirty="0">
                <a:solidFill>
                  <a:srgbClr val="A9A79F"/>
                </a:solidFill>
                <a:latin typeface="Arial" pitchFamily="34" charset="0"/>
                <a:ea typeface="Arial" pitchFamily="34" charset="-122"/>
                <a:cs typeface="Arial" pitchFamily="34" charset="-120"/>
              </a:rPr>
              <a:t>Oliveira milenar, Constância (fotografia de GualdimG, 2025). CC BY-SA 4.0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ABRIR, CINCO MINUTOS</a:t>
            </a:r>
            <a:endParaRPr lang="en-US" sz="1100" dirty="0"/>
          </a:p>
        </p:txBody>
      </p:sp>
      <p:sp>
        <p:nvSpPr>
          <p:cNvPr id="8"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600" i="1" dirty="0">
                <a:solidFill>
                  <a:srgbClr val="F2F0EA"/>
                </a:solidFill>
                <a:latin typeface="Georgia" pitchFamily="34" charset="0"/>
                <a:ea typeface="Georgia" pitchFamily="34" charset="-122"/>
                <a:cs typeface="Georgia" pitchFamily="34" charset="-120"/>
              </a:rPr>
              <a:t>De quem é uma obra: de quem a manda fazer ou de quem a faz?</a:t>
            </a:r>
            <a:endParaRPr lang="en-US" sz="4600" dirty="0"/>
          </a:p>
        </p:txBody>
      </p:sp>
      <p:sp>
        <p:nvSpPr>
          <p:cNvPr id="9"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pic>
        <p:nvPicPr>
          <p:cNvPr id="6" name="Image 0" descr="/home/user/epi-portugues-fontes/_interno/biblioteca-imagens/fontes/oliveira-milenar-constancia.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A PEDRA E OS NOMES (1 DE 2)</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600" dirty="0">
                <a:solidFill>
                  <a:srgbClr val="F2F0EA"/>
                </a:solidFill>
                <a:latin typeface="Georgia" pitchFamily="34" charset="0"/>
                <a:ea typeface="Georgia" pitchFamily="34" charset="-122"/>
                <a:cs typeface="Georgia" pitchFamily="34" charset="-120"/>
              </a:rPr>
              <a:t>Daqueles homens que conhecemos no outro dia, vão na viagem José Pequeno e Baltasar, conduzindo cada qual sua junta, e, entre o pessoal peão, só para as forças chamado, vai o de Cheleiros, aquele que lá tem a mulher e os filhos, Francisco Marques é o nome dele, e também vai o Manuel Milho, o das ideias que lhe vêm e não sabe donde.</a:t>
            </a:r>
            <a:endParaRPr lang="en-US" sz="2600" dirty="0"/>
          </a:p>
          <a:p>
            <a:pPr indent="0" marL="0">
              <a:lnSpc>
                <a:spcPct val="125000"/>
              </a:lnSpc>
              <a:buNone/>
            </a:pPr>
            <a:r>
              <a:rPr lang="en-US" sz="2600" dirty="0">
                <a:solidFill>
                  <a:srgbClr val="F2F0EA"/>
                </a:solidFill>
                <a:latin typeface="Georgia" pitchFamily="34" charset="0"/>
                <a:ea typeface="Georgia" pitchFamily="34" charset="-122"/>
                <a:cs typeface="Georgia" pitchFamily="34" charset="-120"/>
              </a:rPr>
              <a:t>[…]</a:t>
            </a:r>
            <a:endParaRPr lang="en-US" sz="26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José Saramago, </a:t>
            </a:r>
            <a:pPr indent="0" marL="0">
              <a:buNone/>
            </a:pPr>
            <a:r>
              <a:rPr lang="en-US" sz="1200" i="1" dirty="0">
                <a:solidFill>
                  <a:srgbClr val="A9A79F"/>
                </a:solidFill>
                <a:latin typeface="Arial" pitchFamily="34" charset="0"/>
                <a:ea typeface="Arial" pitchFamily="34" charset="-122"/>
                <a:cs typeface="Arial" pitchFamily="34" charset="-120"/>
              </a:rPr>
              <a:t>Memorial do Convento</a:t>
            </a:r>
            <a:pPr indent="0" marL="0">
              <a:buNone/>
            </a:pPr>
            <a:r>
              <a:rPr lang="en-US" sz="1200" dirty="0">
                <a:solidFill>
                  <a:srgbClr val="A9A79F"/>
                </a:solidFill>
                <a:latin typeface="Arial" pitchFamily="34" charset="0"/>
                <a:ea typeface="Arial" pitchFamily="34" charset="-122"/>
                <a:cs typeface="Arial" pitchFamily="34" charset="-120"/>
              </a:rPr>
              <a:t> (1982), a viagem da pedra para Mafra (excerto). Excerto para estudo.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pic>
        <p:nvPicPr>
          <p:cNvPr id="6" name="Image 0" descr="/home/user/epi-portugues-fontes/_interno/biblioteca-imagens/fontes/oliveira-milenar-constancia.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A PEDRA E OS NOMES (2 DE 2)</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tudo quanto é nome de homem vai aqui, tudo quanto é vida também, sobretudo se atribulada, principalmente se miserável, já que não podemos falar-lhes das vidas, por tantas serem, ao menos deixemos os nomes escritos, é essa a nossa obrigação, só para isso escrevemos, torná-los imortais, pois aí ficam, se de nós depende, Alcino, Brás, Cristóvão, Daniel, Egas, Firmino, Geraldo, Horácio, Isidro, Juvino, Luís, Marcolino, Nicanor, Onofre, Paulo, Quitério, Rufino, Sebastião, Tadeu, Ubaldo, Valério, Xavier, Zacarias, uma letra de cada um para ficarem todos representados, porventura nem todos estes nomes serão os próprios do tempo e do lugar, menos ainda da gente, mas, enquanto não se acabar quem trabalhe, não se acabarão os trabalhos, e alguns destes estarão no futuro de alguns daqueles, à espera de quem vier a ter o nome e a profissão</a:t>
            </a:r>
            <a:endParaRPr lang="en-US" sz="22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José Saramago, </a:t>
            </a:r>
            <a:pPr indent="0" marL="0">
              <a:buNone/>
            </a:pPr>
            <a:r>
              <a:rPr lang="en-US" sz="1200" i="1" dirty="0">
                <a:solidFill>
                  <a:srgbClr val="A9A79F"/>
                </a:solidFill>
                <a:latin typeface="Arial" pitchFamily="34" charset="0"/>
                <a:ea typeface="Arial" pitchFamily="34" charset="-122"/>
                <a:cs typeface="Arial" pitchFamily="34" charset="-120"/>
              </a:rPr>
              <a:t>Memorial do Convento</a:t>
            </a:r>
            <a:pPr indent="0" marL="0">
              <a:buNone/>
            </a:pPr>
            <a:r>
              <a:rPr lang="en-US" sz="1200" dirty="0">
                <a:solidFill>
                  <a:srgbClr val="A9A79F"/>
                </a:solidFill>
                <a:latin typeface="Arial" pitchFamily="34" charset="0"/>
                <a:ea typeface="Arial" pitchFamily="34" charset="-122"/>
                <a:cs typeface="Arial" pitchFamily="34" charset="-120"/>
              </a:rPr>
              <a:t> (1982), a viagem da pedra para Mafra (excerto). Excerto para estudo.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pic>
        <p:nvPicPr>
          <p:cNvPr id="6" name="Image 0" descr="/home/user/epi-portugues-fontes/_interno/biblioteca-imagens/fontes/oliveira-milenar-constancia.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A PRINCESA NA ESTRADA (1 DE 2)</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A tarde caía rapidamente, o ar arrefecia, e a princesa D. Maria Bárbara, que enfim adormecera, auxiliada pelo torpor emoliente dos caramelos com que aconchegara o estômago e por quinhentos passos de estrada sem buracos, acordou com um grande arrepio, como se um dedo gelado lhe tivesse tocado na testa, e, virando os olhos ensonados para os campos crepusculares, viu parado um pardo ajuntamento de homens, alinhados na beira do caminho e atados uns aos outros por cordas, seriam talvez uns quinze.</a:t>
            </a:r>
            <a:endParaRPr lang="en-US" sz="22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José Saramago, </a:t>
            </a:r>
            <a:pPr indent="0" marL="0">
              <a:buNone/>
            </a:pPr>
            <a:r>
              <a:rPr lang="en-US" sz="1200" i="1" dirty="0">
                <a:solidFill>
                  <a:srgbClr val="A9A79F"/>
                </a:solidFill>
                <a:latin typeface="Arial" pitchFamily="34" charset="0"/>
                <a:ea typeface="Arial" pitchFamily="34" charset="-122"/>
                <a:cs typeface="Arial" pitchFamily="34" charset="-120"/>
              </a:rPr>
              <a:t>Memorial do Convento</a:t>
            </a:r>
            <a:pPr indent="0" marL="0">
              <a:buNone/>
            </a:pPr>
            <a:r>
              <a:rPr lang="en-US" sz="1200" dirty="0">
                <a:solidFill>
                  <a:srgbClr val="A9A79F"/>
                </a:solidFill>
                <a:latin typeface="Arial" pitchFamily="34" charset="0"/>
                <a:ea typeface="Arial" pitchFamily="34" charset="-122"/>
                <a:cs typeface="Arial" pitchFamily="34" charset="-120"/>
              </a:rPr>
              <a:t> (1982). grafia da edição. Excerto para estudo.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pic>
        <p:nvPicPr>
          <p:cNvPr id="6" name="Image 0" descr="/home/user/epi-portugues-fontes/_interno/biblioteca-imagens/fontes/oliveira-milenar-constancia.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A PRINCESA NA ESTRADA (2 DE 2)</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Afirmou-se melhor a princesa, não era sonho nem delírio, e turbou-se de tão lastimoso espectáculo de grilhetas, em véspera das suas bodas, quando tudo devia ser ledice e regozijo, já não chegava o péssimo tempo que faz, esta chuva, este frio, teriam feito bem melhor se me casassem na Primavera. Cavalgava à estribeira um oficial, a quem D. Maria Bárbara ordenou que mandasse saber que homens eram aqueles e o que tinham feito, que crimes, e se iam para o Limoeiro ou para a África. Foi o oficial em pessoa, talvez por muito amar esta infanta, já sabemos que feia, já sabemos que bexigosa, e daí, e vai levada para Espanha, para longe do seu puro e desesperado amor, querer um plebeu a uma princesa, que loucura, foi e voltou, não a loucura, ele, e disse, Saiba vossa alteza que aqueles homens vão trabalhar para Mafra, nas obras do convento real, são do termo de Évora, gente de ofício, E vão atados porquê, Porque não vão de vontade, se os soltam fogem, Ah. Recostou-se a princesa nas almofadas, pensativa, enquanto o oficial repetia e gravava em seu coração as doces palavras trocadas, há-de ser velho, caduco e reformado, e ainda se recordará do mavioso diálogo, como estará ela agora, passados todos estes anos.</a:t>
            </a:r>
            <a:endParaRPr lang="en-US" sz="2200" dirty="0"/>
          </a:p>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a:t>
            </a:r>
            <a:endParaRPr lang="en-US" sz="22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José Saramago, </a:t>
            </a:r>
            <a:pPr indent="0" marL="0">
              <a:buNone/>
            </a:pPr>
            <a:r>
              <a:rPr lang="en-US" sz="1200" i="1" dirty="0">
                <a:solidFill>
                  <a:srgbClr val="A9A79F"/>
                </a:solidFill>
                <a:latin typeface="Arial" pitchFamily="34" charset="0"/>
                <a:ea typeface="Arial" pitchFamily="34" charset="-122"/>
                <a:cs typeface="Arial" pitchFamily="34" charset="-120"/>
              </a:rPr>
              <a:t>Memorial do Convento</a:t>
            </a:r>
            <a:pPr indent="0" marL="0">
              <a:buNone/>
            </a:pPr>
            <a:r>
              <a:rPr lang="en-US" sz="1200" dirty="0">
                <a:solidFill>
                  <a:srgbClr val="A9A79F"/>
                </a:solidFill>
                <a:latin typeface="Arial" pitchFamily="34" charset="0"/>
                <a:ea typeface="Arial" pitchFamily="34" charset="-122"/>
                <a:cs typeface="Arial" pitchFamily="34" charset="-120"/>
              </a:rPr>
              <a:t> (1982). grafia da edição. Excerto para estudo.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ESSENCIAL</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Três coisas a fixar</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10" name="Shape 7"/>
          <p:cNvSpPr/>
          <p:nvPr/>
        </p:nvSpPr>
        <p:spPr>
          <a:xfrm>
            <a:off x="1005840" y="2286000"/>
            <a:ext cx="0" cy="2447544"/>
          </a:xfrm>
          <a:prstGeom prst="line">
            <a:avLst/>
          </a:prstGeom>
          <a:noFill/>
          <a:ln w="12700">
            <a:solidFill>
              <a:srgbClr val="A9A79F"/>
            </a:solidFill>
            <a:prstDash val="solid"/>
          </a:ln>
        </p:spPr>
      </p:sp>
      <p:sp>
        <p:nvSpPr>
          <p:cNvPr id="11" name="Shape 8"/>
          <p:cNvSpPr/>
          <p:nvPr/>
        </p:nvSpPr>
        <p:spPr>
          <a:xfrm>
            <a:off x="822960" y="210312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10312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112264"/>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O romance dá nome e voz a quem a história oficial esqueceu: os homens que cortaram, levaram e ergueram a pedra do convento de Mafra.</a:t>
            </a:r>
            <a:endParaRPr lang="en-US" sz="2200" dirty="0"/>
          </a:p>
        </p:txBody>
      </p:sp>
      <p:sp>
        <p:nvSpPr>
          <p:cNvPr id="14" name="Shape 11"/>
          <p:cNvSpPr/>
          <p:nvPr/>
        </p:nvSpPr>
        <p:spPr>
          <a:xfrm>
            <a:off x="822960" y="3326892"/>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2689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36036"/>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Em grupo, criam um produto do vosso curso que faça o mesmo por um grupo de anónimos, do romance ou de hoje, com três citações curtas e a página de cada uma.</a:t>
            </a:r>
            <a:endParaRPr lang="en-US" sz="2200" dirty="0"/>
          </a:p>
        </p:txBody>
      </p:sp>
      <p:sp>
        <p:nvSpPr>
          <p:cNvPr id="17" name="Shape 14"/>
          <p:cNvSpPr/>
          <p:nvPr/>
        </p:nvSpPr>
        <p:spPr>
          <a:xfrm>
            <a:off x="822960" y="4550664"/>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5506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559808"/>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Vale 25 % da nota: apresentação de sete minutos e memória descritiva individual de 100 a 150 palavras; nenhuma pessoa real pode aparecer reconhecível sem autorização.</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VER, E COMPLETAR NO CADERNO</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Completa no caderno</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057400"/>
          <a:ext cx="10545775" cy="914400"/>
        </p:xfrm>
        <a:graphic>
          <a:graphicData uri="http://schemas.openxmlformats.org/drawingml/2006/table">
            <a:tbl>
              <a:tblPr/>
              <a:tblGrid>
                <a:gridCol w="4429226"/>
                <a:gridCol w="3058275"/>
                <a:gridCol w="3058275"/>
              </a:tblGrid>
              <a:tr h="685800">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CITAÇÃO CURTA (P.)</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TEMA DO ROMANCE</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COMO APARECE NO NOSSO PRODUTO</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AGORA NO TELEMÓVEL, QUINZE MINUTOS</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800" dirty="0">
                <a:solidFill>
                  <a:srgbClr val="F2F0EA"/>
                </a:solidFill>
                <a:latin typeface="Arial" pitchFamily="34" charset="0"/>
                <a:ea typeface="Arial" pitchFamily="34" charset="-122"/>
                <a:cs typeface="Arial" pitchFamily="34" charset="-120"/>
              </a:rPr>
              <a:t>Abre a lição no telemóvel</a:t>
            </a:r>
            <a:endParaRPr lang="en-US" sz="38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765808"/>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Lê e responde aos cartões, um de cada vez</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No fim, o cartão extra: «Da promessa à pedra»</a:t>
            </a:r>
            <a:endParaRPr lang="en-US" sz="2200" dirty="0"/>
          </a:p>
        </p:txBody>
      </p:sp>
      <p:sp>
        <p:nvSpPr>
          <p:cNvPr id="17" name="Shape 14"/>
          <p:cNvSpPr/>
          <p:nvPr/>
        </p:nvSpPr>
        <p:spPr>
          <a:xfrm>
            <a:off x="822960" y="4188968"/>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188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198112"/>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O percurso marca a lição como feita</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licao-m9-f05.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pedrohfernandes-klk.github.io/​pt/​m9/​licao-m9-f05/​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10</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PAUSA: CARTÕES NO TELEMÓVEL</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800" dirty="0">
                <a:solidFill>
                  <a:srgbClr val="F2F0EA"/>
                </a:solidFill>
                <a:latin typeface="Arial" pitchFamily="34" charset="0"/>
                <a:ea typeface="Arial" pitchFamily="34" charset="-122"/>
                <a:cs typeface="Arial" pitchFamily="34" charset="-120"/>
              </a:rPr>
              <a:t>Três minutos, com placar</a:t>
            </a:r>
            <a:endParaRPr lang="en-US" sz="38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424940"/>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Na lição, toca em «Sala» e escreve o código do ecrã e uma alcunha</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Faz os cartões que o ecrã indica</a:t>
            </a:r>
            <a:endParaRPr lang="en-US" sz="2200" dirty="0"/>
          </a:p>
        </p:txBody>
      </p:sp>
      <p:sp>
        <p:nvSpPr>
          <p:cNvPr id="17" name="Shape 14"/>
          <p:cNvSpPr/>
          <p:nvPr/>
        </p:nvSpPr>
        <p:spPr>
          <a:xfrm>
            <a:off x="822960" y="3848100"/>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38481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3857244"/>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Quando acabares, olha para o placar</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licao-m9-f05.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pedrohfernandes-klk.github.io/​pt/​m9/​licao-m9-f05/​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11</a:t>
            </a:r>
            <a:endParaRPr lang="en-US" sz="1000" dirty="0"/>
          </a:p>
        </p:txBody>
      </p:sp>
      <p:sp>
        <p:nvSpPr>
          <p:cNvPr id="6" name="Shape 3"/>
          <p:cNvSpPr/>
          <p:nvPr/>
        </p:nvSpPr>
        <p:spPr>
          <a:xfrm>
            <a:off x="822960" y="502920"/>
            <a:ext cx="201168" cy="201168"/>
          </a:xfrm>
          <a:prstGeom prst="triangl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SÍNTESE</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Para fixar</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10" name="Shape 7"/>
          <p:cNvSpPr/>
          <p:nvPr/>
        </p:nvSpPr>
        <p:spPr>
          <a:xfrm>
            <a:off x="1005840" y="2286000"/>
            <a:ext cx="0" cy="2106676"/>
          </a:xfrm>
          <a:prstGeom prst="line">
            <a:avLst/>
          </a:prstGeom>
          <a:noFill/>
          <a:ln w="12700">
            <a:solidFill>
              <a:srgbClr val="A9A79F"/>
            </a:solidFill>
            <a:prstDash val="solid"/>
          </a:ln>
        </p:spPr>
      </p:sp>
      <p:sp>
        <p:nvSpPr>
          <p:cNvPr id="11" name="Shape 8"/>
          <p:cNvSpPr/>
          <p:nvPr/>
        </p:nvSpPr>
        <p:spPr>
          <a:xfrm>
            <a:off x="822960" y="210312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10312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112264"/>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Os itens seguiram a grande pedra de Pêro Pinheiro a Mafra: um homem morre e fica em Cheleiros, os companheiros velam-no e o narrador diz-lhes os nomes, um a um.</a:t>
            </a:r>
            <a:endParaRPr lang="en-US" sz="2200" dirty="0"/>
          </a:p>
        </p:txBody>
      </p:sp>
      <p:sp>
        <p:nvSpPr>
          <p:cNvPr id="14" name="Shape 11"/>
          <p:cNvSpPr/>
          <p:nvPr/>
        </p:nvSpPr>
        <p:spPr>
          <a:xfrm>
            <a:off x="822960" y="3326892"/>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2689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36036"/>
            <a:ext cx="91741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D. Maria Bárbara vê da estrada homens atados por cordas e esquece-os logo: o romance lembra quem o poder não vê.</a:t>
            </a:r>
            <a:endParaRPr lang="en-US" sz="2200" dirty="0"/>
          </a:p>
        </p:txBody>
      </p:sp>
      <p:sp>
        <p:nvSpPr>
          <p:cNvPr id="17" name="Shape 14"/>
          <p:cNvSpPr/>
          <p:nvPr/>
        </p:nvSpPr>
        <p:spPr>
          <a:xfrm>
            <a:off x="822960" y="4209796"/>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2097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218940"/>
            <a:ext cx="9174175" cy="1564640"/>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No processo, as citações escolhem-se antes de produzir e o protótipo passa pela crítica de outro grupo; a memória descritiva é tua e diz que decisão do grupo defendeste ou contrariaste.</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M9-F05, Os que carregaram a pedra</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12</a:t>
            </a:r>
            <a:endParaRPr lang="en-US" sz="1000" dirty="0"/>
          </a:p>
        </p:txBody>
      </p:sp>
      <p:sp>
        <p:nvSpPr>
          <p:cNvPr id="6" name="Shape 3"/>
          <p:cNvSpPr/>
          <p:nvPr/>
        </p:nvSpPr>
        <p:spPr>
          <a:xfrm>
            <a:off x="822960" y="502920"/>
            <a:ext cx="201168" cy="201168"/>
          </a:xfrm>
          <a:prstGeom prst="triangl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000" dirty="0">
                <a:solidFill>
                  <a:srgbClr val="F2F0EA"/>
                </a:solidFill>
                <a:latin typeface="Arial" pitchFamily="34" charset="0"/>
                <a:ea typeface="Arial" pitchFamily="34" charset="-122"/>
                <a:cs typeface="Arial" pitchFamily="34" charset="-120"/>
              </a:rPr>
              <a:t>No telemóvel ou no PC da escola</a:t>
            </a:r>
            <a:endParaRPr lang="en-US" sz="30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765808"/>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Termina o baralho da lição M9-F05 e o cartão extra</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Espreita a lição seguinte, «Três anos numa resposta»</a:t>
            </a:r>
            <a:endParaRPr lang="en-US" sz="2200" dirty="0"/>
          </a:p>
        </p:txBody>
      </p:sp>
      <p:sp>
        <p:nvSpPr>
          <p:cNvPr id="17" name="Shape 14"/>
          <p:cNvSpPr/>
          <p:nvPr/>
        </p:nvSpPr>
        <p:spPr>
          <a:xfrm>
            <a:off x="822960" y="4188968"/>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188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198112"/>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Antes de sair: foto do caderno para o portefólio</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passo-m9-f05.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M9 · Sessão 06 · M9-F05 · Os que carregaram a pedra</dc:title>
  <dc:subject>PptxGenJS Presentation</dc:subject>
  <dc:creator>EPI · Português</dc:creator>
  <cp:lastModifiedBy>EPI · Português</cp:lastModifiedBy>
  <cp:revision>1</cp:revision>
  <dcterms:created xsi:type="dcterms:W3CDTF">2026-10-11T03:02:54Z</dcterms:created>
  <dcterms:modified xsi:type="dcterms:W3CDTF">2026-10-11T03:02:54Z</dcterms:modified>
  <dc:description/>
</cp:coreProperties>
</file>