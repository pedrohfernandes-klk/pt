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3.º ANO, MÓDULO 9, LIÇÃO M9-F05, UNIDADE 2</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6</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que carregaram a pedra</a:t>
            </a:r>
            <a:endParaRPr lang="en-US" sz="34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2000" i="1" dirty="0">
                <a:solidFill>
                  <a:srgbClr val="F2F0EA"/>
                </a:solidFill>
                <a:latin typeface="Georgia" pitchFamily="34" charset="0"/>
                <a:ea typeface="Georgia" pitchFamily="34" charset="-122"/>
                <a:cs typeface="Georgia" pitchFamily="34" charset="-120"/>
              </a:rPr>
              <a:t>O romance dá nome a quem a história oficial não deu. Vão fazer o mesmo, com as ferramentas do vosso curso.</a:t>
            </a:r>
            <a:endParaRPr lang="en-US" sz="2000" dirty="0"/>
          </a:p>
        </p:txBody>
      </p:sp>
      <p:pic>
        <p:nvPicPr>
          <p:cNvPr id="15" name="Image 0" descr="/home/user/epi-portugues-fontes/_interno/biblioteca-imagens/fontes/oliveira-milenar-constancia.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Oliveira milenar, Constância (fotografia de GualdimG, 2025). CC BY-SA 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De quem é uma obra: de quem a manda fazer ou de quem a faz?</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NA FOLHA</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textos leem-se na folha</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1316736"/>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31673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 pedra e os nomes</a:t>
            </a:r>
            <a:endParaRPr lang="en-US" sz="2400" dirty="0"/>
          </a:p>
          <a:p>
            <a:pPr indent="0" marL="0">
              <a:lnSpc>
                <a:spcPct val="105000"/>
              </a:lnSpc>
              <a:buNone/>
            </a:pPr>
            <a:r>
              <a:rPr lang="en-US" sz="2400" dirty="0">
                <a:solidFill>
                  <a:srgbClr val="F2F0EA"/>
                </a:solidFill>
                <a:latin typeface="Arial" pitchFamily="34" charset="0"/>
                <a:ea typeface="Arial" pitchFamily="34" charset="-122"/>
                <a:cs typeface="Arial" pitchFamily="34" charset="-120"/>
              </a:rPr>
              <a:t>José Saramago, Memorial do Convento (1982), a viagem da pedra para Mafra (excerto).</a:t>
            </a:r>
            <a:endParaRPr lang="en-US" sz="2400" dirty="0"/>
          </a:p>
        </p:txBody>
      </p:sp>
      <p:sp>
        <p:nvSpPr>
          <p:cNvPr id="14" name="Shape 11"/>
          <p:cNvSpPr/>
          <p:nvPr/>
        </p:nvSpPr>
        <p:spPr>
          <a:xfrm>
            <a:off x="822960" y="3419856"/>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41985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429000"/>
            <a:ext cx="9174175" cy="1316736"/>
          </a:xfrm>
          <a:prstGeom prst="rect">
            <a:avLst/>
          </a:prstGeom>
          <a:noFill/>
          <a:ln/>
        </p:spPr>
        <p:txBody>
          <a:bodyPr wrap="square" lIns="0" tIns="0" rIns="0" bIns="0" rtlCol="0" anchor="t">
            <a:normAutofit/>
          </a:bodyPr>
          <a:lstStyle/>
          <a:p>
            <a:pPr indent="0" marL="0">
              <a:lnSpc>
                <a:spcPct val="105000"/>
              </a:lnSpc>
              <a:buNone/>
            </a:pPr>
            <a:r>
              <a:rPr lang="en-US" sz="2400" dirty="0">
                <a:solidFill>
                  <a:srgbClr val="F2F0EA"/>
                </a:solidFill>
                <a:latin typeface="Arial" pitchFamily="34" charset="0"/>
                <a:ea typeface="Arial" pitchFamily="34" charset="-122"/>
                <a:cs typeface="Arial" pitchFamily="34" charset="-120"/>
              </a:rPr>
              <a:t>A princesa na estrada</a:t>
            </a:r>
            <a:endParaRPr lang="en-US" sz="2400" dirty="0"/>
          </a:p>
          <a:p>
            <a:pPr indent="0" marL="0">
              <a:lnSpc>
                <a:spcPct val="105000"/>
              </a:lnSpc>
              <a:buNone/>
            </a:pPr>
            <a:r>
              <a:rPr lang="en-US" sz="2400" dirty="0">
                <a:solidFill>
                  <a:srgbClr val="F2F0EA"/>
                </a:solidFill>
                <a:latin typeface="Arial" pitchFamily="34" charset="0"/>
                <a:ea typeface="Arial" pitchFamily="34" charset="-122"/>
                <a:cs typeface="Arial" pitchFamily="34" charset="-120"/>
              </a:rPr>
              <a:t>José Saramago, Memorial do Convento (1982). Texto junto pelo docente; grafia da edição.</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romance dá nome e voz a quem a história oficial esqueceu: os homens que cortaram, levaram e ergueram a pedra do convento de Mafra.</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Em grupo, criam um produto do vosso curso que faça o mesmo por um grupo de anónimos, do romance ou de hoje, com três citações curtas e a página de cada uma.</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Vale 25 % da nota: apresentação de sete minutos e memória descritiva individual de 100 a 150 palavras; nenhuma pessoa real pode aparecer reconhecível sem autorização.</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 E COMPLETAR NO CADERNO</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Completa no caderno</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2960" y="2057400"/>
          <a:ext cx="10545775" cy="914400"/>
        </p:xfrm>
        <a:graphic>
          <a:graphicData uri="http://schemas.openxmlformats.org/drawingml/2006/table">
            <a:tbl>
              <a:tblPr/>
              <a:tblGrid>
                <a:gridCol w="4429226"/>
                <a:gridCol w="3058275"/>
                <a:gridCol w="3058275"/>
              </a:tblGrid>
              <a:tr h="685800">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CITAÇÃO CURTA (P.)</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TEMA DO ROMANCE</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COMO APARECE NO NOSSO PRODUTO</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A encomenda</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Text 7"/>
          <p:cNvSpPr/>
          <p:nvPr/>
        </p:nvSpPr>
        <p:spPr>
          <a:xfrm>
            <a:off x="822960" y="2011680"/>
            <a:ext cx="9814255" cy="4023360"/>
          </a:xfrm>
          <a:prstGeom prst="rect">
            <a:avLst/>
          </a:prstGeom>
          <a:noFill/>
          <a:ln/>
        </p:spPr>
        <p:txBody>
          <a:bodyPr wrap="square" lIns="0" tIns="0" rIns="0" bIns="0" rtlCol="0" anchor="t">
            <a:normAutofit/>
          </a:bodyPr>
          <a:lstStyle/>
          <a:p>
            <a:pPr indent="0" marL="0">
              <a:lnSpc>
                <a:spcPct val="120000"/>
              </a:lnSpc>
              <a:spcAft>
                <a:spcPts val="1000"/>
              </a:spcAft>
              <a:buNone/>
            </a:pPr>
            <a:r>
              <a:rPr lang="en-US" sz="2300" dirty="0">
                <a:solidFill>
                  <a:srgbClr val="F2F0EA"/>
                </a:solidFill>
                <a:latin typeface="Georgia" pitchFamily="34" charset="0"/>
                <a:ea typeface="Georgia" pitchFamily="34" charset="-122"/>
                <a:cs typeface="Georgia" pitchFamily="34" charset="-120"/>
              </a:rPr>
              <a:t>O Memorial dá nome e voz a quem a história oficial esqueceu: os que construíram o convento. Em grupo, criem um produto que faça o mesmo para um grupo de anónimos do romance ou de hoje, relacionado com um tema do livro (poder, trabalho, sonho, memória, ver). Fundamentem com três citações curtas do romance (com página).</a:t>
            </a:r>
            <a:endParaRPr lang="en-US" sz="2300" dirty="0"/>
          </a:p>
          <a:p>
            <a:pPr indent="0" marL="0">
              <a:lnSpc>
                <a:spcPct val="120000"/>
              </a:lnSpc>
              <a:spcAft>
                <a:spcPts val="1000"/>
              </a:spcAft>
              <a:buNone/>
            </a:pPr>
            <a:r>
              <a:rPr lang="en-US" sz="2300" dirty="0">
                <a:solidFill>
                  <a:srgbClr val="F2F0EA"/>
                </a:solidFill>
                <a:latin typeface="Georgia" pitchFamily="34" charset="0"/>
                <a:ea typeface="Georgia" pitchFamily="34" charset="-122"/>
                <a:cs typeface="Georgia" pitchFamily="34" charset="-120"/>
              </a:rPr>
              <a:t>Apresentação: 7 minutos.</a:t>
            </a:r>
            <a:endParaRPr lang="en-US" sz="2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 «Da promessa à pedra»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106676"/>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Os itens seguiram a grande pedra de Pêro Pinheiro a Mafra: um homem morre e fica em Cheleiros, os companheiros velam-no e o narrador diz-lhes os nomes, um a um.</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D. Maria Bárbara vê da estrada homens atados por cordas e esquece-os logo: o romance lembra quem o poder não vê.</a:t>
            </a:r>
            <a:endParaRPr lang="en-US" sz="2200" dirty="0"/>
          </a:p>
        </p:txBody>
      </p:sp>
      <p:sp>
        <p:nvSpPr>
          <p:cNvPr id="17" name="Shape 14"/>
          <p:cNvSpPr/>
          <p:nvPr/>
        </p:nvSpPr>
        <p:spPr>
          <a:xfrm>
            <a:off x="822960" y="4209796"/>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209796"/>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218940"/>
            <a:ext cx="9174175" cy="1564640"/>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processo, as citações escolhem-se antes de produzir e o protótipo passa pela crítica de outro grupo; a memória descritiva é tua e diz que decisão do grupo defendeste ou contrariaste.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M9-F05, Os que carregaram a pedra</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M9-F05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«Três anos numa resposta»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9-f05.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M9 · Sessão 06 · M9-F05 · Os que carregaram a pedra</dc:title>
  <dc:subject>PptxGenJS Presentation</dc:subject>
  <dc:creator>EPI · Português</dc:creator>
  <cp:lastModifiedBy>EPI · Português</cp:lastModifiedBy>
  <cp:revision>1</cp:revision>
  <dcterms:created xsi:type="dcterms:W3CDTF">2026-10-10T20:31:15Z</dcterms:created>
  <dcterms:modified xsi:type="dcterms:W3CDTF">2026-10-10T20:31:15Z</dcterms:modified>
  <dc:description/>
</cp:coreProperties>
</file>