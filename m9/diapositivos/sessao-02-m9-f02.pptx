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3-1.jpg" ContentType="image/jpg"/>
  <Override PartName="/ppt/media/image-4-1.jpg" ContentType="image/jpg"/>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M9-F02, Ver e não ver</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a:t>
            </a:r>
            <a:endParaRPr lang="en-US" sz="1000" dirty="0"/>
          </a:p>
        </p:txBody>
      </p:sp>
      <p:sp>
        <p:nvSpPr>
          <p:cNvPr id="6" name="Text 3"/>
          <p:cNvSpPr/>
          <p:nvPr/>
        </p:nvSpPr>
        <p:spPr>
          <a:xfrm>
            <a:off x="822960" y="457200"/>
            <a:ext cx="981425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PORTUGUÊS, 3.º ANO, MÓDULO 9, LIÇÃO M9-F02, UNIDADE 1</a:t>
            </a:r>
            <a:endParaRPr lang="en-US" sz="1100" dirty="0"/>
          </a:p>
        </p:txBody>
      </p:sp>
      <p:sp>
        <p:nvSpPr>
          <p:cNvPr id="7" name="Text 4"/>
          <p:cNvSpPr/>
          <p:nvPr/>
        </p:nvSpPr>
        <p:spPr>
          <a:xfrm>
            <a:off x="777240" y="685800"/>
            <a:ext cx="5212080" cy="1920240"/>
          </a:xfrm>
          <a:prstGeom prst="rect">
            <a:avLst/>
          </a:prstGeom>
          <a:noFill/>
          <a:ln/>
        </p:spPr>
        <p:txBody>
          <a:bodyPr wrap="square" lIns="0" tIns="0" rIns="0" bIns="0" rtlCol="0" anchor="b"/>
          <a:lstStyle/>
          <a:p>
            <a:pPr indent="0" marL="0">
              <a:buNone/>
            </a:pPr>
            <a:r>
              <a:rPr lang="en-US" sz="15000" dirty="0">
                <a:solidFill>
                  <a:srgbClr val="F2F0EA"/>
                </a:solidFill>
                <a:latin typeface="Arial" pitchFamily="34" charset="0"/>
                <a:ea typeface="Arial" pitchFamily="34" charset="-122"/>
                <a:cs typeface="Arial" pitchFamily="34" charset="-120"/>
              </a:rPr>
              <a:t>2</a:t>
            </a:r>
            <a:endParaRPr lang="en-US" sz="15000" dirty="0"/>
          </a:p>
        </p:txBody>
      </p:sp>
      <p:sp>
        <p:nvSpPr>
          <p:cNvPr id="8" name="Text 5"/>
          <p:cNvSpPr/>
          <p:nvPr/>
        </p:nvSpPr>
        <p:spPr>
          <a:xfrm>
            <a:off x="822960" y="2697480"/>
            <a:ext cx="5212080" cy="1280160"/>
          </a:xfrm>
          <a:prstGeom prst="rect">
            <a:avLst/>
          </a:prstGeom>
          <a:noFill/>
          <a:ln/>
        </p:spPr>
        <p:txBody>
          <a:bodyPr wrap="square" lIns="0" tIns="0" rIns="0" bIns="0" rtlCol="0" anchor="b">
            <a:normAutofit/>
          </a:bodyPr>
          <a:lstStyle/>
          <a:p>
            <a:pPr indent="0" marL="0">
              <a:buNone/>
            </a:pPr>
            <a:r>
              <a:rPr lang="en-US" sz="4000" dirty="0">
                <a:solidFill>
                  <a:srgbClr val="F2F0EA"/>
                </a:solidFill>
                <a:latin typeface="Arial" pitchFamily="34" charset="0"/>
                <a:ea typeface="Arial" pitchFamily="34" charset="-122"/>
                <a:cs typeface="Arial" pitchFamily="34" charset="-120"/>
              </a:rPr>
              <a:t>Ver e não ver</a:t>
            </a:r>
            <a:endParaRPr lang="en-US" sz="4000" dirty="0"/>
          </a:p>
        </p:txBody>
      </p:sp>
      <p:sp>
        <p:nvSpPr>
          <p:cNvPr id="9" name="Shape 6"/>
          <p:cNvSpPr/>
          <p:nvPr/>
        </p:nvSpPr>
        <p:spPr>
          <a:xfrm>
            <a:off x="822960" y="4069080"/>
            <a:ext cx="640080" cy="64008"/>
          </a:xfrm>
          <a:prstGeom prst="rect">
            <a:avLst/>
          </a:prstGeom>
          <a:solidFill>
            <a:srgbClr val="E4555C"/>
          </a:solidFill>
          <a:ln w="12700">
            <a:solidFill>
              <a:srgbClr val="E4555C"/>
            </a:solidFill>
            <a:prstDash val="solid"/>
          </a:ln>
        </p:spPr>
      </p:sp>
      <p:sp>
        <p:nvSpPr>
          <p:cNvPr id="10" name="Shape 7"/>
          <p:cNvSpPr/>
          <p:nvPr/>
        </p:nvSpPr>
        <p:spPr>
          <a:xfrm>
            <a:off x="822960" y="6089904"/>
            <a:ext cx="182880" cy="182880"/>
          </a:xfrm>
          <a:prstGeom prst="ellipse">
            <a:avLst/>
          </a:prstGeom>
          <a:ln w="19050">
            <a:solidFill>
              <a:srgbClr val="F2F0EA"/>
            </a:solidFill>
            <a:prstDash val="solid"/>
          </a:ln>
        </p:spPr>
      </p:sp>
      <p:sp>
        <p:nvSpPr>
          <p:cNvPr id="11" name="Shape 8"/>
          <p:cNvSpPr/>
          <p:nvPr/>
        </p:nvSpPr>
        <p:spPr>
          <a:xfrm>
            <a:off x="1152144" y="6089904"/>
            <a:ext cx="182880" cy="182880"/>
          </a:xfrm>
          <a:prstGeom prst="rect">
            <a:avLst/>
          </a:prstGeom>
          <a:ln w="19050">
            <a:solidFill>
              <a:srgbClr val="F2F0EA"/>
            </a:solidFill>
            <a:prstDash val="solid"/>
          </a:ln>
        </p:spPr>
      </p:sp>
      <p:sp>
        <p:nvSpPr>
          <p:cNvPr id="12" name="Shape 9"/>
          <p:cNvSpPr/>
          <p:nvPr/>
        </p:nvSpPr>
        <p:spPr>
          <a:xfrm>
            <a:off x="1481328" y="6089904"/>
            <a:ext cx="182880" cy="182880"/>
          </a:xfrm>
          <a:prstGeom prst="triangle">
            <a:avLst/>
          </a:prstGeom>
          <a:ln w="19050">
            <a:solidFill>
              <a:srgbClr val="F2F0EA"/>
            </a:solidFill>
            <a:prstDash val="solid"/>
          </a:ln>
        </p:spPr>
      </p:sp>
      <p:sp>
        <p:nvSpPr>
          <p:cNvPr id="13" name="Text 10"/>
          <p:cNvSpPr/>
          <p:nvPr/>
        </p:nvSpPr>
        <p:spPr>
          <a:xfrm>
            <a:off x="1874520" y="6062472"/>
            <a:ext cx="2743200" cy="237744"/>
          </a:xfrm>
          <a:prstGeom prst="rect">
            <a:avLst/>
          </a:prstGeom>
          <a:noFill/>
          <a:ln/>
        </p:spPr>
        <p:txBody>
          <a:bodyPr wrap="square" lIns="0" tIns="0" rIns="0" bIns="0" rtlCol="0" anchor="ctr"/>
          <a:lstStyle/>
          <a:p>
            <a:pPr indent="0" marL="0">
              <a:buNone/>
            </a:pPr>
            <a:r>
              <a:rPr lang="en-US" sz="1100" dirty="0">
                <a:solidFill>
                  <a:srgbClr val="A9A79F"/>
                </a:solidFill>
                <a:latin typeface="Arial" pitchFamily="34" charset="0"/>
                <a:ea typeface="Arial" pitchFamily="34" charset="-122"/>
                <a:cs typeface="Arial" pitchFamily="34" charset="-120"/>
              </a:rPr>
              <a:t>lê, faz, leva</a:t>
            </a:r>
            <a:endParaRPr lang="en-US" sz="1100" dirty="0"/>
          </a:p>
        </p:txBody>
      </p:sp>
      <p:sp>
        <p:nvSpPr>
          <p:cNvPr id="14" name="Text 11"/>
          <p:cNvSpPr/>
          <p:nvPr/>
        </p:nvSpPr>
        <p:spPr>
          <a:xfrm>
            <a:off x="822960" y="4297680"/>
            <a:ext cx="5212080" cy="1600200"/>
          </a:xfrm>
          <a:prstGeom prst="rect">
            <a:avLst/>
          </a:prstGeom>
          <a:noFill/>
          <a:ln/>
        </p:spPr>
        <p:txBody>
          <a:bodyPr wrap="square" lIns="0" tIns="0" rIns="0" bIns="0" rtlCol="0" anchor="t">
            <a:normAutofit/>
          </a:bodyPr>
          <a:lstStyle/>
          <a:p>
            <a:pPr indent="0" marL="0">
              <a:lnSpc>
                <a:spcPct val="115000"/>
              </a:lnSpc>
              <a:buNone/>
            </a:pPr>
            <a:r>
              <a:rPr lang="en-US" sz="1800" i="1" dirty="0">
                <a:solidFill>
                  <a:srgbClr val="F2F0EA"/>
                </a:solidFill>
                <a:latin typeface="Georgia" pitchFamily="34" charset="0"/>
                <a:ea typeface="Georgia" pitchFamily="34" charset="-122"/>
                <a:cs typeface="Georgia" pitchFamily="34" charset="-120"/>
              </a:rPr>
              <a:t>Blimunda vê o que está dentro das pessoas, mas só em jejum. Baltasar tem um gancho no lugar da mão. Juntos ajudam um padre a construir uma máquina de voar.</a:t>
            </a:r>
            <a:endParaRPr lang="en-US" sz="1800" dirty="0"/>
          </a:p>
        </p:txBody>
      </p:sp>
      <p:pic>
        <p:nvPicPr>
          <p:cNvPr id="15" name="Image 0" descr="/home/user/epi-portugues-fontes/_interno/biblioteca-imagens/fontes/mafra-biblioteca.jpg">    </p:cNvPr>
          <p:cNvPicPr>
            <a:picLocks noChangeAspect="1"/>
          </p:cNvPicPr>
          <p:nvPr/>
        </p:nvPicPr>
        <p:blipFill>
          <a:blip r:embed="rId1"/>
          <a:srcRect l="0" r="0" t="0" b="0"/>
          <a:stretch/>
        </p:blipFill>
        <p:spPr>
          <a:xfrm>
            <a:off x="6613855" y="914400"/>
            <a:ext cx="4754880" cy="4572000"/>
          </a:xfrm>
          <a:prstGeom prst="rect">
            <a:avLst/>
          </a:prstGeom>
        </p:spPr>
      </p:pic>
      <p:sp>
        <p:nvSpPr>
          <p:cNvPr id="16" name="Shape 12"/>
          <p:cNvSpPr/>
          <p:nvPr/>
        </p:nvSpPr>
        <p:spPr>
          <a:xfrm>
            <a:off x="6613855" y="914400"/>
            <a:ext cx="4754880" cy="4572000"/>
          </a:xfrm>
          <a:prstGeom prst="rect">
            <a:avLst/>
          </a:prstGeom>
          <a:ln w="12700">
            <a:solidFill>
              <a:srgbClr val="F2F0EA"/>
            </a:solidFill>
            <a:prstDash val="solid"/>
          </a:ln>
        </p:spPr>
      </p:sp>
      <p:sp>
        <p:nvSpPr>
          <p:cNvPr id="17" name="Text 13"/>
          <p:cNvSpPr/>
          <p:nvPr/>
        </p:nvSpPr>
        <p:spPr>
          <a:xfrm>
            <a:off x="6613855" y="5577840"/>
            <a:ext cx="4754880" cy="457200"/>
          </a:xfrm>
          <a:prstGeom prst="rect">
            <a:avLst/>
          </a:prstGeom>
          <a:noFill/>
          <a:ln/>
        </p:spPr>
        <p:txBody>
          <a:bodyPr wrap="square" lIns="0" tIns="0" rIns="0" bIns="0" rtlCol="0" anchor="t">
            <a:normAutofit/>
          </a:bodyPr>
          <a:lstStyle/>
          <a:p>
            <a:pPr indent="0" marL="0">
              <a:buNone/>
            </a:pPr>
            <a:r>
              <a:rPr lang="en-US" sz="1100" dirty="0">
                <a:solidFill>
                  <a:srgbClr val="A9A79F"/>
                </a:solidFill>
                <a:latin typeface="Arial" pitchFamily="34" charset="0"/>
                <a:ea typeface="Arial" pitchFamily="34" charset="-122"/>
                <a:cs typeface="Arial" pitchFamily="34" charset="-120"/>
              </a:rPr>
              <a:t>Biblioteca do Palácio Nacional de Mafra (fotografia de Hipersyl, 2026). CC BY 4.0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M9-F02, Ver e não ver</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a:t>
            </a:r>
            <a:endParaRPr lang="en-US" sz="1000" dirty="0"/>
          </a:p>
        </p:txBody>
      </p:sp>
      <p:sp>
        <p:nvSpPr>
          <p:cNvPr id="6" name="Shape 3"/>
          <p:cNvSpPr/>
          <p:nvPr/>
        </p:nvSpPr>
        <p:spPr>
          <a:xfrm>
            <a:off x="822960" y="502920"/>
            <a:ext cx="201168" cy="201168"/>
          </a:xfrm>
          <a:prstGeom prst="ellipse">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ABRIR, CINCO MINUTOS</a:t>
            </a:r>
            <a:endParaRPr lang="en-US" sz="1100" dirty="0"/>
          </a:p>
        </p:txBody>
      </p:sp>
      <p:sp>
        <p:nvSpPr>
          <p:cNvPr id="8"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600" i="1" dirty="0">
                <a:solidFill>
                  <a:srgbClr val="F2F0EA"/>
                </a:solidFill>
                <a:latin typeface="Georgia" pitchFamily="34" charset="0"/>
                <a:ea typeface="Georgia" pitchFamily="34" charset="-122"/>
                <a:cs typeface="Georgia" pitchFamily="34" charset="-120"/>
              </a:rPr>
              <a:t>De quem é a memória que este livro guarda?</a:t>
            </a:r>
            <a:endParaRPr lang="en-US" sz="4600" dirty="0"/>
          </a:p>
        </p:txBody>
      </p:sp>
      <p:sp>
        <p:nvSpPr>
          <p:cNvPr id="9"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M9-F02, Ver e não ver</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a:t>
            </a:r>
            <a:endParaRPr lang="en-US" sz="1000" dirty="0"/>
          </a:p>
        </p:txBody>
      </p:sp>
      <p:pic>
        <p:nvPicPr>
          <p:cNvPr id="6" name="Image 0" descr="/home/user/epi-portugues-fontes/_interno/biblioteca-imagens/fontes/mafra-biblioteca.jpg">    </p:cNvPr>
          <p:cNvPicPr>
            <a:picLocks noChangeAspect="1"/>
          </p:cNvPicPr>
          <p:nvPr/>
        </p:nvPicPr>
        <p:blipFill>
          <a:blip r:embed="rId1">
            <a:alphaModFix amt="8000"/>
          </a:blip>
          <a:srcRect l="0" r="0" t="0" b="0"/>
          <a:stretch/>
        </p:blipFill>
        <p:spPr>
          <a:xfrm>
            <a:off x="0" y="0"/>
            <a:ext cx="12191695" cy="6858000"/>
          </a:xfrm>
          <a:prstGeom prst="rect">
            <a:avLst/>
          </a:prstGeom>
        </p:spPr>
      </p:pic>
      <p:sp>
        <p:nvSpPr>
          <p:cNvPr id="7" name="Shape 3"/>
          <p:cNvSpPr/>
          <p:nvPr/>
        </p:nvSpPr>
        <p:spPr>
          <a:xfrm>
            <a:off x="822960" y="502920"/>
            <a:ext cx="201168" cy="201168"/>
          </a:xfrm>
          <a:prstGeom prst="ellipse">
            <a:avLst/>
          </a:prstGeom>
          <a:ln w="19050">
            <a:solidFill>
              <a:srgbClr val="F2F0EA"/>
            </a:solidFill>
            <a:prstDash val="solid"/>
          </a:ln>
        </p:spPr>
      </p:sp>
      <p:sp>
        <p:nvSpPr>
          <p:cNvPr id="8"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LER: O VOO DA PASSAROLA</a:t>
            </a:r>
            <a:endParaRPr lang="en-US" sz="1100" dirty="0"/>
          </a:p>
        </p:txBody>
      </p:sp>
      <p:sp>
        <p:nvSpPr>
          <p:cNvPr id="9" name="Text 5"/>
          <p:cNvSpPr/>
          <p:nvPr/>
        </p:nvSpPr>
        <p:spPr>
          <a:xfrm>
            <a:off x="822960" y="1005840"/>
            <a:ext cx="9814255" cy="4937760"/>
          </a:xfrm>
          <a:prstGeom prst="rect">
            <a:avLst/>
          </a:prstGeom>
          <a:noFill/>
          <a:ln/>
        </p:spPr>
        <p:txBody>
          <a:bodyPr wrap="square" lIns="0" tIns="0" rIns="0" bIns="0" rtlCol="0" anchor="t">
            <a:normAutofit/>
          </a:bodyPr>
          <a:lstStyle/>
          <a:p>
            <a:pPr indent="0" marL="0">
              <a:lnSpc>
                <a:spcPct val="125000"/>
              </a:lnSpc>
              <a:buNone/>
            </a:pPr>
            <a:r>
              <a:rPr lang="en-US" sz="2200" dirty="0">
                <a:solidFill>
                  <a:srgbClr val="F2F0EA"/>
                </a:solidFill>
                <a:latin typeface="Georgia" pitchFamily="34" charset="0"/>
                <a:ea typeface="Georgia" pitchFamily="34" charset="-122"/>
                <a:cs typeface="Georgia" pitchFamily="34" charset="-120"/>
              </a:rPr>
              <a:t>a sua cabeça de gaivota, lançou-se em flecha, céu acima. Sacudidos pelos bruscos volteios, Baltasar e Blimunda tinham caído no chão de tábuas da máquina, mas o padre Bartolomeu Lourenço agarrara-se a um dos prumos que sustentavam as velas, e assim pôde ver afastarse a terra a uma velocidade incrível, já mal se distinguia a quinta, logo perdida entre colinas, e aquilo além, que é, Lisboa, claro está, e o rio, oh, o mar, aquele mar por onde eu, Bartolomeu Lourenço de Gusmão, vim por duas vezes do Brasil, o mar por onde viajei à Holanda, a que mais continentes da terra e do ar me levarás tu, máquina, o vento ruge-me aos ouvidos, nunca ave alguma subiu tão alto se me visse el-rei, se me visse aquele Tomás Pinto Brandão que se riu de mim em verso, se o Santo Ofício me visse, saberiam todos que sou filho predilecto de Deus, eu sim, eu que estou subindo ao céu por obra do meu génio, por obra também dos olhos de Blimunda, se haverá no céu olhos como eles, por obra da mão direita de Baltasar, aqui te levo, Deus um que também não tem a mão esquerda, Blimunda, Baltasar, venham ver, levantem-se daí, não tenham medo. Não tinham medo, estavam apenas assustados com a sua própria coragem. O padre ria, dava gritos, deixara já a segurança do prumo e percorria o convés da máquina de um lado a outro para poder olhar a terra em todos os seus pontos cardeais, tão grande agora que estavam longe dela, enfim levantaram-se Baltasar e Blimunda, agarrando-se nervosamente aos prumos, depois à amurada, deslumbrados de luz e de vento, logo sem nenhum susto, Ah ·e Baltasar gritou, Conseguimos, abraçou-se a Blimunda e desatou a chorar, parecia uma criança perdida, um soldado que andou na guerra, que nos Pegões matou um homem com o seu espigão, e agora soluça de felicidade abraçado a Blimunda, que lhe beija a cara suja, então, então. O padre veio para eles e abraçou-se também, subitamente perturbado por uma analogia, assim dissera o italiano, Deus ele próprio, Baltasar seu filho, Blimunda o Espírito Santo, e estavam os três no céu, Só há um Deus, gritou, mas o vento levou-lhe as palavras da boca. Então Blimunda disse, Se não abrirmos a vela, continuaremos a subir, aonde iremos parar, talvez ao sol.</a:t>
            </a:r>
            <a:endParaRPr lang="en-US" sz="2200" dirty="0"/>
          </a:p>
        </p:txBody>
      </p:sp>
      <p:sp>
        <p:nvSpPr>
          <p:cNvPr id="10" name="Text 6"/>
          <p:cNvSpPr/>
          <p:nvPr/>
        </p:nvSpPr>
        <p:spPr>
          <a:xfrm>
            <a:off x="822960" y="6035040"/>
            <a:ext cx="9814255" cy="292608"/>
          </a:xfrm>
          <a:prstGeom prst="rect">
            <a:avLst/>
          </a:prstGeom>
          <a:noFill/>
          <a:ln/>
        </p:spPr>
        <p:txBody>
          <a:bodyPr wrap="square" lIns="0" tIns="0" rIns="0" bIns="0" rtlCol="0" anchor="ctr">
            <a:normAutofit/>
          </a:bodyPr>
          <a:lstStyle/>
          <a:p>
            <a:pPr indent="0" marL="0">
              <a:buNone/>
            </a:pPr>
            <a:r>
              <a:rPr lang="en-US" sz="1200" dirty="0">
                <a:solidFill>
                  <a:srgbClr val="A9A79F"/>
                </a:solidFill>
                <a:latin typeface="Arial" pitchFamily="34" charset="0"/>
                <a:ea typeface="Arial" pitchFamily="34" charset="-122"/>
                <a:cs typeface="Arial" pitchFamily="34" charset="-120"/>
              </a:rPr>
              <a:t>José Saramago, </a:t>
            </a:r>
            <a:pPr indent="0" marL="0">
              <a:buNone/>
            </a:pPr>
            <a:r>
              <a:rPr lang="en-US" sz="1200" i="1" dirty="0">
                <a:solidFill>
                  <a:srgbClr val="A9A79F"/>
                </a:solidFill>
                <a:latin typeface="Arial" pitchFamily="34" charset="0"/>
                <a:ea typeface="Arial" pitchFamily="34" charset="-122"/>
                <a:cs typeface="Arial" pitchFamily="34" charset="-120"/>
              </a:rPr>
              <a:t>Memorial do Convento</a:t>
            </a:r>
            <a:pPr indent="0" marL="0">
              <a:buNone/>
            </a:pPr>
            <a:r>
              <a:rPr lang="en-US" sz="1200" dirty="0">
                <a:solidFill>
                  <a:srgbClr val="A9A79F"/>
                </a:solidFill>
                <a:latin typeface="Arial" pitchFamily="34" charset="0"/>
                <a:ea typeface="Arial" pitchFamily="34" charset="-122"/>
                <a:cs typeface="Arial" pitchFamily="34" charset="-120"/>
              </a:rPr>
              <a:t> (1982), capítulo XVI. grafia da edição. Excerto para estudo.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M9-F02, Ver e não ver</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a:t>
            </a:r>
            <a:endParaRPr lang="en-US" sz="1000" dirty="0"/>
          </a:p>
        </p:txBody>
      </p:sp>
      <p:pic>
        <p:nvPicPr>
          <p:cNvPr id="6" name="Image 0" descr="/home/user/epi-portugues-fontes/_interno/biblioteca-imagens/fontes/mafra-biblioteca.jpg">    </p:cNvPr>
          <p:cNvPicPr>
            <a:picLocks noChangeAspect="1"/>
          </p:cNvPicPr>
          <p:nvPr/>
        </p:nvPicPr>
        <p:blipFill>
          <a:blip r:embed="rId1">
            <a:alphaModFix amt="8000"/>
          </a:blip>
          <a:srcRect l="0" r="0" t="0" b="0"/>
          <a:stretch/>
        </p:blipFill>
        <p:spPr>
          <a:xfrm>
            <a:off x="0" y="0"/>
            <a:ext cx="12191695" cy="6858000"/>
          </a:xfrm>
          <a:prstGeom prst="rect">
            <a:avLst/>
          </a:prstGeom>
        </p:spPr>
      </p:pic>
      <p:sp>
        <p:nvSpPr>
          <p:cNvPr id="7" name="Shape 3"/>
          <p:cNvSpPr/>
          <p:nvPr/>
        </p:nvSpPr>
        <p:spPr>
          <a:xfrm>
            <a:off x="822960" y="502920"/>
            <a:ext cx="201168" cy="201168"/>
          </a:xfrm>
          <a:prstGeom prst="ellipse">
            <a:avLst/>
          </a:prstGeom>
          <a:ln w="19050">
            <a:solidFill>
              <a:srgbClr val="F2F0EA"/>
            </a:solidFill>
            <a:prstDash val="solid"/>
          </a:ln>
        </p:spPr>
      </p:sp>
      <p:sp>
        <p:nvSpPr>
          <p:cNvPr id="8"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LER: O REENCONTRO (ÚLTIMO CAPÍTULO)</a:t>
            </a:r>
            <a:endParaRPr lang="en-US" sz="1100" dirty="0"/>
          </a:p>
        </p:txBody>
      </p:sp>
      <p:sp>
        <p:nvSpPr>
          <p:cNvPr id="9" name="Text 5"/>
          <p:cNvSpPr/>
          <p:nvPr/>
        </p:nvSpPr>
        <p:spPr>
          <a:xfrm>
            <a:off x="822960" y="1005840"/>
            <a:ext cx="9814255" cy="4937760"/>
          </a:xfrm>
          <a:prstGeom prst="rect">
            <a:avLst/>
          </a:prstGeom>
          <a:noFill/>
          <a:ln/>
        </p:spPr>
        <p:txBody>
          <a:bodyPr wrap="square" lIns="0" tIns="0" rIns="0" bIns="0" rtlCol="0" anchor="t">
            <a:normAutofit/>
          </a:bodyPr>
          <a:lstStyle/>
          <a:p>
            <a:pPr indent="0" marL="0">
              <a:lnSpc>
                <a:spcPct val="125000"/>
              </a:lnSpc>
              <a:buNone/>
            </a:pPr>
            <a:r>
              <a:rPr lang="en-US" sz="2600" dirty="0">
                <a:solidFill>
                  <a:srgbClr val="F2F0EA"/>
                </a:solidFill>
                <a:latin typeface="Georgia" pitchFamily="34" charset="0"/>
                <a:ea typeface="Georgia" pitchFamily="34" charset="-122"/>
                <a:cs typeface="Georgia" pitchFamily="34" charset="-120"/>
              </a:rPr>
              <a:t>São onze os supliciados. A queima já vai adiantada, os rostos mal se distinguem. Naquele extremo arde um homem a quem falta a mão esquerda. Talvez por ter a barba enegrecida, prodígio cosmético da fuligem, parece mais novo. E uma nuvem fechada está no centro do seu corpo. Então Blimunda disse, Vem. Desprendeu-se a vontade de Baltasar Sete-Sóis, mas não subiu para as estrelas, se à terra pertencia e a Blimunda.</a:t>
            </a:r>
            <a:endParaRPr lang="en-US" sz="2600" dirty="0"/>
          </a:p>
        </p:txBody>
      </p:sp>
      <p:sp>
        <p:nvSpPr>
          <p:cNvPr id="10" name="Text 6"/>
          <p:cNvSpPr/>
          <p:nvPr/>
        </p:nvSpPr>
        <p:spPr>
          <a:xfrm>
            <a:off x="822960" y="6035040"/>
            <a:ext cx="9814255" cy="292608"/>
          </a:xfrm>
          <a:prstGeom prst="rect">
            <a:avLst/>
          </a:prstGeom>
          <a:noFill/>
          <a:ln/>
        </p:spPr>
        <p:txBody>
          <a:bodyPr wrap="square" lIns="0" tIns="0" rIns="0" bIns="0" rtlCol="0" anchor="ctr">
            <a:normAutofit/>
          </a:bodyPr>
          <a:lstStyle/>
          <a:p>
            <a:pPr indent="0" marL="0">
              <a:buNone/>
            </a:pPr>
            <a:r>
              <a:rPr lang="en-US" sz="1200" dirty="0">
                <a:solidFill>
                  <a:srgbClr val="A9A79F"/>
                </a:solidFill>
                <a:latin typeface="Arial" pitchFamily="34" charset="0"/>
                <a:ea typeface="Arial" pitchFamily="34" charset="-122"/>
                <a:cs typeface="Arial" pitchFamily="34" charset="-120"/>
              </a:rPr>
              <a:t>José Saramago, </a:t>
            </a:r>
            <a:pPr indent="0" marL="0">
              <a:buNone/>
            </a:pPr>
            <a:r>
              <a:rPr lang="en-US" sz="1200" i="1" dirty="0">
                <a:solidFill>
                  <a:srgbClr val="A9A79F"/>
                </a:solidFill>
                <a:latin typeface="Arial" pitchFamily="34" charset="0"/>
                <a:ea typeface="Arial" pitchFamily="34" charset="-122"/>
                <a:cs typeface="Arial" pitchFamily="34" charset="-120"/>
              </a:rPr>
              <a:t>Memorial do Convento</a:t>
            </a:r>
            <a:pPr indent="0" marL="0">
              <a:buNone/>
            </a:pPr>
            <a:r>
              <a:rPr lang="en-US" sz="1200" dirty="0">
                <a:solidFill>
                  <a:srgbClr val="A9A79F"/>
                </a:solidFill>
                <a:latin typeface="Arial" pitchFamily="34" charset="0"/>
                <a:ea typeface="Arial" pitchFamily="34" charset="-122"/>
                <a:cs typeface="Arial" pitchFamily="34" charset="-120"/>
              </a:rPr>
              <a:t> (1982), último capítulo (excerto). Excerto para estudo.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M9-F02, Ver e não ver</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5</a:t>
            </a:r>
            <a:endParaRPr lang="en-US" sz="1000" dirty="0"/>
          </a:p>
        </p:txBody>
      </p:sp>
      <p:sp>
        <p:nvSpPr>
          <p:cNvPr id="6" name="Shape 3"/>
          <p:cNvSpPr/>
          <p:nvPr/>
        </p:nvSpPr>
        <p:spPr>
          <a:xfrm>
            <a:off x="822960" y="502920"/>
            <a:ext cx="201168" cy="201168"/>
          </a:xfrm>
          <a:prstGeom prst="ellipse">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ESSENCIAL</a:t>
            </a:r>
            <a:endParaRPr lang="en-US" sz="1100" dirty="0"/>
          </a:p>
        </p:txBody>
      </p:sp>
      <p:sp>
        <p:nvSpPr>
          <p:cNvPr id="8"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Três coisas a fixar</a:t>
            </a:r>
            <a:endParaRPr lang="en-US" sz="3400" dirty="0"/>
          </a:p>
        </p:txBody>
      </p:sp>
      <p:sp>
        <p:nvSpPr>
          <p:cNvPr id="9"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10" name="Shape 7"/>
          <p:cNvSpPr/>
          <p:nvPr/>
        </p:nvSpPr>
        <p:spPr>
          <a:xfrm>
            <a:off x="1005840" y="2286000"/>
            <a:ext cx="0" cy="2447544"/>
          </a:xfrm>
          <a:prstGeom prst="line">
            <a:avLst/>
          </a:prstGeom>
          <a:noFill/>
          <a:ln w="12700">
            <a:solidFill>
              <a:srgbClr val="A9A79F"/>
            </a:solidFill>
            <a:prstDash val="solid"/>
          </a:ln>
        </p:spPr>
      </p:sp>
      <p:sp>
        <p:nvSpPr>
          <p:cNvPr id="11" name="Shape 8"/>
          <p:cNvSpPr/>
          <p:nvPr/>
        </p:nvSpPr>
        <p:spPr>
          <a:xfrm>
            <a:off x="822960" y="210312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10312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112264"/>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Baltasar Sete-Sóis tem um gancho no lugar da mão; Blimunda Sete-Luas vê o que está dentro das pessoas, mas só em jejum.</a:t>
            </a:r>
            <a:endParaRPr lang="en-US" sz="2200" dirty="0"/>
          </a:p>
        </p:txBody>
      </p:sp>
      <p:sp>
        <p:nvSpPr>
          <p:cNvPr id="14" name="Shape 11"/>
          <p:cNvSpPr/>
          <p:nvPr/>
        </p:nvSpPr>
        <p:spPr>
          <a:xfrm>
            <a:off x="822960" y="3326892"/>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2689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36036"/>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Os dois ajudam o padre Bartolomeu Lourenço a construir a passarola, e o romance opõe o ver verdadeiro (lucidez e compaixão) à cegueira do poder.</a:t>
            </a:r>
            <a:endParaRPr lang="en-US" sz="2200" dirty="0"/>
          </a:p>
        </p:txBody>
      </p:sp>
      <p:sp>
        <p:nvSpPr>
          <p:cNvPr id="17" name="Shape 14"/>
          <p:cNvSpPr/>
          <p:nvPr/>
        </p:nvSpPr>
        <p:spPr>
          <a:xfrm>
            <a:off x="822960" y="4550664"/>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45506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4559808"/>
            <a:ext cx="9174175" cy="1564640"/>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Ficas a caracterizar as personagens com a página de cada prova, a ler o voo da passarola e o reencontro do último capítulo, e a comparar a passarola e o convento como projetos.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M9-F02, Ver e não ver</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6</a:t>
            </a:r>
            <a:endParaRPr lang="en-US" sz="1000" dirty="0"/>
          </a:p>
        </p:txBody>
      </p:sp>
      <p:sp>
        <p:nvSpPr>
          <p:cNvPr id="6" name="Shape 3"/>
          <p:cNvSpPr/>
          <p:nvPr/>
        </p:nvSpPr>
        <p:spPr>
          <a:xfrm>
            <a:off x="822960" y="502920"/>
            <a:ext cx="201168" cy="201168"/>
          </a:xfrm>
          <a:prstGeom prst="rect">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VER, E COMPLETAR NO CADERNO</a:t>
            </a:r>
            <a:endParaRPr lang="en-US" sz="1100" dirty="0"/>
          </a:p>
        </p:txBody>
      </p:sp>
      <p:sp>
        <p:nvSpPr>
          <p:cNvPr id="8"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Completa no caderno</a:t>
            </a:r>
            <a:endParaRPr lang="en-US" sz="3400" dirty="0"/>
          </a:p>
        </p:txBody>
      </p:sp>
      <p:sp>
        <p:nvSpPr>
          <p:cNvPr id="9" name="Shape 6"/>
          <p:cNvSpPr/>
          <p:nvPr/>
        </p:nvSpPr>
        <p:spPr>
          <a:xfrm>
            <a:off x="822960" y="1746504"/>
            <a:ext cx="640080" cy="64008"/>
          </a:xfrm>
          <a:prstGeom prst="rect">
            <a:avLst/>
          </a:prstGeom>
          <a:solidFill>
            <a:srgbClr val="E4555C"/>
          </a:solidFill>
          <a:ln w="12700">
            <a:solidFill>
              <a:srgbClr val="E4555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057400"/>
          <a:ext cx="10545775" cy="914400"/>
        </p:xfrm>
        <a:graphic>
          <a:graphicData uri="http://schemas.openxmlformats.org/drawingml/2006/table">
            <a:tbl>
              <a:tblPr/>
              <a:tblGrid>
                <a:gridCol w="2952817"/>
                <a:gridCol w="1898240"/>
                <a:gridCol w="1898240"/>
                <a:gridCol w="1898240"/>
                <a:gridCol w="1898240"/>
              </a:tblGrid>
              <a:tr h="685800">
                <a:tc>
                  <a:txBody>
                    <a:bodyPr/>
                    <a:lstStyle/>
                    <a:p>
                      <a:pPr indent="0" marL="0">
                        <a:buNone/>
                      </a:pPr>
                      <a:r>
                        <a:rPr lang="en-US" sz="1100" b="1" spc="150" kern="0" dirty="0">
                          <a:solidFill>
                            <a:srgbClr val="A9A79F"/>
                          </a:solidFill>
                          <a:latin typeface="Arial" pitchFamily="34" charset="0"/>
                          <a:ea typeface="Arial" pitchFamily="34" charset="-122"/>
                          <a:cs typeface="Arial" pitchFamily="34" charset="-120"/>
                        </a:rPr>
                        <a:t>PERSONAGEM</a:t>
                      </a:r>
                      <a:endParaRPr lang="en-US" sz="11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19050" cap="flat" cmpd="sng" algn="ctr">
                      <a:solidFill>
                        <a:srgbClr val="F2F0EA"/>
                      </a:solidFill>
                      <a:prstDash val="solid"/>
                      <a:round/>
                      <a:headEnd type="none" w="med" len="med"/>
                      <a:tailEnd type="none" w="med" len="med"/>
                    </a:lnB>
                    <a:solidFill>
                      <a:srgbClr val="111111"/>
                    </a:solidFill>
                  </a:tcPr>
                </a:tc>
                <a:tc>
                  <a:txBody>
                    <a:bodyPr/>
                    <a:lstStyle/>
                    <a:p>
                      <a:pPr indent="0" marL="0">
                        <a:buNone/>
                      </a:pPr>
                      <a:r>
                        <a:rPr lang="en-US" sz="1100" b="1" spc="150" kern="0" dirty="0">
                          <a:solidFill>
                            <a:srgbClr val="A9A79F"/>
                          </a:solidFill>
                          <a:latin typeface="Arial" pitchFamily="34" charset="0"/>
                          <a:ea typeface="Arial" pitchFamily="34" charset="-122"/>
                          <a:cs typeface="Arial" pitchFamily="34" charset="-120"/>
                        </a:rPr>
                        <a:t>TRAÇOS</a:t>
                      </a:r>
                      <a:endParaRPr lang="en-US" sz="11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19050" cap="flat" cmpd="sng" algn="ctr">
                      <a:solidFill>
                        <a:srgbClr val="F2F0EA"/>
                      </a:solidFill>
                      <a:prstDash val="solid"/>
                      <a:round/>
                      <a:headEnd type="none" w="med" len="med"/>
                      <a:tailEnd type="none" w="med" len="med"/>
                    </a:lnB>
                    <a:solidFill>
                      <a:srgbClr val="111111"/>
                    </a:solidFill>
                  </a:tcPr>
                </a:tc>
                <a:tc>
                  <a:txBody>
                    <a:bodyPr/>
                    <a:lstStyle/>
                    <a:p>
                      <a:pPr indent="0" marL="0">
                        <a:buNone/>
                      </a:pPr>
                      <a:r>
                        <a:rPr lang="en-US" sz="1100" b="1" spc="150" kern="0" dirty="0">
                          <a:solidFill>
                            <a:srgbClr val="A9A79F"/>
                          </a:solidFill>
                          <a:latin typeface="Arial" pitchFamily="34" charset="0"/>
                          <a:ea typeface="Arial" pitchFamily="34" charset="-122"/>
                          <a:cs typeface="Arial" pitchFamily="34" charset="-120"/>
                        </a:rPr>
                        <a:t>RELAÇÕES</a:t>
                      </a:r>
                      <a:endParaRPr lang="en-US" sz="11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19050" cap="flat" cmpd="sng" algn="ctr">
                      <a:solidFill>
                        <a:srgbClr val="F2F0EA"/>
                      </a:solidFill>
                      <a:prstDash val="solid"/>
                      <a:round/>
                      <a:headEnd type="none" w="med" len="med"/>
                      <a:tailEnd type="none" w="med" len="med"/>
                    </a:lnB>
                    <a:solidFill>
                      <a:srgbClr val="111111"/>
                    </a:solidFill>
                  </a:tcPr>
                </a:tc>
                <a:tc>
                  <a:txBody>
                    <a:bodyPr/>
                    <a:lstStyle/>
                    <a:p>
                      <a:pPr indent="0" marL="0">
                        <a:buNone/>
                      </a:pPr>
                      <a:r>
                        <a:rPr lang="en-US" sz="1100" b="1" spc="150" kern="0" dirty="0">
                          <a:solidFill>
                            <a:srgbClr val="A9A79F"/>
                          </a:solidFill>
                          <a:latin typeface="Arial" pitchFamily="34" charset="0"/>
                          <a:ea typeface="Arial" pitchFamily="34" charset="-122"/>
                          <a:cs typeface="Arial" pitchFamily="34" charset="-120"/>
                        </a:rPr>
                        <a:t>SÍMBOLO ASSOCIADO</a:t>
                      </a:r>
                      <a:endParaRPr lang="en-US" sz="11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19050" cap="flat" cmpd="sng" algn="ctr">
                      <a:solidFill>
                        <a:srgbClr val="F2F0EA"/>
                      </a:solidFill>
                      <a:prstDash val="solid"/>
                      <a:round/>
                      <a:headEnd type="none" w="med" len="med"/>
                      <a:tailEnd type="none" w="med" len="med"/>
                    </a:lnB>
                    <a:solidFill>
                      <a:srgbClr val="111111"/>
                    </a:solidFill>
                  </a:tcPr>
                </a:tc>
                <a:tc>
                  <a:txBody>
                    <a:bodyPr/>
                    <a:lstStyle/>
                    <a:p>
                      <a:pPr indent="0" marL="0">
                        <a:buNone/>
                      </a:pPr>
                      <a:r>
                        <a:rPr lang="en-US" sz="1100" b="1" spc="150" kern="0" dirty="0">
                          <a:solidFill>
                            <a:srgbClr val="A9A79F"/>
                          </a:solidFill>
                          <a:latin typeface="Arial" pitchFamily="34" charset="0"/>
                          <a:ea typeface="Arial" pitchFamily="34" charset="-122"/>
                          <a:cs typeface="Arial" pitchFamily="34" charset="-120"/>
                        </a:rPr>
                        <a:t>CITAÇÃO CURTA (P.)</a:t>
                      </a:r>
                      <a:endParaRPr lang="en-US" sz="11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19050" cap="flat" cmpd="sng" algn="ctr">
                      <a:solidFill>
                        <a:srgbClr val="F2F0EA"/>
                      </a:solidFill>
                      <a:prstDash val="solid"/>
                      <a:round/>
                      <a:headEnd type="none" w="med" len="med"/>
                      <a:tailEnd type="none" w="med" len="med"/>
                    </a:lnB>
                    <a:solidFill>
                      <a:srgbClr val="111111"/>
                    </a:solidFill>
                  </a:tcPr>
                </a:tc>
              </a:tr>
              <a:tr h="685800">
                <a:tc>
                  <a:txBody>
                    <a:bodyPr/>
                    <a:lstStyle/>
                    <a:p>
                      <a:pPr indent="0" marL="0">
                        <a:buNone/>
                      </a:pPr>
                      <a:r>
                        <a:rPr lang="en-US" sz="1800" dirty="0">
                          <a:solidFill>
                            <a:srgbClr val="F2F0EA"/>
                          </a:solidFill>
                          <a:latin typeface="Arial" pitchFamily="34" charset="0"/>
                          <a:ea typeface="Arial" pitchFamily="34" charset="-122"/>
                          <a:cs typeface="Arial" pitchFamily="34" charset="-120"/>
                        </a:rPr>
                        <a:t>Baltasar</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Georgia" pitchFamily="34" charset="0"/>
                          <a:ea typeface="Georgia" pitchFamily="34" charset="-122"/>
                          <a:cs typeface="Georgia" pitchFamily="34" charset="-120"/>
                        </a:rPr>
                        <a:t> </a:t>
                      </a:r>
                      <a:endParaRPr lang="en-US" sz="1800" dirty="0">
                        <a:latin typeface="Georgia" charset="0"/>
                        <a:ea typeface="Georgia" charset="0"/>
                        <a:cs typeface="Georgia"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r>
              <a:tr h="685800">
                <a:tc>
                  <a:txBody>
                    <a:bodyPr/>
                    <a:lstStyle/>
                    <a:p>
                      <a:pPr indent="0" marL="0">
                        <a:buNone/>
                      </a:pPr>
                      <a:r>
                        <a:rPr lang="en-US" sz="1800" dirty="0">
                          <a:solidFill>
                            <a:srgbClr val="F2F0EA"/>
                          </a:solidFill>
                          <a:latin typeface="Arial" pitchFamily="34" charset="0"/>
                          <a:ea typeface="Arial" pitchFamily="34" charset="-122"/>
                          <a:cs typeface="Arial" pitchFamily="34" charset="-120"/>
                        </a:rPr>
                        <a:t>Blimunda</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Georgia" pitchFamily="34" charset="0"/>
                          <a:ea typeface="Georgia" pitchFamily="34" charset="-122"/>
                          <a:cs typeface="Georgia" pitchFamily="34" charset="-120"/>
                        </a:rPr>
                        <a:t> </a:t>
                      </a:r>
                      <a:endParaRPr lang="en-US" sz="1800" dirty="0">
                        <a:latin typeface="Georgia" charset="0"/>
                        <a:ea typeface="Georgia" charset="0"/>
                        <a:cs typeface="Georgia"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r>
              <a:tr h="685800">
                <a:tc>
                  <a:txBody>
                    <a:bodyPr/>
                    <a:lstStyle/>
                    <a:p>
                      <a:pPr indent="0" marL="0">
                        <a:buNone/>
                      </a:pPr>
                      <a:r>
                        <a:rPr lang="en-US" sz="1800" dirty="0">
                          <a:solidFill>
                            <a:srgbClr val="F2F0EA"/>
                          </a:solidFill>
                          <a:latin typeface="Arial" pitchFamily="34" charset="0"/>
                          <a:ea typeface="Arial" pitchFamily="34" charset="-122"/>
                          <a:cs typeface="Arial" pitchFamily="34" charset="-120"/>
                        </a:rPr>
                        <a:t>Padre Bartolomeu</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Georgia" pitchFamily="34" charset="0"/>
                          <a:ea typeface="Georgia" pitchFamily="34" charset="-122"/>
                          <a:cs typeface="Georgia" pitchFamily="34" charset="-120"/>
                        </a:rPr>
                        <a:t> </a:t>
                      </a:r>
                      <a:endParaRPr lang="en-US" sz="1800" dirty="0">
                        <a:latin typeface="Georgia" charset="0"/>
                        <a:ea typeface="Georgia" charset="0"/>
                        <a:cs typeface="Georgia"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r>
              <a:tr h="685800">
                <a:tc>
                  <a:txBody>
                    <a:bodyPr/>
                    <a:lstStyle/>
                    <a:p>
                      <a:pPr indent="0" marL="0">
                        <a:buNone/>
                      </a:pPr>
                      <a:r>
                        <a:rPr lang="en-US" sz="1800" dirty="0">
                          <a:solidFill>
                            <a:srgbClr val="F2F0EA"/>
                          </a:solidFill>
                          <a:latin typeface="Arial" pitchFamily="34" charset="0"/>
                          <a:ea typeface="Arial" pitchFamily="34" charset="-122"/>
                          <a:cs typeface="Arial" pitchFamily="34" charset="-120"/>
                        </a:rPr>
                        <a:t>D. João V</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Arial" pitchFamily="34" charset="0"/>
                          <a:ea typeface="Arial" pitchFamily="34" charset="-122"/>
                          <a:cs typeface="Arial" pitchFamily="34" charset="-120"/>
                        </a:rPr>
                        <a:t> </a:t>
                      </a:r>
                      <a:endParaRPr lang="en-US" sz="1800" dirty="0">
                        <a:latin typeface="Arial" charset="0"/>
                        <a:ea typeface="Arial" charset="0"/>
                        <a:cs typeface="Arial"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c>
                  <a:txBody>
                    <a:bodyPr/>
                    <a:lstStyle/>
                    <a:p>
                      <a:pPr indent="0" marL="0">
                        <a:buNone/>
                      </a:pPr>
                      <a:r>
                        <a:rPr lang="en-US" sz="1800" dirty="0">
                          <a:solidFill>
                            <a:srgbClr val="F2F0EA"/>
                          </a:solidFill>
                          <a:latin typeface="Georgia" pitchFamily="34" charset="0"/>
                          <a:ea typeface="Georgia" pitchFamily="34" charset="-122"/>
                          <a:cs typeface="Georgia" pitchFamily="34" charset="-120"/>
                        </a:rPr>
                        <a:t> </a:t>
                      </a:r>
                      <a:endParaRPr lang="en-US" sz="1800" dirty="0">
                        <a:latin typeface="Georgia" charset="0"/>
                        <a:ea typeface="Georgia" charset="0"/>
                        <a:cs typeface="Georgia" charset="0"/>
                      </a:endParaRPr>
                    </a:p>
                  </a:txBody>
                  <a:tcPr marL="73152" marR="73152" marT="73152" marB="73152" anchor="ctr">
                    <a:lnL w="0" cap="flat" cmpd="sng" algn="ctr">
                      <a:noFill/>
                    </a:lnL>
                    <a:lnR w="0" cap="flat" cmpd="sng" algn="ctr">
                      <a:noFill/>
                    </a:lnR>
                    <a:lnT w="0" cap="flat" cmpd="sng" algn="ctr">
                      <a:noFill/>
                    </a:lnT>
                    <a:lnB w="9525" cap="flat" cmpd="sng" algn="ctr">
                      <a:solidFill>
                        <a:srgbClr val="BBBBBB"/>
                      </a:solidFill>
                      <a:prstDash val="solid"/>
                      <a:round/>
                      <a:headEnd type="none" w="med" len="med"/>
                      <a:tailEnd type="none" w="med" len="med"/>
                    </a:lnB>
                    <a:solidFill>
                      <a:srgbClr val="11111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M9-F02, Ver e não ver</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7</a:t>
            </a:r>
            <a:endParaRPr lang="en-US" sz="1000" dirty="0"/>
          </a:p>
        </p:txBody>
      </p:sp>
      <p:sp>
        <p:nvSpPr>
          <p:cNvPr id="6" name="Shape 3"/>
          <p:cNvSpPr/>
          <p:nvPr/>
        </p:nvSpPr>
        <p:spPr>
          <a:xfrm>
            <a:off x="822960" y="502920"/>
            <a:ext cx="201168" cy="201168"/>
          </a:xfrm>
          <a:prstGeom prst="ellipse">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VER</a:t>
            </a:r>
            <a:endParaRPr lang="en-US" sz="1100" dirty="0"/>
          </a:p>
        </p:txBody>
      </p:sp>
      <p:sp>
        <p:nvSpPr>
          <p:cNvPr id="8" name="Text 5"/>
          <p:cNvSpPr/>
          <p:nvPr/>
        </p:nvSpPr>
        <p:spPr>
          <a:xfrm>
            <a:off x="822960" y="868680"/>
            <a:ext cx="9814255" cy="1097280"/>
          </a:xfrm>
          <a:prstGeom prst="rect">
            <a:avLst/>
          </a:prstGeom>
          <a:noFill/>
          <a:ln/>
        </p:spPr>
        <p:txBody>
          <a:bodyPr wrap="square" lIns="0" tIns="0" rIns="0" bIns="0" rtlCol="0" anchor="b">
            <a:normAutofit/>
          </a:bodyPr>
          <a:lstStyle/>
          <a:p>
            <a:pPr indent="0" marL="0">
              <a:buNone/>
            </a:pPr>
            <a:r>
              <a:rPr lang="en-US" sz="3000" dirty="0">
                <a:solidFill>
                  <a:srgbClr val="F2F0EA"/>
                </a:solidFill>
                <a:latin typeface="Arial" pitchFamily="34" charset="0"/>
                <a:ea typeface="Arial" pitchFamily="34" charset="-122"/>
                <a:cs typeface="Arial" pitchFamily="34" charset="-120"/>
              </a:rPr>
              <a:t>Com o livro aberto: o voo e o reencontro</a:t>
            </a:r>
            <a:endParaRPr lang="en-US" sz="3000" dirty="0"/>
          </a:p>
        </p:txBody>
      </p:sp>
      <p:sp>
        <p:nvSpPr>
          <p:cNvPr id="9" name="Shape 6"/>
          <p:cNvSpPr/>
          <p:nvPr/>
        </p:nvSpPr>
        <p:spPr>
          <a:xfrm>
            <a:off x="822960" y="2020824"/>
            <a:ext cx="640080" cy="64008"/>
          </a:xfrm>
          <a:prstGeom prst="rect">
            <a:avLst/>
          </a:prstGeom>
          <a:solidFill>
            <a:srgbClr val="E4555C"/>
          </a:solidFill>
          <a:ln w="12700">
            <a:solidFill>
              <a:srgbClr val="E4555C"/>
            </a:solidFill>
            <a:prstDash val="solid"/>
          </a:ln>
        </p:spPr>
      </p:sp>
      <p:sp>
        <p:nvSpPr>
          <p:cNvPr id="10" name="Text 7"/>
          <p:cNvSpPr/>
          <p:nvPr/>
        </p:nvSpPr>
        <p:spPr>
          <a:xfrm>
            <a:off x="822960" y="2286000"/>
            <a:ext cx="9814255" cy="3749040"/>
          </a:xfrm>
          <a:prstGeom prst="rect">
            <a:avLst/>
          </a:prstGeom>
          <a:noFill/>
          <a:ln/>
        </p:spPr>
        <p:txBody>
          <a:bodyPr wrap="square" lIns="0" tIns="0" rIns="0" bIns="0" rtlCol="0" anchor="t">
            <a:normAutofit/>
          </a:bodyPr>
          <a:lstStyle/>
          <a:p>
            <a:pPr indent="0" marL="0">
              <a:lnSpc>
                <a:spcPct val="120000"/>
              </a:lnSpc>
              <a:buNone/>
            </a:pPr>
            <a:r>
              <a:rPr lang="en-US" sz="2300" dirty="0">
                <a:solidFill>
                  <a:srgbClr val="F2F0EA"/>
                </a:solidFill>
                <a:latin typeface="Georgia" pitchFamily="34" charset="0"/>
                <a:ea typeface="Georgia" pitchFamily="34" charset="-122"/>
                <a:cs typeface="Georgia" pitchFamily="34" charset="-120"/>
              </a:rPr>
              <a:t>Duas passagens para leres no livro antes das perguntas. </a:t>
            </a:r>
            <a:pPr indent="0" marL="0">
              <a:lnSpc>
                <a:spcPct val="120000"/>
              </a:lnSpc>
              <a:buNone/>
            </a:pPr>
            <a:r>
              <a:rPr lang="en-US" sz="2300" b="1" dirty="0">
                <a:solidFill>
                  <a:srgbClr val="F2F0EA"/>
                </a:solidFill>
                <a:latin typeface="Georgia" pitchFamily="34" charset="0"/>
                <a:ea typeface="Georgia" pitchFamily="34" charset="-122"/>
                <a:cs typeface="Georgia" pitchFamily="34" charset="-120"/>
              </a:rPr>
              <a:t>O voo da passarola</a:t>
            </a:r>
            <a:pPr indent="0" marL="0">
              <a:lnSpc>
                <a:spcPct val="120000"/>
              </a:lnSpc>
              <a:buNone/>
            </a:pPr>
            <a:r>
              <a:rPr lang="en-US" sz="2300" dirty="0">
                <a:solidFill>
                  <a:srgbClr val="F2F0EA"/>
                </a:solidFill>
                <a:latin typeface="Georgia" pitchFamily="34" charset="0"/>
                <a:ea typeface="Georgia" pitchFamily="34" charset="-122"/>
                <a:cs typeface="Georgia" pitchFamily="34" charset="-120"/>
              </a:rPr>
              <a:t> (nas edições da Caminho, pp. 196 e 197): a máquina sobe, o padre Bartolomeu Lourenço vê Lisboa e o mar lá de cima e diz a quem deve o voo. </a:t>
            </a:r>
            <a:pPr indent="0" marL="0">
              <a:lnSpc>
                <a:spcPct val="120000"/>
              </a:lnSpc>
              <a:buNone/>
            </a:pPr>
            <a:r>
              <a:rPr lang="en-US" sz="2300" b="1" dirty="0">
                <a:solidFill>
                  <a:srgbClr val="F2F0EA"/>
                </a:solidFill>
                <a:latin typeface="Georgia" pitchFamily="34" charset="0"/>
                <a:ea typeface="Georgia" pitchFamily="34" charset="-122"/>
                <a:cs typeface="Georgia" pitchFamily="34" charset="-120"/>
              </a:rPr>
              <a:t>O reencontro</a:t>
            </a:r>
            <a:pPr indent="0" marL="0">
              <a:lnSpc>
                <a:spcPct val="120000"/>
              </a:lnSpc>
              <a:buNone/>
            </a:pPr>
            <a:r>
              <a:rPr lang="en-US" sz="2300" dirty="0">
                <a:solidFill>
                  <a:srgbClr val="F2F0EA"/>
                </a:solidFill>
                <a:latin typeface="Georgia" pitchFamily="34" charset="0"/>
                <a:ea typeface="Georgia" pitchFamily="34" charset="-122"/>
                <a:cs typeface="Georgia" pitchFamily="34" charset="-120"/>
              </a:rPr>
              <a:t> (capítulo XXV, o último): Blimunda procura Baltasar durante nove anos e encontra-o em Lisboa, num auto de fé; chega em jejum. Os excertos que lês a seguir são para estudo. O romance tem direitos de autor e lê-se inteiro no livro.</a:t>
            </a:r>
            <a:endParaRPr lang="en-US" sz="2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M9-F02, Ver e não ver</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8</a:t>
            </a:r>
            <a:endParaRPr lang="en-US" sz="1000" dirty="0"/>
          </a:p>
        </p:txBody>
      </p:sp>
      <p:sp>
        <p:nvSpPr>
          <p:cNvPr id="6" name="Shape 3"/>
          <p:cNvSpPr/>
          <p:nvPr/>
        </p:nvSpPr>
        <p:spPr>
          <a:xfrm>
            <a:off x="822960" y="502920"/>
            <a:ext cx="201168" cy="201168"/>
          </a:xfrm>
          <a:prstGeom prst="rect">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AGORA NO TELEMÓVEL, QUINZE MINUTOS</a:t>
            </a:r>
            <a:endParaRPr lang="en-US" sz="1100" dirty="0"/>
          </a:p>
        </p:txBody>
      </p:sp>
      <p:sp>
        <p:nvSpPr>
          <p:cNvPr id="8" name="Text 5"/>
          <p:cNvSpPr/>
          <p:nvPr/>
        </p:nvSpPr>
        <p:spPr>
          <a:xfrm>
            <a:off x="822960" y="868680"/>
            <a:ext cx="7071055" cy="1188720"/>
          </a:xfrm>
          <a:prstGeom prst="rect">
            <a:avLst/>
          </a:prstGeom>
          <a:noFill/>
          <a:ln/>
        </p:spPr>
        <p:txBody>
          <a:bodyPr wrap="square" lIns="0" tIns="0" rIns="0" bIns="0" rtlCol="0" anchor="b">
            <a:normAutofit/>
          </a:bodyPr>
          <a:lstStyle/>
          <a:p>
            <a:pPr indent="0" marL="0">
              <a:buNone/>
            </a:pPr>
            <a:r>
              <a:rPr lang="en-US" sz="3800" dirty="0">
                <a:solidFill>
                  <a:srgbClr val="F2F0EA"/>
                </a:solidFill>
                <a:latin typeface="Arial" pitchFamily="34" charset="0"/>
                <a:ea typeface="Arial" pitchFamily="34" charset="-122"/>
                <a:cs typeface="Arial" pitchFamily="34" charset="-120"/>
              </a:rPr>
              <a:t>Abre a lição no telemóvel</a:t>
            </a:r>
            <a:endParaRPr lang="en-US" sz="3800" dirty="0"/>
          </a:p>
        </p:txBody>
      </p:sp>
      <p:sp>
        <p:nvSpPr>
          <p:cNvPr id="9" name="Shape 6"/>
          <p:cNvSpPr/>
          <p:nvPr/>
        </p:nvSpPr>
        <p:spPr>
          <a:xfrm>
            <a:off x="822960" y="2121408"/>
            <a:ext cx="640080" cy="64008"/>
          </a:xfrm>
          <a:prstGeom prst="rect">
            <a:avLst/>
          </a:prstGeom>
          <a:solidFill>
            <a:srgbClr val="E4555C"/>
          </a:solidFill>
          <a:ln w="12700">
            <a:solidFill>
              <a:srgbClr val="E4555C"/>
            </a:solidFill>
            <a:prstDash val="solid"/>
          </a:ln>
        </p:spPr>
      </p:sp>
      <p:sp>
        <p:nvSpPr>
          <p:cNvPr id="10" name="Shape 7"/>
          <p:cNvSpPr/>
          <p:nvPr/>
        </p:nvSpPr>
        <p:spPr>
          <a:xfrm>
            <a:off x="1005840" y="2606040"/>
            <a:ext cx="0" cy="1765808"/>
          </a:xfrm>
          <a:prstGeom prst="line">
            <a:avLst/>
          </a:prstGeom>
          <a:noFill/>
          <a:ln w="12700">
            <a:solidFill>
              <a:srgbClr val="A9A79F"/>
            </a:solidFill>
            <a:prstDash val="solid"/>
          </a:ln>
        </p:spPr>
      </p:sp>
      <p:sp>
        <p:nvSpPr>
          <p:cNvPr id="11" name="Shape 8"/>
          <p:cNvSpPr/>
          <p:nvPr/>
        </p:nvSpPr>
        <p:spPr>
          <a:xfrm>
            <a:off x="822960" y="242316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42316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432304"/>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Lê e responde aos cartões, um de cada vez</a:t>
            </a:r>
            <a:endParaRPr lang="en-US" sz="2200" dirty="0"/>
          </a:p>
        </p:txBody>
      </p:sp>
      <p:sp>
        <p:nvSpPr>
          <p:cNvPr id="14" name="Shape 11"/>
          <p:cNvSpPr/>
          <p:nvPr/>
        </p:nvSpPr>
        <p:spPr>
          <a:xfrm>
            <a:off x="822960" y="3306064"/>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060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15208"/>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No fim, o cartão extra: «A Biblioteca em Fogo»</a:t>
            </a:r>
            <a:endParaRPr lang="en-US" sz="2200" dirty="0"/>
          </a:p>
        </p:txBody>
      </p:sp>
      <p:sp>
        <p:nvSpPr>
          <p:cNvPr id="17" name="Shape 14"/>
          <p:cNvSpPr/>
          <p:nvPr/>
        </p:nvSpPr>
        <p:spPr>
          <a:xfrm>
            <a:off x="822960" y="4188968"/>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418896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4198112"/>
            <a:ext cx="6430975" cy="54203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O percurso marca a lição como feita</a:t>
            </a:r>
            <a:endParaRPr lang="en-US" sz="2200" dirty="0"/>
          </a:p>
        </p:txBody>
      </p:sp>
      <p:sp>
        <p:nvSpPr>
          <p:cNvPr id="20" name="Shape 17"/>
          <p:cNvSpPr/>
          <p:nvPr/>
        </p:nvSpPr>
        <p:spPr>
          <a:xfrm>
            <a:off x="8332927" y="1033272"/>
            <a:ext cx="3145536" cy="3145536"/>
          </a:xfrm>
          <a:prstGeom prst="rect">
            <a:avLst/>
          </a:prstGeom>
          <a:solidFill>
            <a:srgbClr val="FFFFFF"/>
          </a:solidFill>
          <a:ln w="12700">
            <a:solidFill>
              <a:srgbClr val="F2F0EA"/>
            </a:solidFill>
            <a:prstDash val="solid"/>
          </a:ln>
        </p:spPr>
      </p:sp>
      <p:pic>
        <p:nvPicPr>
          <p:cNvPr id="21" name="Image 0" descr="/home/user/epi-portugues-fontes/_interno/biblioteca-imagens/qr/licao-m9-f02.png">    </p:cNvPr>
          <p:cNvPicPr>
            <a:picLocks noChangeAspect="1"/>
          </p:cNvPicPr>
          <p:nvPr/>
        </p:nvPicPr>
        <p:blipFill>
          <a:blip r:embed="rId1"/>
          <a:stretch>
            <a:fillRect/>
          </a:stretch>
        </p:blipFill>
        <p:spPr>
          <a:xfrm>
            <a:off x="8442655" y="1143000"/>
            <a:ext cx="2926080" cy="2926080"/>
          </a:xfrm>
          <a:prstGeom prst="rect">
            <a:avLst/>
          </a:prstGeom>
        </p:spPr>
      </p:pic>
      <p:sp>
        <p:nvSpPr>
          <p:cNvPr id="22" name="Text 18"/>
          <p:cNvSpPr/>
          <p:nvPr/>
        </p:nvSpPr>
        <p:spPr>
          <a:xfrm>
            <a:off x="8332927" y="4343400"/>
            <a:ext cx="3145536" cy="640080"/>
          </a:xfrm>
          <a:prstGeom prst="rect">
            <a:avLst/>
          </a:prstGeom>
          <a:noFill/>
          <a:ln/>
        </p:spPr>
        <p:txBody>
          <a:bodyPr wrap="square" lIns="0" tIns="0" rIns="0" bIns="0" rtlCol="0" anchor="t">
            <a:normAutofit/>
          </a:bodyPr>
          <a:lstStyle/>
          <a:p>
            <a:pPr algn="ctr" indent="0" marL="0">
              <a:buNone/>
            </a:pPr>
            <a:r>
              <a:rPr lang="en-US" sz="1200" dirty="0">
                <a:solidFill>
                  <a:srgbClr val="F2F0EA"/>
                </a:solidFill>
                <a:latin typeface="Arial" pitchFamily="34" charset="0"/>
                <a:ea typeface="Arial" pitchFamily="34" charset="-122"/>
                <a:cs typeface="Arial" pitchFamily="34" charset="-120"/>
              </a:rPr>
              <a:t>pedrohfernandes-klk.github.io/​pt/​m9/​licao-m9-f02/​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M9-F02, Ver e não ver</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9</a:t>
            </a:r>
            <a:endParaRPr lang="en-US" sz="1000" dirty="0"/>
          </a:p>
        </p:txBody>
      </p:sp>
      <p:sp>
        <p:nvSpPr>
          <p:cNvPr id="6" name="Shape 3"/>
          <p:cNvSpPr/>
          <p:nvPr/>
        </p:nvSpPr>
        <p:spPr>
          <a:xfrm>
            <a:off x="822960" y="502920"/>
            <a:ext cx="201168" cy="201168"/>
          </a:xfrm>
          <a:prstGeom prst="rect">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PAUSA: CARTÕES NO TELEMÓVEL</a:t>
            </a:r>
            <a:endParaRPr lang="en-US" sz="1100" dirty="0"/>
          </a:p>
        </p:txBody>
      </p:sp>
      <p:sp>
        <p:nvSpPr>
          <p:cNvPr id="8" name="Text 5"/>
          <p:cNvSpPr/>
          <p:nvPr/>
        </p:nvSpPr>
        <p:spPr>
          <a:xfrm>
            <a:off x="822960" y="868680"/>
            <a:ext cx="7071055" cy="1188720"/>
          </a:xfrm>
          <a:prstGeom prst="rect">
            <a:avLst/>
          </a:prstGeom>
          <a:noFill/>
          <a:ln/>
        </p:spPr>
        <p:txBody>
          <a:bodyPr wrap="square" lIns="0" tIns="0" rIns="0" bIns="0" rtlCol="0" anchor="b">
            <a:normAutofit/>
          </a:bodyPr>
          <a:lstStyle/>
          <a:p>
            <a:pPr indent="0" marL="0">
              <a:buNone/>
            </a:pPr>
            <a:r>
              <a:rPr lang="en-US" sz="3800" dirty="0">
                <a:solidFill>
                  <a:srgbClr val="F2F0EA"/>
                </a:solidFill>
                <a:latin typeface="Arial" pitchFamily="34" charset="0"/>
                <a:ea typeface="Arial" pitchFamily="34" charset="-122"/>
                <a:cs typeface="Arial" pitchFamily="34" charset="-120"/>
              </a:rPr>
              <a:t>Três minutos, com placar</a:t>
            </a:r>
            <a:endParaRPr lang="en-US" sz="3800" dirty="0"/>
          </a:p>
        </p:txBody>
      </p:sp>
      <p:sp>
        <p:nvSpPr>
          <p:cNvPr id="9" name="Shape 6"/>
          <p:cNvSpPr/>
          <p:nvPr/>
        </p:nvSpPr>
        <p:spPr>
          <a:xfrm>
            <a:off x="822960" y="2121408"/>
            <a:ext cx="640080" cy="64008"/>
          </a:xfrm>
          <a:prstGeom prst="rect">
            <a:avLst/>
          </a:prstGeom>
          <a:solidFill>
            <a:srgbClr val="E4555C"/>
          </a:solidFill>
          <a:ln w="12700">
            <a:solidFill>
              <a:srgbClr val="E4555C"/>
            </a:solidFill>
            <a:prstDash val="solid"/>
          </a:ln>
        </p:spPr>
      </p:sp>
      <p:sp>
        <p:nvSpPr>
          <p:cNvPr id="10" name="Shape 7"/>
          <p:cNvSpPr/>
          <p:nvPr/>
        </p:nvSpPr>
        <p:spPr>
          <a:xfrm>
            <a:off x="1005840" y="2606040"/>
            <a:ext cx="0" cy="1424940"/>
          </a:xfrm>
          <a:prstGeom prst="line">
            <a:avLst/>
          </a:prstGeom>
          <a:noFill/>
          <a:ln w="12700">
            <a:solidFill>
              <a:srgbClr val="A9A79F"/>
            </a:solidFill>
            <a:prstDash val="solid"/>
          </a:ln>
        </p:spPr>
      </p:sp>
      <p:sp>
        <p:nvSpPr>
          <p:cNvPr id="11" name="Shape 8"/>
          <p:cNvSpPr/>
          <p:nvPr/>
        </p:nvSpPr>
        <p:spPr>
          <a:xfrm>
            <a:off x="822960" y="242316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42316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432304"/>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Na lição, toca em «Sala» e escreve o código do ecrã e uma alcunha</a:t>
            </a:r>
            <a:endParaRPr lang="en-US" sz="2200" dirty="0"/>
          </a:p>
        </p:txBody>
      </p:sp>
      <p:sp>
        <p:nvSpPr>
          <p:cNvPr id="14" name="Shape 11"/>
          <p:cNvSpPr/>
          <p:nvPr/>
        </p:nvSpPr>
        <p:spPr>
          <a:xfrm>
            <a:off x="822960" y="3306064"/>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060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15208"/>
            <a:ext cx="6430975" cy="54203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Faz os cartões que o ecrã indica</a:t>
            </a:r>
            <a:endParaRPr lang="en-US" sz="2200" dirty="0"/>
          </a:p>
        </p:txBody>
      </p:sp>
      <p:sp>
        <p:nvSpPr>
          <p:cNvPr id="17" name="Shape 14"/>
          <p:cNvSpPr/>
          <p:nvPr/>
        </p:nvSpPr>
        <p:spPr>
          <a:xfrm>
            <a:off x="822960" y="3848100"/>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38481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3857244"/>
            <a:ext cx="6430975" cy="54203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Quando acabares, olha para o placar</a:t>
            </a:r>
            <a:endParaRPr lang="en-US" sz="2200" dirty="0"/>
          </a:p>
        </p:txBody>
      </p:sp>
      <p:sp>
        <p:nvSpPr>
          <p:cNvPr id="20" name="Shape 17"/>
          <p:cNvSpPr/>
          <p:nvPr/>
        </p:nvSpPr>
        <p:spPr>
          <a:xfrm>
            <a:off x="8332927" y="1033272"/>
            <a:ext cx="3145536" cy="3145536"/>
          </a:xfrm>
          <a:prstGeom prst="rect">
            <a:avLst/>
          </a:prstGeom>
          <a:solidFill>
            <a:srgbClr val="FFFFFF"/>
          </a:solidFill>
          <a:ln w="12700">
            <a:solidFill>
              <a:srgbClr val="F2F0EA"/>
            </a:solidFill>
            <a:prstDash val="solid"/>
          </a:ln>
        </p:spPr>
      </p:sp>
      <p:pic>
        <p:nvPicPr>
          <p:cNvPr id="21" name="Image 0" descr="/home/user/epi-portugues-fontes/_interno/biblioteca-imagens/qr/licao-m9-f02.png">    </p:cNvPr>
          <p:cNvPicPr>
            <a:picLocks noChangeAspect="1"/>
          </p:cNvPicPr>
          <p:nvPr/>
        </p:nvPicPr>
        <p:blipFill>
          <a:blip r:embed="rId1"/>
          <a:stretch>
            <a:fillRect/>
          </a:stretch>
        </p:blipFill>
        <p:spPr>
          <a:xfrm>
            <a:off x="8442655" y="1143000"/>
            <a:ext cx="2926080" cy="2926080"/>
          </a:xfrm>
          <a:prstGeom prst="rect">
            <a:avLst/>
          </a:prstGeom>
        </p:spPr>
      </p:pic>
      <p:sp>
        <p:nvSpPr>
          <p:cNvPr id="22" name="Text 18"/>
          <p:cNvSpPr/>
          <p:nvPr/>
        </p:nvSpPr>
        <p:spPr>
          <a:xfrm>
            <a:off x="8332927" y="4343400"/>
            <a:ext cx="3145536" cy="640080"/>
          </a:xfrm>
          <a:prstGeom prst="rect">
            <a:avLst/>
          </a:prstGeom>
          <a:noFill/>
          <a:ln/>
        </p:spPr>
        <p:txBody>
          <a:bodyPr wrap="square" lIns="0" tIns="0" rIns="0" bIns="0" rtlCol="0" anchor="t">
            <a:normAutofit/>
          </a:bodyPr>
          <a:lstStyle/>
          <a:p>
            <a:pPr algn="ctr" indent="0" marL="0">
              <a:buNone/>
            </a:pPr>
            <a:r>
              <a:rPr lang="en-US" sz="1200" dirty="0">
                <a:solidFill>
                  <a:srgbClr val="F2F0EA"/>
                </a:solidFill>
                <a:latin typeface="Arial" pitchFamily="34" charset="0"/>
                <a:ea typeface="Arial" pitchFamily="34" charset="-122"/>
                <a:cs typeface="Arial" pitchFamily="34" charset="-120"/>
              </a:rPr>
              <a:t>pedrohfernandes-klk.github.io/​pt/​m9/​licao-m9-f02/​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M9-F02, Ver e não ver</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10</a:t>
            </a:r>
            <a:endParaRPr lang="en-US" sz="1000" dirty="0"/>
          </a:p>
        </p:txBody>
      </p:sp>
      <p:sp>
        <p:nvSpPr>
          <p:cNvPr id="6" name="Shape 3"/>
          <p:cNvSpPr/>
          <p:nvPr/>
        </p:nvSpPr>
        <p:spPr>
          <a:xfrm>
            <a:off x="822960" y="502920"/>
            <a:ext cx="201168" cy="201168"/>
          </a:xfrm>
          <a:prstGeom prst="triangle">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SÍNTESE</a:t>
            </a:r>
            <a:endParaRPr lang="en-US" sz="1100" dirty="0"/>
          </a:p>
        </p:txBody>
      </p:sp>
      <p:sp>
        <p:nvSpPr>
          <p:cNvPr id="8"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Para fixar</a:t>
            </a:r>
            <a:endParaRPr lang="en-US" sz="3400" dirty="0"/>
          </a:p>
        </p:txBody>
      </p:sp>
      <p:sp>
        <p:nvSpPr>
          <p:cNvPr id="9"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10" name="Shape 7"/>
          <p:cNvSpPr/>
          <p:nvPr/>
        </p:nvSpPr>
        <p:spPr>
          <a:xfrm>
            <a:off x="1005840" y="2286000"/>
            <a:ext cx="0" cy="2447544"/>
          </a:xfrm>
          <a:prstGeom prst="line">
            <a:avLst/>
          </a:prstGeom>
          <a:noFill/>
          <a:ln w="12700">
            <a:solidFill>
              <a:srgbClr val="A9A79F"/>
            </a:solidFill>
            <a:prstDash val="solid"/>
          </a:ln>
        </p:spPr>
      </p:sp>
      <p:sp>
        <p:nvSpPr>
          <p:cNvPr id="11" name="Shape 8"/>
          <p:cNvSpPr/>
          <p:nvPr/>
        </p:nvSpPr>
        <p:spPr>
          <a:xfrm>
            <a:off x="822960" y="210312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10312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112264"/>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Trabalhaste o trio da passarola: o engenho do padre Bartolomeu Lourenço, os olhos de Blimunda, que recolhem vontades em jejum, e a mão direita de Baltasar, que construiu.</a:t>
            </a:r>
            <a:endParaRPr lang="en-US" sz="2200" dirty="0"/>
          </a:p>
        </p:txBody>
      </p:sp>
      <p:sp>
        <p:nvSpPr>
          <p:cNvPr id="14" name="Shape 11"/>
          <p:cNvSpPr/>
          <p:nvPr/>
        </p:nvSpPr>
        <p:spPr>
          <a:xfrm>
            <a:off x="822960" y="3326892"/>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2689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36036"/>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A passarola é um símbolo: representa o sonho, a liberdade e a ciência, enquanto o convento representa o poder, a vaidade régia e o sacrifício de milhares.</a:t>
            </a:r>
            <a:endParaRPr lang="en-US" sz="2200" dirty="0"/>
          </a:p>
        </p:txBody>
      </p:sp>
      <p:sp>
        <p:nvSpPr>
          <p:cNvPr id="17" name="Shape 14"/>
          <p:cNvSpPr/>
          <p:nvPr/>
        </p:nvSpPr>
        <p:spPr>
          <a:xfrm>
            <a:off x="822960" y="4550664"/>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45506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4559808"/>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No capítulo XXV, Blimunda chega a Lisboa em jejum, vê a vontade de Baltasar num auto de fé e chama-a: a vontade fica na terra, com ela.</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M9-F02, Ver e não ver</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11</a:t>
            </a:r>
            <a:endParaRPr lang="en-US" sz="1000" dirty="0"/>
          </a:p>
        </p:txBody>
      </p:sp>
      <p:sp>
        <p:nvSpPr>
          <p:cNvPr id="6" name="Shape 3"/>
          <p:cNvSpPr/>
          <p:nvPr/>
        </p:nvSpPr>
        <p:spPr>
          <a:xfrm>
            <a:off x="822960" y="502920"/>
            <a:ext cx="201168" cy="201168"/>
          </a:xfrm>
          <a:prstGeom prst="triangle">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ATÉ À PRÓXIMA AULA</a:t>
            </a:r>
            <a:endParaRPr lang="en-US" sz="1100" dirty="0"/>
          </a:p>
        </p:txBody>
      </p:sp>
      <p:sp>
        <p:nvSpPr>
          <p:cNvPr id="8" name="Text 5"/>
          <p:cNvSpPr/>
          <p:nvPr/>
        </p:nvSpPr>
        <p:spPr>
          <a:xfrm>
            <a:off x="822960" y="868680"/>
            <a:ext cx="7071055" cy="1188720"/>
          </a:xfrm>
          <a:prstGeom prst="rect">
            <a:avLst/>
          </a:prstGeom>
          <a:noFill/>
          <a:ln/>
        </p:spPr>
        <p:txBody>
          <a:bodyPr wrap="square" lIns="0" tIns="0" rIns="0" bIns="0" rtlCol="0" anchor="b">
            <a:normAutofit/>
          </a:bodyPr>
          <a:lstStyle/>
          <a:p>
            <a:pPr indent="0" marL="0">
              <a:buNone/>
            </a:pPr>
            <a:r>
              <a:rPr lang="en-US" sz="3000" dirty="0">
                <a:solidFill>
                  <a:srgbClr val="F2F0EA"/>
                </a:solidFill>
                <a:latin typeface="Arial" pitchFamily="34" charset="0"/>
                <a:ea typeface="Arial" pitchFamily="34" charset="-122"/>
                <a:cs typeface="Arial" pitchFamily="34" charset="-120"/>
              </a:rPr>
              <a:t>No telemóvel ou no PC da escola</a:t>
            </a:r>
            <a:endParaRPr lang="en-US" sz="3000" dirty="0"/>
          </a:p>
        </p:txBody>
      </p:sp>
      <p:sp>
        <p:nvSpPr>
          <p:cNvPr id="9" name="Shape 6"/>
          <p:cNvSpPr/>
          <p:nvPr/>
        </p:nvSpPr>
        <p:spPr>
          <a:xfrm>
            <a:off x="822960" y="2121408"/>
            <a:ext cx="640080" cy="64008"/>
          </a:xfrm>
          <a:prstGeom prst="rect">
            <a:avLst/>
          </a:prstGeom>
          <a:solidFill>
            <a:srgbClr val="E4555C"/>
          </a:solidFill>
          <a:ln w="12700">
            <a:solidFill>
              <a:srgbClr val="E4555C"/>
            </a:solidFill>
            <a:prstDash val="solid"/>
          </a:ln>
        </p:spPr>
      </p:sp>
      <p:sp>
        <p:nvSpPr>
          <p:cNvPr id="10" name="Shape 7"/>
          <p:cNvSpPr/>
          <p:nvPr/>
        </p:nvSpPr>
        <p:spPr>
          <a:xfrm>
            <a:off x="1005840" y="2606040"/>
            <a:ext cx="0" cy="1765808"/>
          </a:xfrm>
          <a:prstGeom prst="line">
            <a:avLst/>
          </a:prstGeom>
          <a:noFill/>
          <a:ln w="12700">
            <a:solidFill>
              <a:srgbClr val="A9A79F"/>
            </a:solidFill>
            <a:prstDash val="solid"/>
          </a:ln>
        </p:spPr>
      </p:sp>
      <p:sp>
        <p:nvSpPr>
          <p:cNvPr id="11" name="Shape 8"/>
          <p:cNvSpPr/>
          <p:nvPr/>
        </p:nvSpPr>
        <p:spPr>
          <a:xfrm>
            <a:off x="822960" y="242316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42316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432304"/>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Termina o baralho da lição M9-F02 e o cartão extra</a:t>
            </a:r>
            <a:endParaRPr lang="en-US" sz="2200" dirty="0"/>
          </a:p>
        </p:txBody>
      </p:sp>
      <p:sp>
        <p:nvSpPr>
          <p:cNvPr id="14" name="Shape 11"/>
          <p:cNvSpPr/>
          <p:nvPr/>
        </p:nvSpPr>
        <p:spPr>
          <a:xfrm>
            <a:off x="822960" y="3306064"/>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060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15208"/>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Espreita a lição seguinte, «A voz que conta»</a:t>
            </a:r>
            <a:endParaRPr lang="en-US" sz="2200" dirty="0"/>
          </a:p>
        </p:txBody>
      </p:sp>
      <p:sp>
        <p:nvSpPr>
          <p:cNvPr id="17" name="Shape 14"/>
          <p:cNvSpPr/>
          <p:nvPr/>
        </p:nvSpPr>
        <p:spPr>
          <a:xfrm>
            <a:off x="822960" y="4188968"/>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418896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4198112"/>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Antes de sair: foto do caderno para o portefólio</a:t>
            </a:r>
            <a:endParaRPr lang="en-US" sz="2200" dirty="0"/>
          </a:p>
        </p:txBody>
      </p:sp>
      <p:sp>
        <p:nvSpPr>
          <p:cNvPr id="20" name="Shape 17"/>
          <p:cNvSpPr/>
          <p:nvPr/>
        </p:nvSpPr>
        <p:spPr>
          <a:xfrm>
            <a:off x="8332927" y="1033272"/>
            <a:ext cx="3145536" cy="3145536"/>
          </a:xfrm>
          <a:prstGeom prst="rect">
            <a:avLst/>
          </a:prstGeom>
          <a:solidFill>
            <a:srgbClr val="FFFFFF"/>
          </a:solidFill>
          <a:ln w="12700">
            <a:solidFill>
              <a:srgbClr val="F2F0EA"/>
            </a:solidFill>
            <a:prstDash val="solid"/>
          </a:ln>
        </p:spPr>
      </p:sp>
      <p:pic>
        <p:nvPicPr>
          <p:cNvPr id="21" name="Image 0" descr="/home/user/epi-portugues-fontes/_interno/biblioteca-imagens/qr/passo-m9-f02.png">    </p:cNvPr>
          <p:cNvPicPr>
            <a:picLocks noChangeAspect="1"/>
          </p:cNvPicPr>
          <p:nvPr/>
        </p:nvPicPr>
        <p:blipFill>
          <a:blip r:embed="rId1"/>
          <a:stretch>
            <a:fillRect/>
          </a:stretch>
        </p:blipFill>
        <p:spPr>
          <a:xfrm>
            <a:off x="8442655" y="1143000"/>
            <a:ext cx="2926080" cy="2926080"/>
          </a:xfrm>
          <a:prstGeom prst="rect">
            <a:avLst/>
          </a:prstGeom>
        </p:spPr>
      </p:pic>
      <p:sp>
        <p:nvSpPr>
          <p:cNvPr id="22" name="Text 18"/>
          <p:cNvSpPr/>
          <p:nvPr/>
        </p:nvSpPr>
        <p:spPr>
          <a:xfrm>
            <a:off x="8332927" y="4343400"/>
            <a:ext cx="3145536" cy="640080"/>
          </a:xfrm>
          <a:prstGeom prst="rect">
            <a:avLst/>
          </a:prstGeom>
          <a:noFill/>
          <a:ln/>
        </p:spPr>
        <p:txBody>
          <a:bodyPr wrap="square" lIns="0" tIns="0" rIns="0" bIns="0" rtlCol="0" anchor="t">
            <a:normAutofit/>
          </a:bodyPr>
          <a:lstStyle/>
          <a:p>
            <a:pPr algn="ctr" indent="0" marL="0">
              <a:buNone/>
            </a:pPr>
            <a:r>
              <a:rPr lang="en-US" sz="1200" dirty="0">
                <a:solidFill>
                  <a:srgbClr val="F2F0EA"/>
                </a:solidFill>
                <a:latin typeface="Arial" pitchFamily="34" charset="0"/>
                <a:ea typeface="Arial" pitchFamily="34" charset="-122"/>
                <a:cs typeface="Arial" pitchFamily="34" charset="-120"/>
              </a:rPr>
              <a:t>pedrohfernandes-klk.github.io/​pt/​m9/​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M9 · Sessão 02 · M9-F02 · Ver e não ver</dc:title>
  <dc:subject>PptxGenJS Presentation</dc:subject>
  <dc:creator>EPI · Português</dc:creator>
  <cp:lastModifiedBy>EPI · Português</cp:lastModifiedBy>
  <cp:revision>1</cp:revision>
  <dcterms:created xsi:type="dcterms:W3CDTF">2026-10-11T03:02:54Z</dcterms:created>
  <dcterms:modified xsi:type="dcterms:W3CDTF">2026-10-11T03:02:54Z</dcterms:modified>
  <dc:description/>
</cp:coreProperties>
</file>