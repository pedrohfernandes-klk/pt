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media/image-4-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3.º ANO, MÓDULO 9, LIÇÃO M9-F02, UNIDADE 1</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2</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4000" dirty="0">
                <a:solidFill>
                  <a:srgbClr val="F2F0EA"/>
                </a:solidFill>
                <a:latin typeface="Arial" pitchFamily="34" charset="0"/>
                <a:ea typeface="Arial" pitchFamily="34" charset="-122"/>
                <a:cs typeface="Arial" pitchFamily="34" charset="-120"/>
              </a:rPr>
              <a:t>Ver e não ver</a:t>
            </a:r>
            <a:endParaRPr lang="en-US" sz="40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Blimunda vê o que está dentro das pessoas, mas só em jejum. Baltasar tem um gancho no lugar da mão. Juntos ajudam um padre a construir uma máquina de voar.</a:t>
            </a:r>
            <a:endParaRPr lang="en-US" sz="1800" dirty="0"/>
          </a:p>
        </p:txBody>
      </p:sp>
      <p:pic>
        <p:nvPicPr>
          <p:cNvPr id="15" name="Image 0" descr="/home/user/epi-portugues-fontes/_interno/biblioteca-imagens/fontes/mafra-biblioteca.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Biblioteca do Palácio Nacional de Mafra (fotografia de Hipersyl, 2026). CC BY 4.0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De quem é a memória que este livro guarda?</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pic>
        <p:nvPicPr>
          <p:cNvPr id="6" name="Image 0" descr="/home/user/epi-portugues-fontes/_interno/biblioteca-imagens/fontes/mafra-bibliotec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O VOO DA PASSAROLA</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 sua cabeça de gaivota, lançou-se em flecha, céu acima. Sacudidos pelos bruscos volteios, Baltasar e Blimunda tinham caído no chão de tábuas da máquina, mas o padre Bartolomeu Lourenço agarrara-se a um dos prumos que sustentavam as velas, e assim pôde ver afastarse a terra a uma velocidade incrível, já mal se distinguia a quinta, logo perdida entre colinas, e aquilo além, que é, Lisboa, claro está, e o rio, oh, o mar, aquele mar por onde eu, Bartolomeu Lourenço de Gusmão, vim por duas vezes do Brasil, o mar por onde viajei à Holanda, a que mais continentes da terra e do ar me levarás tu, máquina, o vento ruge-me aos ouvidos, nunca ave alguma subiu tão alto se me visse el-rei, se me visse aquele Tomás Pinto Brandão que se riu de mim em verso, se o Santo Ofício me visse, saberiam todos que sou filho predilecto de Deus, eu sim, eu que estou subindo ao céu por obra do meu génio, por obra também dos olhos de Blimunda, se haverá no céu olhos como eles, por obra da mão direita de Baltasar, aqui te levo, Deus um que também não tem a mão esquerda, Blimunda, Baltasar, venham ver, levantem-se daí, não tenham medo. Não tinham medo, estavam apenas assustados com a sua própria coragem. O padre ria, dava gritos, deixara já a segurança do prumo e percorria o convés da máquina de um lado a outro para poder olhar a terra em todos os seus pontos cardeais, tão grande agora que estavam longe dela, enfim levantaram-se Baltasar e Blimunda, agarrando-se nervosamente aos prumos, depois à amurada, deslumbrados de luz e de vento, logo sem nenhum susto, Ah ·e Baltasar gritou, Conseguimos, abraçou-se a Blimunda e desatou a chorar, parecia uma criança perdida, um soldado que andou na guerra, que nos Pegões matou um homem com o seu espigão, e agora soluça de felicidade abraçado a Blimunda, que lhe beija a cara suja, então, então. O padre veio para eles e abraçou-se também, subitamente perturbado por uma analogia, assim dissera o italiano, Deus ele próprio, Baltasar seu filho, Blimunda o Espírito Santo, e estavam os três no céu, Só há um Deus, gritou, mas o vento levou-lhe as palavras da boca. Então Blimunda disse, Se não abrirmos a vela, continuaremos a subir, aonde iremos parar, talvez ao sol.</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Memorial do Convento (1982), capítulo XVI. grafia da edição. Excerto para estudo.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pic>
        <p:nvPicPr>
          <p:cNvPr id="6" name="Image 0" descr="/home/user/epi-portugues-fontes/_interno/biblioteca-imagens/fontes/mafra-biblioteca.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O REENCONTRO (ÚLTIMO CAPÍTULO)</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600" dirty="0">
                <a:solidFill>
                  <a:srgbClr val="F2F0EA"/>
                </a:solidFill>
                <a:latin typeface="Georgia" pitchFamily="34" charset="0"/>
                <a:ea typeface="Georgia" pitchFamily="34" charset="-122"/>
                <a:cs typeface="Georgia" pitchFamily="34" charset="-120"/>
              </a:rPr>
              <a:t>São onze os supliciados. A queima já vai adiantada, os rostos mal se distinguem. Naquele extremo arde um homem a quem falta a mão esquerda. Talvez por ter a barba enegrecida, prodígio cosmético da fuligem, parece mais novo. E uma nuvem fechada está no centro do seu corpo. Então Blimunda disse, Vem. Desprendeu-se a vontade de Baltasar Sete-Sóis, mas não subiu para as estrelas, se à terra pertencia e a Blimunda.</a:t>
            </a:r>
            <a:endParaRPr lang="en-US" sz="26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José Saramago, Memorial do Convento (1982), último capítulo (excerto). Excerto para estudo.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Baltasar Sete-Sóis tem um gancho no lugar da mão; Blimunda Sete-Luas vê o que está dentro das pessoas, mas só em jejum.</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Os dois ajudam o padre Bartolomeu Lourenço a construir a passarola, e o romance opõe o ver verdadeiro (lucidez e compaixão) à cegueira do poder.</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564640"/>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Ficas a caracterizar as personagens com a página de cada prova, a ler o voo da passarola e o reencontro do último capítulo, e a comparar a passarola e o convento como projetos.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 E COMPLETAR NO CADERNO</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Completa no caderno</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057400"/>
          <a:ext cx="10545775" cy="914400"/>
        </p:xfrm>
        <a:graphic>
          <a:graphicData uri="http://schemas.openxmlformats.org/drawingml/2006/table">
            <a:tbl>
              <a:tblPr/>
              <a:tblGrid>
                <a:gridCol w="2952817"/>
                <a:gridCol w="1898240"/>
                <a:gridCol w="1898240"/>
                <a:gridCol w="1898240"/>
                <a:gridCol w="1898240"/>
              </a:tblGrid>
              <a:tr h="685800">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PERSONAGEM</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TRAÇOS</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RELAÇÕES</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SÍMBOLO ASSOCIADO</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c>
                  <a:txBody>
                    <a:bodyPr/>
                    <a:lstStyle/>
                    <a:p>
                      <a:pPr indent="0" marL="0">
                        <a:buNone/>
                      </a:pPr>
                      <a:r>
                        <a:rPr lang="en-US" sz="1100" b="1" spc="150" kern="0" dirty="0">
                          <a:solidFill>
                            <a:srgbClr val="A9A79F"/>
                          </a:solidFill>
                          <a:latin typeface="Arial" pitchFamily="34" charset="0"/>
                          <a:ea typeface="Arial" pitchFamily="34" charset="-122"/>
                          <a:cs typeface="Arial" pitchFamily="34" charset="-120"/>
                        </a:rPr>
                        <a:t>CITAÇÃO CURTA (P.)</a:t>
                      </a:r>
                      <a:endParaRPr lang="en-US" sz="11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19050" cap="flat" cmpd="sng" algn="ctr">
                      <a:solidFill>
                        <a:srgbClr val="F2F0EA"/>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Baltasar</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Blimunda</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Padre Bartolomeu</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r h="685800">
                <a:tc>
                  <a:txBody>
                    <a:bodyPr/>
                    <a:lstStyle/>
                    <a:p>
                      <a:pPr indent="0" marL="0">
                        <a:buNone/>
                      </a:pPr>
                      <a:r>
                        <a:rPr lang="en-US" sz="1800" dirty="0">
                          <a:solidFill>
                            <a:srgbClr val="F2F0EA"/>
                          </a:solidFill>
                          <a:latin typeface="Arial" pitchFamily="34" charset="0"/>
                          <a:ea typeface="Arial" pitchFamily="34" charset="-122"/>
                          <a:cs typeface="Arial" pitchFamily="34" charset="-120"/>
                        </a:rPr>
                        <a:t>D. João V</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Arial" pitchFamily="34" charset="0"/>
                          <a:ea typeface="Arial" pitchFamily="34" charset="-122"/>
                          <a:cs typeface="Arial" pitchFamily="34" charset="-120"/>
                        </a:rPr>
                        <a:t> </a:t>
                      </a:r>
                      <a:endParaRPr lang="en-US" sz="1800" dirty="0">
                        <a:latin typeface="Arial" charset="0"/>
                        <a:ea typeface="Arial" charset="0"/>
                        <a:cs typeface="Arial"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c>
                  <a:txBody>
                    <a:bodyPr/>
                    <a:lstStyle/>
                    <a:p>
                      <a:pPr indent="0" marL="0">
                        <a:buNone/>
                      </a:pPr>
                      <a:r>
                        <a:rPr lang="en-US" sz="1800" dirty="0">
                          <a:solidFill>
                            <a:srgbClr val="F2F0EA"/>
                          </a:solidFill>
                          <a:latin typeface="Georgia" pitchFamily="34" charset="0"/>
                          <a:ea typeface="Georgia" pitchFamily="34" charset="-122"/>
                          <a:cs typeface="Georgia" pitchFamily="34" charset="-120"/>
                        </a:rPr>
                        <a:t> </a:t>
                      </a:r>
                      <a:endParaRPr lang="en-US" sz="1800" dirty="0">
                        <a:latin typeface="Georgia" charset="0"/>
                        <a:ea typeface="Georgia" charset="0"/>
                        <a:cs typeface="Georgia" charset="0"/>
                      </a:endParaRPr>
                    </a:p>
                  </a:txBody>
                  <a:tcPr marL="73152" marR="73152" marT="73152" marB="73152" anchor="ctr">
                    <a:lnL w="0" cap="flat" cmpd="sng" algn="ctr">
                      <a:noFill/>
                    </a:lnL>
                    <a:lnR w="0" cap="flat" cmpd="sng" algn="ctr">
                      <a:noFill/>
                    </a:lnR>
                    <a:lnT w="0" cap="flat" cmpd="sng" algn="ctr">
                      <a:noFill/>
                    </a:lnT>
                    <a:lnB w="9525" cap="flat" cmpd="sng" algn="ctr">
                      <a:solidFill>
                        <a:srgbClr val="BBBBBB"/>
                      </a:solidFill>
                      <a:prstDash val="solid"/>
                      <a:round/>
                      <a:headEnd type="none" w="med" len="med"/>
                      <a:tailEnd type="none" w="med" len="med"/>
                    </a:lnB>
                    <a:solidFill>
                      <a:srgbClr val="111111"/>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VER</a:t>
            </a:r>
            <a:endParaRPr lang="en-US" sz="1100" dirty="0"/>
          </a:p>
        </p:txBody>
      </p:sp>
      <p:sp>
        <p:nvSpPr>
          <p:cNvPr id="8" name="Text 5"/>
          <p:cNvSpPr/>
          <p:nvPr/>
        </p:nvSpPr>
        <p:spPr>
          <a:xfrm>
            <a:off x="822960" y="868680"/>
            <a:ext cx="9814255" cy="109728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Com o livro aberto: o voo e o reencontro</a:t>
            </a:r>
            <a:endParaRPr lang="en-US" sz="3000" dirty="0"/>
          </a:p>
        </p:txBody>
      </p:sp>
      <p:sp>
        <p:nvSpPr>
          <p:cNvPr id="9" name="Shape 6"/>
          <p:cNvSpPr/>
          <p:nvPr/>
        </p:nvSpPr>
        <p:spPr>
          <a:xfrm>
            <a:off x="822960" y="2020824"/>
            <a:ext cx="640080" cy="64008"/>
          </a:xfrm>
          <a:prstGeom prst="rect">
            <a:avLst/>
          </a:prstGeom>
          <a:solidFill>
            <a:srgbClr val="E4555C"/>
          </a:solidFill>
          <a:ln w="12700">
            <a:solidFill>
              <a:srgbClr val="E4555C"/>
            </a:solidFill>
            <a:prstDash val="solid"/>
          </a:ln>
        </p:spPr>
      </p:sp>
      <p:sp>
        <p:nvSpPr>
          <p:cNvPr id="10" name="Text 7"/>
          <p:cNvSpPr/>
          <p:nvPr/>
        </p:nvSpPr>
        <p:spPr>
          <a:xfrm>
            <a:off x="822960" y="2286000"/>
            <a:ext cx="9814255" cy="3749040"/>
          </a:xfrm>
          <a:prstGeom prst="rect">
            <a:avLst/>
          </a:prstGeom>
          <a:noFill/>
          <a:ln/>
        </p:spPr>
        <p:txBody>
          <a:bodyPr wrap="square" lIns="0" tIns="0" rIns="0" bIns="0" rtlCol="0" anchor="t">
            <a:normAutofit/>
          </a:bodyPr>
          <a:lstStyle/>
          <a:p>
            <a:pPr indent="0" marL="0">
              <a:lnSpc>
                <a:spcPct val="120000"/>
              </a:lnSpc>
              <a:spcAft>
                <a:spcPts val="1000"/>
              </a:spcAft>
              <a:buNone/>
            </a:pPr>
            <a:r>
              <a:rPr lang="en-US" sz="2300" dirty="0">
                <a:solidFill>
                  <a:srgbClr val="F2F0EA"/>
                </a:solidFill>
                <a:latin typeface="Georgia" pitchFamily="34" charset="0"/>
                <a:ea typeface="Georgia" pitchFamily="34" charset="-122"/>
                <a:cs typeface="Georgia" pitchFamily="34" charset="-120"/>
              </a:rPr>
              <a:t>Duas passagens para leres no livro antes das perguntas. O voo da passarola (nas edições da Caminho, pp. 196 e 197): a máquina sobe, o padre Bartolomeu Lourenço vê Lisboa e o mar lá de cima e diz a quem deve o voo.</a:t>
            </a:r>
            <a:endParaRPr lang="en-US" sz="2300" dirty="0"/>
          </a:p>
          <a:p>
            <a:pPr indent="0" marL="0">
              <a:lnSpc>
                <a:spcPct val="120000"/>
              </a:lnSpc>
              <a:spcAft>
                <a:spcPts val="1000"/>
              </a:spcAft>
              <a:buNone/>
            </a:pPr>
            <a:r>
              <a:rPr lang="en-US" sz="2300" dirty="0">
                <a:solidFill>
                  <a:srgbClr val="F2F0EA"/>
                </a:solidFill>
                <a:latin typeface="Georgia" pitchFamily="34" charset="0"/>
                <a:ea typeface="Georgia" pitchFamily="34" charset="-122"/>
                <a:cs typeface="Georgia" pitchFamily="34" charset="-120"/>
              </a:rPr>
              <a:t>O reencontro (capítulo XXV, o último): Blimunda procura Baltasar durante nove anos e encontra-o em Lisboa, num auto de fé; chega em jejum.</a:t>
            </a:r>
            <a:endParaRPr lang="en-US" sz="2300" dirty="0"/>
          </a:p>
          <a:p>
            <a:pPr indent="0" marL="0">
              <a:lnSpc>
                <a:spcPct val="120000"/>
              </a:lnSpc>
              <a:spcAft>
                <a:spcPts val="1000"/>
              </a:spcAft>
              <a:buNone/>
            </a:pPr>
            <a:r>
              <a:rPr lang="en-US" sz="2300" dirty="0">
                <a:solidFill>
                  <a:srgbClr val="F2F0EA"/>
                </a:solidFill>
                <a:latin typeface="Georgia" pitchFamily="34" charset="0"/>
                <a:ea typeface="Georgia" pitchFamily="34" charset="-122"/>
                <a:cs typeface="Georgia" pitchFamily="34" charset="-120"/>
              </a:rPr>
              <a:t>O romance tem direitos de autor: lê-se no livro ou na folha que o docente entrega.</a:t>
            </a:r>
            <a:endParaRPr lang="en-US" sz="2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 «A Biblioteca em Fogo»</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2.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pedrohfernandes-klk.github.io/​pt/​m9/​licao-m9-f02/​</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9-f02.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pedrohfernandes-klk.github.io/​pt/​m9/​licao-m9-f02/​</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10</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Trabalhaste o trio da passarola: o engenho do padre Bartolomeu Lourenço, os olhos de Blimunda, que recolhem vontades em jejum, e a mão direita de Baltasar, que construiu.</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 passarola é um símbolo: representa o sonho, a liberdade e a ciência, enquanto o convento representa o poder, a vaidade régia e o sacrifício de milhares.</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capítulo XXV, Blimunda chega a Lisboa em jejum, vê a vontade de Baltasar num auto de fé e chama-a: a vontade fica na terra, com ela.</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M9-F02, Ver e não ver</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11</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M9-F02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«A voz que conta»</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9-f02.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M9 · Sessão 02 · M9-F02 · Ver e não ver</dc:title>
  <dc:subject>PptxGenJS Presentation</dc:subject>
  <dc:creator>EPI · Português</dc:creator>
  <cp:lastModifiedBy>EPI · Português</cp:lastModifiedBy>
  <cp:revision>1</cp:revision>
  <dcterms:created xsi:type="dcterms:W3CDTF">2026-10-11T00:24:33Z</dcterms:created>
  <dcterms:modified xsi:type="dcterms:W3CDTF">2026-10-11T00:24:33Z</dcterms:modified>
  <dc:description/>
</cp:coreProperties>
</file>