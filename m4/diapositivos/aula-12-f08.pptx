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</p:sldIdLst>
  <p:notesMasterIdLst>
    <p:notesMasterId r:id="rId4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notesMaster" Target="notesMasters/notesMaster1.xml"/><Relationship Id="rId46" Type="http://schemas.openxmlformats.org/officeDocument/2006/relationships/presProps" Target="presProps.xml"/><Relationship Id="rId47" Type="http://schemas.openxmlformats.org/officeDocument/2006/relationships/viewProps" Target="viewProps.xml"/><Relationship Id="rId48" Type="http://schemas.openxmlformats.org/officeDocument/2006/relationships/theme" Target="theme/theme1.xml"/><Relationship Id="rId4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2.º ANO, MÓDULO 4, UNIDADE 2: O ROMEIRO DIZ «NINGUÉM»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685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5000" dirty="0"/>
          </a:p>
        </p:txBody>
      </p:sp>
      <p:sp>
        <p:nvSpPr>
          <p:cNvPr id="7" name="Text 5"/>
          <p:cNvSpPr/>
          <p:nvPr/>
        </p:nvSpPr>
        <p:spPr>
          <a:xfrm>
            <a:off x="822960" y="2697480"/>
            <a:ext cx="6583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4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«Ninguém»</a:t>
            </a:r>
            <a:endParaRPr lang="en-US" sz="4000" dirty="0"/>
          </a:p>
        </p:txBody>
      </p:sp>
      <p:sp>
        <p:nvSpPr>
          <p:cNvPr id="8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9768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Ler as duas cenas do retrato no ato II para perceber porque é que Telmo cala o nome e o Romeiro diz «Ninguém», e o que são a omissão, a revelação e os deíticos.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5" name="Image 0" descr="/tmp/aulas-diap-jdU3MK/qr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8442655" y="4160520"/>
            <a:ext cx="3108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pedrohfernandes-klk.github.io/pt/m4/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licao-m4-f08/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HOJE, 90 MINUTOS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«Ninguém»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0" y="209397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 as duas cenas do retrato no ato II para perceber porque é que Telmo cala o nome e o Romeiro diz «Ninguém», e o que são a omissão, a revelação e os deíticos.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822960" y="34747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743200" y="341985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minutos: 13 cartões, uma decisão em turma, uma cena marcada de pé e uma resposta escrita.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822960" y="48006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0" y="4745736"/>
            <a:ext cx="789401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cinco a sete linhas: porque responde o Romeiro «Ninguém»? Com uma didascália e uma fala do texto, citadas entre aspas.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</a:t>
            </a:r>
            <a:endParaRPr lang="en-US" sz="1100" dirty="0"/>
          </a:p>
        </p:txBody>
      </p:sp>
      <p:pic>
        <p:nvPicPr>
          <p:cNvPr id="7" name="Image 0" descr="Num salão escuro, um velho de barba branca comprida, com uma cruz ao peito, levanta o braço para os retratos da parede. À esquerda, uma figura de costas, de hábito claro e capa escura; à direita, uma figura sentada, de gola de folhos, olha para ele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9565" y="914400"/>
            <a:ext cx="3753031" cy="4709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6967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Miguel Ângelo Lupi, </a:t>
            </a:r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João de Portugal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1863. Domínio público.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486400" y="914400"/>
            <a:ext cx="55165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«Ninguém»</a:t>
            </a:r>
            <a:endParaRPr lang="en-US" sz="3400" dirty="0"/>
          </a:p>
        </p:txBody>
      </p:sp>
      <p:sp>
        <p:nvSpPr>
          <p:cNvPr id="10" name="Shape 7"/>
          <p:cNvSpPr/>
          <p:nvPr/>
        </p:nvSpPr>
        <p:spPr>
          <a:xfrm>
            <a:off x="822960" y="1901952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486400" y="2148840"/>
            <a:ext cx="5516575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1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 João de Portugal desapareceu na batalha de Alcácer Quibir, e a mulher, Madalena, casou com outro. Vinte anos depois da batalha, um velho peregrino entra na casa que já foi dele e aponta para um retrato.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5486400" y="4389120"/>
            <a:ext cx="55165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Porque responde o Romeiro «Ninguém», quando lhe perguntam quem é?</a:t>
            </a:r>
            <a:endParaRPr lang="en-US" sz="2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Isto passa-se no mesmo dia, antes de o Romeiro chegar. Repara no que Telmo faz antes de falar.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ATO II, CENA I: O RETRATO (1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MARIA: Oh! mas é verdade… vinde cá: (Leva-o diante dos três retratos que estão no fundo; e apontando para o de D. João) de quem é este retrato aqui, Telmo?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TELMO, olha, e vira a cara de repente: Esse é… há de ser… é um da família, destes senhores da casa de Vimioso que aqui estão tantos.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MARIA, ameaçando-o com o dedo: Tu não dizes a verdade, Telmo.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TELMO, quase ofendido: Eu nunca menti, senhora D. Maria de Noronha.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MARIA: Mas não diz a verdade toda o senhor Telmo Pais; que é quase o mesmo.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ato II, cena I,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600" i="1" dirty="0">
                <a:solidFill>
                  <a:srgbClr val="A9A7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«TELMO, olha, e vira a cara de repente: Esse é… há de ser…»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169164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Telmo sabe de quem é o retrato? O que o mostra?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05840" y="3474720"/>
            <a:ext cx="0" cy="1200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29184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291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300984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Sabe, porque Maria lhe disse quem é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822960" y="389229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3892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390144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Não sabe: «há de ser» mostra que está só a supor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822960" y="449275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4927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501896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Sabe: vira a cara e hesita antes de responder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Sabe: vira a cara e hesita antes de responder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corpo responde antes da fala: Telmo «olha, e vira a cara de repente». Depois hesita, «Esse é… há de ser…», e não diz o nome. Maria percebe logo: «Tu não dizes a verdade, Telmo».</a:t>
            </a:r>
            <a:endParaRPr lang="en-US" sz="2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DECIDE EM SILÊNCIO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Calar o nome é «quase o mesmo» que mentir?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800600"/>
            <a:ext cx="981425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Telmo foi o aio de D. João de Portugal: criou-o. Maria aponta para o retrato e pergunta de quem é. Telmo vira a cara e responde «um da família, destes senhores da casa de Vimioso». O nome, não o diz.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DECIDE: OS LADOS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resposta de Telmo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Telmo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«Eu nunca menti.» O homem do retrato é mesmo da casa de Vimioso, e Telmo insiste: «Disse-vos o que sei, e o que é verdade.» Quem não afirma nada falso não mente, nem «quase».Telmo, ato II, cena I.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4490618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razão de Maria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90618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«Mas não diz a verdade toda o senhor Telmo Pais; que é quase o mesmo.» Quem pergunta fica sem a resposta. E quando Telmo hesita outra vez, Maria corta-lhe a palavra: «Agora é que tu ias mentir de todo… cala-te.»Maria, ato II, cena I.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58277" y="2103120"/>
            <a:ext cx="321045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objeção: nem é «quase»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58277" y="2971800"/>
            <a:ext cx="3210458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objeção possível: Telmo empurra Maria para os «senhores da casa de Vimioso que aqui estão tantos», para ela pensar num qualquer. Escolher as verdades para enganar é tão grave como mentir: só muda a desculpa.</a:t>
            </a:r>
            <a:endParaRPr lang="en-US" sz="1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TELMO DISSE ALGUMA COISA FALSA?, 1 DE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TELMO, olha, e vira a cara de repente: Esse é… há de ser… é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 da família, destes senhores da casa de Vimioso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[…]MARIA: Mas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diz a verdade toda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 senhor Telmo Pais; que é quase o mesmo.Garrett,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ato II, cena I</a:t>
            </a:r>
            <a:endParaRPr lang="en-US" sz="2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TELMO DISSE ALGUMA COISA FALSA?, 2 DE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o que diz é verdade: D. João era filho do conde de Vimioso. É mesmo «um da família».</a:t>
            </a:r>
            <a:endParaRPr lang="en-US" sz="3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TELMO DISSE ALGUMA COISA FALSA?, 3 DE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Falta o nome, e ele sabe-o: vira a cara de repente. É a isto que Maria chama não dizer «a verdade toda».</a:t>
            </a:r>
            <a:endParaRPr lang="en-US" sz="2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TELMO DISSE ALGUMA COISA FALSA?, 4 DE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OMISSÃO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Calar uma parte do que se sabe, sem dizer nada de falso.</a:t>
            </a:r>
            <a:endParaRPr lang="en-US" sz="3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TELMO DISSE ALGUMA COISA FALSA?, 5 DE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mentira. Mentira seria afirmar o falso: «Não sei quem é.»Não é recusar responder. «Não te digo» seria recusar às claras; Telmo responde como se dissesse tudo.</a:t>
            </a:r>
            <a:endParaRPr lang="en-US" sz="2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TELMO DISSE ALGUMA COISA FALSA?, 6 DE 6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Pergunta: disse alguma coisa falsa, ou calou uma parte?</a:t>
            </a:r>
            <a:endParaRPr lang="en-US" sz="3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Caso imaginário: a Rita chutou a bola que partiu o vidro. Perguntam-lhe quem foi. O que faz cada resposta?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«Fui eu que chutei a bola.»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«Eu estava na biblioteca.»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«Alguém chutou a bola.»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 bola bateu no vidro.»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6004408" y="2514600"/>
            <a:ext cx="4632808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omissão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mentira</a:t>
            </a:r>
            <a:endParaRPr lang="en-US" sz="2000" dirty="0"/>
          </a:p>
          <a:p>
            <a:pPr marL="342900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verdade toda</a:t>
            </a:r>
            <a:endParaRPr lang="en-US" sz="2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 bola bateu no vidro.» → omissão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«Eu estava na biblioteca.» → mentira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«Fui eu que chutei a bola.» → a verdade toda</a:t>
            </a:r>
            <a:endParaRPr lang="en-US" sz="2200" dirty="0"/>
          </a:p>
          <a:p>
            <a:pPr marL="342900" indent="-3429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«Alguém chutou a bola.» → omissão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822960" y="35204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794760"/>
            <a:ext cx="9814255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«A bola bateu no vidro» e «Alguém chutou a bola» são verdade e calam quem chutou: omissão, como Telmo. «Estava na biblioteca» é falso: mentira. Só «Fui eu» diz tudo.</a:t>
            </a:r>
            <a:endParaRPr lang="en-US" sz="2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LER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Procura as duas vezes em que o Romeiro aponta, e o que diz.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ATO II, CENAS XIV E XV: O ROMEIRO (2 DE 2) (1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MADALENA: Português?… cativo da batalha de?…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ROMEIRO: De Alcácer-Quibir.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MADALENA, espavorida: Meu Deus, meu Deus! […]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JORGE: Procurai nestes retratos, e dizei-me se algum deles pode ser.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ROMEIRO, sem procurar, e apontando logo para o retrato de D. João: É aquele.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MADALENA, com um grito espantoso: Minha filha, minha filha, minha filha!… (em tom cavo e profundo) Estou… estás… perdidas, desonradas… infames! […] (Foge espavorida e neste gritar.)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[…] JORGE: Romeiro, romeiro! quem és tu?</a:t>
            </a:r>
            <a:endParaRPr lang="en-US" sz="2200" dirty="0"/>
          </a:p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ROMEIRO, apontando com o bordão para o retrato de D. João de Portugal: Ninguém.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ato II, cenas XIV e XV,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TEXTO: ATO II, CENAS XIV E XV: O ROMEIRO (2 DE 2) (2 DE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4846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6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(Frei Jorge cai prostrado no chão, com os braços estendidos, diante da tribuna. O pano desce lentamente.)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22960" y="5943600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Almeida Garrett, </a:t>
            </a:r>
            <a:pPr indent="0" marL="0">
              <a:buNone/>
            </a:pPr>
            <a:r>
              <a:rPr lang="en-US" sz="11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Luís de Sousa</a:t>
            </a:r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(1844), ato II, cenas XIV e XV, ortografia atualizada.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SABER, E QUANDO?,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pic>
        <p:nvPicPr>
          <p:cNvPr id="8" name="Image 0" descr="Lista de personagens da primeira edição, por baixo de PESSOAS: Manuel (Frei Luiz) de Sousa, Dona Magdalena de Vilhena, Dona Maria de Noronha, Frei Jorge-Coutinho, O Romeiro, Telmo-Paes, O Prior de Bemfica, O Irmão Converso, Miranda, O Arcebispo de Lisboa, Dorothea.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52423" y="1463040"/>
            <a:ext cx="2764434" cy="41605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22960" y="569671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00" i="1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Frei Luiz de Sousa</a:t>
            </a:r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primeira edição, 1844: a lista de personagens. Domínio público.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349240" y="1554480"/>
            <a:ext cx="565373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Cena XIV: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ROMEIRO, sem procurar, e apontando logo para o retrato de D. João: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aquele.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Cena XV: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ROMEIRO, apontando com o bordão para o retrato de D. João de Portugal: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Ninguém.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Garrett,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ato II</a:t>
            </a:r>
            <a:endParaRPr lang="en-US" sz="2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SABER, E QUANDO?,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lista de personagens de 1844, procura D. João de Portugal. Está lá?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Está</a:t>
            </a:r>
            <a:endParaRPr lang="en-US" sz="3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Não está</a:t>
            </a:r>
            <a:endParaRPr lang="en-US" sz="3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SABER, E QUANDO?,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«É aquele»: o cativo é D. João. Se está vivo, o segundo casamento de Madalena não vale: ela grita pela filha e foge.</a:t>
            </a:r>
            <a:endParaRPr lang="en-US" sz="2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SABER, E QUANDO?,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«Ninguém»: o próprio Romeiro é D. João. Jorge percebe e cai prostrado. A lista só lhe chamava «O Romeiro».</a:t>
            </a:r>
            <a:endParaRPr lang="en-US" sz="2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SABER, E QUANDO?,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REVELAÇÃO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momento em que a verdade escondida se descobre e muda tudo para as personagens.</a:t>
            </a:r>
            <a:endParaRPr lang="en-US" sz="3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SABER, E QUANDO?,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um presságio. O retrato de Manuel que ardeu só anunciava a desgraça; aqui, a verdade descobre-se.</a:t>
            </a:r>
            <a:endParaRPr lang="en-US" sz="2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QUEM FICA A SABER, E QUANDO?,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Pergunta sempre: quem fica a saber, e quando?</a:t>
            </a:r>
            <a:endParaRPr lang="en-US" sz="32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Num policial inventado, qual destas cenas é uma revelação?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962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véspera do roubo, o alarme do museu dispara sozinho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narrador mente à polícia sobre onde estava nessa noite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477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477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486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última cena, descobre-se que o narrador simpático roubou o quadro</a:t>
            </a:r>
            <a:endParaRPr lang="en-US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última cena, descobre-se que o narrador simpático roubou o quadro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 revelação, uma verdade escondida descobre-se e muda tudo: o narrador em quem se confiava é o ladrão, como o Romeiro é D. João de Portugal.</a:t>
            </a:r>
            <a:endParaRPr lang="en-US" sz="2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É «ESTE RETRATO AQUI»?, 1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CASO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MARIA: […] (Leva-o diante dos três retratos que estão no fundo; e apontando para o de D. João) de quem é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este retrato aqui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Telmo?ROMEIRO, sem procurar, e apontando logo para o retrato de D. João: </a:t>
            </a:r>
            <a:pPr indent="0" marL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aquele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.Garrett, </a:t>
            </a:r>
            <a:pPr indent="0" marL="0">
              <a:lnSpc>
                <a:spcPct val="125000"/>
              </a:lnSpc>
              <a:buNone/>
            </a:pPr>
            <a:r>
              <a:rPr lang="en-US" sz="2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Frei Luís de Sousa</a:t>
            </a:r>
            <a:pPr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, ato II, cenas I e XIV</a:t>
            </a:r>
            <a:endParaRPr lang="en-US" sz="2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É «ESTE RETRATO AQUI»?, 2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DECIDE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retrato é o mesmo. Porque diz Maria «este» e o Romeiro «aquele»?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 Mudou quem fala, e onde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 Para não repetir</a:t>
            </a:r>
            <a:endParaRPr lang="en-US" sz="2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É «ESTE RETRATO AQUI»?, 3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OLHA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Maria aponta para o retrato que tem à frente: «este», «aqui», perto de quem fala.</a:t>
            </a:r>
            <a:endParaRPr lang="en-US" sz="3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É «ESTE RETRATO AQUI»?, 4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TRAÇO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Romeiro diz «aquele»: o mesmo retrato, longe de quem fala. Muda quem fala e onde está, muda a palavra.</a:t>
            </a:r>
            <a:endParaRPr lang="en-US" sz="28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É «ESTE RETRATO AQUI»?, 5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NOME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72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DEÍTICO</a:t>
            </a:r>
            <a:endParaRPr lang="en-US" sz="7200" dirty="0"/>
          </a:p>
        </p:txBody>
      </p:sp>
      <p:sp>
        <p:nvSpPr>
          <p:cNvPr id="9" name="Shape 7"/>
          <p:cNvSpPr/>
          <p:nvPr/>
        </p:nvSpPr>
        <p:spPr>
          <a:xfrm>
            <a:off x="822960" y="3017520"/>
            <a:ext cx="2011680" cy="82296"/>
          </a:xfrm>
          <a:prstGeom prst="rect">
            <a:avLst/>
          </a:prstGeom>
          <a:solidFill>
            <a:srgbClr val="D9A520"/>
          </a:solidFill>
          <a:ln w="12700">
            <a:solidFill>
              <a:srgbClr val="D9A52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337560"/>
            <a:ext cx="9814255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Palavra que só se entende na situação: quem fala, a quem, onde e quando.</a:t>
            </a:r>
            <a:endParaRPr lang="en-US" sz="3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É «ESTE RETRATO AQUI»?, 6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NÃO É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um nome. «O retrato de D. João» entende-se em qualquer lado; «este retrato aqui», só com o gesto.</a:t>
            </a:r>
            <a:endParaRPr lang="en-US" sz="28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CONCEITO: QUAL É «ESTE RETRATO AQUI»?, 7 DE 7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1554480"/>
            <a:ext cx="10180015" cy="4480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Pessoais (tu, estás), espaciais (este, aqui, aquele), temporais (agora, amanhã): só apontam na situação.</a:t>
            </a:r>
            <a:endParaRPr lang="en-US" sz="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RESPONDE NO TELEMÓVEL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914400"/>
            <a:ext cx="9814255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2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Encontras este papel no chão do corredor. Porque não te serve de nada?</a:t>
            </a:r>
            <a:endParaRPr lang="en-US" sz="3200" dirty="0"/>
          </a:p>
        </p:txBody>
      </p:sp>
      <p:sp>
        <p:nvSpPr>
          <p:cNvPr id="8" name="Shape 6"/>
          <p:cNvSpPr/>
          <p:nvPr/>
        </p:nvSpPr>
        <p:spPr>
          <a:xfrm>
            <a:off x="822960" y="2240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05840" y="2697480"/>
            <a:ext cx="0" cy="15819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5146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417320" y="2523744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Falta a assinatura, mas «aqui» e «amanhã» entendem-se bem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822960" y="34960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960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417320" y="3505200"/>
            <a:ext cx="9174175" cy="600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Devia dizer «ali» e «depois», que são mais claros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822960" y="40965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40965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417320" y="4105656"/>
            <a:ext cx="9174175" cy="981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«Mim», «aqui» e «amanhã» dependem de quem escreveu, onde e quando</a:t>
            </a:r>
            <a:endParaRPr lang="en-US" sz="24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RESPOSTA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«Mim», «aqui» e «amanhã» dependem de quem escreveu, onde e quando</a:t>
            </a:r>
            <a:endParaRPr lang="en-US" sz="3400" dirty="0"/>
          </a:p>
        </p:txBody>
      </p:sp>
      <p:sp>
        <p:nvSpPr>
          <p:cNvPr id="8" name="Shape 6"/>
          <p:cNvSpPr/>
          <p:nvPr/>
        </p:nvSpPr>
        <p:spPr>
          <a:xfrm>
            <a:off x="822960" y="260604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880360"/>
            <a:ext cx="9814255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5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«Mim», «aqui» e «amanhã» são deíticos: pessoal, espacial e temporal. Longe da situação em que se escreveram, não apontam para nada, como «este retrato aqui» lido fora de cena.</a:t>
            </a:r>
            <a:endParaRPr lang="en-US" sz="2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1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Quando o Romeiro diz «Ninguém», quem fica a saber quem ele é?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DISCUTIR, 2 DE 2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Ao responder «Ninguém», o Romeiro está a dizer que D. João morreu?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 PAPEL, O QUE SE ENTREGA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05840"/>
            <a:ext cx="981425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28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Porque responde o Romeiro «Ninguém», e não diz o seu nome? Responde em cinco a sete linhas, com duas citações entre aspas: uma didascália e uma fala.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822960" y="26974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971800"/>
            <a:ext cx="981425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QUE CONTA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05840" y="3611880"/>
            <a:ext cx="0" cy="199186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34290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417320" y="3438144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Diz quem é o Romeiro, D. João de Portugal, e prova-o com a didascália do bordão apontado para o retrato.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" y="4092956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09295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417320" y="4102100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Explica «Ninguém» sem o ler à letra: D. João está vivo, mas já não tem lugar nem nome naquela casa.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822960" y="475691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47569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417320" y="4766056"/>
            <a:ext cx="9174175" cy="6639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Mostra o que o regresso de D. João faz à família: o casamento de Madalena com Manuel deixa de valer, e mãe e filha perdem a honra.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822960" y="54208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54208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417320" y="5430012"/>
            <a:ext cx="9174175" cy="4417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Cita corretamente, entre aspas, uma didascália e uma fala, e diz qual é qual.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LEVAR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4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«Ninguém»: o gesto diz quem ele é, a palavra diz o que perdeu.</a:t>
            </a:r>
            <a:endParaRPr lang="en-US" sz="4400" dirty="0"/>
          </a:p>
        </p:txBody>
      </p:sp>
      <p:sp>
        <p:nvSpPr>
          <p:cNvPr id="8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Módulo 4, aula 12: «Ninguém»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868680"/>
            <a:ext cx="67052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6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ir mais longe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103120"/>
            <a:ext cx="652241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24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Para ir mais longe (opcional, em casa): 3 cartões de pergunta e 1 de leitura. O que um anúncio cala (omissão), o gesto e a palavra em «Ninguém», quem é «estás» (deítico pessoal) e, no fim, o Romeiro a explicar «Ninguém» no ato III, depois da escrita. Fica também o cartão extra «O Romeiro diz “Ninguém”».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8515807" y="1078992"/>
            <a:ext cx="2962656" cy="296265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11" name="Image 0" descr="/tmp/aulas-diap-jdU3MK/qr-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35" y="118872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Módulo 4, aula 12: «Ninguém»</dc:title>
  <dc:subject>PptxGenJS Presentation</dc:subject>
  <dc:creator>EPI, Português</dc:creator>
  <cp:lastModifiedBy>EPI, Português</cp:lastModifiedBy>
  <cp:revision>1</cp:revision>
  <dcterms:created xsi:type="dcterms:W3CDTF">2026-10-24T00:57:45Z</dcterms:created>
  <dcterms:modified xsi:type="dcterms:W3CDTF">2026-10-24T00:57:45Z</dcterms:modified>
</cp:coreProperties>
</file>