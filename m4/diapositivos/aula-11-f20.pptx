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11: O que só se vê em palco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2.º ANO, MÓDULO 4, UNIDADE 2: O ROMEIRO DIZ «NINGUÉM»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68580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só se vê em palco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976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Preparar a apreciação crítica: dar nome às escolhas da encenação, separar o que se viu do que se interpreta e julgar uma escolha cénica com uma razão.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5" name="Image 0" descr="/tmp/aulas-diap-jdU3MK/qr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442655" y="4160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pedrohfernandes-klk.github.io/pt/m4/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licao-m4-f20/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11: O que só se vê em palco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HOJE, 90 MINUTOS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só se vê em palco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209397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Preparar a apreciação crítica: dar nome às escolhas da encenação, separar o que se viu do que se interpreta e julgar uma escolha cénica com uma razão.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341985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minutos: 13 cartões, uma decisão em turma, uma cena lida em voz alta e uma resposta escrita.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2960" y="4800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474573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papel, seis a oito linhas: o parágrafo central da apreciação crítica, uma cena comparada com Garrett (citação curta, com ato e cena) e julgada com uma razão.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11: O que só se vê em palco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</a:t>
            </a:r>
            <a:endParaRPr lang="en-US" sz="1100" dirty="0"/>
          </a:p>
        </p:txBody>
      </p:sp>
      <p:pic>
        <p:nvPicPr>
          <p:cNvPr id="7" name="Image 0" descr="Pintura escura. Ao centro, um velho de barba branca, de roupa comprida com uma cruz ao peito, ergue o braço e aponta para os retratos escuros da parede. À esquerda, uma figura de hábito, de costas; à direita, uma mulher sentada, de gola de renda, olha para ele com a mão no queix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565" y="914400"/>
            <a:ext cx="3753031" cy="4709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56967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Miguel Ângelo Lupi, </a:t>
            </a:r>
            <a:pPr indent="0" marL="0">
              <a:buNone/>
            </a:pPr>
            <a:r>
              <a:rPr lang="en-US" sz="10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João de Portugal</a:t>
            </a:r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1863. Domínio público.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0" y="914400"/>
            <a:ext cx="5516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só se vê em palco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822960" y="1901952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0" y="2148840"/>
            <a:ext cx="551657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Já viste </a:t>
            </a:r>
            <a:pPr indent="0" marL="0">
              <a:lnSpc>
                <a:spcPct val="120000"/>
              </a:lnSpc>
              <a:buNone/>
            </a:pPr>
            <a:r>
              <a:rPr lang="en-US" sz="21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TPC: Frei Luís de Sousaaa</a:t>
            </a:r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no LU.CA e começaste a ler Garrett. Em 1863, Miguel Ângelo Lupi pintou D. João de Portugal, uma personagem da peça: repara onde pôs a luz e quem deixou de costas.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5486400" y="4389120"/>
            <a:ext cx="55165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escolhas acrescenta o palco ao texto de Garrett, e como se julgam?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11: O que só se vê em palco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QUEM DECIDE DE QUE COR É O FOGO?, 1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Cena XI: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«(Arrebata duas tochas […] e vê-se atear logo 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labareda imensa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[…] Ouve-se alarido de fora.)»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Cena XII: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«MANUEL, 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tranquilamente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Ilumino a minha casa […].»Almeida Garrett, </a:t>
            </a:r>
            <a:pPr indent="0" marL="0">
              <a:lnSpc>
                <a:spcPct val="125000"/>
              </a:lnSpc>
              <a:buNone/>
            </a:pPr>
            <a:r>
              <a:rPr lang="en-US" sz="2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Frei Luís de Sousa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ato I, ortografia atualizada.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11: O que só se vê em palco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QUEM DECIDE DE QUE COR É O FOGO?, 2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Duas encenações diferentes desta cena podem cumprir as duas o texto?</a:t>
            </a:r>
            <a:endParaRPr lang="en-US" sz="3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Sim</a:t>
            </a:r>
            <a:endParaRPr lang="en-US" sz="3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Não</a:t>
            </a:r>
            <a:endParaRPr lang="en-US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11: O que só se vê em palco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QUEM DECIDE DE QUE COR É O FOGO?, 3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Garrett escreve o que acontece: «uma labareda imensa», gritos lá fora. Não diz como se faz isso em palco.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11: O que só se vê em palco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QUEM DECIDE DE QUE COR É O FOGO?, 4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TRAÇO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escreve o tom: «tranquilamente». A cor da luz, a roupa, como soa a calma: escolhe-o quem encena; os passos que Garrett marca, cumpre-os ou muda-os.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11: O que só se vê em palco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QUEM DECIDE DE QUE COR É O FOGO?, 5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ENCENAÇÃO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011680" cy="82296"/>
          </a:xfrm>
          <a:prstGeom prst="rect">
            <a:avLst/>
          </a:prstGeom>
          <a:solidFill>
            <a:srgbClr val="D9A520"/>
          </a:solidFill>
          <a:ln w="12700">
            <a:solidFill>
              <a:srgbClr val="D9A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escolhas de quem põe o texto em palco: espaço, roupa, luz, movimentos, voz, cortes.</a:t>
            </a:r>
            <a:endParaRPr lang="en-US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11: O que só se vê em palco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QUEM DECIDE DE QUE COR É O FOGO?, 6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o texto. A didascália é de Garrett; quem encena cumpre-a ou muda-a.Não é só o cenário. O cenário é o espaço; a encenação junta tudo.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11: O que só se vê em palco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QUEM DECIDE DE QUE COR É O FOGO?, 7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texto diz o quê; a encenação decide o como.</a:t>
            </a:r>
            <a:endParaRPr lang="en-US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11: O que só se vê em palco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Lê o quadro de Lupi como se fosse uma cena. A que escolha pertence cada pormenor?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14600"/>
            <a:ext cx="46328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retratos na parede do fundo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figura de costas, à esquerda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luz forte no velho, os cantos no escuro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roupa com uma cruz ao peito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04408" y="2514600"/>
            <a:ext cx="46328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Desenho de luz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Marcação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Cenografia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Figurino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11: O que só se vê em palco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roupa com uma cruz ao peito → Figurino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luz forte no velho, os cantos no escuro → Desenho de luz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retratos na parede do fundo → Cenografia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figura de costas, à esquerda → Marcação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794760"/>
            <a:ext cx="981425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roupa de quem aponta é figurino; a luz que cai sobre o velho e deixa os cantos no escuro é desenho de luz; os retratos da parede são cenografia; quem fica de costas, e onde, é marcação.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11: O que só se vê em palco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A9A7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«Ai, e o retrato de meu marido!… Salvem-me aquele retrato.»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Numa encenação imaginada, Madalena cala «Salvem-me aquele retrato» e estende os braços ao fogo. Que fez quem encenou?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47472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30098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Cortou uma fala e pôs um gesto no lugar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22960" y="38922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9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90144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Mudou uma didascália: o tom de Madalena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22960" y="449275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92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50189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Mudou o figurino de Madalena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11: O que só se vê em palco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Cortou uma fala e pôs um gesto no lugar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Cortar uma fala e pôr um gesto no lugar é uma escolha de quem encena: o texto diz «Salvem-me aquele retrato», a cena mostra só os braços. Na apreciação, descreve-se a mudança e julga-se pelo efeito.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11: O que só se vê em palco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Noutra encenação, quando Manuel fala, apaga-se tudo e fica só uma luz no seu rosto. Que efeito procura?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Poupa o trabalho de fazer o fogo em palco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115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15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2420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Põe o público a olhar para a calma de Manuel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3715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715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72465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 que, nesse momento, a casa já ardeu toda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11: O que só se vê em palco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Põe o público a olhar para a calma de Manuel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desenho de luz escolhe o que se vê: com tudo às escuras, o rosto de Manuel fica no centro, e a calma de «tranquilamente» passa à frente do fogo.</a:t>
            </a:r>
            <a:endParaRPr lang="en-US" sz="2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11: O que só se vê em palco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DECIDE: DECIDE EM SILÊNCIO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encenação que corta ou muda uma cena de Garrett trai a peça?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800600"/>
            <a:ext cx="98142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Garrett escreve até o tom: «MANUEL, tranquilamente». Uma encenação pode cortar falas, trocar as tochas por luz vermelha ou vestir as personagens com roupa de hoje. </a:t>
            </a:r>
            <a:pPr indent="0" marL="0">
              <a:buNone/>
            </a:pPr>
            <a:r>
              <a:rPr lang="en-US" sz="18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TPC</a:t>
            </a:r>
            <a:pPr indent="0" marL="0">
              <a:buNone/>
            </a:pPr>
            <a:r>
              <a:rPr lang="en-US" sz="18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de Raquel Castro, é uma criação nova a partir da peça.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11: O que só se vê em palco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DECIDE: OS LADOS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Cortar Garrett é trair Garrett?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razão de quem defende o texto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971800"/>
            <a:ext cx="32104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Mudar o tom muda o sentido. Sem «tranquilamente», «Ilumino a minha casa» deixa de ser um desafio irónico e passa a ser só raiva. E, se o cartaz diz Garrett, quem não leu a peça sai a julgar que foi ele quem a escreveu assim.Uma razão possível, com a didascália do ato I, cena XII.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90618" y="210312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razão de quem encena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90618" y="2971800"/>
            <a:ext cx="32104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Encenar é escolher: Garrett não diz de que cor é o fogo nem que roupa veste cada um, e cumprir uma didascália à letra também é uma escolha. Uma recriação como </a:t>
            </a:r>
            <a:pPr indent="0" marL="0">
              <a:lnSpc>
                <a:spcPct val="115000"/>
              </a:lnSpc>
              <a:buNone/>
            </a:pPr>
            <a:r>
              <a:rPr lang="en-US" sz="17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TPC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pode selecionar, transformar ou acrescentar: é outra obra, com outra assinatura.Uma razão possível de quem encena.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158277" y="210312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objeção de quem está na plateia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158277" y="2971800"/>
            <a:ext cx="32104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objeção às duas: a quem vê, importa menos a fidelidade do que a cena. Uma encenação fiel e sem vida pode trair Garrett mais do que outra que muda tudo e faz ouvir a ironia de Manuel.Uma objeção possível.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11: O que só se vê em palco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QUAL DESTAS FRASES SE PODE CONFIRMAR?, 1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«O espetáculo durou 90 minutos.»</a:t>
            </a:r>
            <a:pPr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«O encenador quis aproximar a peça de hoje.»</a:t>
            </a:r>
            <a:pPr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«A última cena foi a mais forte.»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Três frases de uma apreciação, num exemplo hipotético.</a:t>
            </a:r>
            <a:endParaRPr lang="en-US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11: O que só se vê em palco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QUAL DESTAS FRASES SE PODE CONFIRMAR?, 2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 destas três frases podes confirmar?</a:t>
            </a:r>
            <a:endParaRPr lang="en-US" sz="3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A primeira</a:t>
            </a:r>
            <a:endParaRPr lang="en-US" sz="3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A segunda</a:t>
            </a:r>
            <a:endParaRPr lang="en-US" sz="3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 A terceira</a:t>
            </a:r>
            <a:endParaRPr lang="en-US" sz="3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11: O que só se vê em palco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QUAL DESTAS FRASES SE PODE CONFIRMAR?, 3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primeira confirma-se no relógio ou no programa: quem lá esteve pode verificá-la.</a:t>
            </a:r>
            <a:endParaRPr lang="en-US" sz="3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11: O que só se vê em palco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QUAL DESTAS FRASES SE PODE CONFIRMAR?, 4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TRAÇO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segunda lê uma intenção a partir do que se viu: precisa de opções cénicas concretas. A terceira julga: precisa de uma razão.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11: O que só se vê em palco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QUAL DESTAS FRASES SE PODE CONFIRMAR?, 5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FACTO, INTERPRETAÇÃO, OPINIÃO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011680" cy="82296"/>
          </a:xfrm>
          <a:prstGeom prst="rect">
            <a:avLst/>
          </a:prstGeom>
          <a:solidFill>
            <a:srgbClr val="D9A520"/>
          </a:solidFill>
          <a:ln w="12700">
            <a:solidFill>
              <a:srgbClr val="D9A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facto confirma-se; a interpretação lê um sentido em sinais vistos; a opinião julga, com uma razão.</a:t>
            </a:r>
            <a:endParaRPr lang="en-US" sz="2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11: O que só se vê em palco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QUAL DESTAS FRASES SE PODE CONFIRMAR?, 6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certo contra errado. Bem defendida, uma opinião continua a ser um juízo.Não é adivinhar intenções. «Apagou as luzes» vê-se; «quis assustar-nos» só se lê nos sinais.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11: O que só se vê em palco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QUAL DESTAS FRASES SE PODE CONFIRMAR?, 7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Antes de escrever, pergunta a cada frase: como se prova?</a:t>
            </a:r>
            <a:endParaRPr lang="en-US" sz="3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11: O que só se vê em palco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Numa encenação imaginada: facto, interpretação ou opinião?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14600"/>
            <a:ext cx="46328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encenadora quis lembrar o fogo desde o início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Gostei muito do vestido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vermelho do vestido anuncia o incêndio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Madalena usava um vestido vermelho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04408" y="2514600"/>
            <a:ext cx="46328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Opinião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Interpretação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11: O que só se vê em palco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Madalena usava um vestido vermelho → Facto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vermelho do vestido anuncia o incêndio → Interpretação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Gostei muito do vestido → Opinião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encenadora quis lembrar o fogo desde o início → Interpretação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794760"/>
            <a:ext cx="981425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vestido vê-se: facto. Que o vermelho anuncie o fogo, e que a encenadora o quisesse, lê-se nos sinais: interpretações. «Gostei» julga: é uma opinião, que ainda precisa de uma razão.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11: O que só se vê em palco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Lembras-te de uma fala de </a:t>
            </a:r>
            <a:pPr indent="0" marL="0">
              <a:buNone/>
            </a:pPr>
            <a:r>
              <a:rPr lang="en-US" sz="32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TPC</a:t>
            </a:r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mas não das palavras exatas. Como a usas na apreciação?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1581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Atribuo-a a Garrett, porque </a:t>
            </a:r>
            <a:pPr indent="0" marL="0">
              <a:lnSpc>
                <a:spcPct val="105000"/>
              </a:lnSpc>
              <a:buNone/>
            </a:pPr>
            <a:r>
              <a:rPr lang="en-US" sz="24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TPC</a:t>
            </a:r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parte do texto dele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115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15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24200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Deixo a cena de fora: sem as palavras exatas, não serve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4096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105656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Descrevo-a sem aspas e assinalo a dúvida: «a confirmar»</a:t>
            </a:r>
            <a:endParaRPr 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11: O que só se vê em palco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Descrevo-a sem aspas e assinalo a dúvida: «a confirmar»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 aspas, só o que copias de Garrett. O que recordas do espetáculo descreve-se sem aspas e, na dúvida, assinala-se e confirma-se num registo, como o vídeo do LU.CA.</a:t>
            </a:r>
            <a:endParaRPr lang="en-US" sz="2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11: O que só se vê em palco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Escreves sobre o concerto da escola. Que frase é uma opinião com uma razão?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1962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solo foi o melhor momento: a sala calou-se mal começou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496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96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505200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guitarrista quis homenagear o avô quando escolheu aquele solo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4477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477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486656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solo foi incrível, mesmo muito bom, o melhor que já ouvi</a:t>
            </a:r>
            <a:endParaRPr lang="en-US" sz="2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11: O que só se vê em palco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solo foi o melhor momento: a sala calou-se mal começou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«O melhor momento» é um juízo, e «a sala calou-se» é a razão: um facto que qualquer um podia ver. Na apreciação de </a:t>
            </a:r>
            <a:pPr indent="0" marL="0">
              <a:lnSpc>
                <a:spcPct val="120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TPC</a:t>
            </a:r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é igual: juízo, razão e um exemplo da cena, sem contar tudo por ordem.</a:t>
            </a:r>
            <a:endParaRPr lang="en-US" sz="2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11: O que só se vê em palco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LER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Lê em voz alta, com papéis: Manuel, Madalena e quem lê as duas didascálias. Decide como as fazes: em voz alta, com som ou com um gesto.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11: O que só se vê em palco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TEXTO: O FOGO DE MANUEL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[1]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MANUEL, tranquilamente: Ilumino a minha casa para receber os muito poderosos e excelentes senhores governadores destes reinos. Suas excelências podem vir quando quiserem.</a:t>
            </a:r>
            <a:endParaRPr lang="en-US" sz="22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[2]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MADALENA: Meu Deus, meu Deus!… Ai, e o retrato de meu marido!… Salvem-me aquele retrato.</a:t>
            </a:r>
            <a:endParaRPr lang="en-US" sz="22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[3]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(Miranda e outro criado vão para tirar o painel; uma coluna de fogo salta nas tapeçarias e os afugenta.)</a:t>
            </a:r>
            <a:endParaRPr lang="en-US" sz="22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[4]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MANUEL: Parti, parti. As matérias inflamáveis que eu tinha disposto vão-se ateando com espantosa velocidade. Fugi.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Almeida Garrett, </a:t>
            </a:r>
            <a:pPr indent="0" marL="0">
              <a:buNone/>
            </a:pPr>
            <a:r>
              <a:rPr lang="en-US" sz="11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 Luís de Sousa</a:t>
            </a:r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(1844), ato I, cena XII, ortografia atualizada.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11: O que só se vê em palco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1 DE 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«O encenador quis aproximar a peça de hoje.» É um facto? O que é preciso para esta frase entrar numa apreciação?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11: O que só se vê em palco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2 DE 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«A última cena foi a mais forte.» Como se defende esta frase diante de um colega que a achou fraca?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11: O que só se vê em palco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PAPEL, O QUE SE ENTREGA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Escreve o parágrafo central da tua apreciação crítica: uma cena de TPC comparada com Garrett e julgada com uma razão. Seis a oito linhas. Se faltaste ao teatro, ou não encontras relação com Garrett, escreve sobre a cena do incêndio lida hoje em voz alta.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71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CONTA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3611880"/>
            <a:ext cx="0" cy="154736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4290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438144"/>
            <a:ext cx="9174175" cy="441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Descreve a cena em duas frases, só com o que vai comentar, sem contar a história.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387070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7070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879850"/>
            <a:ext cx="9174175" cy="441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 com Garrett: uma citação curta, entre aspas, com ato e cena.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43124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3124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321556"/>
            <a:ext cx="9174175" cy="663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 o que viu ou ouviu do que interpreta: não dá uma intenção como facto e só põe entre aspas o que copia de Garrett.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" y="49763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976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4985512"/>
            <a:ext cx="9174175" cy="663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 com um juízo e a sua razão (o efeito em cena) e usa com rigor uma palavra do teatro (cenografia, figurino, desenho de luz, marcação, encenação).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11: O que só se vê em palco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Garrett escreve o quê; quem encena decide o como. A escolha julga-se pelo efeito, com uma razão.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11: O que só se vê em palco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6705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ir mais longe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6522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ir mais longe (opcional, em casa): 4 cartões de pergunta e 2 de leitura. O vídeo do LU.CA, para rever o espetáculo e separar o que se recorda com segurança do que é preciso confirmar; a memória e o registo; as duas colunas do caderno; como se apresenta uma peça, na página da primeira edição (1844), e como se identifica o espetáculo na apreciação; a recordação ao lado de Garrett, com ato e cena; o objeto e a ação numa cena inventada. Para casa: a Tarefa 3 completa, com título e 180 a 240 palavras, passada a limpo a partir do papel e entregue no Teams na data que o docente indicar; antes, ler no Guia da tarefa o exemplo «O retrato que não arde».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1" name="Image 0" descr="/tmp/aulas-diap-jdU3MK/qr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4, aula 11: O que só se vê em palco</dc:title>
  <dc:subject>PptxGenJS Presentation</dc:subject>
  <dc:creator>EPI, Português</dc:creator>
  <cp:lastModifiedBy>EPI, Português</cp:lastModifiedBy>
  <cp:revision>1</cp:revision>
  <dcterms:created xsi:type="dcterms:W3CDTF">2026-10-24T00:57:45Z</dcterms:created>
  <dcterms:modified xsi:type="dcterms:W3CDTF">2026-10-24T00:57:45Z</dcterms:modified>
</cp:coreProperties>
</file>