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3-1.jpg" ContentType="image/jpg"/>
  <Override PartName="/ppt/media/image-4-1.jpg" ContentType="image/jpg"/>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M4-F04, Os grandes comem os pequenos</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a:t>
            </a:r>
            <a:endParaRPr lang="en-US" sz="1000" dirty="0"/>
          </a:p>
        </p:txBody>
      </p:sp>
      <p:sp>
        <p:nvSpPr>
          <p:cNvPr id="6" name="Text 3"/>
          <p:cNvSpPr/>
          <p:nvPr/>
        </p:nvSpPr>
        <p:spPr>
          <a:xfrm>
            <a:off x="822960" y="457200"/>
            <a:ext cx="981425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PORTUGUÊS, 2.º ANO, MÓDULO 4, LIÇÃO M4-F04, UNIDADE 1</a:t>
            </a:r>
            <a:endParaRPr lang="en-US" sz="1100" dirty="0"/>
          </a:p>
        </p:txBody>
      </p:sp>
      <p:sp>
        <p:nvSpPr>
          <p:cNvPr id="7" name="Text 4"/>
          <p:cNvSpPr/>
          <p:nvPr/>
        </p:nvSpPr>
        <p:spPr>
          <a:xfrm>
            <a:off x="777240" y="685800"/>
            <a:ext cx="5212080" cy="1920240"/>
          </a:xfrm>
          <a:prstGeom prst="rect">
            <a:avLst/>
          </a:prstGeom>
          <a:noFill/>
          <a:ln/>
        </p:spPr>
        <p:txBody>
          <a:bodyPr wrap="square" lIns="0" tIns="0" rIns="0" bIns="0" rtlCol="0" anchor="b"/>
          <a:lstStyle/>
          <a:p>
            <a:pPr indent="0" marL="0">
              <a:buNone/>
            </a:pPr>
            <a:r>
              <a:rPr lang="en-US" sz="15000" dirty="0">
                <a:solidFill>
                  <a:srgbClr val="F2F0EA"/>
                </a:solidFill>
                <a:latin typeface="Arial" pitchFamily="34" charset="0"/>
                <a:ea typeface="Arial" pitchFamily="34" charset="-122"/>
                <a:cs typeface="Arial" pitchFamily="34" charset="-120"/>
              </a:rPr>
              <a:t>3</a:t>
            </a:r>
            <a:endParaRPr lang="en-US" sz="15000" dirty="0"/>
          </a:p>
        </p:txBody>
      </p:sp>
      <p:sp>
        <p:nvSpPr>
          <p:cNvPr id="8" name="Text 5"/>
          <p:cNvSpPr/>
          <p:nvPr/>
        </p:nvSpPr>
        <p:spPr>
          <a:xfrm>
            <a:off x="822960" y="2697480"/>
            <a:ext cx="5212080" cy="12801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Os grandes comem os pequenos</a:t>
            </a:r>
            <a:endParaRPr lang="en-US" sz="3400" dirty="0"/>
          </a:p>
        </p:txBody>
      </p:sp>
      <p:sp>
        <p:nvSpPr>
          <p:cNvPr id="9" name="Shape 6"/>
          <p:cNvSpPr/>
          <p:nvPr/>
        </p:nvSpPr>
        <p:spPr>
          <a:xfrm>
            <a:off x="822960" y="4069080"/>
            <a:ext cx="640080" cy="64008"/>
          </a:xfrm>
          <a:prstGeom prst="rect">
            <a:avLst/>
          </a:prstGeom>
          <a:solidFill>
            <a:srgbClr val="E4555C"/>
          </a:solidFill>
          <a:ln w="12700">
            <a:solidFill>
              <a:srgbClr val="E4555C"/>
            </a:solidFill>
            <a:prstDash val="solid"/>
          </a:ln>
        </p:spPr>
      </p:sp>
      <p:sp>
        <p:nvSpPr>
          <p:cNvPr id="10" name="Shape 7"/>
          <p:cNvSpPr/>
          <p:nvPr/>
        </p:nvSpPr>
        <p:spPr>
          <a:xfrm>
            <a:off x="822960" y="6089904"/>
            <a:ext cx="182880" cy="182880"/>
          </a:xfrm>
          <a:prstGeom prst="ellipse">
            <a:avLst/>
          </a:prstGeom>
          <a:ln w="19050">
            <a:solidFill>
              <a:srgbClr val="F2F0EA"/>
            </a:solidFill>
            <a:prstDash val="solid"/>
          </a:ln>
        </p:spPr>
      </p:sp>
      <p:sp>
        <p:nvSpPr>
          <p:cNvPr id="11" name="Shape 8"/>
          <p:cNvSpPr/>
          <p:nvPr/>
        </p:nvSpPr>
        <p:spPr>
          <a:xfrm>
            <a:off x="1152144" y="6089904"/>
            <a:ext cx="182880" cy="182880"/>
          </a:xfrm>
          <a:prstGeom prst="rect">
            <a:avLst/>
          </a:prstGeom>
          <a:ln w="19050">
            <a:solidFill>
              <a:srgbClr val="F2F0EA"/>
            </a:solidFill>
            <a:prstDash val="solid"/>
          </a:ln>
        </p:spPr>
      </p:sp>
      <p:sp>
        <p:nvSpPr>
          <p:cNvPr id="12" name="Shape 9"/>
          <p:cNvSpPr/>
          <p:nvPr/>
        </p:nvSpPr>
        <p:spPr>
          <a:xfrm>
            <a:off x="1481328" y="6089904"/>
            <a:ext cx="182880" cy="182880"/>
          </a:xfrm>
          <a:prstGeom prst="triangle">
            <a:avLst/>
          </a:prstGeom>
          <a:ln w="19050">
            <a:solidFill>
              <a:srgbClr val="F2F0EA"/>
            </a:solidFill>
            <a:prstDash val="solid"/>
          </a:ln>
        </p:spPr>
      </p:sp>
      <p:sp>
        <p:nvSpPr>
          <p:cNvPr id="13" name="Text 10"/>
          <p:cNvSpPr/>
          <p:nvPr/>
        </p:nvSpPr>
        <p:spPr>
          <a:xfrm>
            <a:off x="1874520" y="6062472"/>
            <a:ext cx="2743200" cy="237744"/>
          </a:xfrm>
          <a:prstGeom prst="rect">
            <a:avLst/>
          </a:prstGeom>
          <a:noFill/>
          <a:ln/>
        </p:spPr>
        <p:txBody>
          <a:bodyPr wrap="square" lIns="0" tIns="0" rIns="0" bIns="0" rtlCol="0" anchor="ctr"/>
          <a:lstStyle/>
          <a:p>
            <a:pPr indent="0" marL="0">
              <a:buNone/>
            </a:pPr>
            <a:r>
              <a:rPr lang="en-US" sz="1100" dirty="0">
                <a:solidFill>
                  <a:srgbClr val="A9A79F"/>
                </a:solidFill>
                <a:latin typeface="Arial" pitchFamily="34" charset="0"/>
                <a:ea typeface="Arial" pitchFamily="34" charset="-122"/>
                <a:cs typeface="Arial" pitchFamily="34" charset="-120"/>
              </a:rPr>
              <a:t>lê, faz, leva</a:t>
            </a:r>
            <a:endParaRPr lang="en-US" sz="1100" dirty="0"/>
          </a:p>
        </p:txBody>
      </p:sp>
      <p:sp>
        <p:nvSpPr>
          <p:cNvPr id="14" name="Text 11"/>
          <p:cNvSpPr/>
          <p:nvPr/>
        </p:nvSpPr>
        <p:spPr>
          <a:xfrm>
            <a:off x="822960" y="4297680"/>
            <a:ext cx="5212080" cy="1600200"/>
          </a:xfrm>
          <a:prstGeom prst="rect">
            <a:avLst/>
          </a:prstGeom>
          <a:noFill/>
          <a:ln/>
        </p:spPr>
        <p:txBody>
          <a:bodyPr wrap="square" lIns="0" tIns="0" rIns="0" bIns="0" rtlCol="0" anchor="t">
            <a:normAutofit/>
          </a:bodyPr>
          <a:lstStyle/>
          <a:p>
            <a:pPr indent="0" marL="0">
              <a:lnSpc>
                <a:spcPct val="115000"/>
              </a:lnSpc>
              <a:buNone/>
            </a:pPr>
            <a:r>
              <a:rPr lang="en-US" sz="1800" i="1" dirty="0">
                <a:solidFill>
                  <a:srgbClr val="F2F0EA"/>
                </a:solidFill>
                <a:latin typeface="Georgia" pitchFamily="34" charset="0"/>
                <a:ea typeface="Georgia" pitchFamily="34" charset="-122"/>
                <a:cs typeface="Georgia" pitchFamily="34" charset="-120"/>
              </a:rPr>
              <a:t>Vieira manda os peixes olhar do mar para a cidade. O que eles veem é toda a gente à procura de como há de comer — e de quem há de comer.</a:t>
            </a:r>
            <a:endParaRPr lang="en-US" sz="1800" dirty="0"/>
          </a:p>
        </p:txBody>
      </p:sp>
      <p:pic>
        <p:nvPicPr>
          <p:cNvPr id="15" name="Image 0" descr="/home/user/epi-portugues-fontes/_interno/biblioteca-imagens/fontes/santo-antonio-peixes-garcia-fernandes.jpg">    </p:cNvPr>
          <p:cNvPicPr>
            <a:picLocks noChangeAspect="1"/>
          </p:cNvPicPr>
          <p:nvPr/>
        </p:nvPicPr>
        <p:blipFill>
          <a:blip r:embed="rId1"/>
          <a:srcRect l="0" r="0" t="0" b="0"/>
          <a:stretch/>
        </p:blipFill>
        <p:spPr>
          <a:xfrm>
            <a:off x="6613855" y="914400"/>
            <a:ext cx="4754880" cy="4572000"/>
          </a:xfrm>
          <a:prstGeom prst="rect">
            <a:avLst/>
          </a:prstGeom>
        </p:spPr>
      </p:pic>
      <p:sp>
        <p:nvSpPr>
          <p:cNvPr id="16" name="Shape 12"/>
          <p:cNvSpPr/>
          <p:nvPr/>
        </p:nvSpPr>
        <p:spPr>
          <a:xfrm>
            <a:off x="6613855" y="914400"/>
            <a:ext cx="4754880" cy="4572000"/>
          </a:xfrm>
          <a:prstGeom prst="rect">
            <a:avLst/>
          </a:prstGeom>
          <a:ln w="12700">
            <a:solidFill>
              <a:srgbClr val="F2F0EA"/>
            </a:solidFill>
            <a:prstDash val="solid"/>
          </a:ln>
        </p:spPr>
      </p:sp>
      <p:sp>
        <p:nvSpPr>
          <p:cNvPr id="17" name="Text 13"/>
          <p:cNvSpPr/>
          <p:nvPr/>
        </p:nvSpPr>
        <p:spPr>
          <a:xfrm>
            <a:off x="6613855" y="5577840"/>
            <a:ext cx="4754880" cy="457200"/>
          </a:xfrm>
          <a:prstGeom prst="rect">
            <a:avLst/>
          </a:prstGeom>
          <a:noFill/>
          <a:ln/>
        </p:spPr>
        <p:txBody>
          <a:bodyPr wrap="square" lIns="0" tIns="0" rIns="0" bIns="0" rtlCol="0" anchor="t">
            <a:normAutofit/>
          </a:bodyPr>
          <a:lstStyle/>
          <a:p>
            <a:pPr indent="0" marL="0">
              <a:buNone/>
            </a:pPr>
            <a:r>
              <a:rPr lang="en-US" sz="1100" dirty="0">
                <a:solidFill>
                  <a:srgbClr val="A9A79F"/>
                </a:solidFill>
                <a:latin typeface="Arial" pitchFamily="34" charset="0"/>
                <a:ea typeface="Arial" pitchFamily="34" charset="-122"/>
                <a:cs typeface="Arial" pitchFamily="34" charset="-120"/>
              </a:rPr>
              <a:t>Santo António a pregar aos peixes (Garcia Fernandes, c. 1535-1540, MNAA). Domínio público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M4-F04, Os grandes comem os pequenos</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a:t>
            </a:r>
            <a:endParaRPr lang="en-US" sz="1000" dirty="0"/>
          </a:p>
        </p:txBody>
      </p:sp>
      <p:sp>
        <p:nvSpPr>
          <p:cNvPr id="6" name="Shape 3"/>
          <p:cNvSpPr/>
          <p:nvPr/>
        </p:nvSpPr>
        <p:spPr>
          <a:xfrm>
            <a:off x="822960" y="502920"/>
            <a:ext cx="201168" cy="201168"/>
          </a:xfrm>
          <a:prstGeom prst="ellipse">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ABRIR, CINCO MINUTOS</a:t>
            </a:r>
            <a:endParaRPr lang="en-US" sz="1100" dirty="0"/>
          </a:p>
        </p:txBody>
      </p:sp>
      <p:sp>
        <p:nvSpPr>
          <p:cNvPr id="8"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4600" i="1" dirty="0">
                <a:solidFill>
                  <a:srgbClr val="F2F0EA"/>
                </a:solidFill>
                <a:latin typeface="Georgia" pitchFamily="34" charset="0"/>
                <a:ea typeface="Georgia" pitchFamily="34" charset="-122"/>
                <a:cs typeface="Georgia" pitchFamily="34" charset="-120"/>
              </a:rPr>
              <a:t>Vale a pena dizer a verdade a quem não a quer ouvir?</a:t>
            </a:r>
            <a:endParaRPr lang="en-US" sz="4600" dirty="0"/>
          </a:p>
        </p:txBody>
      </p:sp>
      <p:sp>
        <p:nvSpPr>
          <p:cNvPr id="9"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M4-F04, Os grandes comem os pequenos</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a:t>
            </a:r>
            <a:endParaRPr lang="en-US" sz="1000" dirty="0"/>
          </a:p>
        </p:txBody>
      </p:sp>
      <p:pic>
        <p:nvPicPr>
          <p:cNvPr id="6" name="Image 0" descr="/home/user/epi-portugues-fontes/_interno/biblioteca-imagens/fontes/santo-antonio-peixes-garcia-fernandes.jpg">    </p:cNvPr>
          <p:cNvPicPr>
            <a:picLocks noChangeAspect="1"/>
          </p:cNvPicPr>
          <p:nvPr/>
        </p:nvPicPr>
        <p:blipFill>
          <a:blip r:embed="rId1">
            <a:alphaModFix amt="8000"/>
          </a:blip>
          <a:srcRect l="0" r="0" t="0" b="0"/>
          <a:stretch/>
        </p:blipFill>
        <p:spPr>
          <a:xfrm>
            <a:off x="0" y="0"/>
            <a:ext cx="12191695" cy="6858000"/>
          </a:xfrm>
          <a:prstGeom prst="rect">
            <a:avLst/>
          </a:prstGeom>
        </p:spPr>
      </p:pic>
      <p:sp>
        <p:nvSpPr>
          <p:cNvPr id="7" name="Shape 3"/>
          <p:cNvSpPr/>
          <p:nvPr/>
        </p:nvSpPr>
        <p:spPr>
          <a:xfrm>
            <a:off x="822960" y="502920"/>
            <a:ext cx="201168" cy="201168"/>
          </a:xfrm>
          <a:prstGeom prst="ellipse">
            <a:avLst/>
          </a:prstGeom>
          <a:ln w="19050">
            <a:solidFill>
              <a:srgbClr val="F2F0EA"/>
            </a:solidFill>
            <a:prstDash val="solid"/>
          </a:ln>
        </p:spPr>
      </p:sp>
      <p:sp>
        <p:nvSpPr>
          <p:cNvPr id="8"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LER: CAP. IV: AS REPREENSÕES (1 DE 2)</a:t>
            </a:r>
            <a:endParaRPr lang="en-US" sz="1100" dirty="0"/>
          </a:p>
        </p:txBody>
      </p:sp>
      <p:sp>
        <p:nvSpPr>
          <p:cNvPr id="9" name="Text 5"/>
          <p:cNvSpPr/>
          <p:nvPr/>
        </p:nvSpPr>
        <p:spPr>
          <a:xfrm>
            <a:off x="822960" y="1005840"/>
            <a:ext cx="9814255" cy="4937760"/>
          </a:xfrm>
          <a:prstGeom prst="rect">
            <a:avLst/>
          </a:prstGeom>
          <a:noFill/>
          <a:ln/>
        </p:spPr>
        <p:txBody>
          <a:bodyPr wrap="square" lIns="0" tIns="0" rIns="0" bIns="0" rtlCol="0" anchor="t">
            <a:normAutofit/>
          </a:bodyPr>
          <a:lstStyle/>
          <a:p>
            <a:pPr indent="0" marL="0">
              <a:lnSpc>
                <a:spcPct val="125000"/>
              </a:lnSpc>
              <a:buNone/>
            </a:pPr>
            <a:r>
              <a:rPr lang="en-US" sz="2200" dirty="0">
                <a:solidFill>
                  <a:srgbClr val="F2F0EA"/>
                </a:solidFill>
                <a:latin typeface="Georgia" pitchFamily="34" charset="0"/>
                <a:ea typeface="Georgia" pitchFamily="34" charset="-122"/>
                <a:cs typeface="Georgia" pitchFamily="34" charset="-120"/>
              </a:rPr>
              <a:t>Antes, porém, que vos vás embora, assim como ouvistes os vossos louvores, ouvi também agora as vossas repreensões. Servir-vos-ão de confusão, já que não seja de emenda. A primeira coisa que me desedifica, peixes, de vós, é que vos comeis uns aos outros. Grande escândalo é este, mas a circunstância o faz ainda maior. Não só vos comeis uns aos outros, mas os grandes comem os pequenos. Se fosse ao contrário, era menos mal. Se os pequenos comessem os grandes, bastara um grande para muitos pequenos; mas como os grandes comem os pequenos, não bastam cem pequenos, nem mil, para um só grande. Olhai como estranha isto Santo Agostinho: […] «Os homens, com as suas más e perversas cobiças, vêm a ser como os peixes que se comem uns aos outros». Tão alheia coisa é, não só da razão, mas da mesma natureza, que, sendo todos criados no mesmo elemento, todos cidadãos da mesma pátria, e todos finalmente irmãos, vivais de vos comer! Santo Agostinho, que pregava aos homens, para encarecer a fealdade deste escândalo, mostrou-lho nos peixes; e eu, que prego aos peixes, para que vejais quão feio e abominável é, quero que o vejais nos homens.</a:t>
            </a:r>
            <a:endParaRPr lang="en-US" sz="2200" dirty="0"/>
          </a:p>
        </p:txBody>
      </p:sp>
      <p:sp>
        <p:nvSpPr>
          <p:cNvPr id="10" name="Text 6"/>
          <p:cNvSpPr/>
          <p:nvPr/>
        </p:nvSpPr>
        <p:spPr>
          <a:xfrm>
            <a:off x="822960" y="6035040"/>
            <a:ext cx="9814255" cy="292608"/>
          </a:xfrm>
          <a:prstGeom prst="rect">
            <a:avLst/>
          </a:prstGeom>
          <a:noFill/>
          <a:ln/>
        </p:spPr>
        <p:txBody>
          <a:bodyPr wrap="square" lIns="0" tIns="0" rIns="0" bIns="0" rtlCol="0" anchor="ctr">
            <a:normAutofit/>
          </a:bodyPr>
          <a:lstStyle/>
          <a:p>
            <a:pPr indent="0" marL="0">
              <a:buNone/>
            </a:pPr>
            <a:r>
              <a:rPr lang="en-US" sz="1200" dirty="0">
                <a:solidFill>
                  <a:srgbClr val="A9A79F"/>
                </a:solidFill>
                <a:latin typeface="Arial" pitchFamily="34" charset="0"/>
                <a:ea typeface="Arial" pitchFamily="34" charset="-122"/>
                <a:cs typeface="Arial" pitchFamily="34" charset="-120"/>
              </a:rPr>
              <a:t>Padre António Vieira, </a:t>
            </a:r>
            <a:pPr indent="0" marL="0">
              <a:buNone/>
            </a:pPr>
            <a:r>
              <a:rPr lang="en-US" sz="1200" i="1" dirty="0">
                <a:solidFill>
                  <a:srgbClr val="A9A79F"/>
                </a:solidFill>
                <a:latin typeface="Arial" pitchFamily="34" charset="0"/>
                <a:ea typeface="Arial" pitchFamily="34" charset="-122"/>
                <a:cs typeface="Arial" pitchFamily="34" charset="-120"/>
              </a:rPr>
              <a:t>Sermão de Santo António</a:t>
            </a:r>
            <a:pPr indent="0" marL="0">
              <a:buNone/>
            </a:pPr>
            <a:r>
              <a:rPr lang="en-US" sz="1200" dirty="0">
                <a:solidFill>
                  <a:srgbClr val="A9A79F"/>
                </a:solidFill>
                <a:latin typeface="Arial" pitchFamily="34" charset="0"/>
                <a:ea typeface="Arial" pitchFamily="34" charset="-122"/>
                <a:cs typeface="Arial" pitchFamily="34" charset="-120"/>
              </a:rPr>
              <a:t> (1654), ortografia atualizada, cap. IV.</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M4-F04, Os grandes comem os pequenos</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4</a:t>
            </a:r>
            <a:endParaRPr lang="en-US" sz="1000" dirty="0"/>
          </a:p>
        </p:txBody>
      </p:sp>
      <p:pic>
        <p:nvPicPr>
          <p:cNvPr id="6" name="Image 0" descr="/home/user/epi-portugues-fontes/_interno/biblioteca-imagens/fontes/santo-antonio-peixes-garcia-fernandes.jpg">    </p:cNvPr>
          <p:cNvPicPr>
            <a:picLocks noChangeAspect="1"/>
          </p:cNvPicPr>
          <p:nvPr/>
        </p:nvPicPr>
        <p:blipFill>
          <a:blip r:embed="rId1">
            <a:alphaModFix amt="8000"/>
          </a:blip>
          <a:srcRect l="0" r="0" t="0" b="0"/>
          <a:stretch/>
        </p:blipFill>
        <p:spPr>
          <a:xfrm>
            <a:off x="0" y="0"/>
            <a:ext cx="12191695" cy="6858000"/>
          </a:xfrm>
          <a:prstGeom prst="rect">
            <a:avLst/>
          </a:prstGeom>
        </p:spPr>
      </p:pic>
      <p:sp>
        <p:nvSpPr>
          <p:cNvPr id="7" name="Shape 3"/>
          <p:cNvSpPr/>
          <p:nvPr/>
        </p:nvSpPr>
        <p:spPr>
          <a:xfrm>
            <a:off x="822960" y="502920"/>
            <a:ext cx="201168" cy="201168"/>
          </a:xfrm>
          <a:prstGeom prst="ellipse">
            <a:avLst/>
          </a:prstGeom>
          <a:ln w="19050">
            <a:solidFill>
              <a:srgbClr val="F2F0EA"/>
            </a:solidFill>
            <a:prstDash val="solid"/>
          </a:ln>
        </p:spPr>
      </p:sp>
      <p:sp>
        <p:nvSpPr>
          <p:cNvPr id="8"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LER: CAP. IV: AS REPREENSÕES (2 DE 2)</a:t>
            </a:r>
            <a:endParaRPr lang="en-US" sz="1100" dirty="0"/>
          </a:p>
        </p:txBody>
      </p:sp>
      <p:sp>
        <p:nvSpPr>
          <p:cNvPr id="9" name="Text 5"/>
          <p:cNvSpPr/>
          <p:nvPr/>
        </p:nvSpPr>
        <p:spPr>
          <a:xfrm>
            <a:off x="822960" y="1005840"/>
            <a:ext cx="9814255" cy="4937760"/>
          </a:xfrm>
          <a:prstGeom prst="rect">
            <a:avLst/>
          </a:prstGeom>
          <a:noFill/>
          <a:ln/>
        </p:spPr>
        <p:txBody>
          <a:bodyPr wrap="square" lIns="0" tIns="0" rIns="0" bIns="0" rtlCol="0" anchor="t">
            <a:normAutofit/>
          </a:bodyPr>
          <a:lstStyle/>
          <a:p>
            <a:pPr indent="0" marL="0">
              <a:lnSpc>
                <a:spcPct val="125000"/>
              </a:lnSpc>
              <a:buNone/>
            </a:pPr>
            <a:r>
              <a:rPr lang="en-US" sz="2200" dirty="0">
                <a:solidFill>
                  <a:srgbClr val="F2F0EA"/>
                </a:solidFill>
                <a:latin typeface="Georgia" pitchFamily="34" charset="0"/>
                <a:ea typeface="Georgia" pitchFamily="34" charset="-122"/>
                <a:cs typeface="Georgia" pitchFamily="34" charset="-120"/>
              </a:rPr>
              <a:t>Olhai, peixes, lá do mar para a terra. Não, não: não é isso o que vos digo. Vós virais os olhos para os matos e para os campos? Para cá, para cá; para a cidade é que haveis de olhar. Pensais que só os Tapuias se comem uns aos outros? Muito maior matadouro é o de cá, muito mais se comem os brancos. Vedes vós todo aquele trabalhar, vedes todo aquele andar, vedes aquele concorrer às praças e cruzar as ruas; vedes aquele subir e descer as calçadas, vedes aquele entrar e sair sem quietação nem sossego? Pois tudo aquilo é andarem os homens à procura de como hão de comer, e como se hão de comer. Morreu algum deles, vereis logo tantos sobre o miserável a despedaçá-lo e a comê-lo. Comem-no os herdeiros, comem-no os testamenteiros, comem-no os legatários, comem-no os credores; comem-no os oficiais dos órfãos, e os dos defuntos e ausentes; come-o o médico, que o curou ou ajudou a morrer; come-o o sangrador que lhe tirou o sangue; come-o a mesma mulher, que de má vontade lhe dá para mortalha o lençol mais velho da casa; come-o o que lhe abre a cova, o que lhe tange os sinos, e os que, cantando, o levam a enterrar; enfim, ainda o pobre defunto não foi comido pela terra, e já o tem comido toda a terra.</a:t>
            </a:r>
            <a:endParaRPr lang="en-US" sz="2200" dirty="0"/>
          </a:p>
        </p:txBody>
      </p:sp>
      <p:sp>
        <p:nvSpPr>
          <p:cNvPr id="10" name="Text 6"/>
          <p:cNvSpPr/>
          <p:nvPr/>
        </p:nvSpPr>
        <p:spPr>
          <a:xfrm>
            <a:off x="822960" y="6035040"/>
            <a:ext cx="9814255" cy="292608"/>
          </a:xfrm>
          <a:prstGeom prst="rect">
            <a:avLst/>
          </a:prstGeom>
          <a:noFill/>
          <a:ln/>
        </p:spPr>
        <p:txBody>
          <a:bodyPr wrap="square" lIns="0" tIns="0" rIns="0" bIns="0" rtlCol="0" anchor="ctr">
            <a:normAutofit/>
          </a:bodyPr>
          <a:lstStyle/>
          <a:p>
            <a:pPr indent="0" marL="0">
              <a:buNone/>
            </a:pPr>
            <a:r>
              <a:rPr lang="en-US" sz="1200" dirty="0">
                <a:solidFill>
                  <a:srgbClr val="A9A79F"/>
                </a:solidFill>
                <a:latin typeface="Arial" pitchFamily="34" charset="0"/>
                <a:ea typeface="Arial" pitchFamily="34" charset="-122"/>
                <a:cs typeface="Arial" pitchFamily="34" charset="-120"/>
              </a:rPr>
              <a:t>Padre António Vieira, </a:t>
            </a:r>
            <a:pPr indent="0" marL="0">
              <a:buNone/>
            </a:pPr>
            <a:r>
              <a:rPr lang="en-US" sz="1200" i="1" dirty="0">
                <a:solidFill>
                  <a:srgbClr val="A9A79F"/>
                </a:solidFill>
                <a:latin typeface="Arial" pitchFamily="34" charset="0"/>
                <a:ea typeface="Arial" pitchFamily="34" charset="-122"/>
                <a:cs typeface="Arial" pitchFamily="34" charset="-120"/>
              </a:rPr>
              <a:t>Sermão de Santo António</a:t>
            </a:r>
            <a:pPr indent="0" marL="0">
              <a:buNone/>
            </a:pPr>
            <a:r>
              <a:rPr lang="en-US" sz="1200" dirty="0">
                <a:solidFill>
                  <a:srgbClr val="A9A79F"/>
                </a:solidFill>
                <a:latin typeface="Arial" pitchFamily="34" charset="0"/>
                <a:ea typeface="Arial" pitchFamily="34" charset="-122"/>
                <a:cs typeface="Arial" pitchFamily="34" charset="-120"/>
              </a:rPr>
              <a:t> (1654), ortografia atualizada, cap. IV.</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M4-F04, Os grandes comem os pequenos</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5</a:t>
            </a:r>
            <a:endParaRPr lang="en-US" sz="1000" dirty="0"/>
          </a:p>
        </p:txBody>
      </p:sp>
      <p:sp>
        <p:nvSpPr>
          <p:cNvPr id="6" name="Shape 3"/>
          <p:cNvSpPr/>
          <p:nvPr/>
        </p:nvSpPr>
        <p:spPr>
          <a:xfrm>
            <a:off x="822960" y="502920"/>
            <a:ext cx="201168" cy="201168"/>
          </a:xfrm>
          <a:prstGeom prst="ellipse">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O ESSENCIAL</a:t>
            </a:r>
            <a:endParaRPr lang="en-US" sz="1100" dirty="0"/>
          </a:p>
        </p:txBody>
      </p:sp>
      <p:sp>
        <p:nvSpPr>
          <p:cNvPr id="8"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Três coisas a fixar</a:t>
            </a:r>
            <a:endParaRPr lang="en-US" sz="3400" dirty="0"/>
          </a:p>
        </p:txBody>
      </p:sp>
      <p:sp>
        <p:nvSpPr>
          <p:cNvPr id="9"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10" name="Shape 7"/>
          <p:cNvSpPr/>
          <p:nvPr/>
        </p:nvSpPr>
        <p:spPr>
          <a:xfrm>
            <a:off x="1005840" y="2286000"/>
            <a:ext cx="0" cy="2447544"/>
          </a:xfrm>
          <a:prstGeom prst="line">
            <a:avLst/>
          </a:prstGeom>
          <a:noFill/>
          <a:ln w="12700">
            <a:solidFill>
              <a:srgbClr val="A9A79F"/>
            </a:solidFill>
            <a:prstDash val="solid"/>
          </a:ln>
        </p:spPr>
      </p:sp>
      <p:sp>
        <p:nvSpPr>
          <p:cNvPr id="11" name="Shape 8"/>
          <p:cNvSpPr/>
          <p:nvPr/>
        </p:nvSpPr>
        <p:spPr>
          <a:xfrm>
            <a:off x="822960" y="2103120"/>
            <a:ext cx="365760" cy="365760"/>
          </a:xfrm>
          <a:prstGeom prst="ellipse">
            <a:avLst/>
          </a:prstGeom>
          <a:solidFill>
            <a:srgbClr val="111111"/>
          </a:solidFill>
          <a:ln w="15875">
            <a:solidFill>
              <a:srgbClr val="F2F0EA"/>
            </a:solidFill>
            <a:prstDash val="solid"/>
          </a:ln>
        </p:spPr>
      </p:sp>
      <p:sp>
        <p:nvSpPr>
          <p:cNvPr id="12" name="Text 9"/>
          <p:cNvSpPr/>
          <p:nvPr/>
        </p:nvSpPr>
        <p:spPr>
          <a:xfrm>
            <a:off x="822960" y="210312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417320" y="2112264"/>
            <a:ext cx="9174175" cy="1223772"/>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No capítulo IV começam as repreensões: a primeira é que os peixes se comem uns aos outros, e os grandes comem os pequenos.</a:t>
            </a:r>
            <a:endParaRPr lang="en-US" sz="2200" dirty="0"/>
          </a:p>
        </p:txBody>
      </p:sp>
      <p:sp>
        <p:nvSpPr>
          <p:cNvPr id="14" name="Shape 11"/>
          <p:cNvSpPr/>
          <p:nvPr/>
        </p:nvSpPr>
        <p:spPr>
          <a:xfrm>
            <a:off x="822960" y="3326892"/>
            <a:ext cx="365760" cy="365760"/>
          </a:xfrm>
          <a:prstGeom prst="ellipse">
            <a:avLst/>
          </a:prstGeom>
          <a:solidFill>
            <a:srgbClr val="111111"/>
          </a:solidFill>
          <a:ln w="15875">
            <a:solidFill>
              <a:srgbClr val="F2F0EA"/>
            </a:solidFill>
            <a:prstDash val="solid"/>
          </a:ln>
        </p:spPr>
      </p:sp>
      <p:sp>
        <p:nvSpPr>
          <p:cNvPr id="15" name="Text 12"/>
          <p:cNvSpPr/>
          <p:nvPr/>
        </p:nvSpPr>
        <p:spPr>
          <a:xfrm>
            <a:off x="822960" y="332689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2</a:t>
            </a:r>
            <a:endParaRPr lang="en-US" sz="1300" dirty="0"/>
          </a:p>
        </p:txBody>
      </p:sp>
      <p:sp>
        <p:nvSpPr>
          <p:cNvPr id="16" name="Text 13"/>
          <p:cNvSpPr/>
          <p:nvPr/>
        </p:nvSpPr>
        <p:spPr>
          <a:xfrm>
            <a:off x="1417320" y="3336036"/>
            <a:ext cx="9174175" cy="1223772"/>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Vieira manda os peixes olhar do mar para a cidade: a alegoria vira-se para os homens do Maranhão, que vivem a procurar como hão de comer e quem hão de comer.</a:t>
            </a:r>
            <a:endParaRPr lang="en-US" sz="2200" dirty="0"/>
          </a:p>
        </p:txBody>
      </p:sp>
      <p:sp>
        <p:nvSpPr>
          <p:cNvPr id="17" name="Shape 14"/>
          <p:cNvSpPr/>
          <p:nvPr/>
        </p:nvSpPr>
        <p:spPr>
          <a:xfrm>
            <a:off x="822960" y="4550664"/>
            <a:ext cx="365760" cy="365760"/>
          </a:xfrm>
          <a:prstGeom prst="ellipse">
            <a:avLst/>
          </a:prstGeom>
          <a:solidFill>
            <a:srgbClr val="111111"/>
          </a:solidFill>
          <a:ln w="15875">
            <a:solidFill>
              <a:srgbClr val="F2F0EA"/>
            </a:solidFill>
            <a:prstDash val="solid"/>
          </a:ln>
        </p:spPr>
      </p:sp>
      <p:sp>
        <p:nvSpPr>
          <p:cNvPr id="18" name="Text 15"/>
          <p:cNvSpPr/>
          <p:nvPr/>
        </p:nvSpPr>
        <p:spPr>
          <a:xfrm>
            <a:off x="822960" y="4550664"/>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3</a:t>
            </a:r>
            <a:endParaRPr lang="en-US" sz="1300" dirty="0"/>
          </a:p>
        </p:txBody>
      </p:sp>
      <p:sp>
        <p:nvSpPr>
          <p:cNvPr id="19" name="Text 16"/>
          <p:cNvSpPr/>
          <p:nvPr/>
        </p:nvSpPr>
        <p:spPr>
          <a:xfrm>
            <a:off x="1417320" y="4559808"/>
            <a:ext cx="9174175" cy="882904"/>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A crítica faz-se com apóstrofe, anáfora, antítese e gradação: chamar, repetir, opor, subir degrau a degrau.</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M4-F04, Os grandes comem os pequenos</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6</a:t>
            </a:r>
            <a:endParaRPr lang="en-US" sz="1000" dirty="0"/>
          </a:p>
        </p:txBody>
      </p:sp>
      <p:sp>
        <p:nvSpPr>
          <p:cNvPr id="6" name="Shape 3"/>
          <p:cNvSpPr/>
          <p:nvPr/>
        </p:nvSpPr>
        <p:spPr>
          <a:xfrm>
            <a:off x="822960" y="502920"/>
            <a:ext cx="201168" cy="201168"/>
          </a:xfrm>
          <a:prstGeom prst="rect">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AGORA NO TELEMÓVEL, QUINZE MINUTOS</a:t>
            </a:r>
            <a:endParaRPr lang="en-US" sz="1100" dirty="0"/>
          </a:p>
        </p:txBody>
      </p:sp>
      <p:sp>
        <p:nvSpPr>
          <p:cNvPr id="8" name="Text 5"/>
          <p:cNvSpPr/>
          <p:nvPr/>
        </p:nvSpPr>
        <p:spPr>
          <a:xfrm>
            <a:off x="822960" y="868680"/>
            <a:ext cx="7071055" cy="1188720"/>
          </a:xfrm>
          <a:prstGeom prst="rect">
            <a:avLst/>
          </a:prstGeom>
          <a:noFill/>
          <a:ln/>
        </p:spPr>
        <p:txBody>
          <a:bodyPr wrap="square" lIns="0" tIns="0" rIns="0" bIns="0" rtlCol="0" anchor="b">
            <a:normAutofit/>
          </a:bodyPr>
          <a:lstStyle/>
          <a:p>
            <a:pPr indent="0" marL="0">
              <a:buNone/>
            </a:pPr>
            <a:r>
              <a:rPr lang="en-US" sz="3800" dirty="0">
                <a:solidFill>
                  <a:srgbClr val="F2F0EA"/>
                </a:solidFill>
                <a:latin typeface="Arial" pitchFamily="34" charset="0"/>
                <a:ea typeface="Arial" pitchFamily="34" charset="-122"/>
                <a:cs typeface="Arial" pitchFamily="34" charset="-120"/>
              </a:rPr>
              <a:t>Abre a lição no telemóvel</a:t>
            </a:r>
            <a:endParaRPr lang="en-US" sz="3800" dirty="0"/>
          </a:p>
        </p:txBody>
      </p:sp>
      <p:sp>
        <p:nvSpPr>
          <p:cNvPr id="9" name="Shape 6"/>
          <p:cNvSpPr/>
          <p:nvPr/>
        </p:nvSpPr>
        <p:spPr>
          <a:xfrm>
            <a:off x="822960" y="2121408"/>
            <a:ext cx="640080" cy="64008"/>
          </a:xfrm>
          <a:prstGeom prst="rect">
            <a:avLst/>
          </a:prstGeom>
          <a:solidFill>
            <a:srgbClr val="E4555C"/>
          </a:solidFill>
          <a:ln w="12700">
            <a:solidFill>
              <a:srgbClr val="E4555C"/>
            </a:solidFill>
            <a:prstDash val="solid"/>
          </a:ln>
        </p:spPr>
      </p:sp>
      <p:sp>
        <p:nvSpPr>
          <p:cNvPr id="10" name="Shape 7"/>
          <p:cNvSpPr/>
          <p:nvPr/>
        </p:nvSpPr>
        <p:spPr>
          <a:xfrm>
            <a:off x="1005840" y="2606040"/>
            <a:ext cx="0" cy="1424940"/>
          </a:xfrm>
          <a:prstGeom prst="line">
            <a:avLst/>
          </a:prstGeom>
          <a:noFill/>
          <a:ln w="12700">
            <a:solidFill>
              <a:srgbClr val="A9A79F"/>
            </a:solidFill>
            <a:prstDash val="solid"/>
          </a:ln>
        </p:spPr>
      </p:sp>
      <p:sp>
        <p:nvSpPr>
          <p:cNvPr id="11" name="Shape 8"/>
          <p:cNvSpPr/>
          <p:nvPr/>
        </p:nvSpPr>
        <p:spPr>
          <a:xfrm>
            <a:off x="822960" y="2423160"/>
            <a:ext cx="365760" cy="365760"/>
          </a:xfrm>
          <a:prstGeom prst="ellipse">
            <a:avLst/>
          </a:prstGeom>
          <a:solidFill>
            <a:srgbClr val="111111"/>
          </a:solidFill>
          <a:ln w="15875">
            <a:solidFill>
              <a:srgbClr val="F2F0EA"/>
            </a:solidFill>
            <a:prstDash val="solid"/>
          </a:ln>
        </p:spPr>
      </p:sp>
      <p:sp>
        <p:nvSpPr>
          <p:cNvPr id="12" name="Text 9"/>
          <p:cNvSpPr/>
          <p:nvPr/>
        </p:nvSpPr>
        <p:spPr>
          <a:xfrm>
            <a:off x="822960" y="242316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417320" y="2432304"/>
            <a:ext cx="6430975" cy="882904"/>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Lê e responde aos cartões, um de cada vez</a:t>
            </a:r>
            <a:endParaRPr lang="en-US" sz="2200" dirty="0"/>
          </a:p>
        </p:txBody>
      </p:sp>
      <p:sp>
        <p:nvSpPr>
          <p:cNvPr id="14" name="Shape 11"/>
          <p:cNvSpPr/>
          <p:nvPr/>
        </p:nvSpPr>
        <p:spPr>
          <a:xfrm>
            <a:off x="822960" y="3306064"/>
            <a:ext cx="365760" cy="365760"/>
          </a:xfrm>
          <a:prstGeom prst="ellipse">
            <a:avLst/>
          </a:prstGeom>
          <a:solidFill>
            <a:srgbClr val="111111"/>
          </a:solidFill>
          <a:ln w="15875">
            <a:solidFill>
              <a:srgbClr val="F2F0EA"/>
            </a:solidFill>
            <a:prstDash val="solid"/>
          </a:ln>
        </p:spPr>
      </p:sp>
      <p:sp>
        <p:nvSpPr>
          <p:cNvPr id="15" name="Text 12"/>
          <p:cNvSpPr/>
          <p:nvPr/>
        </p:nvSpPr>
        <p:spPr>
          <a:xfrm>
            <a:off x="822960" y="3306064"/>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2</a:t>
            </a:r>
            <a:endParaRPr lang="en-US" sz="1300" dirty="0"/>
          </a:p>
        </p:txBody>
      </p:sp>
      <p:sp>
        <p:nvSpPr>
          <p:cNvPr id="16" name="Text 13"/>
          <p:cNvSpPr/>
          <p:nvPr/>
        </p:nvSpPr>
        <p:spPr>
          <a:xfrm>
            <a:off x="1417320" y="3315208"/>
            <a:ext cx="6430975" cy="54203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No fim, o cartão extra</a:t>
            </a:r>
            <a:endParaRPr lang="en-US" sz="2200" dirty="0"/>
          </a:p>
        </p:txBody>
      </p:sp>
      <p:sp>
        <p:nvSpPr>
          <p:cNvPr id="17" name="Shape 14"/>
          <p:cNvSpPr/>
          <p:nvPr/>
        </p:nvSpPr>
        <p:spPr>
          <a:xfrm>
            <a:off x="822960" y="3848100"/>
            <a:ext cx="365760" cy="365760"/>
          </a:xfrm>
          <a:prstGeom prst="ellipse">
            <a:avLst/>
          </a:prstGeom>
          <a:solidFill>
            <a:srgbClr val="111111"/>
          </a:solidFill>
          <a:ln w="15875">
            <a:solidFill>
              <a:srgbClr val="F2F0EA"/>
            </a:solidFill>
            <a:prstDash val="solid"/>
          </a:ln>
        </p:spPr>
      </p:sp>
      <p:sp>
        <p:nvSpPr>
          <p:cNvPr id="18" name="Text 15"/>
          <p:cNvSpPr/>
          <p:nvPr/>
        </p:nvSpPr>
        <p:spPr>
          <a:xfrm>
            <a:off x="822960" y="38481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3</a:t>
            </a:r>
            <a:endParaRPr lang="en-US" sz="1300" dirty="0"/>
          </a:p>
        </p:txBody>
      </p:sp>
      <p:sp>
        <p:nvSpPr>
          <p:cNvPr id="19" name="Text 16"/>
          <p:cNvSpPr/>
          <p:nvPr/>
        </p:nvSpPr>
        <p:spPr>
          <a:xfrm>
            <a:off x="1417320" y="3857244"/>
            <a:ext cx="6430975" cy="54203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O percurso marca a lição como feita</a:t>
            </a:r>
            <a:endParaRPr lang="en-US" sz="2200" dirty="0"/>
          </a:p>
        </p:txBody>
      </p:sp>
      <p:sp>
        <p:nvSpPr>
          <p:cNvPr id="20" name="Shape 17"/>
          <p:cNvSpPr/>
          <p:nvPr/>
        </p:nvSpPr>
        <p:spPr>
          <a:xfrm>
            <a:off x="8332927" y="1033272"/>
            <a:ext cx="3145536" cy="3145536"/>
          </a:xfrm>
          <a:prstGeom prst="rect">
            <a:avLst/>
          </a:prstGeom>
          <a:solidFill>
            <a:srgbClr val="FFFFFF"/>
          </a:solidFill>
          <a:ln w="12700">
            <a:solidFill>
              <a:srgbClr val="F2F0EA"/>
            </a:solidFill>
            <a:prstDash val="solid"/>
          </a:ln>
        </p:spPr>
      </p:sp>
      <p:pic>
        <p:nvPicPr>
          <p:cNvPr id="21" name="Image 0" descr="/home/user/epi-portugues-fontes/_interno/biblioteca-imagens/qr/licao-m4-f04.png">    </p:cNvPr>
          <p:cNvPicPr>
            <a:picLocks noChangeAspect="1"/>
          </p:cNvPicPr>
          <p:nvPr/>
        </p:nvPicPr>
        <p:blipFill>
          <a:blip r:embed="rId1"/>
          <a:stretch>
            <a:fillRect/>
          </a:stretch>
        </p:blipFill>
        <p:spPr>
          <a:xfrm>
            <a:off x="8442655" y="1143000"/>
            <a:ext cx="2926080" cy="2926080"/>
          </a:xfrm>
          <a:prstGeom prst="rect">
            <a:avLst/>
          </a:prstGeom>
        </p:spPr>
      </p:pic>
      <p:sp>
        <p:nvSpPr>
          <p:cNvPr id="22" name="Text 18"/>
          <p:cNvSpPr/>
          <p:nvPr/>
        </p:nvSpPr>
        <p:spPr>
          <a:xfrm>
            <a:off x="8332927" y="4343400"/>
            <a:ext cx="3145536" cy="640080"/>
          </a:xfrm>
          <a:prstGeom prst="rect">
            <a:avLst/>
          </a:prstGeom>
          <a:noFill/>
          <a:ln/>
        </p:spPr>
        <p:txBody>
          <a:bodyPr wrap="square" lIns="0" tIns="0" rIns="0" bIns="0" rtlCol="0" anchor="t">
            <a:normAutofit/>
          </a:bodyPr>
          <a:lstStyle/>
          <a:p>
            <a:pPr algn="ctr" indent="0" marL="0">
              <a:buNone/>
            </a:pPr>
            <a:r>
              <a:rPr lang="en-US" sz="1200" dirty="0">
                <a:solidFill>
                  <a:srgbClr val="F2F0EA"/>
                </a:solidFill>
                <a:latin typeface="Arial" pitchFamily="34" charset="0"/>
                <a:ea typeface="Arial" pitchFamily="34" charset="-122"/>
                <a:cs typeface="Arial" pitchFamily="34" charset="-120"/>
              </a:rPr>
              <a:t>pedrohfernandes-klk.github.io/​pt/​m4/​licao-m4-f04/​</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M4-F04, Os grandes comem os pequenos</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7</a:t>
            </a:r>
            <a:endParaRPr lang="en-US" sz="1000" dirty="0"/>
          </a:p>
        </p:txBody>
      </p:sp>
      <p:sp>
        <p:nvSpPr>
          <p:cNvPr id="6" name="Shape 3"/>
          <p:cNvSpPr/>
          <p:nvPr/>
        </p:nvSpPr>
        <p:spPr>
          <a:xfrm>
            <a:off x="822960" y="502920"/>
            <a:ext cx="201168" cy="201168"/>
          </a:xfrm>
          <a:prstGeom prst="rect">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PAUSA: CARTÕES NO TELEMÓVEL</a:t>
            </a:r>
            <a:endParaRPr lang="en-US" sz="1100" dirty="0"/>
          </a:p>
        </p:txBody>
      </p:sp>
      <p:sp>
        <p:nvSpPr>
          <p:cNvPr id="8" name="Text 5"/>
          <p:cNvSpPr/>
          <p:nvPr/>
        </p:nvSpPr>
        <p:spPr>
          <a:xfrm>
            <a:off x="822960" y="868680"/>
            <a:ext cx="7071055" cy="1188720"/>
          </a:xfrm>
          <a:prstGeom prst="rect">
            <a:avLst/>
          </a:prstGeom>
          <a:noFill/>
          <a:ln/>
        </p:spPr>
        <p:txBody>
          <a:bodyPr wrap="square" lIns="0" tIns="0" rIns="0" bIns="0" rtlCol="0" anchor="b">
            <a:normAutofit/>
          </a:bodyPr>
          <a:lstStyle/>
          <a:p>
            <a:pPr indent="0" marL="0">
              <a:buNone/>
            </a:pPr>
            <a:r>
              <a:rPr lang="en-US" sz="3800" dirty="0">
                <a:solidFill>
                  <a:srgbClr val="F2F0EA"/>
                </a:solidFill>
                <a:latin typeface="Arial" pitchFamily="34" charset="0"/>
                <a:ea typeface="Arial" pitchFamily="34" charset="-122"/>
                <a:cs typeface="Arial" pitchFamily="34" charset="-120"/>
              </a:rPr>
              <a:t>Três minutos, com placar</a:t>
            </a:r>
            <a:endParaRPr lang="en-US" sz="3800" dirty="0"/>
          </a:p>
        </p:txBody>
      </p:sp>
      <p:sp>
        <p:nvSpPr>
          <p:cNvPr id="9" name="Shape 6"/>
          <p:cNvSpPr/>
          <p:nvPr/>
        </p:nvSpPr>
        <p:spPr>
          <a:xfrm>
            <a:off x="822960" y="2121408"/>
            <a:ext cx="640080" cy="64008"/>
          </a:xfrm>
          <a:prstGeom prst="rect">
            <a:avLst/>
          </a:prstGeom>
          <a:solidFill>
            <a:srgbClr val="E4555C"/>
          </a:solidFill>
          <a:ln w="12700">
            <a:solidFill>
              <a:srgbClr val="E4555C"/>
            </a:solidFill>
            <a:prstDash val="solid"/>
          </a:ln>
        </p:spPr>
      </p:sp>
      <p:sp>
        <p:nvSpPr>
          <p:cNvPr id="10" name="Shape 7"/>
          <p:cNvSpPr/>
          <p:nvPr/>
        </p:nvSpPr>
        <p:spPr>
          <a:xfrm>
            <a:off x="1005840" y="2606040"/>
            <a:ext cx="0" cy="1424940"/>
          </a:xfrm>
          <a:prstGeom prst="line">
            <a:avLst/>
          </a:prstGeom>
          <a:noFill/>
          <a:ln w="12700">
            <a:solidFill>
              <a:srgbClr val="A9A79F"/>
            </a:solidFill>
            <a:prstDash val="solid"/>
          </a:ln>
        </p:spPr>
      </p:sp>
      <p:sp>
        <p:nvSpPr>
          <p:cNvPr id="11" name="Shape 8"/>
          <p:cNvSpPr/>
          <p:nvPr/>
        </p:nvSpPr>
        <p:spPr>
          <a:xfrm>
            <a:off x="822960" y="2423160"/>
            <a:ext cx="365760" cy="365760"/>
          </a:xfrm>
          <a:prstGeom prst="ellipse">
            <a:avLst/>
          </a:prstGeom>
          <a:solidFill>
            <a:srgbClr val="111111"/>
          </a:solidFill>
          <a:ln w="15875">
            <a:solidFill>
              <a:srgbClr val="F2F0EA"/>
            </a:solidFill>
            <a:prstDash val="solid"/>
          </a:ln>
        </p:spPr>
      </p:sp>
      <p:sp>
        <p:nvSpPr>
          <p:cNvPr id="12" name="Text 9"/>
          <p:cNvSpPr/>
          <p:nvPr/>
        </p:nvSpPr>
        <p:spPr>
          <a:xfrm>
            <a:off x="822960" y="242316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417320" y="2432304"/>
            <a:ext cx="6430975" cy="882904"/>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Na lição, toca em «Sala» e escreve o código do ecrã e uma alcunha</a:t>
            </a:r>
            <a:endParaRPr lang="en-US" sz="2200" dirty="0"/>
          </a:p>
        </p:txBody>
      </p:sp>
      <p:sp>
        <p:nvSpPr>
          <p:cNvPr id="14" name="Shape 11"/>
          <p:cNvSpPr/>
          <p:nvPr/>
        </p:nvSpPr>
        <p:spPr>
          <a:xfrm>
            <a:off x="822960" y="3306064"/>
            <a:ext cx="365760" cy="365760"/>
          </a:xfrm>
          <a:prstGeom prst="ellipse">
            <a:avLst/>
          </a:prstGeom>
          <a:solidFill>
            <a:srgbClr val="111111"/>
          </a:solidFill>
          <a:ln w="15875">
            <a:solidFill>
              <a:srgbClr val="F2F0EA"/>
            </a:solidFill>
            <a:prstDash val="solid"/>
          </a:ln>
        </p:spPr>
      </p:sp>
      <p:sp>
        <p:nvSpPr>
          <p:cNvPr id="15" name="Text 12"/>
          <p:cNvSpPr/>
          <p:nvPr/>
        </p:nvSpPr>
        <p:spPr>
          <a:xfrm>
            <a:off x="822960" y="3306064"/>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2</a:t>
            </a:r>
            <a:endParaRPr lang="en-US" sz="1300" dirty="0"/>
          </a:p>
        </p:txBody>
      </p:sp>
      <p:sp>
        <p:nvSpPr>
          <p:cNvPr id="16" name="Text 13"/>
          <p:cNvSpPr/>
          <p:nvPr/>
        </p:nvSpPr>
        <p:spPr>
          <a:xfrm>
            <a:off x="1417320" y="3315208"/>
            <a:ext cx="6430975" cy="54203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Faz os cartões que o ecrã indica</a:t>
            </a:r>
            <a:endParaRPr lang="en-US" sz="2200" dirty="0"/>
          </a:p>
        </p:txBody>
      </p:sp>
      <p:sp>
        <p:nvSpPr>
          <p:cNvPr id="17" name="Shape 14"/>
          <p:cNvSpPr/>
          <p:nvPr/>
        </p:nvSpPr>
        <p:spPr>
          <a:xfrm>
            <a:off x="822960" y="3848100"/>
            <a:ext cx="365760" cy="365760"/>
          </a:xfrm>
          <a:prstGeom prst="ellipse">
            <a:avLst/>
          </a:prstGeom>
          <a:solidFill>
            <a:srgbClr val="111111"/>
          </a:solidFill>
          <a:ln w="15875">
            <a:solidFill>
              <a:srgbClr val="F2F0EA"/>
            </a:solidFill>
            <a:prstDash val="solid"/>
          </a:ln>
        </p:spPr>
      </p:sp>
      <p:sp>
        <p:nvSpPr>
          <p:cNvPr id="18" name="Text 15"/>
          <p:cNvSpPr/>
          <p:nvPr/>
        </p:nvSpPr>
        <p:spPr>
          <a:xfrm>
            <a:off x="822960" y="38481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3</a:t>
            </a:r>
            <a:endParaRPr lang="en-US" sz="1300" dirty="0"/>
          </a:p>
        </p:txBody>
      </p:sp>
      <p:sp>
        <p:nvSpPr>
          <p:cNvPr id="19" name="Text 16"/>
          <p:cNvSpPr/>
          <p:nvPr/>
        </p:nvSpPr>
        <p:spPr>
          <a:xfrm>
            <a:off x="1417320" y="3857244"/>
            <a:ext cx="6430975" cy="542036"/>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Quando acabares, olha para o placar</a:t>
            </a:r>
            <a:endParaRPr lang="en-US" sz="2200" dirty="0"/>
          </a:p>
        </p:txBody>
      </p:sp>
      <p:sp>
        <p:nvSpPr>
          <p:cNvPr id="20" name="Shape 17"/>
          <p:cNvSpPr/>
          <p:nvPr/>
        </p:nvSpPr>
        <p:spPr>
          <a:xfrm>
            <a:off x="8332927" y="1033272"/>
            <a:ext cx="3145536" cy="3145536"/>
          </a:xfrm>
          <a:prstGeom prst="rect">
            <a:avLst/>
          </a:prstGeom>
          <a:solidFill>
            <a:srgbClr val="FFFFFF"/>
          </a:solidFill>
          <a:ln w="12700">
            <a:solidFill>
              <a:srgbClr val="F2F0EA"/>
            </a:solidFill>
            <a:prstDash val="solid"/>
          </a:ln>
        </p:spPr>
      </p:sp>
      <p:pic>
        <p:nvPicPr>
          <p:cNvPr id="21" name="Image 0" descr="/home/user/epi-portugues-fontes/_interno/biblioteca-imagens/qr/licao-m4-f04.png">    </p:cNvPr>
          <p:cNvPicPr>
            <a:picLocks noChangeAspect="1"/>
          </p:cNvPicPr>
          <p:nvPr/>
        </p:nvPicPr>
        <p:blipFill>
          <a:blip r:embed="rId1"/>
          <a:stretch>
            <a:fillRect/>
          </a:stretch>
        </p:blipFill>
        <p:spPr>
          <a:xfrm>
            <a:off x="8442655" y="1143000"/>
            <a:ext cx="2926080" cy="2926080"/>
          </a:xfrm>
          <a:prstGeom prst="rect">
            <a:avLst/>
          </a:prstGeom>
        </p:spPr>
      </p:pic>
      <p:sp>
        <p:nvSpPr>
          <p:cNvPr id="22" name="Text 18"/>
          <p:cNvSpPr/>
          <p:nvPr/>
        </p:nvSpPr>
        <p:spPr>
          <a:xfrm>
            <a:off x="8332927" y="4343400"/>
            <a:ext cx="3145536" cy="640080"/>
          </a:xfrm>
          <a:prstGeom prst="rect">
            <a:avLst/>
          </a:prstGeom>
          <a:noFill/>
          <a:ln/>
        </p:spPr>
        <p:txBody>
          <a:bodyPr wrap="square" lIns="0" tIns="0" rIns="0" bIns="0" rtlCol="0" anchor="t">
            <a:normAutofit/>
          </a:bodyPr>
          <a:lstStyle/>
          <a:p>
            <a:pPr algn="ctr" indent="0" marL="0">
              <a:buNone/>
            </a:pPr>
            <a:r>
              <a:rPr lang="en-US" sz="1200" dirty="0">
                <a:solidFill>
                  <a:srgbClr val="F2F0EA"/>
                </a:solidFill>
                <a:latin typeface="Arial" pitchFamily="34" charset="0"/>
                <a:ea typeface="Arial" pitchFamily="34" charset="-122"/>
                <a:cs typeface="Arial" pitchFamily="34" charset="-120"/>
              </a:rPr>
              <a:t>pedrohfernandes-klk.github.io/​pt/​m4/​licao-m4-f04/​</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M4-F04, Os grandes comem os pequenos</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8</a:t>
            </a:r>
            <a:endParaRPr lang="en-US" sz="1000" dirty="0"/>
          </a:p>
        </p:txBody>
      </p:sp>
      <p:sp>
        <p:nvSpPr>
          <p:cNvPr id="6" name="Shape 3"/>
          <p:cNvSpPr/>
          <p:nvPr/>
        </p:nvSpPr>
        <p:spPr>
          <a:xfrm>
            <a:off x="822960" y="502920"/>
            <a:ext cx="201168" cy="201168"/>
          </a:xfrm>
          <a:prstGeom prst="triangle">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SÍNTESE</a:t>
            </a:r>
            <a:endParaRPr lang="en-US" sz="1100" dirty="0"/>
          </a:p>
        </p:txBody>
      </p:sp>
      <p:sp>
        <p:nvSpPr>
          <p:cNvPr id="8"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Para fixar</a:t>
            </a:r>
            <a:endParaRPr lang="en-US" sz="3400" dirty="0"/>
          </a:p>
        </p:txBody>
      </p:sp>
      <p:sp>
        <p:nvSpPr>
          <p:cNvPr id="9"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10" name="Shape 7"/>
          <p:cNvSpPr/>
          <p:nvPr/>
        </p:nvSpPr>
        <p:spPr>
          <a:xfrm>
            <a:off x="1005840" y="2286000"/>
            <a:ext cx="0" cy="2447544"/>
          </a:xfrm>
          <a:prstGeom prst="line">
            <a:avLst/>
          </a:prstGeom>
          <a:noFill/>
          <a:ln w="12700">
            <a:solidFill>
              <a:srgbClr val="A9A79F"/>
            </a:solidFill>
            <a:prstDash val="solid"/>
          </a:ln>
        </p:spPr>
      </p:sp>
      <p:sp>
        <p:nvSpPr>
          <p:cNvPr id="11" name="Shape 8"/>
          <p:cNvSpPr/>
          <p:nvPr/>
        </p:nvSpPr>
        <p:spPr>
          <a:xfrm>
            <a:off x="822960" y="2103120"/>
            <a:ext cx="365760" cy="365760"/>
          </a:xfrm>
          <a:prstGeom prst="ellipse">
            <a:avLst/>
          </a:prstGeom>
          <a:solidFill>
            <a:srgbClr val="111111"/>
          </a:solidFill>
          <a:ln w="15875">
            <a:solidFill>
              <a:srgbClr val="F2F0EA"/>
            </a:solidFill>
            <a:prstDash val="solid"/>
          </a:ln>
        </p:spPr>
      </p:sp>
      <p:sp>
        <p:nvSpPr>
          <p:cNvPr id="12" name="Text 9"/>
          <p:cNvSpPr/>
          <p:nvPr/>
        </p:nvSpPr>
        <p:spPr>
          <a:xfrm>
            <a:off x="822960" y="210312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417320" y="2112264"/>
            <a:ext cx="9174175" cy="1223772"/>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Dizer que os «pequenos» do sermão incluem os indígenas explorados é uma interpretação: o contexto apoia-a, mas o texto não o diz.</a:t>
            </a:r>
            <a:endParaRPr lang="en-US" sz="2200" dirty="0"/>
          </a:p>
        </p:txBody>
      </p:sp>
      <p:sp>
        <p:nvSpPr>
          <p:cNvPr id="14" name="Shape 11"/>
          <p:cNvSpPr/>
          <p:nvPr/>
        </p:nvSpPr>
        <p:spPr>
          <a:xfrm>
            <a:off x="822960" y="3326892"/>
            <a:ext cx="365760" cy="365760"/>
          </a:xfrm>
          <a:prstGeom prst="ellipse">
            <a:avLst/>
          </a:prstGeom>
          <a:solidFill>
            <a:srgbClr val="111111"/>
          </a:solidFill>
          <a:ln w="15875">
            <a:solidFill>
              <a:srgbClr val="F2F0EA"/>
            </a:solidFill>
            <a:prstDash val="solid"/>
          </a:ln>
        </p:spPr>
      </p:sp>
      <p:sp>
        <p:nvSpPr>
          <p:cNvPr id="15" name="Text 12"/>
          <p:cNvSpPr/>
          <p:nvPr/>
        </p:nvSpPr>
        <p:spPr>
          <a:xfrm>
            <a:off x="822960" y="332689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2</a:t>
            </a:r>
            <a:endParaRPr lang="en-US" sz="1300" dirty="0"/>
          </a:p>
        </p:txBody>
      </p:sp>
      <p:sp>
        <p:nvSpPr>
          <p:cNvPr id="16" name="Text 13"/>
          <p:cNvSpPr/>
          <p:nvPr/>
        </p:nvSpPr>
        <p:spPr>
          <a:xfrm>
            <a:off x="1417320" y="3336036"/>
            <a:ext cx="9174175" cy="1223772"/>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Vieira vira os peixes para a cidade e, com a anáfora «vedes…» e o trocadilho «comer / se comer», faz da vida do Maranhão um matadouro maior do que o dos Tapuias.</a:t>
            </a:r>
            <a:endParaRPr lang="en-US" sz="2200" dirty="0"/>
          </a:p>
        </p:txBody>
      </p:sp>
      <p:sp>
        <p:nvSpPr>
          <p:cNvPr id="17" name="Shape 14"/>
          <p:cNvSpPr/>
          <p:nvPr/>
        </p:nvSpPr>
        <p:spPr>
          <a:xfrm>
            <a:off x="822960" y="4550664"/>
            <a:ext cx="365760" cy="365760"/>
          </a:xfrm>
          <a:prstGeom prst="ellipse">
            <a:avLst/>
          </a:prstGeom>
          <a:solidFill>
            <a:srgbClr val="111111"/>
          </a:solidFill>
          <a:ln w="15875">
            <a:solidFill>
              <a:srgbClr val="F2F0EA"/>
            </a:solidFill>
            <a:prstDash val="solid"/>
          </a:ln>
        </p:spPr>
      </p:sp>
      <p:sp>
        <p:nvSpPr>
          <p:cNvPr id="18" name="Text 15"/>
          <p:cNvSpPr/>
          <p:nvPr/>
        </p:nvSpPr>
        <p:spPr>
          <a:xfrm>
            <a:off x="822960" y="4550664"/>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3</a:t>
            </a:r>
            <a:endParaRPr lang="en-US" sz="1300" dirty="0"/>
          </a:p>
        </p:txBody>
      </p:sp>
      <p:sp>
        <p:nvSpPr>
          <p:cNvPr id="19" name="Text 16"/>
          <p:cNvSpPr/>
          <p:nvPr/>
        </p:nvSpPr>
        <p:spPr>
          <a:xfrm>
            <a:off x="1417320" y="4559808"/>
            <a:ext cx="9174175" cy="1223772"/>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A lista dos que devoram o defunto, dos herdeiros a quem canta no enterro, fecha com uma antítese: ainda a terra o não comeu, e já o comeu toda a terra.</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3"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4"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Lição M4-F04, Os grandes comem os pequenos</a:t>
            </a:r>
            <a:endParaRPr lang="en-US" sz="1000" dirty="0"/>
          </a:p>
        </p:txBody>
      </p:sp>
      <p:sp>
        <p:nvSpPr>
          <p:cNvPr id="5"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9</a:t>
            </a:r>
            <a:endParaRPr lang="en-US" sz="1000" dirty="0"/>
          </a:p>
        </p:txBody>
      </p:sp>
      <p:sp>
        <p:nvSpPr>
          <p:cNvPr id="6" name="Shape 3"/>
          <p:cNvSpPr/>
          <p:nvPr/>
        </p:nvSpPr>
        <p:spPr>
          <a:xfrm>
            <a:off x="822960" y="502920"/>
            <a:ext cx="201168" cy="201168"/>
          </a:xfrm>
          <a:prstGeom prst="triangle">
            <a:avLst/>
          </a:prstGeom>
          <a:ln w="19050">
            <a:solidFill>
              <a:srgbClr val="F2F0EA"/>
            </a:solidFill>
            <a:prstDash val="solid"/>
          </a:ln>
        </p:spPr>
      </p:sp>
      <p:sp>
        <p:nvSpPr>
          <p:cNvPr id="7"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ATÉ À PRÓXIMA AULA</a:t>
            </a:r>
            <a:endParaRPr lang="en-US" sz="1100" dirty="0"/>
          </a:p>
        </p:txBody>
      </p:sp>
      <p:sp>
        <p:nvSpPr>
          <p:cNvPr id="8" name="Text 5"/>
          <p:cNvSpPr/>
          <p:nvPr/>
        </p:nvSpPr>
        <p:spPr>
          <a:xfrm>
            <a:off x="822960" y="868680"/>
            <a:ext cx="7071055" cy="1188720"/>
          </a:xfrm>
          <a:prstGeom prst="rect">
            <a:avLst/>
          </a:prstGeom>
          <a:noFill/>
          <a:ln/>
        </p:spPr>
        <p:txBody>
          <a:bodyPr wrap="square" lIns="0" tIns="0" rIns="0" bIns="0" rtlCol="0" anchor="b">
            <a:normAutofit/>
          </a:bodyPr>
          <a:lstStyle/>
          <a:p>
            <a:pPr indent="0" marL="0">
              <a:buNone/>
            </a:pPr>
            <a:r>
              <a:rPr lang="en-US" sz="3000" dirty="0">
                <a:solidFill>
                  <a:srgbClr val="F2F0EA"/>
                </a:solidFill>
                <a:latin typeface="Arial" pitchFamily="34" charset="0"/>
                <a:ea typeface="Arial" pitchFamily="34" charset="-122"/>
                <a:cs typeface="Arial" pitchFamily="34" charset="-120"/>
              </a:rPr>
              <a:t>No telemóvel ou no PC da escola</a:t>
            </a:r>
            <a:endParaRPr lang="en-US" sz="3000" dirty="0"/>
          </a:p>
        </p:txBody>
      </p:sp>
      <p:sp>
        <p:nvSpPr>
          <p:cNvPr id="9" name="Shape 6"/>
          <p:cNvSpPr/>
          <p:nvPr/>
        </p:nvSpPr>
        <p:spPr>
          <a:xfrm>
            <a:off x="822960" y="2121408"/>
            <a:ext cx="640080" cy="64008"/>
          </a:xfrm>
          <a:prstGeom prst="rect">
            <a:avLst/>
          </a:prstGeom>
          <a:solidFill>
            <a:srgbClr val="E4555C"/>
          </a:solidFill>
          <a:ln w="12700">
            <a:solidFill>
              <a:srgbClr val="E4555C"/>
            </a:solidFill>
            <a:prstDash val="solid"/>
          </a:ln>
        </p:spPr>
      </p:sp>
      <p:sp>
        <p:nvSpPr>
          <p:cNvPr id="10" name="Shape 7"/>
          <p:cNvSpPr/>
          <p:nvPr/>
        </p:nvSpPr>
        <p:spPr>
          <a:xfrm>
            <a:off x="1005840" y="2606040"/>
            <a:ext cx="0" cy="1765808"/>
          </a:xfrm>
          <a:prstGeom prst="line">
            <a:avLst/>
          </a:prstGeom>
          <a:noFill/>
          <a:ln w="12700">
            <a:solidFill>
              <a:srgbClr val="A9A79F"/>
            </a:solidFill>
            <a:prstDash val="solid"/>
          </a:ln>
        </p:spPr>
      </p:sp>
      <p:sp>
        <p:nvSpPr>
          <p:cNvPr id="11" name="Shape 8"/>
          <p:cNvSpPr/>
          <p:nvPr/>
        </p:nvSpPr>
        <p:spPr>
          <a:xfrm>
            <a:off x="822960" y="2423160"/>
            <a:ext cx="365760" cy="365760"/>
          </a:xfrm>
          <a:prstGeom prst="ellipse">
            <a:avLst/>
          </a:prstGeom>
          <a:solidFill>
            <a:srgbClr val="111111"/>
          </a:solidFill>
          <a:ln w="15875">
            <a:solidFill>
              <a:srgbClr val="F2F0EA"/>
            </a:solidFill>
            <a:prstDash val="solid"/>
          </a:ln>
        </p:spPr>
      </p:sp>
      <p:sp>
        <p:nvSpPr>
          <p:cNvPr id="12" name="Text 9"/>
          <p:cNvSpPr/>
          <p:nvPr/>
        </p:nvSpPr>
        <p:spPr>
          <a:xfrm>
            <a:off x="822960" y="242316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417320" y="2432304"/>
            <a:ext cx="6430975" cy="882904"/>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Termina o baralho da lição M4-F04 e o cartão extra</a:t>
            </a:r>
            <a:endParaRPr lang="en-US" sz="2200" dirty="0"/>
          </a:p>
        </p:txBody>
      </p:sp>
      <p:sp>
        <p:nvSpPr>
          <p:cNvPr id="14" name="Shape 11"/>
          <p:cNvSpPr/>
          <p:nvPr/>
        </p:nvSpPr>
        <p:spPr>
          <a:xfrm>
            <a:off x="822960" y="3306064"/>
            <a:ext cx="365760" cy="365760"/>
          </a:xfrm>
          <a:prstGeom prst="ellipse">
            <a:avLst/>
          </a:prstGeom>
          <a:solidFill>
            <a:srgbClr val="111111"/>
          </a:solidFill>
          <a:ln w="15875">
            <a:solidFill>
              <a:srgbClr val="F2F0EA"/>
            </a:solidFill>
            <a:prstDash val="solid"/>
          </a:ln>
        </p:spPr>
      </p:sp>
      <p:sp>
        <p:nvSpPr>
          <p:cNvPr id="15" name="Text 12"/>
          <p:cNvSpPr/>
          <p:nvPr/>
        </p:nvSpPr>
        <p:spPr>
          <a:xfrm>
            <a:off x="822960" y="3306064"/>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2</a:t>
            </a:r>
            <a:endParaRPr lang="en-US" sz="1300" dirty="0"/>
          </a:p>
        </p:txBody>
      </p:sp>
      <p:sp>
        <p:nvSpPr>
          <p:cNvPr id="16" name="Text 13"/>
          <p:cNvSpPr/>
          <p:nvPr/>
        </p:nvSpPr>
        <p:spPr>
          <a:xfrm>
            <a:off x="1417320" y="3315208"/>
            <a:ext cx="6430975" cy="882904"/>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Espreita a lição seguinte, «Dizer é fazer»</a:t>
            </a:r>
            <a:endParaRPr lang="en-US" sz="2200" dirty="0"/>
          </a:p>
        </p:txBody>
      </p:sp>
      <p:sp>
        <p:nvSpPr>
          <p:cNvPr id="17" name="Shape 14"/>
          <p:cNvSpPr/>
          <p:nvPr/>
        </p:nvSpPr>
        <p:spPr>
          <a:xfrm>
            <a:off x="822960" y="4188968"/>
            <a:ext cx="365760" cy="365760"/>
          </a:xfrm>
          <a:prstGeom prst="ellipse">
            <a:avLst/>
          </a:prstGeom>
          <a:solidFill>
            <a:srgbClr val="111111"/>
          </a:solidFill>
          <a:ln w="15875">
            <a:solidFill>
              <a:srgbClr val="F2F0EA"/>
            </a:solidFill>
            <a:prstDash val="solid"/>
          </a:ln>
        </p:spPr>
      </p:sp>
      <p:sp>
        <p:nvSpPr>
          <p:cNvPr id="18" name="Text 15"/>
          <p:cNvSpPr/>
          <p:nvPr/>
        </p:nvSpPr>
        <p:spPr>
          <a:xfrm>
            <a:off x="822960" y="4188968"/>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3</a:t>
            </a:r>
            <a:endParaRPr lang="en-US" sz="1300" dirty="0"/>
          </a:p>
        </p:txBody>
      </p:sp>
      <p:sp>
        <p:nvSpPr>
          <p:cNvPr id="19" name="Text 16"/>
          <p:cNvSpPr/>
          <p:nvPr/>
        </p:nvSpPr>
        <p:spPr>
          <a:xfrm>
            <a:off x="1417320" y="4198112"/>
            <a:ext cx="6430975" cy="882904"/>
          </a:xfrm>
          <a:prstGeom prst="rect">
            <a:avLst/>
          </a:prstGeom>
          <a:noFill/>
          <a:ln/>
        </p:spPr>
        <p:txBody>
          <a:bodyPr wrap="square" lIns="0" tIns="0" rIns="0" bIns="0" rtlCol="0" anchor="t">
            <a:normAutofit/>
          </a:bodyPr>
          <a:lstStyle/>
          <a:p>
            <a:pPr indent="0" marL="0">
              <a:lnSpc>
                <a:spcPct val="105000"/>
              </a:lnSpc>
              <a:buNone/>
            </a:pPr>
            <a:r>
              <a:rPr lang="en-US" sz="2200" dirty="0">
                <a:solidFill>
                  <a:srgbClr val="F2F0EA"/>
                </a:solidFill>
                <a:latin typeface="Arial" pitchFamily="34" charset="0"/>
                <a:ea typeface="Arial" pitchFamily="34" charset="-122"/>
                <a:cs typeface="Arial" pitchFamily="34" charset="-120"/>
              </a:rPr>
              <a:t>Antes de sair: foto do caderno para o portefólio</a:t>
            </a:r>
            <a:endParaRPr lang="en-US" sz="2200" dirty="0"/>
          </a:p>
        </p:txBody>
      </p:sp>
      <p:sp>
        <p:nvSpPr>
          <p:cNvPr id="20" name="Shape 17"/>
          <p:cNvSpPr/>
          <p:nvPr/>
        </p:nvSpPr>
        <p:spPr>
          <a:xfrm>
            <a:off x="8332927" y="1033272"/>
            <a:ext cx="3145536" cy="3145536"/>
          </a:xfrm>
          <a:prstGeom prst="rect">
            <a:avLst/>
          </a:prstGeom>
          <a:solidFill>
            <a:srgbClr val="FFFFFF"/>
          </a:solidFill>
          <a:ln w="12700">
            <a:solidFill>
              <a:srgbClr val="F2F0EA"/>
            </a:solidFill>
            <a:prstDash val="solid"/>
          </a:ln>
        </p:spPr>
      </p:sp>
      <p:pic>
        <p:nvPicPr>
          <p:cNvPr id="21" name="Image 0" descr="/home/user/epi-portugues-fontes/_interno/biblioteca-imagens/qr/passo-m4-f04.png">    </p:cNvPr>
          <p:cNvPicPr>
            <a:picLocks noChangeAspect="1"/>
          </p:cNvPicPr>
          <p:nvPr/>
        </p:nvPicPr>
        <p:blipFill>
          <a:blip r:embed="rId1"/>
          <a:stretch>
            <a:fillRect/>
          </a:stretch>
        </p:blipFill>
        <p:spPr>
          <a:xfrm>
            <a:off x="8442655" y="1143000"/>
            <a:ext cx="2926080" cy="2926080"/>
          </a:xfrm>
          <a:prstGeom prst="rect">
            <a:avLst/>
          </a:prstGeom>
        </p:spPr>
      </p:pic>
      <p:sp>
        <p:nvSpPr>
          <p:cNvPr id="22" name="Text 18"/>
          <p:cNvSpPr/>
          <p:nvPr/>
        </p:nvSpPr>
        <p:spPr>
          <a:xfrm>
            <a:off x="8332927" y="4343400"/>
            <a:ext cx="3145536" cy="640080"/>
          </a:xfrm>
          <a:prstGeom prst="rect">
            <a:avLst/>
          </a:prstGeom>
          <a:noFill/>
          <a:ln/>
        </p:spPr>
        <p:txBody>
          <a:bodyPr wrap="square" lIns="0" tIns="0" rIns="0" bIns="0" rtlCol="0" anchor="t">
            <a:normAutofit/>
          </a:bodyPr>
          <a:lstStyle/>
          <a:p>
            <a:pPr algn="ctr" indent="0" marL="0">
              <a:buNone/>
            </a:pPr>
            <a:r>
              <a:rPr lang="en-US" sz="1200" dirty="0">
                <a:solidFill>
                  <a:srgbClr val="F2F0EA"/>
                </a:solidFill>
                <a:latin typeface="Arial" pitchFamily="34" charset="0"/>
                <a:ea typeface="Arial" pitchFamily="34" charset="-122"/>
                <a:cs typeface="Arial" pitchFamily="34" charset="-120"/>
              </a:rPr>
              <a:t>pedrohfernandes-klk.github.io/​pt/​m4/​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M4 · Sessão 03 · M4-F04 · Os grandes comem os pequenos</dc:title>
  <dc:subject>PptxGenJS Presentation</dc:subject>
  <dc:creator>EPI · Português</dc:creator>
  <cp:lastModifiedBy>EPI · Português</cp:lastModifiedBy>
  <cp:revision>1</cp:revision>
  <dcterms:created xsi:type="dcterms:W3CDTF">2026-10-11T06:20:57Z</dcterms:created>
  <dcterms:modified xsi:type="dcterms:W3CDTF">2026-10-11T06:20:57Z</dcterms:modified>
  <dc:description/>
</cp:coreProperties>
</file>