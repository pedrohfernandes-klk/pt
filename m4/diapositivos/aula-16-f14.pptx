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16: Trinta dias no abrigo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4, UNIDADE 3: TRINTA DIAS NO ABRIGO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68580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Trinta dias no abrigo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97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Desmontar um discurso de 1915, lido em voz alta pelo docente, ver o que lhe falta (um exemplo, uma objeção respondida) e planear com as peças certas os teus dois minutos no abrigo.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5" name="Image 0" descr="/tmp/aulas-diap-jdU3MK/qr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442655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pedrohfernandes-klk.github.io/pt/m4/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licao-m4-f14/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16: Trinta dias no abrigo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HOJE, 90 MINUTOS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Trinta dias no abrigo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209397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Desmontar um discurso de 1915, lido em voz alta pelo docente, ver o que lhe falta (um exemplo, uma objeção respondida) e planear com as peças certas os teus dois minutos no abrigo.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341985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minutos: 12 cartões, um discurso lido em voz alta pelo docente, uma decisão em turma e o plano dos teus dois minutos, em papel.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474573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seis linhas, uma por peça: a tua regra numa frase, na afirmativa; dois argumentos, cada um com um exemplo do abrigo; a objeção mais forte; a tua resposta; o apelo final. Sem citação.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16: Trinta dias no abrigo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</a:t>
            </a:r>
            <a:endParaRPr lang="en-US" sz="1100" dirty="0"/>
          </a:p>
        </p:txBody>
      </p:sp>
      <p:pic>
        <p:nvPicPr>
          <p:cNvPr id="7" name="Image 0" descr="A sala das sessões de São Bento, vazia: filas de cadeiras em semicírculo viradas para a mesa, à direita, onde está um arranjo de flores; galerias com balaustradas em dois andares e, na parede da direita, uma estátu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4206240" cy="29509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9384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José Artur Leitão Bárcia, sala das sessões, São Bento, 1909. Domínio público.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0" y="914400"/>
            <a:ext cx="5516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Trinta dias no abrigo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822960" y="1901952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2148840"/>
            <a:ext cx="551657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Nesta sala de São Bento, em 1915, o novo Presidente da República falou a um país dividido, com a Europa em guerra. Hoje és tu: trinta dias num abrigo, comida para todos, nenhuma regra e dois minutos para convencer o grupo a adotar uma que não exclua nem humilhe ninguém.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486400" y="4389120"/>
            <a:ext cx="55165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se defende uma regra em dois minutos?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16: Trinta dias no abrigo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Ouve ler a frase, ou lê-a em voz alta, uma vez, sem parar. Depois procura a palavra «se»: o que tem o país de fazer para que nada o abata?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16: Trinta dias no abrigo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TEXTO: UM DISCURSO PARA DESMONTAR (1 DE 2)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[1]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Não haverá, contudo, provação que possa abater-nos ou humilhar-nos, se, com firme hombridade, pusermos abnegadamente, como nos cumpre, o dever coletivo, que é também o interesse comum, da defesa interna e externa da Nação acima de todas as nossas disputas e contenções divisórias.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Bernardino Machado, discurso de tomada de posse como Presidente da República (5 de outubro de 1915), 3.º parágrafo, grafia atualizada. A Europa estava em guerra há um ano.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16: Trinta dias no abrigo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«Não haverá, contudo, provação que possa abater-nos ou humilhar-nos»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afirma o orador, e com que condição?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1581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nos abate, se cada um defender o seu interesse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3892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9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01440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nos abate, se a defesa da Nação ficar acima das disputas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2960" y="487375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873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88289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Nação fica acima das disputas, se nada nos abater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16: Trinta dias no abrigo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nos abate, se a defesa da Nação ficar acima das disputas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frase afirma o que vai acontecer («Não haverá… provação que possa abater-nos») e põe uma condição, que começa em «se»: pôr a defesa da Nação «acima de todas as nossas disputas». É isto que o orador quer que o país aceite.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16: Trinta dias no abrigo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 frase pede e elogia. Procura o único verbo que manda fazer alguma coisa, e repara em quem é elogiado no fim.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16: Trinta dias no abrigo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TEXTO: UM DISCURSO PARA DESMONTAR (2 DE 2)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[2]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Comprovemos bem alto o nosso civismo, para que deste penoso lance de ansiedade e de sacrifícios saiamos moralmente robustecidos para melhor prosseguirmos, sem o mínimo desdouro, a realização, tão contraminada pela reacionária decadência monárquica, do destino inconfundível que a história traçou ao povo heroico, que, colocado na vanguarda da Europa, teve o arrojo imortal de ir, à sua frente, implantar pelo mundo inteiro a definitiva hegemonia da sua civilização.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Bernardino Machado, discurso de tomada de posse como Presidente da República (5 de outubro de 1915), 3.º parágrafo, grafia atualizada. A Europa estava em guerra há um ano.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16: Trinta dias no abrigo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A QUAL DAS FRASES SE DIZ «DISCORDO»?,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1.ª frase: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«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haverá, contudo, provação que possa abater-nos ou humilhar-nos, se […] pusermos […] o dever coletivo […] da defesa interna e externa da Nação acima de todas as nossas disputas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[…].»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2.ª frase: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«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Comprovemos bem alto o nosso civismo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[…].»Bernardino Machado, discurso de posse, 1915.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16: Trinta dias no abrigo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A QUAL DAS FRASES SE DIZ «DISCORDO»?,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 das duas frases admite «concordo» ou «discordo»?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A 1.ª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A 2.ª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 As duas</a:t>
            </a:r>
            <a:endParaRPr 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16: Trinta dias no abrigo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A QUAL DAS FRASES SE DIZ «DISCORDO»?,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1.ª afirma: nada nos abate, com uma condição. Pode-se concordar ou discordar.</a:t>
            </a: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16: Trinta dias no abrigo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A QUAL DAS FRASES SE DIZ «DISCORDO»?,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2.ª pede um gesto a quem ouve. A um pedido não se diz «discordo»: cumpre-se ou não.</a:t>
            </a:r>
            <a:endParaRPr lang="en-US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16: Trinta dias no abrigo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A QUAL DAS FRASES SE DIZ «DISCORDO»?,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TESE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ideia que o orador quer ver aceite, dita numa frase de que se pode discordar.</a:t>
            </a:r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16: Trinta dias no abrigo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A QUAL DAS FRASES SE DIZ «DISCORDO»?,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o tema. «A guerra» é o assunto; a tese diz o que pensar dele.Não é o apelo. No abrigo, a tese abre («Proponho…»); o apelo fecha («Votem…»).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16: Trinta dias no abrigo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A QUAL DAS FRASES SE DIZ «DISCORDO»?,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cabe numa frase e se pode discordar dela, é uma tese.</a:t>
            </a:r>
            <a:endParaRPr lang="en-US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16: Trinta dias no abrigo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abrigo, a regra diz o que se faz e não exclui ninguém. Qual destas serve de tese?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Limpem todos a sala comum ao domingo, por favor!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limpeza da sala comum durante os trinta dias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3715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15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72465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domingo, fazemos juntos a limpeza da sala comum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16: Trinta dias no abrigo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domingo, fazemos juntos a limpeza da sala comum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«Ao domingo, fazemos juntos a limpeza da sala comum» afirma uma regra numa frase, na afirmativa, sem castigar ninguém, e pode-se discordar dela: é uma tese para o abrigo.</a:t>
            </a:r>
            <a:endParaRPr lang="en-US" sz="2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16: Trinta dias no abrigo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DECIDE EM SILÊNCIO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convencer um grupo em crise, apostas no orgulho de todos ou num exemplo concreto?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00600"/>
            <a:ext cx="98142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1915, o novo Presidente pede a um país dividido, com a Europa em guerra, a Nação «acima de todas as nossas disputas», e acaba o parágrafo no orgulho do «povo heroico». No abrigo, tens dois minutos para convencer o grupo.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16: Trinta dias no abrigo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OS LADOS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Orgulho ou exemplo?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razão do orador de 1915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32104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toma posse num país dividido quer unir, não discutir pormenores. O parágrafo fecha no «arrojo imortal» do «povo heroico», e o discurso acaba num viva à República, «muitas vezes repetido» pelos congressistas e pelas galerias: o orgulho comum junta quem anda desavindo.Bernardino Machado, discurso de posse, 1915; Diário do Congresso, sessão n.º 7.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90618" y="2103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razão do exemplo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90618" y="2971800"/>
            <a:ext cx="32104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grupo fechado não vota por orgulho: quer ver o problema. Quando alguém lembra que «as três discussões que tivemos começaram todas depois das dez, quando já ninguém ouve o outro», ninguém precisa de ser convencido de que o problema existe.«Uma hora de silêncio», exemplo do Guia da tarefa do M4 (Tarefa 2).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58277" y="2103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objeção de quem desconfia dos dois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158277" y="2971800"/>
            <a:ext cx="32104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objeção possível: o orgulho junta depressa, mas não diz o que fazer amanhã. E um só caso pode enganar: um exemplo bem escolhido não prova que a regra sirva a todos. Talvez faça falta também responder a quem discorda.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16: Trinta dias no abrigo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 QUE FALTA AO «INTERESSE COMUM»?,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1915: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«o dever coletivo,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é também o interesse comum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»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abrigo: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«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há trinta dias que o Rui não dorme porque o gerador zumbe e nós por cima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; uma hora de silêncio dá-lhe o sono que a todos nos falta.»Bernardino Machado, 1915; Guia da tarefa do M4.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16: Trinta dias no abrigo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 QUE FALTA AO «INTERESSE COMUM»?,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alguém responder «não é verdade», qual das duas razões se aguenta?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A de 1915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A do abrigo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 As duas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16: Trinta dias no abrigo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 QUE FALTA AO «INTERESSE COMUM»?,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1915, a razão vem dita: defender a Nação é bom para todos. Nenhum caso a mostra.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16: Trinta dias no abrigo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 QUE FALTA AO «INTERESSE COMUM»?,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abrigo, a razão assenta num caso que quem ouve reconhece: o Rui, o gerador, trinta dias.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16: Trinta dias no abrigo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 QUE FALTA AO «INTERESSE COMUM»?,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ARGUMENTO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razão que prova a tese, com um exemplo que quem ouve reconhece.</a:t>
            </a:r>
            <a:endParaRPr lang="en-US" sz="3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16: Trinta dias no abrigo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 QUE FALTA AO «INTERESSE COMUM»?,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repetir a tese. «É boa porque é a melhor» anda em círculo.Não é um elogio. O «povo heroico» dá orgulho, não prova.</a:t>
            </a:r>
            <a:endParaRPr lang="en-US" sz="2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16: Trinta dias no abrigo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 QUE FALTA AO «INTERESSE COMUM»?,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razão leva um caso: uma pessoa, uma hora, uma coisa que aconteceu.</a:t>
            </a:r>
            <a:endParaRPr lang="en-US" sz="3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16: Trinta dias no abrigo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repartir a água à vista de todos, que frase é um argumento com exemplo?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581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Ontem o garrafão de água acabou logo ao almoço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vista, ninguém bebe a mais: ontem o garrafão acabou ao almoço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4096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10565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Somos um grupo unido e vamos sair daqui juntos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16: Trinta dias no abrigo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vista, ninguém bebe a mais: ontem o garrafão acabou ao almoço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«À vista, ninguém bebe a mais» é a razão; «ontem o garrafão acabou ao almoço» é o caso que a mostra. Juntos, fazem o argumento.</a:t>
            </a:r>
            <a:endParaRPr lang="en-US" sz="2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16: Trinta dias no abrigo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PORQUE FALA DO QUE «VÃO DIZER»?,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«Sei o que vão dizer: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o silêncio obrigado é uma prisão dentro da prisão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 é uma hora, e quem quiser falar vai para a arrecadação.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»Guia da tarefa do M4, «Uma hora de silêncio».</a:t>
            </a:r>
            <a:endParaRPr lang="en-US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16: Trinta dias no abrigo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PORQUE FALA DO QUE «VÃO DIZER»?,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Ao dizer a crítica dos outros, o orador perde força ou ganha?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Perde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Ganha</a:t>
            </a:r>
            <a:endParaRPr lang="en-US" sz="3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16: Trinta dias no abrigo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PORQUE FALA DO QUE «VÃO DIZER»?,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Primeiro, a objeção, o que diria quem discorda, dita pelo próprio orador antes que alguém a diga.</a:t>
            </a:r>
            <a:endParaRPr lang="en-US" sz="2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16: Trinta dias no abrigo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PORQUE FALA DO QUE «VÃO DIZER»?,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Depois, a resposta: a regra fica, ninguém é castigado, e há um sítio para quem quer falar.</a:t>
            </a:r>
            <a:endParaRPr lang="en-US" sz="3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16: Trinta dias no abrigo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PORQUE FALA DO QUE «VÃO DIZER»?,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REFUTAÇÃO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resposta que desfaz a objeção mais forte, sem largar a tese.</a:t>
            </a:r>
            <a:endParaRPr lang="en-US" sz="3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16: Trinta dias no abrigo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PORQUE FALA DO QUE «VÃO DIZER»?,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desistir. «Está bem, esqueçam a regra» larga a tese.Não é atacar quem discorda. «Isso é conversa de preguiçosos» insulta, não responde.</a:t>
            </a:r>
            <a:endParaRPr lang="en-US" sz="2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16: Trinta dias no abrigo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PORQUE FALA DO QUE «VÃO DIZER»?,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Diz tu a crítica mais forte, e desfá-la logo a seguir.</a:t>
            </a:r>
            <a:endParaRPr lang="en-US" sz="3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16: Trinta dias no abrigo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1 DE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orador diz que o dever coletivo «é também o interesse comum». Porque junta as duas coisas, e isso prova alguma coisa?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16: Trinta dias no abrigo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2 DE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nenhuma regra do abrigo pode excluir nem humilhar ninguém, o que resta para convencer o grupo a adotá-la e a cumpri-la?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16: Trinta dias no abrigo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O QUE SE ENTREGA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plano dos teus dois minutos no abrigo, em seis linhas, uma por peça: a regra numa frase, na afirmativa; dois argumentos, cada um com um exemplo do abrigo; a objeção mais forte; a tua resposta; o apelo final. Se quiseres, junta por cima uma frase de abertura.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71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CONTA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3611880"/>
            <a:ext cx="0" cy="192836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4290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438144"/>
            <a:ext cx="9174175" cy="473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regra cabe numa frase, está na afirmativa e não exclui nem humilha ninguém.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39024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902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11600"/>
            <a:ext cx="9174175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um dos dois argumentos tem um exemplo concreto do abrigo (uma pessoa, uma hora, uma coisa que aconteceu).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6299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629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639056"/>
            <a:ext cx="9174175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objeção é uma que o grupo faria de facto, e a resposta desfá-la sem castigar ninguém.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" y="53573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357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5366512"/>
            <a:ext cx="9174175" cy="473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fim é um apelo que pede uma ação (um verbo como «votem»), não um resumo.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16: Trinta dias no abrigo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regra cabe numa frase, cada razão leva um caso, a objeção tem resposta, e no fim vota-se.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16: Trinta dias no abrigo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6705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ir mais longe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6522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ir mais longe (opcional, em casa): 5 cartões de pergunta e 1 de leitura. O pedido do orador (o verbo que manda fazer), a culpa da monarquia (com uma linha do tempo de 1910 a 1916), responder sem castigar (uma objeção às luzes apagadas à meia-noite, para treinar a refutação), convencer pela emoção (o «povo heroico», com o triângulo de quem fala, da prova e de quem ouve), razão, credibilidade ou emoção em frases do abrigo, e porque admite o orador o «penoso lance».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1" name="Image 0" descr="/tmp/aulas-diap-jdU3MK/qr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4, aula 16: Trinta dias no abrigo</dc:title>
  <dc:subject>PptxGenJS Presentation</dc:subject>
  <dc:creator>EPI, Português</dc:creator>
  <cp:lastModifiedBy>EPI, Português</cp:lastModifiedBy>
  <cp:revision>1</cp:revision>
  <dcterms:created xsi:type="dcterms:W3CDTF">2026-10-24T00:57:45Z</dcterms:created>
  <dcterms:modified xsi:type="dcterms:W3CDTF">2026-10-24T00:57:45Z</dcterms:modified>
</cp:coreProperties>
</file>