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5"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2.º ANO, MÓDULO 4, UNIDADE 3: TRINTA DIAS NO ABRIGO</a:t>
            </a:r>
            <a:endParaRPr lang="en-US" sz="1100" dirty="0"/>
          </a:p>
        </p:txBody>
      </p:sp>
      <p:sp>
        <p:nvSpPr>
          <p:cNvPr id="6" name="Text 4"/>
          <p:cNvSpPr/>
          <p:nvPr/>
        </p:nvSpPr>
        <p:spPr>
          <a:xfrm>
            <a:off x="777240" y="685800"/>
            <a:ext cx="512064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18</a:t>
            </a:r>
            <a:endParaRPr lang="en-US" sz="15000" dirty="0"/>
          </a:p>
        </p:txBody>
      </p:sp>
      <p:sp>
        <p:nvSpPr>
          <p:cNvPr id="7" name="Text 5"/>
          <p:cNvSpPr/>
          <p:nvPr/>
        </p:nvSpPr>
        <p:spPr>
          <a:xfrm>
            <a:off x="822960" y="2697480"/>
            <a:ext cx="6583680" cy="1280160"/>
          </a:xfrm>
          <a:prstGeom prst="rect">
            <a:avLst/>
          </a:prstGeom>
          <a:noFill/>
          <a:ln/>
        </p:spPr>
        <p:txBody>
          <a:bodyPr wrap="square" lIns="0" tIns="0" rIns="0" bIns="0" rtlCol="0" anchor="b">
            <a:normAutofit/>
          </a:bodyPr>
          <a:lstStyle/>
          <a:p>
            <a:pPr indent="0" marL="0">
              <a:buNone/>
            </a:pPr>
            <a:r>
              <a:rPr lang="en-US" sz="4000" dirty="0">
                <a:solidFill>
                  <a:srgbClr val="F2F0EA"/>
                </a:solidFill>
                <a:latin typeface="Arial" pitchFamily="34" charset="0"/>
                <a:ea typeface="Arial" pitchFamily="34" charset="-122"/>
                <a:cs typeface="Arial" pitchFamily="34" charset="-120"/>
              </a:rPr>
              <a:t>A palavra contra o poder</a:t>
            </a:r>
            <a:endParaRPr lang="en-US" sz="4000" dirty="0"/>
          </a:p>
        </p:txBody>
      </p:sp>
      <p:sp>
        <p:nvSpPr>
          <p:cNvPr id="8"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9" name="Text 7"/>
          <p:cNvSpPr/>
          <p:nvPr/>
        </p:nvSpPr>
        <p:spPr>
          <a:xfrm>
            <a:off x="822960" y="4297680"/>
            <a:ext cx="6583680" cy="146304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Comparar a maneira como Vieira e Garrett dizem a um poder o que ele não quer ouvir, dar nome à peroração, escrever um texto de opinião de 100 a 140 palavras e fechar a unidade 3 com o desafio e a síntese.</a:t>
            </a:r>
            <a:endParaRPr lang="en-US" sz="1800" dirty="0"/>
          </a:p>
        </p:txBody>
      </p:sp>
      <p:sp>
        <p:nvSpPr>
          <p:cNvPr id="10" name="Shape 8"/>
          <p:cNvSpPr/>
          <p:nvPr/>
        </p:nvSpPr>
        <p:spPr>
          <a:xfrm>
            <a:off x="822960" y="6089904"/>
            <a:ext cx="182880" cy="182880"/>
          </a:xfrm>
          <a:prstGeom prst="ellipse">
            <a:avLst/>
          </a:prstGeom>
          <a:ln w="19050">
            <a:solidFill>
              <a:srgbClr val="F2F0EA"/>
            </a:solidFill>
            <a:prstDash val="solid"/>
          </a:ln>
        </p:spPr>
      </p:sp>
      <p:sp>
        <p:nvSpPr>
          <p:cNvPr id="11" name="Shape 9"/>
          <p:cNvSpPr/>
          <p:nvPr/>
        </p:nvSpPr>
        <p:spPr>
          <a:xfrm>
            <a:off x="1152144" y="6089904"/>
            <a:ext cx="182880" cy="182880"/>
          </a:xfrm>
          <a:prstGeom prst="rect">
            <a:avLst/>
          </a:prstGeom>
          <a:ln w="19050">
            <a:solidFill>
              <a:srgbClr val="F2F0EA"/>
            </a:solidFill>
            <a:prstDash val="solid"/>
          </a:ln>
        </p:spPr>
      </p:sp>
      <p:sp>
        <p:nvSpPr>
          <p:cNvPr id="12" name="Shape 10"/>
          <p:cNvSpPr/>
          <p:nvPr/>
        </p:nvSpPr>
        <p:spPr>
          <a:xfrm>
            <a:off x="1481328" y="6089904"/>
            <a:ext cx="182880" cy="182880"/>
          </a:xfrm>
          <a:prstGeom prst="triangle">
            <a:avLst/>
          </a:prstGeom>
          <a:ln w="19050">
            <a:solidFill>
              <a:srgbClr val="F2F0EA"/>
            </a:solidFill>
            <a:prstDash val="solid"/>
          </a:ln>
        </p:spPr>
      </p:sp>
      <p:sp>
        <p:nvSpPr>
          <p:cNvPr id="13" name="Text 11"/>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Shape 12"/>
          <p:cNvSpPr/>
          <p:nvPr/>
        </p:nvSpPr>
        <p:spPr>
          <a:xfrm>
            <a:off x="8515807" y="1078992"/>
            <a:ext cx="2962656" cy="2962656"/>
          </a:xfrm>
          <a:prstGeom prst="rect">
            <a:avLst/>
          </a:prstGeom>
          <a:solidFill>
            <a:srgbClr val="FFFFFF"/>
          </a:solidFill>
          <a:ln w="12700">
            <a:solidFill>
              <a:srgbClr val="F2F0EA"/>
            </a:solidFill>
            <a:prstDash val="solid"/>
          </a:ln>
        </p:spPr>
      </p:sp>
      <p:pic>
        <p:nvPicPr>
          <p:cNvPr id="15" name="Image 0" descr="/tmp/aulas-diap-jdU3MK/qr-18.png">    </p:cNvPr>
          <p:cNvPicPr>
            <a:picLocks noChangeAspect="1"/>
          </p:cNvPicPr>
          <p:nvPr/>
        </p:nvPicPr>
        <p:blipFill>
          <a:blip r:embed="rId1"/>
          <a:stretch>
            <a:fillRect/>
          </a:stretch>
        </p:blipFill>
        <p:spPr>
          <a:xfrm>
            <a:off x="8625535" y="1188720"/>
            <a:ext cx="2743200" cy="2743200"/>
          </a:xfrm>
          <a:prstGeom prst="rect">
            <a:avLst/>
          </a:prstGeom>
        </p:spPr>
      </p:pic>
      <p:sp>
        <p:nvSpPr>
          <p:cNvPr id="16" name="Text 13"/>
          <p:cNvSpPr/>
          <p:nvPr/>
        </p:nvSpPr>
        <p:spPr>
          <a:xfrm>
            <a:off x="8442655" y="4160520"/>
            <a:ext cx="3108960"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a:t>
            </a:r>
            <a:endParaRPr lang="en-US" sz="1200" dirty="0"/>
          </a:p>
          <a:p>
            <a:pPr algn="ctr" indent="0" marL="0">
              <a:buNone/>
            </a:pPr>
            <a:r>
              <a:rPr lang="en-US" sz="1200" dirty="0">
                <a:solidFill>
                  <a:srgbClr val="F2F0EA"/>
                </a:solidFill>
                <a:latin typeface="Arial" pitchFamily="34" charset="0"/>
                <a:ea typeface="Arial" pitchFamily="34" charset="-122"/>
                <a:cs typeface="Arial" pitchFamily="34" charset="-120"/>
              </a:rPr>
              <a:t>licao-m4-f11/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HOJE, 90 MINUTOS</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palavra contra o poder</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4884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HOJE</a:t>
            </a:r>
            <a:endParaRPr lang="en-US" sz="1200" dirty="0"/>
          </a:p>
        </p:txBody>
      </p:sp>
      <p:sp>
        <p:nvSpPr>
          <p:cNvPr id="10" name="Text 8"/>
          <p:cNvSpPr/>
          <p:nvPr/>
        </p:nvSpPr>
        <p:spPr>
          <a:xfrm>
            <a:off x="2743200" y="209397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Comparar a maneira como Vieira e Garrett dizem a um poder o que ele não quer ouvir, dar nome à peroração, escrever um texto de opinião de 100 a 140 palavras e fechar a unidade 3 com o desafio e a síntese.</a:t>
            </a:r>
            <a:endParaRPr lang="en-US" sz="2400" dirty="0"/>
          </a:p>
        </p:txBody>
      </p:sp>
      <p:sp>
        <p:nvSpPr>
          <p:cNvPr id="11" name="Text 9"/>
          <p:cNvSpPr/>
          <p:nvPr/>
        </p:nvSpPr>
        <p:spPr>
          <a:xfrm>
            <a:off x="822960" y="347472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TEMPO</a:t>
            </a:r>
            <a:endParaRPr lang="en-US" sz="1200" dirty="0"/>
          </a:p>
        </p:txBody>
      </p:sp>
      <p:sp>
        <p:nvSpPr>
          <p:cNvPr id="12" name="Text 10"/>
          <p:cNvSpPr/>
          <p:nvPr/>
        </p:nvSpPr>
        <p:spPr>
          <a:xfrm>
            <a:off x="2743200" y="341985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90 minutos: 12 cartões, uma decisão em turma, um texto de 100 a 140 palavras em papel, o desafio e a síntese da unidade 3.</a:t>
            </a:r>
            <a:endParaRPr lang="en-US" sz="2400" dirty="0"/>
          </a:p>
        </p:txBody>
      </p:sp>
      <p:sp>
        <p:nvSpPr>
          <p:cNvPr id="13" name="Text 11"/>
          <p:cNvSpPr/>
          <p:nvPr/>
        </p:nvSpPr>
        <p:spPr>
          <a:xfrm>
            <a:off x="822960" y="480060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NO FIM</a:t>
            </a:r>
            <a:endParaRPr lang="en-US" sz="1200" dirty="0"/>
          </a:p>
        </p:txBody>
      </p:sp>
      <p:sp>
        <p:nvSpPr>
          <p:cNvPr id="14" name="Text 12"/>
          <p:cNvSpPr/>
          <p:nvPr/>
        </p:nvSpPr>
        <p:spPr>
          <a:xfrm>
            <a:off x="2743200" y="474573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Em papel, um texto de 100 a 140 palavras: Vieira e Garrett usam a palavra para resistir a um poder? A tua posição, uma passagem de cada autor entre aspas e uma objeção com resposta.</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ABRE</a:t>
            </a:r>
            <a:endParaRPr lang="en-US" sz="1100" dirty="0"/>
          </a:p>
        </p:txBody>
      </p:sp>
      <p:pic>
        <p:nvPicPr>
          <p:cNvPr id="7" name="Image 0" descr="Primeira página do sermão na edição de 1682: o título, «Sermão de Santo António», a linha «Pregado na cidade de São Luís do Maranhão, ano de 1654» e, por baixo, a nota em itálico, onde se lê, entre parênteses, «posto que perseguida».">    </p:cNvPr>
          <p:cNvPicPr>
            <a:picLocks noChangeAspect="1"/>
          </p:cNvPicPr>
          <p:nvPr/>
        </p:nvPicPr>
        <p:blipFill>
          <a:blip r:embed="rId1"/>
          <a:stretch>
            <a:fillRect/>
          </a:stretch>
        </p:blipFill>
        <p:spPr>
          <a:xfrm>
            <a:off x="1206213" y="914400"/>
            <a:ext cx="3439734" cy="4709160"/>
          </a:xfrm>
          <a:prstGeom prst="rect">
            <a:avLst/>
          </a:prstGeom>
        </p:spPr>
      </p:pic>
      <p:sp>
        <p:nvSpPr>
          <p:cNvPr id="8" name="Text 5"/>
          <p:cNvSpPr/>
          <p:nvPr/>
        </p:nvSpPr>
        <p:spPr>
          <a:xfrm>
            <a:off x="822960" y="5696712"/>
            <a:ext cx="4206240" cy="365760"/>
          </a:xfrm>
          <a:prstGeom prst="rect">
            <a:avLst/>
          </a:prstGeom>
          <a:noFill/>
          <a:ln/>
        </p:spPr>
        <p:txBody>
          <a:bodyPr wrap="square" lIns="0" tIns="0" rIns="0" bIns="0" rtlCol="0" anchor="t">
            <a:normAutofit/>
          </a:bodyPr>
          <a:lstStyle/>
          <a:p>
            <a:pPr indent="0" marL="0">
              <a:buNone/>
            </a:pPr>
            <a:r>
              <a:rPr lang="en-US" sz="1000" i="1" dirty="0">
                <a:solidFill>
                  <a:srgbClr val="A9A79F"/>
                </a:solidFill>
                <a:latin typeface="Arial" pitchFamily="34" charset="0"/>
                <a:ea typeface="Arial" pitchFamily="34" charset="-122"/>
                <a:cs typeface="Arial" pitchFamily="34" charset="-120"/>
              </a:rPr>
              <a:t>Sermoens</a:t>
            </a:r>
            <a:pPr indent="0" marL="0">
              <a:buNone/>
            </a:pPr>
            <a:r>
              <a:rPr lang="en-US" sz="1000" dirty="0">
                <a:solidFill>
                  <a:srgbClr val="A9A79F"/>
                </a:solidFill>
                <a:latin typeface="Arial" pitchFamily="34" charset="0"/>
                <a:ea typeface="Arial" pitchFamily="34" charset="-122"/>
                <a:cs typeface="Arial" pitchFamily="34" charset="-120"/>
              </a:rPr>
              <a:t> de Vieira, Lisboa, 1682: a nota por baixo do título. Domínio público.</a:t>
            </a:r>
            <a:endParaRPr lang="en-US" sz="1000" dirty="0"/>
          </a:p>
        </p:txBody>
      </p:sp>
      <p:sp>
        <p:nvSpPr>
          <p:cNvPr id="9" name="Text 6"/>
          <p:cNvSpPr/>
          <p:nvPr/>
        </p:nvSpPr>
        <p:spPr>
          <a:xfrm>
            <a:off x="5486400" y="914400"/>
            <a:ext cx="5516575" cy="91440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palavra contra o poder</a:t>
            </a:r>
            <a:endParaRPr lang="en-US" sz="3400" dirty="0"/>
          </a:p>
        </p:txBody>
      </p:sp>
      <p:sp>
        <p:nvSpPr>
          <p:cNvPr id="10" name="Shape 7"/>
          <p:cNvSpPr/>
          <p:nvPr/>
        </p:nvSpPr>
        <p:spPr>
          <a:xfrm>
            <a:off x="822960" y="1901952"/>
            <a:ext cx="640080" cy="64008"/>
          </a:xfrm>
          <a:prstGeom prst="rect">
            <a:avLst/>
          </a:prstGeom>
          <a:solidFill>
            <a:srgbClr val="E4555C"/>
          </a:solidFill>
          <a:ln w="12700">
            <a:solidFill>
              <a:srgbClr val="E4555C"/>
            </a:solidFill>
            <a:prstDash val="solid"/>
          </a:ln>
        </p:spPr>
      </p:sp>
      <p:sp>
        <p:nvSpPr>
          <p:cNvPr id="11" name="Text 8"/>
          <p:cNvSpPr/>
          <p:nvPr/>
        </p:nvSpPr>
        <p:spPr>
          <a:xfrm>
            <a:off x="5486400" y="2148840"/>
            <a:ext cx="5516575" cy="2103120"/>
          </a:xfrm>
          <a:prstGeom prst="rect">
            <a:avLst/>
          </a:prstGeom>
          <a:noFill/>
          <a:ln/>
        </p:spPr>
        <p:txBody>
          <a:bodyPr wrap="square" lIns="0" tIns="0" rIns="0" bIns="0" rtlCol="0" anchor="t">
            <a:normAutofit/>
          </a:bodyPr>
          <a:lstStyle/>
          <a:p>
            <a:pPr indent="0" marL="0">
              <a:lnSpc>
                <a:spcPct val="120000"/>
              </a:lnSpc>
              <a:buNone/>
            </a:pPr>
            <a:r>
              <a:rPr lang="en-US" sz="2100" dirty="0">
                <a:solidFill>
                  <a:srgbClr val="F2F0EA"/>
                </a:solidFill>
                <a:latin typeface="Georgia" pitchFamily="34" charset="0"/>
                <a:ea typeface="Georgia" pitchFamily="34" charset="-122"/>
                <a:cs typeface="Georgia" pitchFamily="34" charset="-120"/>
              </a:rPr>
              <a:t>Nesta página de 1682, uma nota diz que Vieira tocou no sermão pontos de doutrina «posto que perseguida» (embora perseguida) e, três dias depois, embarcou às escondidas. Em Garrett, Manuel de Sousa responde aos governadores com duas tochas e uma frase.</a:t>
            </a:r>
            <a:endParaRPr lang="en-US" sz="2100" dirty="0"/>
          </a:p>
        </p:txBody>
      </p:sp>
      <p:sp>
        <p:nvSpPr>
          <p:cNvPr id="12" name="Text 9"/>
          <p:cNvSpPr/>
          <p:nvPr/>
        </p:nvSpPr>
        <p:spPr>
          <a:xfrm>
            <a:off x="5486400" y="4389120"/>
            <a:ext cx="5516575" cy="1463040"/>
          </a:xfrm>
          <a:prstGeom prst="rect">
            <a:avLst/>
          </a:prstGeom>
          <a:noFill/>
          <a:ln/>
        </p:spPr>
        <p:txBody>
          <a:bodyPr wrap="square" lIns="0" tIns="0" rIns="0" bIns="0" rtlCol="0" anchor="t">
            <a:normAutofit/>
          </a:bodyPr>
          <a:lstStyle/>
          <a:p>
            <a:pPr indent="0" marL="0">
              <a:buNone/>
            </a:pPr>
            <a:r>
              <a:rPr lang="en-US" sz="2600" b="1" dirty="0">
                <a:solidFill>
                  <a:srgbClr val="F2F0EA"/>
                </a:solidFill>
                <a:latin typeface="Arial" pitchFamily="34" charset="0"/>
                <a:ea typeface="Arial" pitchFamily="34" charset="-122"/>
                <a:cs typeface="Arial" pitchFamily="34" charset="-120"/>
              </a:rPr>
              <a:t>Vieira e Garrett usam a palavra para resistir a um poder?</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ANTES DE LER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Vieira está numa igreja de São Luís, a falar a homens. Procura para onde diz que pregou e para quem era a doutrina.</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TEXTO: VIEIRA DESPEDE-SE DOS PEIXES (1 DE 2)</a:t>
            </a:r>
            <a:endParaRPr lang="en-US" sz="1100" dirty="0"/>
          </a:p>
        </p:txBody>
      </p:sp>
      <p:sp>
        <p:nvSpPr>
          <p:cNvPr id="7" name="Text 5"/>
          <p:cNvSpPr/>
          <p:nvPr/>
        </p:nvSpPr>
        <p:spPr>
          <a:xfrm>
            <a:off x="822960" y="1005840"/>
            <a:ext cx="9814255" cy="4846320"/>
          </a:xfrm>
          <a:prstGeom prst="rect">
            <a:avLst/>
          </a:prstGeom>
          <a:noFill/>
          <a:ln/>
        </p:spPr>
        <p:txBody>
          <a:bodyPr wrap="square" lIns="0" tIns="0" rIns="0" bIns="0" rtlCol="0" anchor="t">
            <a:normAutofit/>
          </a:bodyPr>
          <a:lstStyle/>
          <a:p>
            <a:pPr indent="0" marL="0">
              <a:lnSpc>
                <a:spcPct val="125000"/>
              </a:lnSpc>
              <a:spcAft>
                <a:spcPts val="800"/>
              </a:spcAft>
              <a:buNone/>
            </a:pPr>
            <a:r>
              <a:rPr lang="en-US" sz="2600" b="1" dirty="0">
                <a:solidFill>
                  <a:srgbClr val="F2F0EA"/>
                </a:solidFill>
                <a:latin typeface="Georgia" pitchFamily="34" charset="0"/>
                <a:ea typeface="Georgia" pitchFamily="34" charset="-122"/>
                <a:cs typeface="Georgia" pitchFamily="34" charset="-120"/>
              </a:rPr>
              <a:t>[1]</a:t>
            </a:r>
            <a:pPr indent="0" marL="0">
              <a:lnSpc>
                <a:spcPct val="125000"/>
              </a:lnSpc>
              <a:spcAft>
                <a:spcPts val="800"/>
              </a:spcAft>
              <a:buNone/>
            </a:pPr>
            <a:r>
              <a:rPr lang="en-US" sz="2600" dirty="0">
                <a:solidFill>
                  <a:srgbClr val="F2F0EA"/>
                </a:solidFill>
                <a:latin typeface="Georgia" pitchFamily="34" charset="0"/>
                <a:ea typeface="Georgia" pitchFamily="34" charset="-122"/>
                <a:cs typeface="Georgia" pitchFamily="34" charset="-120"/>
              </a:rPr>
              <a:t> Oh que boa doutrina era esta para a terra, se eu não pregara para o mar! […] Com esta última advertência vos despeço, ou me despeço eu de vós, meus peixes.</a:t>
            </a:r>
            <a:endParaRPr lang="en-US" sz="2600" dirty="0"/>
          </a:p>
        </p:txBody>
      </p:sp>
      <p:sp>
        <p:nvSpPr>
          <p:cNvPr id="8" name="Text 6"/>
          <p:cNvSpPr/>
          <p:nvPr/>
        </p:nvSpPr>
        <p:spPr>
          <a:xfrm>
            <a:off x="822960" y="5943600"/>
            <a:ext cx="9814255" cy="365760"/>
          </a:xfrm>
          <a:prstGeom prst="rect">
            <a:avLst/>
          </a:prstGeom>
          <a:noFill/>
          <a:ln/>
        </p:spPr>
        <p:txBody>
          <a:bodyPr wrap="square" lIns="0" tIns="0" rIns="0" bIns="0" rtlCol="0" anchor="ctr">
            <a:normAutofit/>
          </a:bodyPr>
          <a:lstStyle/>
          <a:p>
            <a:pPr indent="0" marL="0">
              <a:buNone/>
            </a:pPr>
            <a:r>
              <a:rPr lang="en-US" sz="1100" dirty="0">
                <a:solidFill>
                  <a:srgbClr val="A9A79F"/>
                </a:solidFill>
                <a:latin typeface="Arial" pitchFamily="34" charset="0"/>
                <a:ea typeface="Arial" pitchFamily="34" charset="-122"/>
                <a:cs typeface="Arial" pitchFamily="34" charset="-120"/>
              </a:rPr>
              <a:t>Vieira, </a:t>
            </a:r>
            <a:pPr indent="0" marL="0">
              <a:buNone/>
            </a:pPr>
            <a:r>
              <a:rPr lang="en-US" sz="1100" i="1" dirty="0">
                <a:solidFill>
                  <a:srgbClr val="A9A79F"/>
                </a:solidFill>
                <a:latin typeface="Arial" pitchFamily="34" charset="0"/>
                <a:ea typeface="Arial" pitchFamily="34" charset="-122"/>
                <a:cs typeface="Arial" pitchFamily="34" charset="-120"/>
              </a:rPr>
              <a:t>Sermão de Santo António</a:t>
            </a:r>
            <a:pPr indent="0" marL="0">
              <a:buNone/>
            </a:pPr>
            <a:r>
              <a:rPr lang="en-US" sz="1100" dirty="0">
                <a:solidFill>
                  <a:srgbClr val="A9A79F"/>
                </a:solidFill>
                <a:latin typeface="Arial" pitchFamily="34" charset="0"/>
                <a:ea typeface="Arial" pitchFamily="34" charset="-122"/>
                <a:cs typeface="Arial" pitchFamily="34" charset="-120"/>
              </a:rPr>
              <a:t> (1654), o fim do sermão, ortografia atualizada; corte marcado com […].</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685800"/>
          </a:xfrm>
          <a:prstGeom prst="rect">
            <a:avLst/>
          </a:prstGeom>
          <a:noFill/>
          <a:ln/>
        </p:spPr>
        <p:txBody>
          <a:bodyPr wrap="square" lIns="0" tIns="0" rIns="0" bIns="0" rtlCol="0" anchor="t">
            <a:normAutofit/>
          </a:bodyPr>
          <a:lstStyle/>
          <a:p>
            <a:pPr indent="0" marL="0">
              <a:buNone/>
            </a:pPr>
            <a:r>
              <a:rPr lang="en-US" sz="1600" i="1" dirty="0">
                <a:solidFill>
                  <a:srgbClr val="A9A79F"/>
                </a:solidFill>
                <a:latin typeface="Georgia" pitchFamily="34" charset="0"/>
                <a:ea typeface="Georgia" pitchFamily="34" charset="-122"/>
                <a:cs typeface="Georgia" pitchFamily="34" charset="-120"/>
              </a:rPr>
              <a:t>«Oh que boa doutrina era esta para a terra, se eu não pregara para o mar!»</a:t>
            </a:r>
            <a:endParaRPr lang="en-US" sz="1600" dirty="0"/>
          </a:p>
        </p:txBody>
      </p:sp>
      <p:sp>
        <p:nvSpPr>
          <p:cNvPr id="8" name="Text 6"/>
          <p:cNvSpPr/>
          <p:nvPr/>
        </p:nvSpPr>
        <p:spPr>
          <a:xfrm>
            <a:off x="822960" y="169164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Dito numa igreja de São Luís, a homens: que lhes dá Vieira a entender?</a:t>
            </a:r>
            <a:endParaRPr lang="en-US" sz="3200" dirty="0"/>
          </a:p>
        </p:txBody>
      </p:sp>
      <p:sp>
        <p:nvSpPr>
          <p:cNvPr id="9" name="Shape 7"/>
          <p:cNvSpPr/>
          <p:nvPr/>
        </p:nvSpPr>
        <p:spPr>
          <a:xfrm>
            <a:off x="822960" y="3017520"/>
            <a:ext cx="640080" cy="64008"/>
          </a:xfrm>
          <a:prstGeom prst="rect">
            <a:avLst/>
          </a:prstGeom>
          <a:solidFill>
            <a:srgbClr val="E4555C"/>
          </a:solidFill>
          <a:ln w="12700">
            <a:solidFill>
              <a:srgbClr val="E4555C"/>
            </a:solidFill>
            <a:prstDash val="solid"/>
          </a:ln>
        </p:spPr>
      </p:sp>
      <p:sp>
        <p:nvSpPr>
          <p:cNvPr id="10" name="Shape 8"/>
          <p:cNvSpPr/>
          <p:nvPr/>
        </p:nvSpPr>
        <p:spPr>
          <a:xfrm>
            <a:off x="1005840" y="3474720"/>
            <a:ext cx="0" cy="1200912"/>
          </a:xfrm>
          <a:prstGeom prst="line">
            <a:avLst/>
          </a:prstGeom>
          <a:noFill/>
          <a:ln w="12700">
            <a:solidFill>
              <a:srgbClr val="A9A79F"/>
            </a:solidFill>
            <a:prstDash val="solid"/>
          </a:ln>
        </p:spPr>
      </p:sp>
      <p:sp>
        <p:nvSpPr>
          <p:cNvPr id="11" name="Shape 9"/>
          <p:cNvSpPr/>
          <p:nvPr/>
        </p:nvSpPr>
        <p:spPr>
          <a:xfrm>
            <a:off x="822960" y="329184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29184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3" name="Text 11"/>
          <p:cNvSpPr/>
          <p:nvPr/>
        </p:nvSpPr>
        <p:spPr>
          <a:xfrm>
            <a:off x="1417320" y="330098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a doutrina era má e não servia a ninguém</a:t>
            </a:r>
            <a:endParaRPr lang="en-US" sz="2400" dirty="0"/>
          </a:p>
        </p:txBody>
      </p:sp>
      <p:sp>
        <p:nvSpPr>
          <p:cNvPr id="14" name="Shape 12"/>
          <p:cNvSpPr/>
          <p:nvPr/>
        </p:nvSpPr>
        <p:spPr>
          <a:xfrm>
            <a:off x="822960" y="389229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38922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6" name="Text 14"/>
          <p:cNvSpPr/>
          <p:nvPr/>
        </p:nvSpPr>
        <p:spPr>
          <a:xfrm>
            <a:off x="1417320" y="390144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a doutrina é para eles; o mar é alegoria</a:t>
            </a:r>
            <a:endParaRPr lang="en-US" sz="2400" dirty="0"/>
          </a:p>
        </p:txBody>
      </p:sp>
      <p:sp>
        <p:nvSpPr>
          <p:cNvPr id="17" name="Shape 15"/>
          <p:cNvSpPr/>
          <p:nvPr/>
        </p:nvSpPr>
        <p:spPr>
          <a:xfrm>
            <a:off x="822960" y="449275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449275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9" name="Text 17"/>
          <p:cNvSpPr/>
          <p:nvPr/>
        </p:nvSpPr>
        <p:spPr>
          <a:xfrm>
            <a:off x="1417320" y="450189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pregou mesmo aos peixes, na praia</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Que a doutrina é para eles; o mar é alegoria</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Vieira está numa igreja, diante de homens, e lamenta ter pregado «para o mar»: «para a terra» diz-lhes que a doutrina era para eles. O mar e os peixes são a alegoria, desde o cap. I.</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1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CASO</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«Com esta </a:t>
            </a:r>
            <a:pPr indent="0" marL="0">
              <a:lnSpc>
                <a:spcPct val="125000"/>
              </a:lnSpc>
              <a:buNone/>
            </a:pPr>
            <a:r>
              <a:rPr lang="en-US" sz="2800" b="1" dirty="0">
                <a:solidFill>
                  <a:srgbClr val="F2F0EA"/>
                </a:solidFill>
                <a:latin typeface="Georgia" pitchFamily="34" charset="0"/>
                <a:ea typeface="Georgia" pitchFamily="34" charset="-122"/>
                <a:cs typeface="Georgia" pitchFamily="34" charset="-120"/>
              </a:rPr>
              <a:t>última advertência</a:t>
            </a:r>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 vos </a:t>
            </a:r>
            <a:pPr indent="0" marL="0">
              <a:lnSpc>
                <a:spcPct val="125000"/>
              </a:lnSpc>
              <a:buNone/>
            </a:pPr>
            <a:r>
              <a:rPr lang="en-US" sz="2800" b="1" dirty="0">
                <a:solidFill>
                  <a:srgbClr val="F2F0EA"/>
                </a:solidFill>
                <a:latin typeface="Georgia" pitchFamily="34" charset="0"/>
                <a:ea typeface="Georgia" pitchFamily="34" charset="-122"/>
                <a:cs typeface="Georgia" pitchFamily="34" charset="-120"/>
              </a:rPr>
              <a:t>despeço, ou me despeço eu de vós</a:t>
            </a:r>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 meus peixes.»Vieira, </a:t>
            </a:r>
            <a:pPr indent="0" marL="0">
              <a:lnSpc>
                <a:spcPct val="125000"/>
              </a:lnSpc>
              <a:buNone/>
            </a:pPr>
            <a:r>
              <a:rPr lang="en-US" sz="2800" i="1" dirty="0">
                <a:solidFill>
                  <a:srgbClr val="F2F0EA"/>
                </a:solidFill>
                <a:latin typeface="Georgia" pitchFamily="34" charset="0"/>
                <a:ea typeface="Georgia" pitchFamily="34" charset="-122"/>
                <a:cs typeface="Georgia" pitchFamily="34" charset="-120"/>
              </a:rPr>
              <a:t>Sermão de Santo António</a:t>
            </a:r>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 (1654), o fim do sermão, ortografia atualizada</a:t>
            </a:r>
            <a:endParaRPr lang="en-US"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2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DECIDE</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Esta frase podia abrir o sermão?</a:t>
            </a:r>
            <a:endParaRPr lang="en-US" sz="3200" dirty="0"/>
          </a:p>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A. Podia</a:t>
            </a:r>
            <a:endParaRPr lang="en-US" sz="3200" dirty="0"/>
          </a:p>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B. Não podia</a:t>
            </a:r>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3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OLHA</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«Última advertência»: os avisos aos peixes acabaram, e este é o último.</a:t>
            </a:r>
            <a:endParaRPr 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4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TRAÇO</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«Me despeço eu de vós»: o pregador diz adeus a quem o ouve. Isto só cabe no fim.</a:t>
            </a:r>
            <a:endParaRPr 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12</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5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NOME</a:t>
            </a:r>
            <a:endParaRPr lang="en-US" sz="1400" dirty="0"/>
          </a:p>
        </p:txBody>
      </p:sp>
      <p:sp>
        <p:nvSpPr>
          <p:cNvPr id="8" name="Text 6"/>
          <p:cNvSpPr/>
          <p:nvPr/>
        </p:nvSpPr>
        <p:spPr>
          <a:xfrm>
            <a:off x="822960" y="1463040"/>
            <a:ext cx="9814255" cy="1463040"/>
          </a:xfrm>
          <a:prstGeom prst="rect">
            <a:avLst/>
          </a:prstGeom>
          <a:noFill/>
          <a:ln/>
        </p:spPr>
        <p:txBody>
          <a:bodyPr wrap="square" lIns="0" tIns="0" rIns="0" bIns="0" rtlCol="0" anchor="b">
            <a:normAutofit/>
          </a:bodyPr>
          <a:lstStyle/>
          <a:p>
            <a:pPr indent="0" marL="0">
              <a:buNone/>
            </a:pPr>
            <a:r>
              <a:rPr lang="en-US" sz="7200" b="1" dirty="0">
                <a:solidFill>
                  <a:srgbClr val="F2F0EA"/>
                </a:solidFill>
                <a:latin typeface="Arial" pitchFamily="34" charset="0"/>
                <a:ea typeface="Arial" pitchFamily="34" charset="-122"/>
                <a:cs typeface="Arial" pitchFamily="34" charset="-120"/>
              </a:rPr>
              <a:t>PERORAÇÃO</a:t>
            </a:r>
            <a:endParaRPr lang="en-US" sz="7200" dirty="0"/>
          </a:p>
        </p:txBody>
      </p:sp>
      <p:sp>
        <p:nvSpPr>
          <p:cNvPr id="9" name="Shape 7"/>
          <p:cNvSpPr/>
          <p:nvPr/>
        </p:nvSpPr>
        <p:spPr>
          <a:xfrm>
            <a:off x="822960" y="3017520"/>
            <a:ext cx="2011680" cy="82296"/>
          </a:xfrm>
          <a:prstGeom prst="rect">
            <a:avLst/>
          </a:prstGeom>
          <a:solidFill>
            <a:srgbClr val="D9A520"/>
          </a:solidFill>
          <a:ln w="12700">
            <a:solidFill>
              <a:srgbClr val="D9A520"/>
            </a:solidFill>
            <a:prstDash val="solid"/>
          </a:ln>
        </p:spPr>
      </p:sp>
      <p:sp>
        <p:nvSpPr>
          <p:cNvPr id="10" name="Text 8"/>
          <p:cNvSpPr/>
          <p:nvPr/>
        </p:nvSpPr>
        <p:spPr>
          <a:xfrm>
            <a:off x="822960" y="3337560"/>
            <a:ext cx="9814255" cy="2377440"/>
          </a:xfrm>
          <a:prstGeom prst="rect">
            <a:avLst/>
          </a:prstGeom>
          <a:noFill/>
          <a:ln/>
        </p:spPr>
        <p:txBody>
          <a:bodyPr wrap="square" lIns="0" tIns="0" rIns="0" bIns="0" rtlCol="0" anchor="t">
            <a:normAutofit/>
          </a:bodyPr>
          <a:lstStyle/>
          <a:p>
            <a:pPr indent="0" marL="0">
              <a:lnSpc>
                <a:spcPct val="120000"/>
              </a:lnSpc>
              <a:buNone/>
            </a:pPr>
            <a:r>
              <a:rPr lang="en-US" sz="3200" dirty="0">
                <a:solidFill>
                  <a:srgbClr val="F2F0EA"/>
                </a:solidFill>
                <a:latin typeface="Georgia" pitchFamily="34" charset="0"/>
                <a:ea typeface="Georgia" pitchFamily="34" charset="-122"/>
                <a:cs typeface="Georgia" pitchFamily="34" charset="-120"/>
              </a:rPr>
              <a:t>A parte que fecha o sermão ou o discurso e se despede de quem ouve.</a:t>
            </a:r>
            <a:endParaRPr lang="en-US" sz="3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6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QUE NÃO É</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Não é uma repreensão. Antes, Vieira diz: «Tenho acabado, irmãos peixes, os vossos louvores e repreensões».Não é o exórdio. Esse abre e prende quem ouve: Arimino, no cap. I.</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14</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EM QUE PONTO DO SERMÃO ESTAMOS?, 7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PARA LEVAR</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O exórdio abre, a peroração despede-se.</a:t>
            </a:r>
            <a:endParaRPr lang="en-US" sz="3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Caso imaginário: o discurso dos finalistas acaba com «Obrigado a todos, e até sempre». Que parte é essa?</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 peroração: fecha o discurso e despede-se</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Uma repreensão: lembra o que correu mal</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O tema: anuncia de que vai falar o discurso</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A peroração: fecha o discurso e despede-se</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500" dirty="0">
                <a:solidFill>
                  <a:srgbClr val="F2F0EA"/>
                </a:solidFill>
                <a:latin typeface="Georgia" pitchFamily="34" charset="0"/>
                <a:ea typeface="Georgia" pitchFamily="34" charset="-122"/>
                <a:cs typeface="Georgia" pitchFamily="34" charset="-120"/>
              </a:rPr>
              <a:t>A peroração fecha o discurso e despede-se de quem ouve, como Vieira com «vos despeço, ou me despeço eu de vós, meus peixes».</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17</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ANTES DE LER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Os governadores do rei de Castela querem a casa de Manuel. Procura o que ele faz e o que diz que está a fazer.</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18</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TEXTO: MANUEL RESPONDE AOS GOVERNADORES (2 DE 2)</a:t>
            </a:r>
            <a:endParaRPr lang="en-US" sz="1100" dirty="0"/>
          </a:p>
        </p:txBody>
      </p:sp>
      <p:sp>
        <p:nvSpPr>
          <p:cNvPr id="7" name="Text 5"/>
          <p:cNvSpPr/>
          <p:nvPr/>
        </p:nvSpPr>
        <p:spPr>
          <a:xfrm>
            <a:off x="822960" y="1005840"/>
            <a:ext cx="9814255" cy="4846320"/>
          </a:xfrm>
          <a:prstGeom prst="rect">
            <a:avLst/>
          </a:prstGeom>
          <a:noFill/>
          <a:ln/>
        </p:spPr>
        <p:txBody>
          <a:bodyPr wrap="square" lIns="0" tIns="0" rIns="0" bIns="0" rtlCol="0" anchor="t">
            <a:normAutofit/>
          </a:bodyPr>
          <a:lstStyle/>
          <a:p>
            <a:pPr indent="0" marL="0">
              <a:lnSpc>
                <a:spcPct val="125000"/>
              </a:lnSpc>
              <a:spcAft>
                <a:spcPts val="800"/>
              </a:spcAft>
              <a:buNone/>
            </a:pPr>
            <a:r>
              <a:rPr lang="en-US" sz="2600" b="1" dirty="0">
                <a:solidFill>
                  <a:srgbClr val="F2F0EA"/>
                </a:solidFill>
                <a:latin typeface="Georgia" pitchFamily="34" charset="0"/>
                <a:ea typeface="Georgia" pitchFamily="34" charset="-122"/>
                <a:cs typeface="Georgia" pitchFamily="34" charset="-120"/>
              </a:rPr>
              <a:t>[1]</a:t>
            </a:r>
            <a:pPr indent="0" marL="0">
              <a:lnSpc>
                <a:spcPct val="125000"/>
              </a:lnSpc>
              <a:spcAft>
                <a:spcPts val="800"/>
              </a:spcAft>
              <a:buNone/>
            </a:pPr>
            <a:r>
              <a:rPr lang="en-US" sz="2600" dirty="0">
                <a:solidFill>
                  <a:srgbClr val="F2F0EA"/>
                </a:solidFill>
                <a:latin typeface="Georgia" pitchFamily="34" charset="0"/>
                <a:ea typeface="Georgia" pitchFamily="34" charset="-122"/>
                <a:cs typeface="Georgia" pitchFamily="34" charset="-120"/>
              </a:rPr>
              <a:t> (Arrebata duas tochas das mãos dos criados, corre à porta da esquerda, atira com uma para dentro: e vê-se atear logo uma labareda imensa. Vai ao fundo, atira a outra tocha; e sucede o mesmo. Ouve-se alarido de fora.)</a:t>
            </a:r>
            <a:endParaRPr lang="en-US" sz="2600" dirty="0"/>
          </a:p>
          <a:p>
            <a:pPr indent="0" marL="0">
              <a:lnSpc>
                <a:spcPct val="125000"/>
              </a:lnSpc>
              <a:spcAft>
                <a:spcPts val="800"/>
              </a:spcAft>
              <a:buNone/>
            </a:pPr>
            <a:r>
              <a:rPr lang="en-US" sz="2600" b="1" dirty="0">
                <a:solidFill>
                  <a:srgbClr val="F2F0EA"/>
                </a:solidFill>
                <a:latin typeface="Georgia" pitchFamily="34" charset="0"/>
                <a:ea typeface="Georgia" pitchFamily="34" charset="-122"/>
                <a:cs typeface="Georgia" pitchFamily="34" charset="-120"/>
              </a:rPr>
              <a:t>[2]</a:t>
            </a:r>
            <a:pPr indent="0" marL="0">
              <a:lnSpc>
                <a:spcPct val="125000"/>
              </a:lnSpc>
              <a:spcAft>
                <a:spcPts val="800"/>
              </a:spcAft>
              <a:buNone/>
            </a:pPr>
            <a:r>
              <a:rPr lang="en-US" sz="2600" dirty="0">
                <a:solidFill>
                  <a:srgbClr val="F2F0EA"/>
                </a:solidFill>
                <a:latin typeface="Georgia" pitchFamily="34" charset="0"/>
                <a:ea typeface="Georgia" pitchFamily="34" charset="-122"/>
                <a:cs typeface="Georgia" pitchFamily="34" charset="-120"/>
              </a:rPr>
              <a:t> MADALENA: Que fazes?… que fizeste? Que é isto, oh meu Deus!</a:t>
            </a:r>
            <a:endParaRPr lang="en-US" sz="2600" dirty="0"/>
          </a:p>
          <a:p>
            <a:pPr indent="0" marL="0">
              <a:lnSpc>
                <a:spcPct val="125000"/>
              </a:lnSpc>
              <a:spcAft>
                <a:spcPts val="800"/>
              </a:spcAft>
              <a:buNone/>
            </a:pPr>
            <a:r>
              <a:rPr lang="en-US" sz="2600" b="1" dirty="0">
                <a:solidFill>
                  <a:srgbClr val="F2F0EA"/>
                </a:solidFill>
                <a:latin typeface="Georgia" pitchFamily="34" charset="0"/>
                <a:ea typeface="Georgia" pitchFamily="34" charset="-122"/>
                <a:cs typeface="Georgia" pitchFamily="34" charset="-120"/>
              </a:rPr>
              <a:t>[3]</a:t>
            </a:r>
            <a:pPr indent="0" marL="0">
              <a:lnSpc>
                <a:spcPct val="125000"/>
              </a:lnSpc>
              <a:spcAft>
                <a:spcPts val="800"/>
              </a:spcAft>
              <a:buNone/>
            </a:pPr>
            <a:r>
              <a:rPr lang="en-US" sz="2600" dirty="0">
                <a:solidFill>
                  <a:srgbClr val="F2F0EA"/>
                </a:solidFill>
                <a:latin typeface="Georgia" pitchFamily="34" charset="0"/>
                <a:ea typeface="Georgia" pitchFamily="34" charset="-122"/>
                <a:cs typeface="Georgia" pitchFamily="34" charset="-120"/>
              </a:rPr>
              <a:t> MANUEL, tranquilamente: Ilumino a minha casa para receber os muito poderosos e excelentes senhores governadores destes reinos. Suas excelências podem vir quando quiserem.</a:t>
            </a:r>
            <a:endParaRPr lang="en-US" sz="2600" dirty="0"/>
          </a:p>
        </p:txBody>
      </p:sp>
      <p:sp>
        <p:nvSpPr>
          <p:cNvPr id="8" name="Text 6"/>
          <p:cNvSpPr/>
          <p:nvPr/>
        </p:nvSpPr>
        <p:spPr>
          <a:xfrm>
            <a:off x="822960" y="5943600"/>
            <a:ext cx="9814255" cy="365760"/>
          </a:xfrm>
          <a:prstGeom prst="rect">
            <a:avLst/>
          </a:prstGeom>
          <a:noFill/>
          <a:ln/>
        </p:spPr>
        <p:txBody>
          <a:bodyPr wrap="square" lIns="0" tIns="0" rIns="0" bIns="0" rtlCol="0" anchor="ctr">
            <a:normAutofit/>
          </a:bodyPr>
          <a:lstStyle/>
          <a:p>
            <a:pPr indent="0" marL="0">
              <a:buNone/>
            </a:pPr>
            <a:r>
              <a:rPr lang="en-US" sz="1100" dirty="0">
                <a:solidFill>
                  <a:srgbClr val="A9A79F"/>
                </a:solidFill>
                <a:latin typeface="Arial" pitchFamily="34" charset="0"/>
                <a:ea typeface="Arial" pitchFamily="34" charset="-122"/>
                <a:cs typeface="Arial" pitchFamily="34" charset="-120"/>
              </a:rPr>
              <a:t>Almeida Garrett, </a:t>
            </a:r>
            <a:pPr indent="0" marL="0">
              <a:buNone/>
            </a:pPr>
            <a:r>
              <a:rPr lang="en-US" sz="1100" i="1" dirty="0">
                <a:solidFill>
                  <a:srgbClr val="A9A79F"/>
                </a:solidFill>
                <a:latin typeface="Arial" pitchFamily="34" charset="0"/>
                <a:ea typeface="Arial" pitchFamily="34" charset="-122"/>
                <a:cs typeface="Arial" pitchFamily="34" charset="-120"/>
              </a:rPr>
              <a:t>Frei Luís de Sousa</a:t>
            </a:r>
            <a:pPr indent="0" marL="0">
              <a:buNone/>
            </a:pPr>
            <a:r>
              <a:rPr lang="en-US" sz="1100" dirty="0">
                <a:solidFill>
                  <a:srgbClr val="A9A79F"/>
                </a:solidFill>
                <a:latin typeface="Arial" pitchFamily="34" charset="0"/>
                <a:ea typeface="Arial" pitchFamily="34" charset="-122"/>
                <a:cs typeface="Arial" pitchFamily="34" charset="-120"/>
              </a:rPr>
              <a:t> (1844), ato I, cenas XI e XII, ortografia atualizada.</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Lidas com o sítio onde são ditas, em que se parecem as duas frases?</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Dizem o contrário do que querem dar a entender</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São indicações de cena, como uma didascália</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Anunciam uma desgraça que ainda vai chegar</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Dizem o contrário do que querem dar a entender</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500" dirty="0">
                <a:solidFill>
                  <a:srgbClr val="F2F0EA"/>
                </a:solidFill>
                <a:latin typeface="Georgia" pitchFamily="34" charset="0"/>
                <a:ea typeface="Georgia" pitchFamily="34" charset="-122"/>
                <a:cs typeface="Georgia" pitchFamily="34" charset="-120"/>
              </a:rPr>
              <a:t>As duas são irónicas: Manuel diz «receber» com a casa a arder; Vieira diz que pregou ao mar diante dos homens. O contexto desmente a frase, e quem fala quer ser apanhado.</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21</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DECIDE: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Vale a pena dizer a verdade a quem não a quer ouvir?</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
        <p:nvSpPr>
          <p:cNvPr id="9" name="Text 7"/>
          <p:cNvSpPr/>
          <p:nvPr/>
        </p:nvSpPr>
        <p:spPr>
          <a:xfrm>
            <a:off x="822960" y="4800600"/>
            <a:ext cx="9814255" cy="1097280"/>
          </a:xfrm>
          <a:prstGeom prst="rect">
            <a:avLst/>
          </a:prstGeom>
          <a:noFill/>
          <a:ln/>
        </p:spPr>
        <p:txBody>
          <a:bodyPr wrap="square" lIns="0" tIns="0" rIns="0" bIns="0" rtlCol="0" anchor="t">
            <a:normAutofit/>
          </a:bodyPr>
          <a:lstStyle/>
          <a:p>
            <a:pPr indent="0" marL="0">
              <a:buNone/>
            </a:pPr>
            <a:r>
              <a:rPr lang="en-US" sz="1800" dirty="0">
                <a:solidFill>
                  <a:srgbClr val="A9A79F"/>
                </a:solidFill>
                <a:latin typeface="Arial" pitchFamily="34" charset="0"/>
                <a:ea typeface="Arial" pitchFamily="34" charset="-122"/>
                <a:cs typeface="Arial" pitchFamily="34" charset="-120"/>
              </a:rPr>
              <a:t>Vieira disse aos colonos de São Luís, falando aos peixes, o que eles não queriam ouvir. Manuel respondeu aos governadores com fogo e uma frase. O Romeiro disse «Ninguém», e a família desfez-se.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22</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DECIDE: OS LADOS</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verdade a quem não quer ouvir</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3210458" cy="822960"/>
          </a:xfrm>
          <a:prstGeom prst="rect">
            <a:avLst/>
          </a:prstGeom>
          <a:noFill/>
          <a:ln/>
        </p:spPr>
        <p:txBody>
          <a:bodyPr wrap="square" lIns="0" tIns="0" rIns="0" bIns="0" rtlCol="0" anchor="t">
            <a:normAutofit/>
          </a:bodyPr>
          <a:lstStyle/>
          <a:p>
            <a:pPr indent="0" marL="0">
              <a:buNone/>
            </a:pPr>
            <a:r>
              <a:rPr lang="en-US" sz="2000" b="1" dirty="0">
                <a:solidFill>
                  <a:srgbClr val="F2F0EA"/>
                </a:solidFill>
                <a:latin typeface="Arial" pitchFamily="34" charset="0"/>
                <a:ea typeface="Arial" pitchFamily="34" charset="-122"/>
                <a:cs typeface="Arial" pitchFamily="34" charset="-120"/>
              </a:rPr>
              <a:t>A razão de Vieira</a:t>
            </a:r>
            <a:endParaRPr lang="en-US" sz="2000" dirty="0"/>
          </a:p>
        </p:txBody>
      </p:sp>
      <p:sp>
        <p:nvSpPr>
          <p:cNvPr id="10" name="Text 8"/>
          <p:cNvSpPr/>
          <p:nvPr/>
        </p:nvSpPr>
        <p:spPr>
          <a:xfrm>
            <a:off x="822960" y="2971800"/>
            <a:ext cx="3210458" cy="3108960"/>
          </a:xfrm>
          <a:prstGeom prst="rect">
            <a:avLst/>
          </a:prstGeom>
          <a:noFill/>
          <a:ln/>
        </p:spPr>
        <p:txBody>
          <a:bodyPr wrap="square" lIns="0" tIns="0" rIns="0" bIns="0" rtlCol="0" anchor="t">
            <a:normAutofit/>
          </a:bodyPr>
          <a:lstStyle/>
          <a:p>
            <a:pPr indent="0" marL="0">
              <a:lnSpc>
                <a:spcPct val="115000"/>
              </a:lnSpc>
              <a:buNone/>
            </a:pPr>
            <a:r>
              <a:rPr lang="en-US" sz="1700" dirty="0">
                <a:solidFill>
                  <a:srgbClr val="F2F0EA"/>
                </a:solidFill>
                <a:latin typeface="Georgia" pitchFamily="34" charset="0"/>
                <a:ea typeface="Georgia" pitchFamily="34" charset="-122"/>
                <a:cs typeface="Georgia" pitchFamily="34" charset="-120"/>
              </a:rPr>
              <a:t>Vale a pena, e escolhe-se a maneira. Vieira fala aos peixes para os homens ouvirem e, no fim, lamenta: «Oh que boa doutrina era esta para a terra, se eu não pregara para o mar!». Três dias depois, embarca para o Reino «a procurar o remédio da salvação dos índios».Vieira, no fim do sermão; a nota da edição de 1682.</a:t>
            </a:r>
            <a:endParaRPr lang="en-US" sz="1700" dirty="0"/>
          </a:p>
        </p:txBody>
      </p:sp>
      <p:sp>
        <p:nvSpPr>
          <p:cNvPr id="11" name="Text 9"/>
          <p:cNvSpPr/>
          <p:nvPr/>
        </p:nvSpPr>
        <p:spPr>
          <a:xfrm>
            <a:off x="4490618" y="2103120"/>
            <a:ext cx="3210458" cy="822960"/>
          </a:xfrm>
          <a:prstGeom prst="rect">
            <a:avLst/>
          </a:prstGeom>
          <a:noFill/>
          <a:ln/>
        </p:spPr>
        <p:txBody>
          <a:bodyPr wrap="square" lIns="0" tIns="0" rIns="0" bIns="0" rtlCol="0" anchor="t">
            <a:normAutofit/>
          </a:bodyPr>
          <a:lstStyle/>
          <a:p>
            <a:pPr indent="0" marL="0">
              <a:buNone/>
            </a:pPr>
            <a:r>
              <a:rPr lang="en-US" sz="2000" b="1" dirty="0">
                <a:solidFill>
                  <a:srgbClr val="F2F0EA"/>
                </a:solidFill>
                <a:latin typeface="Arial" pitchFamily="34" charset="0"/>
                <a:ea typeface="Arial" pitchFamily="34" charset="-122"/>
                <a:cs typeface="Arial" pitchFamily="34" charset="-120"/>
              </a:rPr>
              <a:t>A razão de Manuel</a:t>
            </a:r>
            <a:endParaRPr lang="en-US" sz="2000" dirty="0"/>
          </a:p>
        </p:txBody>
      </p:sp>
      <p:sp>
        <p:nvSpPr>
          <p:cNvPr id="12" name="Text 10"/>
          <p:cNvSpPr/>
          <p:nvPr/>
        </p:nvSpPr>
        <p:spPr>
          <a:xfrm>
            <a:off x="4490618" y="2971800"/>
            <a:ext cx="3210458" cy="3108960"/>
          </a:xfrm>
          <a:prstGeom prst="rect">
            <a:avLst/>
          </a:prstGeom>
          <a:noFill/>
          <a:ln/>
        </p:spPr>
        <p:txBody>
          <a:bodyPr wrap="square" lIns="0" tIns="0" rIns="0" bIns="0" rtlCol="0" anchor="t">
            <a:normAutofit/>
          </a:bodyPr>
          <a:lstStyle/>
          <a:p>
            <a:pPr indent="0" marL="0">
              <a:lnSpc>
                <a:spcPct val="115000"/>
              </a:lnSpc>
              <a:buNone/>
            </a:pPr>
            <a:r>
              <a:rPr lang="en-US" sz="1700" dirty="0">
                <a:solidFill>
                  <a:srgbClr val="F2F0EA"/>
                </a:solidFill>
                <a:latin typeface="Georgia" pitchFamily="34" charset="0"/>
                <a:ea typeface="Georgia" pitchFamily="34" charset="-122"/>
                <a:cs typeface="Georgia" pitchFamily="34" charset="-120"/>
              </a:rPr>
              <a:t>Vale a pena, mas não só com palavras. Manuel atira as tochas e diz, tranquilamente: «Ilumino a minha casa para receber os muito poderosos e excelentes senhores governadores destes reinos». Pouco antes, dissera que um homem de honra, «por mais poderosa que seja a tirania, sempre lhe pode resistir».Manuel de Sousa, ato I, cenas XI e XII.</a:t>
            </a:r>
            <a:endParaRPr lang="en-US" sz="1700" dirty="0"/>
          </a:p>
        </p:txBody>
      </p:sp>
      <p:sp>
        <p:nvSpPr>
          <p:cNvPr id="13" name="Text 11"/>
          <p:cNvSpPr/>
          <p:nvPr/>
        </p:nvSpPr>
        <p:spPr>
          <a:xfrm>
            <a:off x="8158277" y="2103120"/>
            <a:ext cx="3210458" cy="822960"/>
          </a:xfrm>
          <a:prstGeom prst="rect">
            <a:avLst/>
          </a:prstGeom>
          <a:noFill/>
          <a:ln/>
        </p:spPr>
        <p:txBody>
          <a:bodyPr wrap="square" lIns="0" tIns="0" rIns="0" bIns="0" rtlCol="0" anchor="t">
            <a:normAutofit/>
          </a:bodyPr>
          <a:lstStyle/>
          <a:p>
            <a:pPr indent="0" marL="0">
              <a:buNone/>
            </a:pPr>
            <a:r>
              <a:rPr lang="en-US" sz="2000" b="1" dirty="0">
                <a:solidFill>
                  <a:srgbClr val="F2F0EA"/>
                </a:solidFill>
                <a:latin typeface="Arial" pitchFamily="34" charset="0"/>
                <a:ea typeface="Arial" pitchFamily="34" charset="-122"/>
                <a:cs typeface="Arial" pitchFamily="34" charset="-120"/>
              </a:rPr>
              <a:t>A objeção do Romeiro</a:t>
            </a:r>
            <a:endParaRPr lang="en-US" sz="2000" dirty="0"/>
          </a:p>
        </p:txBody>
      </p:sp>
      <p:sp>
        <p:nvSpPr>
          <p:cNvPr id="14" name="Text 12"/>
          <p:cNvSpPr/>
          <p:nvPr/>
        </p:nvSpPr>
        <p:spPr>
          <a:xfrm>
            <a:off x="8158277" y="2971800"/>
            <a:ext cx="3210458" cy="3108960"/>
          </a:xfrm>
          <a:prstGeom prst="rect">
            <a:avLst/>
          </a:prstGeom>
          <a:noFill/>
          <a:ln/>
        </p:spPr>
        <p:txBody>
          <a:bodyPr wrap="square" lIns="0" tIns="0" rIns="0" bIns="0" rtlCol="0" anchor="t">
            <a:normAutofit/>
          </a:bodyPr>
          <a:lstStyle/>
          <a:p>
            <a:pPr indent="0" marL="0">
              <a:lnSpc>
                <a:spcPct val="115000"/>
              </a:lnSpc>
              <a:buNone/>
            </a:pPr>
            <a:r>
              <a:rPr lang="en-US" sz="1700" dirty="0">
                <a:solidFill>
                  <a:srgbClr val="F2F0EA"/>
                </a:solidFill>
                <a:latin typeface="Georgia" pitchFamily="34" charset="0"/>
                <a:ea typeface="Georgia" pitchFamily="34" charset="-122"/>
                <a:cs typeface="Georgia" pitchFamily="34" charset="-120"/>
              </a:rPr>
              <a:t>Uma objeção possível: a verdade também destrói, e quem paga nem sempre é quem a diz. O Romeiro aponta para o retrato e diz «Ninguém»; no ato III, diz a Telmo: «Fui imprudente, fui injusto, fui duro e cruel. E para quê?» No fim, Maria morre e os pais vão tomar o hábito. Calar teria poupado alguém?O Romeiro, a Telmo, ato III, cena V.</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23</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O texto de 100 a 140 palavras, por ordem:</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Text 7"/>
          <p:cNvSpPr/>
          <p:nvPr/>
        </p:nvSpPr>
        <p:spPr>
          <a:xfrm>
            <a:off x="822960" y="2514600"/>
            <a:ext cx="9814255" cy="36118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A posição, na primeira frase</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Um exemplo de cada autor, com passagem e explicação</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A última frase volta à posição</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Uma objeção e a resposta</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24</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2377440"/>
          </a:xfrm>
          <a:prstGeom prst="rect">
            <a:avLst/>
          </a:prstGeom>
          <a:noFill/>
          <a:ln/>
        </p:spPr>
        <p:txBody>
          <a:bodyPr wrap="square" lIns="0" tIns="0" rIns="0" bIns="0" rtlCol="0" anchor="t">
            <a:normAutofit/>
          </a:bodyPr>
          <a:lstStyle/>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A posição, na primeira frase</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Um exemplo de cada autor, com passagem e explicação</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Uma objeção e a resposta</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A última frase volta à posição</a:t>
            </a:r>
            <a:endParaRPr lang="en-US" sz="2200" dirty="0"/>
          </a:p>
        </p:txBody>
      </p:sp>
      <p:sp>
        <p:nvSpPr>
          <p:cNvPr id="8" name="Shape 6"/>
          <p:cNvSpPr/>
          <p:nvPr/>
        </p:nvSpPr>
        <p:spPr>
          <a:xfrm>
            <a:off x="822960" y="3520440"/>
            <a:ext cx="640080" cy="64008"/>
          </a:xfrm>
          <a:prstGeom prst="rect">
            <a:avLst/>
          </a:prstGeom>
          <a:solidFill>
            <a:srgbClr val="E4555C"/>
          </a:solidFill>
          <a:ln w="12700">
            <a:solidFill>
              <a:srgbClr val="E4555C"/>
            </a:solidFill>
            <a:prstDash val="solid"/>
          </a:ln>
        </p:spPr>
      </p:sp>
      <p:sp>
        <p:nvSpPr>
          <p:cNvPr id="9" name="Text 7"/>
          <p:cNvSpPr/>
          <p:nvPr/>
        </p:nvSpPr>
        <p:spPr>
          <a:xfrm>
            <a:off x="822960" y="3794760"/>
            <a:ext cx="9814255" cy="23317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Uma posição precisa de provas: indica uma passagem de Vieira e outra de Garrett, </a:t>
            </a:r>
            <a:pPr indent="0" marL="0">
              <a:lnSpc>
                <a:spcPct val="120000"/>
              </a:lnSpc>
              <a:buNone/>
            </a:pPr>
            <a:r>
              <a:rPr lang="en-US" sz="2200" b="1" dirty="0">
                <a:solidFill>
                  <a:srgbClr val="F2F0EA"/>
                </a:solidFill>
                <a:latin typeface="Georgia" pitchFamily="34" charset="0"/>
                <a:ea typeface="Georgia" pitchFamily="34" charset="-122"/>
                <a:cs typeface="Georgia" pitchFamily="34" charset="-120"/>
              </a:rPr>
              <a:t>explica</a:t>
            </a:r>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 como cada uma sustenta a tese, enfrenta uma objeção pertinente e conclui sem repetir apenas a frase inicial.</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Qual destas frases é uma objeção a «Vieira e Garrett usam a palavra para resistir a um poder»?</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962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Em Garrett, Manuel resiste também com um gesto, e não apenas com a palavra</a:t>
            </a:r>
            <a:endParaRPr lang="en-US" sz="2400" dirty="0"/>
          </a:p>
        </p:txBody>
      </p:sp>
      <p:sp>
        <p:nvSpPr>
          <p:cNvPr id="13" name="Shape 11"/>
          <p:cNvSpPr/>
          <p:nvPr/>
        </p:nvSpPr>
        <p:spPr>
          <a:xfrm>
            <a:off x="822960" y="3496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496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505200"/>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Os dois textos são do mesmo século, por isso não há diferença entre os meios</a:t>
            </a:r>
            <a:endParaRPr lang="en-US" sz="2400" dirty="0"/>
          </a:p>
        </p:txBody>
      </p:sp>
      <p:sp>
        <p:nvSpPr>
          <p:cNvPr id="16" name="Shape 14"/>
          <p:cNvSpPr/>
          <p:nvPr/>
        </p:nvSpPr>
        <p:spPr>
          <a:xfrm>
            <a:off x="822960" y="4477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4477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4486656"/>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Vieira nunca se dirigiu aos homens, e Garrett nunca chegou a escrever para teatro</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Em Garrett, Manuel resiste também com um gesto, e não apenas com a palavra</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Esta objeção </a:t>
            </a:r>
            <a:pPr indent="0" marL="0">
              <a:lnSpc>
                <a:spcPct val="120000"/>
              </a:lnSpc>
              <a:buNone/>
            </a:pPr>
            <a:r>
              <a:rPr lang="en-US" sz="2200" b="1" dirty="0">
                <a:solidFill>
                  <a:srgbClr val="F2F0EA"/>
                </a:solidFill>
                <a:latin typeface="Georgia" pitchFamily="34" charset="0"/>
                <a:ea typeface="Georgia" pitchFamily="34" charset="-122"/>
                <a:cs typeface="Georgia" pitchFamily="34" charset="-120"/>
              </a:rPr>
              <a:t>limita a tese</a:t>
            </a:r>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 Vieira acusa pela alegoria e pela palavra; em Garrett, a resistência de Manuel torna-se visível também no incêndio. Uma boa resposta reconhece a diferença dos meios, sem negar que ambos confrontam o poder.</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1 DE 3</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«se eu não pregara para o mar»: Vieira pregou mesmo para o mar?</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28</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2 DE 3</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Manuel resiste aos governadores com fogo, não com um discurso. Isso desfaz a ideia de que Vieira e Garrett usam a palavra contra um poder?</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3 DE 3</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Como se defende uma regra em dois minutos?</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EM PAPEL, O QUE SE ENTREGA</a:t>
            </a:r>
            <a:endParaRPr lang="en-US" sz="1100" dirty="0"/>
          </a:p>
        </p:txBody>
      </p:sp>
      <p:sp>
        <p:nvSpPr>
          <p:cNvPr id="7" name="Text 5"/>
          <p:cNvSpPr/>
          <p:nvPr/>
        </p:nvSpPr>
        <p:spPr>
          <a:xfrm>
            <a:off x="822960" y="1005840"/>
            <a:ext cx="9814255" cy="1554480"/>
          </a:xfrm>
          <a:prstGeom prst="rect">
            <a:avLst/>
          </a:prstGeom>
          <a:noFill/>
          <a:ln/>
        </p:spPr>
        <p:txBody>
          <a:bodyPr wrap="square" lIns="0" tIns="0" rIns="0" bIns="0" rtlCol="0" anchor="b">
            <a:normAutofit/>
          </a:bodyPr>
          <a:lstStyle/>
          <a:p>
            <a:pPr indent="0" marL="0">
              <a:buNone/>
            </a:pPr>
            <a:r>
              <a:rPr lang="en-US" sz="2400" dirty="0">
                <a:solidFill>
                  <a:srgbClr val="F2F0EA"/>
                </a:solidFill>
                <a:latin typeface="Georgia" pitchFamily="34" charset="0"/>
                <a:ea typeface="Georgia" pitchFamily="34" charset="-122"/>
                <a:cs typeface="Georgia" pitchFamily="34" charset="-120"/>
              </a:rPr>
              <a:t>«Vieira e Garrett usam a palavra para resistir a um poder.» Concordas? Responde em 100 a 140 palavras: a tua posição; uma passagem de cada autor, entre aspas e explicada; uma objeção com resposta; uma frase final que volta à posição.</a:t>
            </a:r>
            <a:endParaRPr lang="en-US" sz="2400" dirty="0"/>
          </a:p>
        </p:txBody>
      </p:sp>
      <p:sp>
        <p:nvSpPr>
          <p:cNvPr id="8" name="Shape 6"/>
          <p:cNvSpPr/>
          <p:nvPr/>
        </p:nvSpPr>
        <p:spPr>
          <a:xfrm>
            <a:off x="822960" y="2697480"/>
            <a:ext cx="640080" cy="64008"/>
          </a:xfrm>
          <a:prstGeom prst="rect">
            <a:avLst/>
          </a:prstGeom>
          <a:solidFill>
            <a:srgbClr val="E4555C"/>
          </a:solidFill>
          <a:ln w="12700">
            <a:solidFill>
              <a:srgbClr val="E4555C"/>
            </a:solidFill>
            <a:prstDash val="solid"/>
          </a:ln>
        </p:spPr>
      </p:sp>
      <p:sp>
        <p:nvSpPr>
          <p:cNvPr id="9" name="Text 7"/>
          <p:cNvSpPr/>
          <p:nvPr/>
        </p:nvSpPr>
        <p:spPr>
          <a:xfrm>
            <a:off x="822960" y="2971800"/>
            <a:ext cx="9814255" cy="320040"/>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QUE CONTA</a:t>
            </a:r>
            <a:endParaRPr lang="en-US" sz="1100" dirty="0"/>
          </a:p>
        </p:txBody>
      </p:sp>
      <p:sp>
        <p:nvSpPr>
          <p:cNvPr id="10" name="Shape 8"/>
          <p:cNvSpPr/>
          <p:nvPr/>
        </p:nvSpPr>
        <p:spPr>
          <a:xfrm>
            <a:off x="1005840" y="3611880"/>
            <a:ext cx="0" cy="2087118"/>
          </a:xfrm>
          <a:prstGeom prst="line">
            <a:avLst/>
          </a:prstGeom>
          <a:noFill/>
          <a:ln w="12700">
            <a:solidFill>
              <a:srgbClr val="A9A79F"/>
            </a:solidFill>
            <a:prstDash val="solid"/>
          </a:ln>
        </p:spPr>
      </p:sp>
      <p:sp>
        <p:nvSpPr>
          <p:cNvPr id="11" name="Shape 9"/>
          <p:cNvSpPr/>
          <p:nvPr/>
        </p:nvSpPr>
        <p:spPr>
          <a:xfrm>
            <a:off x="822960" y="342900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4290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1"/>
          <p:cNvSpPr/>
          <p:nvPr/>
        </p:nvSpPr>
        <p:spPr>
          <a:xfrm>
            <a:off x="1417320" y="3438144"/>
            <a:ext cx="9174175" cy="790956"/>
          </a:xfrm>
          <a:prstGeom prst="rect">
            <a:avLst/>
          </a:prstGeom>
          <a:noFill/>
          <a:ln/>
        </p:spPr>
        <p:txBody>
          <a:bodyPr wrap="square" lIns="0" tIns="0" rIns="0" bIns="0" rtlCol="0" anchor="t">
            <a:normAutofit/>
          </a:bodyPr>
          <a:lstStyle/>
          <a:p>
            <a:pPr indent="0" marL="0">
              <a:lnSpc>
                <a:spcPct val="105000"/>
              </a:lnSpc>
              <a:buNone/>
            </a:pPr>
            <a:r>
              <a:rPr lang="en-US" sz="1800" dirty="0">
                <a:solidFill>
                  <a:srgbClr val="F2F0EA"/>
                </a:solidFill>
                <a:latin typeface="Arial" pitchFamily="34" charset="0"/>
                <a:ea typeface="Arial" pitchFamily="34" charset="-122"/>
                <a:cs typeface="Arial" pitchFamily="34" charset="-120"/>
              </a:rPr>
              <a:t>A primeira frase diz a posição (sim, não ou até onde) e a última volta a ela sem a copiar.</a:t>
            </a:r>
            <a:endParaRPr lang="en-US" sz="1800" dirty="0"/>
          </a:p>
        </p:txBody>
      </p:sp>
      <p:sp>
        <p:nvSpPr>
          <p:cNvPr id="14" name="Shape 12"/>
          <p:cNvSpPr/>
          <p:nvPr/>
        </p:nvSpPr>
        <p:spPr>
          <a:xfrm>
            <a:off x="822960" y="421995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42199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417320" y="4229100"/>
            <a:ext cx="9174175" cy="790956"/>
          </a:xfrm>
          <a:prstGeom prst="rect">
            <a:avLst/>
          </a:prstGeom>
          <a:noFill/>
          <a:ln/>
        </p:spPr>
        <p:txBody>
          <a:bodyPr wrap="square" lIns="0" tIns="0" rIns="0" bIns="0" rtlCol="0" anchor="t">
            <a:normAutofit/>
          </a:bodyPr>
          <a:lstStyle/>
          <a:p>
            <a:pPr indent="0" marL="0">
              <a:lnSpc>
                <a:spcPct val="105000"/>
              </a:lnSpc>
              <a:buNone/>
            </a:pPr>
            <a:r>
              <a:rPr lang="en-US" sz="1800" dirty="0">
                <a:solidFill>
                  <a:srgbClr val="F2F0EA"/>
                </a:solidFill>
                <a:latin typeface="Arial" pitchFamily="34" charset="0"/>
                <a:ea typeface="Arial" pitchFamily="34" charset="-122"/>
                <a:cs typeface="Arial" pitchFamily="34" charset="-120"/>
              </a:rPr>
              <a:t>Cita, entre aspas, uma passagem de Vieira e uma de Garrett (a fala de uma personagem) e explica como cada uma sustenta a posição.</a:t>
            </a:r>
            <a:endParaRPr lang="en-US" sz="1800" dirty="0"/>
          </a:p>
        </p:txBody>
      </p:sp>
      <p:sp>
        <p:nvSpPr>
          <p:cNvPr id="17" name="Shape 15"/>
          <p:cNvSpPr/>
          <p:nvPr/>
        </p:nvSpPr>
        <p:spPr>
          <a:xfrm>
            <a:off x="822960" y="501091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50109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1417320" y="5020056"/>
            <a:ext cx="9174175" cy="505206"/>
          </a:xfrm>
          <a:prstGeom prst="rect">
            <a:avLst/>
          </a:prstGeom>
          <a:noFill/>
          <a:ln/>
        </p:spPr>
        <p:txBody>
          <a:bodyPr wrap="square" lIns="0" tIns="0" rIns="0" bIns="0" rtlCol="0" anchor="t">
            <a:normAutofit/>
          </a:bodyPr>
          <a:lstStyle/>
          <a:p>
            <a:pPr indent="0" marL="0">
              <a:lnSpc>
                <a:spcPct val="105000"/>
              </a:lnSpc>
              <a:buNone/>
            </a:pPr>
            <a:r>
              <a:rPr lang="en-US" sz="1800" dirty="0">
                <a:solidFill>
                  <a:srgbClr val="F2F0EA"/>
                </a:solidFill>
                <a:latin typeface="Arial" pitchFamily="34" charset="0"/>
                <a:ea typeface="Arial" pitchFamily="34" charset="-122"/>
                <a:cs typeface="Arial" pitchFamily="34" charset="-120"/>
              </a:rPr>
              <a:t>Apresenta uma objeção pertinente e responde-lhe com o texto.</a:t>
            </a:r>
            <a:endParaRPr lang="en-US" sz="1800" dirty="0"/>
          </a:p>
        </p:txBody>
      </p:sp>
      <p:sp>
        <p:nvSpPr>
          <p:cNvPr id="20" name="Shape 18"/>
          <p:cNvSpPr/>
          <p:nvPr/>
        </p:nvSpPr>
        <p:spPr>
          <a:xfrm>
            <a:off x="822960" y="5516118"/>
            <a:ext cx="365760" cy="365760"/>
          </a:xfrm>
          <a:prstGeom prst="ellipse">
            <a:avLst/>
          </a:prstGeom>
          <a:solidFill>
            <a:srgbClr val="111111"/>
          </a:solidFill>
          <a:ln w="15875">
            <a:solidFill>
              <a:srgbClr val="F2F0EA"/>
            </a:solidFill>
            <a:prstDash val="solid"/>
          </a:ln>
        </p:spPr>
      </p:sp>
      <p:sp>
        <p:nvSpPr>
          <p:cNvPr id="21" name="Text 19"/>
          <p:cNvSpPr/>
          <p:nvPr/>
        </p:nvSpPr>
        <p:spPr>
          <a:xfrm>
            <a:off x="822960" y="551611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417320" y="5525262"/>
            <a:ext cx="9174175" cy="505206"/>
          </a:xfrm>
          <a:prstGeom prst="rect">
            <a:avLst/>
          </a:prstGeom>
          <a:noFill/>
          <a:ln/>
        </p:spPr>
        <p:txBody>
          <a:bodyPr wrap="square" lIns="0" tIns="0" rIns="0" bIns="0" rtlCol="0" anchor="t">
            <a:normAutofit/>
          </a:bodyPr>
          <a:lstStyle/>
          <a:p>
            <a:pPr indent="0" marL="0">
              <a:lnSpc>
                <a:spcPct val="105000"/>
              </a:lnSpc>
              <a:buNone/>
            </a:pPr>
            <a:r>
              <a:rPr lang="en-US" sz="1800" dirty="0">
                <a:solidFill>
                  <a:srgbClr val="F2F0EA"/>
                </a:solidFill>
                <a:latin typeface="Arial" pitchFamily="34" charset="0"/>
                <a:ea typeface="Arial" pitchFamily="34" charset="-122"/>
                <a:cs typeface="Arial" pitchFamily="34" charset="-120"/>
              </a:rPr>
              <a:t>Tem entre 100 e 140 palavras, com o número escrito no fim.</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31</a:t>
            </a:r>
            <a:endParaRPr lang="en-US" sz="1000" dirty="0"/>
          </a:p>
        </p:txBody>
      </p:sp>
      <p:sp>
        <p:nvSpPr>
          <p:cNvPr id="5" name="Shape 3"/>
          <p:cNvSpPr/>
          <p:nvPr/>
        </p:nvSpPr>
        <p:spPr>
          <a:xfrm>
            <a:off x="822960" y="502920"/>
            <a:ext cx="201168" cy="201168"/>
          </a:xfrm>
          <a:prstGeom prst="triangl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LEVAR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A ironia diz ao poder, pelo avesso, o que ele não quer ouvir.</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18: A palavra contra o poder</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32</a:t>
            </a:r>
            <a:endParaRPr lang="en-US" sz="1000" dirty="0"/>
          </a:p>
        </p:txBody>
      </p:sp>
      <p:sp>
        <p:nvSpPr>
          <p:cNvPr id="5" name="Shape 3"/>
          <p:cNvSpPr/>
          <p:nvPr/>
        </p:nvSpPr>
        <p:spPr>
          <a:xfrm>
            <a:off x="822960" y="502920"/>
            <a:ext cx="201168" cy="201168"/>
          </a:xfrm>
          <a:prstGeom prst="triangl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7" name="Text 5"/>
          <p:cNvSpPr/>
          <p:nvPr/>
        </p:nvSpPr>
        <p:spPr>
          <a:xfrm>
            <a:off x="822960" y="868680"/>
            <a:ext cx="6705295" cy="822960"/>
          </a:xfrm>
          <a:prstGeom prst="rect">
            <a:avLst/>
          </a:prstGeom>
          <a:noFill/>
          <a:ln/>
        </p:spPr>
        <p:txBody>
          <a:bodyPr wrap="square" lIns="0" tIns="0" rIns="0" bIns="0" rtlCol="0" anchor="b"/>
          <a:lstStyle/>
          <a:p>
            <a:pPr indent="0" marL="0">
              <a:buNone/>
            </a:pPr>
            <a:r>
              <a:rPr lang="en-US" sz="3600" dirty="0">
                <a:solidFill>
                  <a:srgbClr val="F2F0EA"/>
                </a:solidFill>
                <a:latin typeface="Arial" pitchFamily="34" charset="0"/>
                <a:ea typeface="Arial" pitchFamily="34" charset="-122"/>
                <a:cs typeface="Arial" pitchFamily="34" charset="-120"/>
              </a:rPr>
              <a:t>Para ir mais longe</a:t>
            </a:r>
            <a:endParaRPr lang="en-US" sz="36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6522415" cy="3291840"/>
          </a:xfrm>
          <a:prstGeom prst="rect">
            <a:avLst/>
          </a:prstGeom>
          <a:noFill/>
          <a:ln/>
        </p:spPr>
        <p:txBody>
          <a:bodyPr wrap="square" lIns="0" tIns="0" rIns="0" bIns="0" rtlCol="0" anchor="t">
            <a:normAutofit/>
          </a:bodyPr>
          <a:lstStyle/>
          <a:p>
            <a:pPr indent="0" marL="0">
              <a:lnSpc>
                <a:spcPct val="120000"/>
              </a:lnSpc>
              <a:buNone/>
            </a:pPr>
            <a:r>
              <a:rPr lang="en-US" sz="2400" dirty="0">
                <a:solidFill>
                  <a:srgbClr val="F2F0EA"/>
                </a:solidFill>
                <a:latin typeface="Georgia" pitchFamily="34" charset="0"/>
                <a:ea typeface="Georgia" pitchFamily="34" charset="-122"/>
                <a:cs typeface="Georgia" pitchFamily="34" charset="-120"/>
              </a:rPr>
              <a:t>Para ir mais longe (opcional, em casa): 2 cartões de leitura e 3 de pergunta. Vieira e Garrett em paralelo, com os dois rostos; facto, interpretação ou opinião sobre a peça, com a página de 1844; os três passos da tragédia (presságio, revelação, catástrofe), aplicados a uma série imaginada; e a peroração separada da repreensão, num caso da escola.</a:t>
            </a:r>
            <a:endParaRPr lang="en-US" sz="2400" dirty="0"/>
          </a:p>
        </p:txBody>
      </p:sp>
      <p:sp>
        <p:nvSpPr>
          <p:cNvPr id="10" name="Shape 8"/>
          <p:cNvSpPr/>
          <p:nvPr/>
        </p:nvSpPr>
        <p:spPr>
          <a:xfrm>
            <a:off x="8515807" y="1078992"/>
            <a:ext cx="2962656" cy="2962656"/>
          </a:xfrm>
          <a:prstGeom prst="rect">
            <a:avLst/>
          </a:prstGeom>
          <a:solidFill>
            <a:srgbClr val="FFFFFF"/>
          </a:solidFill>
          <a:ln w="12700">
            <a:solidFill>
              <a:srgbClr val="F2F0EA"/>
            </a:solidFill>
            <a:prstDash val="solid"/>
          </a:ln>
        </p:spPr>
      </p:sp>
      <p:pic>
        <p:nvPicPr>
          <p:cNvPr id="11" name="Image 0" descr="/tmp/aulas-diap-jdU3MK/qr-18.png">    </p:cNvPr>
          <p:cNvPicPr>
            <a:picLocks noChangeAspect="1"/>
          </p:cNvPicPr>
          <p:nvPr/>
        </p:nvPicPr>
        <p:blipFill>
          <a:blip r:embed="rId1"/>
          <a:stretch>
            <a:fillRect/>
          </a:stretch>
        </p:blipFill>
        <p:spPr>
          <a:xfrm>
            <a:off x="8625535" y="1188720"/>
            <a:ext cx="2743200" cy="2743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Módulo 4, aula 18: A palavra contra o poder</dc:title>
  <dc:subject>PptxGenJS Presentation</dc:subject>
  <dc:creator>EPI, Português</dc:creator>
  <cp:lastModifiedBy>EPI, Português</cp:lastModifiedBy>
  <cp:revision>1</cp:revision>
  <dcterms:created xsi:type="dcterms:W3CDTF">2026-10-24T00:57:45Z</dcterms:created>
  <dcterms:modified xsi:type="dcterms:W3CDTF">2026-10-24T00:57:45Z</dcterms:modified>
</cp:coreProperties>
</file>