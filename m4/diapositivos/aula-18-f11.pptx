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18: A palavra contra o poder</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a:t>
            </a:r>
            <a:endParaRPr lang="en-US" sz="1000" dirty="0"/>
          </a:p>
        </p:txBody>
      </p:sp>
      <p:sp>
        <p:nvSpPr>
          <p:cNvPr id="5" name="Text 3"/>
          <p:cNvSpPr/>
          <p:nvPr/>
        </p:nvSpPr>
        <p:spPr>
          <a:xfrm>
            <a:off x="822960" y="457200"/>
            <a:ext cx="981425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PORTUGUÊS, 2.º ANO, MÓDULO 4, UNIDADE 3: TRINTA DIAS NO ABRIGO</a:t>
            </a:r>
            <a:endParaRPr lang="en-US" sz="1100" dirty="0"/>
          </a:p>
        </p:txBody>
      </p:sp>
      <p:sp>
        <p:nvSpPr>
          <p:cNvPr id="6" name="Text 4"/>
          <p:cNvSpPr/>
          <p:nvPr/>
        </p:nvSpPr>
        <p:spPr>
          <a:xfrm>
            <a:off x="777240" y="685800"/>
            <a:ext cx="5120640" cy="1920240"/>
          </a:xfrm>
          <a:prstGeom prst="rect">
            <a:avLst/>
          </a:prstGeom>
          <a:noFill/>
          <a:ln/>
        </p:spPr>
        <p:txBody>
          <a:bodyPr wrap="square" lIns="0" tIns="0" rIns="0" bIns="0" rtlCol="0" anchor="b"/>
          <a:lstStyle/>
          <a:p>
            <a:pPr indent="0" marL="0">
              <a:buNone/>
            </a:pPr>
            <a:r>
              <a:rPr lang="en-US" sz="15000" dirty="0">
                <a:solidFill>
                  <a:srgbClr val="F2F0EA"/>
                </a:solidFill>
                <a:latin typeface="Arial" pitchFamily="34" charset="0"/>
                <a:ea typeface="Arial" pitchFamily="34" charset="-122"/>
                <a:cs typeface="Arial" pitchFamily="34" charset="-120"/>
              </a:rPr>
              <a:t>18</a:t>
            </a:r>
            <a:endParaRPr lang="en-US" sz="15000" dirty="0"/>
          </a:p>
        </p:txBody>
      </p:sp>
      <p:sp>
        <p:nvSpPr>
          <p:cNvPr id="7" name="Text 5"/>
          <p:cNvSpPr/>
          <p:nvPr/>
        </p:nvSpPr>
        <p:spPr>
          <a:xfrm>
            <a:off x="822960" y="2697480"/>
            <a:ext cx="6583680" cy="1280160"/>
          </a:xfrm>
          <a:prstGeom prst="rect">
            <a:avLst/>
          </a:prstGeom>
          <a:noFill/>
          <a:ln/>
        </p:spPr>
        <p:txBody>
          <a:bodyPr wrap="square" lIns="0" tIns="0" rIns="0" bIns="0" rtlCol="0" anchor="b">
            <a:normAutofit/>
          </a:bodyPr>
          <a:lstStyle/>
          <a:p>
            <a:pPr indent="0" marL="0">
              <a:buNone/>
            </a:pPr>
            <a:r>
              <a:rPr lang="en-US" sz="4000" dirty="0">
                <a:solidFill>
                  <a:srgbClr val="F2F0EA"/>
                </a:solidFill>
                <a:latin typeface="Arial" pitchFamily="34" charset="0"/>
                <a:ea typeface="Arial" pitchFamily="34" charset="-122"/>
                <a:cs typeface="Arial" pitchFamily="34" charset="-120"/>
              </a:rPr>
              <a:t>A palavra contra o poder</a:t>
            </a:r>
            <a:endParaRPr lang="en-US" sz="4000" dirty="0"/>
          </a:p>
        </p:txBody>
      </p:sp>
      <p:sp>
        <p:nvSpPr>
          <p:cNvPr id="8" name="Shape 6"/>
          <p:cNvSpPr/>
          <p:nvPr/>
        </p:nvSpPr>
        <p:spPr>
          <a:xfrm>
            <a:off x="822960" y="4069080"/>
            <a:ext cx="640080" cy="64008"/>
          </a:xfrm>
          <a:prstGeom prst="rect">
            <a:avLst/>
          </a:prstGeom>
          <a:solidFill>
            <a:srgbClr val="E4555C"/>
          </a:solidFill>
          <a:ln w="12700">
            <a:solidFill>
              <a:srgbClr val="E4555C"/>
            </a:solidFill>
            <a:prstDash val="solid"/>
          </a:ln>
        </p:spPr>
      </p:sp>
      <p:sp>
        <p:nvSpPr>
          <p:cNvPr id="9" name="Text 7"/>
          <p:cNvSpPr/>
          <p:nvPr/>
        </p:nvSpPr>
        <p:spPr>
          <a:xfrm>
            <a:off x="822960" y="4297680"/>
            <a:ext cx="6583680" cy="1463040"/>
          </a:xfrm>
          <a:prstGeom prst="rect">
            <a:avLst/>
          </a:prstGeom>
          <a:noFill/>
          <a:ln/>
        </p:spPr>
        <p:txBody>
          <a:bodyPr wrap="square" lIns="0" tIns="0" rIns="0" bIns="0" rtlCol="0" anchor="t">
            <a:normAutofit/>
          </a:bodyPr>
          <a:lstStyle/>
          <a:p>
            <a:pPr indent="0" marL="0">
              <a:lnSpc>
                <a:spcPct val="115000"/>
              </a:lnSpc>
              <a:buNone/>
            </a:pPr>
            <a:r>
              <a:rPr lang="en-US" sz="1800" i="1" dirty="0">
                <a:solidFill>
                  <a:srgbClr val="F2F0EA"/>
                </a:solidFill>
                <a:latin typeface="Georgia" pitchFamily="34" charset="0"/>
                <a:ea typeface="Georgia" pitchFamily="34" charset="-122"/>
                <a:cs typeface="Georgia" pitchFamily="34" charset="-120"/>
              </a:rPr>
              <a:t>Comparar a maneira como Vieira e Garrett dizem a um poder o que ele não quer ouvir, dar nome à peroração, escrever um texto de opinião de 100 a 140 palavras e fechar a unidade 3 com o desafio e a síntese.</a:t>
            </a:r>
            <a:endParaRPr lang="en-US" sz="1800" dirty="0"/>
          </a:p>
        </p:txBody>
      </p:sp>
      <p:sp>
        <p:nvSpPr>
          <p:cNvPr id="10" name="Shape 8"/>
          <p:cNvSpPr/>
          <p:nvPr/>
        </p:nvSpPr>
        <p:spPr>
          <a:xfrm>
            <a:off x="822960" y="6089904"/>
            <a:ext cx="182880" cy="182880"/>
          </a:xfrm>
          <a:prstGeom prst="ellipse">
            <a:avLst/>
          </a:prstGeom>
          <a:ln w="19050">
            <a:solidFill>
              <a:srgbClr val="F2F0EA"/>
            </a:solidFill>
            <a:prstDash val="solid"/>
          </a:ln>
        </p:spPr>
      </p:sp>
      <p:sp>
        <p:nvSpPr>
          <p:cNvPr id="11" name="Shape 9"/>
          <p:cNvSpPr/>
          <p:nvPr/>
        </p:nvSpPr>
        <p:spPr>
          <a:xfrm>
            <a:off x="1152144" y="6089904"/>
            <a:ext cx="182880" cy="182880"/>
          </a:xfrm>
          <a:prstGeom prst="rect">
            <a:avLst/>
          </a:prstGeom>
          <a:ln w="19050">
            <a:solidFill>
              <a:srgbClr val="F2F0EA"/>
            </a:solidFill>
            <a:prstDash val="solid"/>
          </a:ln>
        </p:spPr>
      </p:sp>
      <p:sp>
        <p:nvSpPr>
          <p:cNvPr id="12" name="Shape 10"/>
          <p:cNvSpPr/>
          <p:nvPr/>
        </p:nvSpPr>
        <p:spPr>
          <a:xfrm>
            <a:off x="1481328" y="6089904"/>
            <a:ext cx="182880" cy="182880"/>
          </a:xfrm>
          <a:prstGeom prst="triangle">
            <a:avLst/>
          </a:prstGeom>
          <a:ln w="19050">
            <a:solidFill>
              <a:srgbClr val="F2F0EA"/>
            </a:solidFill>
            <a:prstDash val="solid"/>
          </a:ln>
        </p:spPr>
      </p:sp>
      <p:sp>
        <p:nvSpPr>
          <p:cNvPr id="13" name="Text 11"/>
          <p:cNvSpPr/>
          <p:nvPr/>
        </p:nvSpPr>
        <p:spPr>
          <a:xfrm>
            <a:off x="1874520" y="6062472"/>
            <a:ext cx="2743200" cy="237744"/>
          </a:xfrm>
          <a:prstGeom prst="rect">
            <a:avLst/>
          </a:prstGeom>
          <a:noFill/>
          <a:ln/>
        </p:spPr>
        <p:txBody>
          <a:bodyPr wrap="square" lIns="0" tIns="0" rIns="0" bIns="0" rtlCol="0" anchor="ctr"/>
          <a:lstStyle/>
          <a:p>
            <a:pPr indent="0" marL="0">
              <a:buNone/>
            </a:pPr>
            <a:r>
              <a:rPr lang="en-US" sz="1100" dirty="0">
                <a:solidFill>
                  <a:srgbClr val="A9A79F"/>
                </a:solidFill>
                <a:latin typeface="Arial" pitchFamily="34" charset="0"/>
                <a:ea typeface="Arial" pitchFamily="34" charset="-122"/>
                <a:cs typeface="Arial" pitchFamily="34" charset="-120"/>
              </a:rPr>
              <a:t>lê, faz, leva</a:t>
            </a:r>
            <a:endParaRPr lang="en-US" sz="1100" dirty="0"/>
          </a:p>
        </p:txBody>
      </p:sp>
      <p:sp>
        <p:nvSpPr>
          <p:cNvPr id="14" name="Shape 12"/>
          <p:cNvSpPr/>
          <p:nvPr/>
        </p:nvSpPr>
        <p:spPr>
          <a:xfrm>
            <a:off x="8515807" y="1078992"/>
            <a:ext cx="2962656" cy="2962656"/>
          </a:xfrm>
          <a:prstGeom prst="rect">
            <a:avLst/>
          </a:prstGeom>
          <a:solidFill>
            <a:srgbClr val="FFFFFF"/>
          </a:solidFill>
          <a:ln w="12700">
            <a:solidFill>
              <a:srgbClr val="F2F0EA"/>
            </a:solidFill>
            <a:prstDash val="solid"/>
          </a:ln>
        </p:spPr>
      </p:sp>
      <p:pic>
        <p:nvPicPr>
          <p:cNvPr id="15" name="Image 0" descr="/tmp/aulas-diap-jdU3MK/qr-18.png">    </p:cNvPr>
          <p:cNvPicPr>
            <a:picLocks noChangeAspect="1"/>
          </p:cNvPicPr>
          <p:nvPr/>
        </p:nvPicPr>
        <p:blipFill>
          <a:blip r:embed="rId1"/>
          <a:stretch>
            <a:fillRect/>
          </a:stretch>
        </p:blipFill>
        <p:spPr>
          <a:xfrm>
            <a:off x="8625535" y="1188720"/>
            <a:ext cx="2743200" cy="2743200"/>
          </a:xfrm>
          <a:prstGeom prst="rect">
            <a:avLst/>
          </a:prstGeom>
        </p:spPr>
      </p:pic>
      <p:sp>
        <p:nvSpPr>
          <p:cNvPr id="16" name="Text 13"/>
          <p:cNvSpPr/>
          <p:nvPr/>
        </p:nvSpPr>
        <p:spPr>
          <a:xfrm>
            <a:off x="8442655" y="4160520"/>
            <a:ext cx="3108960" cy="640080"/>
          </a:xfrm>
          <a:prstGeom prst="rect">
            <a:avLst/>
          </a:prstGeom>
          <a:noFill/>
          <a:ln/>
        </p:spPr>
        <p:txBody>
          <a:bodyPr wrap="square" lIns="0" tIns="0" rIns="0" bIns="0" rtlCol="0" anchor="t">
            <a:normAutofit/>
          </a:bodyPr>
          <a:lstStyle/>
          <a:p>
            <a:pPr algn="ctr" indent="0" marL="0">
              <a:buNone/>
            </a:pPr>
            <a:r>
              <a:rPr lang="en-US" sz="1200" dirty="0">
                <a:solidFill>
                  <a:srgbClr val="F2F0EA"/>
                </a:solidFill>
                <a:latin typeface="Arial" pitchFamily="34" charset="0"/>
                <a:ea typeface="Arial" pitchFamily="34" charset="-122"/>
                <a:cs typeface="Arial" pitchFamily="34" charset="-120"/>
              </a:rPr>
              <a:t>pedrohfernandes-klk.github.io/pt/m4/</a:t>
            </a:r>
            <a:endParaRPr lang="en-US" sz="1200" dirty="0"/>
          </a:p>
          <a:p>
            <a:pPr algn="ctr" indent="0" marL="0">
              <a:buNone/>
            </a:pPr>
            <a:r>
              <a:rPr lang="en-US" sz="1200" dirty="0">
                <a:solidFill>
                  <a:srgbClr val="F2F0EA"/>
                </a:solidFill>
                <a:latin typeface="Arial" pitchFamily="34" charset="0"/>
                <a:ea typeface="Arial" pitchFamily="34" charset="-122"/>
                <a:cs typeface="Arial" pitchFamily="34" charset="-120"/>
              </a:rPr>
              <a:t>licao-m4-f11/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18: A palavra contra o poder</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HOJE, 90 MINUTOS</a:t>
            </a:r>
            <a:endParaRPr lang="en-US" sz="1100" dirty="0"/>
          </a:p>
        </p:txBody>
      </p:sp>
      <p:sp>
        <p:nvSpPr>
          <p:cNvPr id="7" name="Text 5"/>
          <p:cNvSpPr/>
          <p:nvPr/>
        </p:nvSpPr>
        <p:spPr>
          <a:xfrm>
            <a:off x="822960" y="868680"/>
            <a:ext cx="9814255" cy="822960"/>
          </a:xfrm>
          <a:prstGeom prst="rect">
            <a:avLst/>
          </a:prstGeom>
          <a:noFill/>
          <a:ln/>
        </p:spPr>
        <p:txBody>
          <a:bodyPr wrap="square" lIns="0" tIns="0" rIns="0" bIns="0" rtlCol="0" anchor="b">
            <a:normAutofit/>
          </a:bodyPr>
          <a:lstStyle/>
          <a:p>
            <a:pPr indent="0" marL="0">
              <a:buNone/>
            </a:pPr>
            <a:r>
              <a:rPr lang="en-US" sz="3400" dirty="0">
                <a:solidFill>
                  <a:srgbClr val="F2F0EA"/>
                </a:solidFill>
                <a:latin typeface="Arial" pitchFamily="34" charset="0"/>
                <a:ea typeface="Arial" pitchFamily="34" charset="-122"/>
                <a:cs typeface="Arial" pitchFamily="34" charset="-120"/>
              </a:rPr>
              <a:t>A palavra contra o poder</a:t>
            </a:r>
            <a:endParaRPr lang="en-US" sz="3400" dirty="0"/>
          </a:p>
        </p:txBody>
      </p:sp>
      <p:sp>
        <p:nvSpPr>
          <p:cNvPr id="8" name="Shape 6"/>
          <p:cNvSpPr/>
          <p:nvPr/>
        </p:nvSpPr>
        <p:spPr>
          <a:xfrm>
            <a:off x="822960" y="1746504"/>
            <a:ext cx="640080" cy="64008"/>
          </a:xfrm>
          <a:prstGeom prst="rect">
            <a:avLst/>
          </a:prstGeom>
          <a:solidFill>
            <a:srgbClr val="E4555C"/>
          </a:solidFill>
          <a:ln w="12700">
            <a:solidFill>
              <a:srgbClr val="E4555C"/>
            </a:solidFill>
            <a:prstDash val="solid"/>
          </a:ln>
        </p:spPr>
      </p:sp>
      <p:sp>
        <p:nvSpPr>
          <p:cNvPr id="9" name="Text 7"/>
          <p:cNvSpPr/>
          <p:nvPr/>
        </p:nvSpPr>
        <p:spPr>
          <a:xfrm>
            <a:off x="822960" y="2148840"/>
            <a:ext cx="1828800" cy="365760"/>
          </a:xfrm>
          <a:prstGeom prst="rect">
            <a:avLst/>
          </a:prstGeom>
          <a:noFill/>
          <a:ln/>
        </p:spPr>
        <p:txBody>
          <a:bodyPr wrap="square" lIns="0" tIns="0" rIns="0" bIns="0" rtlCol="0" anchor="ctr"/>
          <a:lstStyle/>
          <a:p>
            <a:pPr indent="0" marL="0">
              <a:buNone/>
            </a:pPr>
            <a:r>
              <a:rPr lang="en-US" sz="1200" b="1" spc="250" kern="0" dirty="0">
                <a:solidFill>
                  <a:srgbClr val="A9A79F"/>
                </a:solidFill>
                <a:latin typeface="Arial" pitchFamily="34" charset="0"/>
                <a:ea typeface="Arial" pitchFamily="34" charset="-122"/>
                <a:cs typeface="Arial" pitchFamily="34" charset="-120"/>
              </a:rPr>
              <a:t>HOJE</a:t>
            </a:r>
            <a:endParaRPr lang="en-US" sz="1200" dirty="0"/>
          </a:p>
        </p:txBody>
      </p:sp>
      <p:sp>
        <p:nvSpPr>
          <p:cNvPr id="10" name="Text 8"/>
          <p:cNvSpPr/>
          <p:nvPr/>
        </p:nvSpPr>
        <p:spPr>
          <a:xfrm>
            <a:off x="2743200" y="2093976"/>
            <a:ext cx="7894015" cy="1143000"/>
          </a:xfrm>
          <a:prstGeom prst="rect">
            <a:avLst/>
          </a:prstGeom>
          <a:noFill/>
          <a:ln/>
        </p:spPr>
        <p:txBody>
          <a:bodyPr wrap="square" lIns="0" tIns="0" rIns="0" bIns="0" rtlCol="0" anchor="t">
            <a:normAutofit/>
          </a:bodyPr>
          <a:lstStyle/>
          <a:p>
            <a:pPr indent="0" marL="0">
              <a:buNone/>
            </a:pPr>
            <a:r>
              <a:rPr lang="en-US" sz="2400" dirty="0">
                <a:solidFill>
                  <a:srgbClr val="F2F0EA"/>
                </a:solidFill>
                <a:latin typeface="Arial" pitchFamily="34" charset="0"/>
                <a:ea typeface="Arial" pitchFamily="34" charset="-122"/>
                <a:cs typeface="Arial" pitchFamily="34" charset="-120"/>
              </a:rPr>
              <a:t>Comparar a maneira como Vieira e Garrett dizem a um poder o que ele não quer ouvir, dar nome à peroração, escrever um texto de opinião de 100 a 140 palavras e fechar a unidade 3 com o desafio e a síntese.</a:t>
            </a:r>
            <a:endParaRPr lang="en-US" sz="2400" dirty="0"/>
          </a:p>
        </p:txBody>
      </p:sp>
      <p:sp>
        <p:nvSpPr>
          <p:cNvPr id="11" name="Text 9"/>
          <p:cNvSpPr/>
          <p:nvPr/>
        </p:nvSpPr>
        <p:spPr>
          <a:xfrm>
            <a:off x="822960" y="3474720"/>
            <a:ext cx="1828800" cy="365760"/>
          </a:xfrm>
          <a:prstGeom prst="rect">
            <a:avLst/>
          </a:prstGeom>
          <a:noFill/>
          <a:ln/>
        </p:spPr>
        <p:txBody>
          <a:bodyPr wrap="square" lIns="0" tIns="0" rIns="0" bIns="0" rtlCol="0" anchor="ctr"/>
          <a:lstStyle/>
          <a:p>
            <a:pPr indent="0" marL="0">
              <a:buNone/>
            </a:pPr>
            <a:r>
              <a:rPr lang="en-US" sz="1200" b="1" spc="250" kern="0" dirty="0">
                <a:solidFill>
                  <a:srgbClr val="A9A79F"/>
                </a:solidFill>
                <a:latin typeface="Arial" pitchFamily="34" charset="0"/>
                <a:ea typeface="Arial" pitchFamily="34" charset="-122"/>
                <a:cs typeface="Arial" pitchFamily="34" charset="-120"/>
              </a:rPr>
              <a:t>TEMPO</a:t>
            </a:r>
            <a:endParaRPr lang="en-US" sz="1200" dirty="0"/>
          </a:p>
        </p:txBody>
      </p:sp>
      <p:sp>
        <p:nvSpPr>
          <p:cNvPr id="12" name="Text 10"/>
          <p:cNvSpPr/>
          <p:nvPr/>
        </p:nvSpPr>
        <p:spPr>
          <a:xfrm>
            <a:off x="2743200" y="3419856"/>
            <a:ext cx="7894015" cy="1143000"/>
          </a:xfrm>
          <a:prstGeom prst="rect">
            <a:avLst/>
          </a:prstGeom>
          <a:noFill/>
          <a:ln/>
        </p:spPr>
        <p:txBody>
          <a:bodyPr wrap="square" lIns="0" tIns="0" rIns="0" bIns="0" rtlCol="0" anchor="t">
            <a:normAutofit/>
          </a:bodyPr>
          <a:lstStyle/>
          <a:p>
            <a:pPr indent="0" marL="0">
              <a:buNone/>
            </a:pPr>
            <a:r>
              <a:rPr lang="en-US" sz="2400" dirty="0">
                <a:solidFill>
                  <a:srgbClr val="F2F0EA"/>
                </a:solidFill>
                <a:latin typeface="Arial" pitchFamily="34" charset="0"/>
                <a:ea typeface="Arial" pitchFamily="34" charset="-122"/>
                <a:cs typeface="Arial" pitchFamily="34" charset="-120"/>
              </a:rPr>
              <a:t>90 minutos: 12 cartões, uma decisão em turma, um texto de 100 a 140 palavras em papel, o desafio e a síntese da unidade 3.</a:t>
            </a:r>
            <a:endParaRPr lang="en-US" sz="2400" dirty="0"/>
          </a:p>
        </p:txBody>
      </p:sp>
      <p:sp>
        <p:nvSpPr>
          <p:cNvPr id="13" name="Text 11"/>
          <p:cNvSpPr/>
          <p:nvPr/>
        </p:nvSpPr>
        <p:spPr>
          <a:xfrm>
            <a:off x="822960" y="4800600"/>
            <a:ext cx="1828800" cy="365760"/>
          </a:xfrm>
          <a:prstGeom prst="rect">
            <a:avLst/>
          </a:prstGeom>
          <a:noFill/>
          <a:ln/>
        </p:spPr>
        <p:txBody>
          <a:bodyPr wrap="square" lIns="0" tIns="0" rIns="0" bIns="0" rtlCol="0" anchor="ctr"/>
          <a:lstStyle/>
          <a:p>
            <a:pPr indent="0" marL="0">
              <a:buNone/>
            </a:pPr>
            <a:r>
              <a:rPr lang="en-US" sz="1200" b="1" spc="250" kern="0" dirty="0">
                <a:solidFill>
                  <a:srgbClr val="A9A79F"/>
                </a:solidFill>
                <a:latin typeface="Arial" pitchFamily="34" charset="0"/>
                <a:ea typeface="Arial" pitchFamily="34" charset="-122"/>
                <a:cs typeface="Arial" pitchFamily="34" charset="-120"/>
              </a:rPr>
              <a:t>NO FIM</a:t>
            </a:r>
            <a:endParaRPr lang="en-US" sz="1200" dirty="0"/>
          </a:p>
        </p:txBody>
      </p:sp>
      <p:sp>
        <p:nvSpPr>
          <p:cNvPr id="14" name="Text 12"/>
          <p:cNvSpPr/>
          <p:nvPr/>
        </p:nvSpPr>
        <p:spPr>
          <a:xfrm>
            <a:off x="2743200" y="4745736"/>
            <a:ext cx="7894015" cy="1143000"/>
          </a:xfrm>
          <a:prstGeom prst="rect">
            <a:avLst/>
          </a:prstGeom>
          <a:noFill/>
          <a:ln/>
        </p:spPr>
        <p:txBody>
          <a:bodyPr wrap="square" lIns="0" tIns="0" rIns="0" bIns="0" rtlCol="0" anchor="t">
            <a:normAutofit/>
          </a:bodyPr>
          <a:lstStyle/>
          <a:p>
            <a:pPr indent="0" marL="0">
              <a:buNone/>
            </a:pPr>
            <a:r>
              <a:rPr lang="en-US" sz="2400" dirty="0">
                <a:solidFill>
                  <a:srgbClr val="F2F0EA"/>
                </a:solidFill>
                <a:latin typeface="Arial" pitchFamily="34" charset="0"/>
                <a:ea typeface="Arial" pitchFamily="34" charset="-122"/>
                <a:cs typeface="Arial" pitchFamily="34" charset="-120"/>
              </a:rPr>
              <a:t>Em papel, um texto de 100 a 140 palavras: Vieira e Garrett usam a palavra para resistir a um poder? A tua posição, uma passagem de cada autor entre aspas e uma objeção com resposta.</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18: A palavra contra o poder</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3</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ABRE</a:t>
            </a:r>
            <a:endParaRPr lang="en-US" sz="1100" dirty="0"/>
          </a:p>
        </p:txBody>
      </p:sp>
      <p:pic>
        <p:nvPicPr>
          <p:cNvPr id="7" name="Image 0" descr="Primeira página do sermão na edição de 1682: o título, «Sermão de Santo António», a linha «Pregado na cidade de São Luís do Maranhão, ano de 1654» e, por baixo, a nota em itálico, onde se lê, entre parênteses, «posto que perseguida».">    </p:cNvPr>
          <p:cNvPicPr>
            <a:picLocks noChangeAspect="1"/>
          </p:cNvPicPr>
          <p:nvPr/>
        </p:nvPicPr>
        <p:blipFill>
          <a:blip r:embed="rId1"/>
          <a:stretch>
            <a:fillRect/>
          </a:stretch>
        </p:blipFill>
        <p:spPr>
          <a:xfrm>
            <a:off x="1206213" y="914400"/>
            <a:ext cx="3439734" cy="4709160"/>
          </a:xfrm>
          <a:prstGeom prst="rect">
            <a:avLst/>
          </a:prstGeom>
        </p:spPr>
      </p:pic>
      <p:sp>
        <p:nvSpPr>
          <p:cNvPr id="8" name="Text 5"/>
          <p:cNvSpPr/>
          <p:nvPr/>
        </p:nvSpPr>
        <p:spPr>
          <a:xfrm>
            <a:off x="822960" y="5696712"/>
            <a:ext cx="4206240" cy="365760"/>
          </a:xfrm>
          <a:prstGeom prst="rect">
            <a:avLst/>
          </a:prstGeom>
          <a:noFill/>
          <a:ln/>
        </p:spPr>
        <p:txBody>
          <a:bodyPr wrap="square" lIns="0" tIns="0" rIns="0" bIns="0" rtlCol="0" anchor="t">
            <a:normAutofit/>
          </a:bodyPr>
          <a:lstStyle/>
          <a:p>
            <a:pPr indent="0" marL="0">
              <a:buNone/>
            </a:pPr>
            <a:r>
              <a:rPr lang="en-US" sz="1000" i="1" dirty="0">
                <a:solidFill>
                  <a:srgbClr val="A9A79F"/>
                </a:solidFill>
                <a:latin typeface="Arial" pitchFamily="34" charset="0"/>
                <a:ea typeface="Arial" pitchFamily="34" charset="-122"/>
                <a:cs typeface="Arial" pitchFamily="34" charset="-120"/>
              </a:rPr>
              <a:t>Sermoens</a:t>
            </a:r>
            <a:pPr indent="0" marL="0">
              <a:buNone/>
            </a:pPr>
            <a:r>
              <a:rPr lang="en-US" sz="1000" dirty="0">
                <a:solidFill>
                  <a:srgbClr val="A9A79F"/>
                </a:solidFill>
                <a:latin typeface="Arial" pitchFamily="34" charset="0"/>
                <a:ea typeface="Arial" pitchFamily="34" charset="-122"/>
                <a:cs typeface="Arial" pitchFamily="34" charset="-120"/>
              </a:rPr>
              <a:t> de Vieira, Lisboa, 1682: a nota por baixo do título. Domínio público.</a:t>
            </a:r>
            <a:endParaRPr lang="en-US" sz="1000" dirty="0"/>
          </a:p>
        </p:txBody>
      </p:sp>
      <p:sp>
        <p:nvSpPr>
          <p:cNvPr id="9" name="Text 6"/>
          <p:cNvSpPr/>
          <p:nvPr/>
        </p:nvSpPr>
        <p:spPr>
          <a:xfrm>
            <a:off x="5486400" y="914400"/>
            <a:ext cx="5516575" cy="914400"/>
          </a:xfrm>
          <a:prstGeom prst="rect">
            <a:avLst/>
          </a:prstGeom>
          <a:noFill/>
          <a:ln/>
        </p:spPr>
        <p:txBody>
          <a:bodyPr wrap="square" lIns="0" tIns="0" rIns="0" bIns="0" rtlCol="0" anchor="b">
            <a:normAutofit/>
          </a:bodyPr>
          <a:lstStyle/>
          <a:p>
            <a:pPr indent="0" marL="0">
              <a:buNone/>
            </a:pPr>
            <a:r>
              <a:rPr lang="en-US" sz="3400" dirty="0">
                <a:solidFill>
                  <a:srgbClr val="F2F0EA"/>
                </a:solidFill>
                <a:latin typeface="Arial" pitchFamily="34" charset="0"/>
                <a:ea typeface="Arial" pitchFamily="34" charset="-122"/>
                <a:cs typeface="Arial" pitchFamily="34" charset="-120"/>
              </a:rPr>
              <a:t>A palavra contra o poder</a:t>
            </a:r>
            <a:endParaRPr lang="en-US" sz="3400" dirty="0"/>
          </a:p>
        </p:txBody>
      </p:sp>
      <p:sp>
        <p:nvSpPr>
          <p:cNvPr id="10" name="Shape 7"/>
          <p:cNvSpPr/>
          <p:nvPr/>
        </p:nvSpPr>
        <p:spPr>
          <a:xfrm>
            <a:off x="822960" y="1901952"/>
            <a:ext cx="640080" cy="64008"/>
          </a:xfrm>
          <a:prstGeom prst="rect">
            <a:avLst/>
          </a:prstGeom>
          <a:solidFill>
            <a:srgbClr val="E4555C"/>
          </a:solidFill>
          <a:ln w="12700">
            <a:solidFill>
              <a:srgbClr val="E4555C"/>
            </a:solidFill>
            <a:prstDash val="solid"/>
          </a:ln>
        </p:spPr>
      </p:sp>
      <p:sp>
        <p:nvSpPr>
          <p:cNvPr id="11" name="Text 8"/>
          <p:cNvSpPr/>
          <p:nvPr/>
        </p:nvSpPr>
        <p:spPr>
          <a:xfrm>
            <a:off x="5486400" y="2148840"/>
            <a:ext cx="5516575" cy="2103120"/>
          </a:xfrm>
          <a:prstGeom prst="rect">
            <a:avLst/>
          </a:prstGeom>
          <a:noFill/>
          <a:ln/>
        </p:spPr>
        <p:txBody>
          <a:bodyPr wrap="square" lIns="0" tIns="0" rIns="0" bIns="0" rtlCol="0" anchor="t">
            <a:normAutofit/>
          </a:bodyPr>
          <a:lstStyle/>
          <a:p>
            <a:pPr indent="0" marL="0">
              <a:lnSpc>
                <a:spcPct val="120000"/>
              </a:lnSpc>
              <a:buNone/>
            </a:pPr>
            <a:r>
              <a:rPr lang="en-US" sz="2100" dirty="0">
                <a:solidFill>
                  <a:srgbClr val="F2F0EA"/>
                </a:solidFill>
                <a:latin typeface="Georgia" pitchFamily="34" charset="0"/>
                <a:ea typeface="Georgia" pitchFamily="34" charset="-122"/>
                <a:cs typeface="Georgia" pitchFamily="34" charset="-120"/>
              </a:rPr>
              <a:t>Nesta página de 1682, uma nota diz que Vieira tocou no sermão pontos de doutrina «posto que perseguida» (embora perseguida) e, três dias depois, embarcou às escondidas. Em Garrett, Manuel de Sousa responde aos governadores com duas tochas e uma frase.</a:t>
            </a:r>
            <a:endParaRPr lang="en-US" sz="2100" dirty="0"/>
          </a:p>
        </p:txBody>
      </p:sp>
      <p:sp>
        <p:nvSpPr>
          <p:cNvPr id="12" name="Text 9"/>
          <p:cNvSpPr/>
          <p:nvPr/>
        </p:nvSpPr>
        <p:spPr>
          <a:xfrm>
            <a:off x="5486400" y="4389120"/>
            <a:ext cx="5516575" cy="1463040"/>
          </a:xfrm>
          <a:prstGeom prst="rect">
            <a:avLst/>
          </a:prstGeom>
          <a:noFill/>
          <a:ln/>
        </p:spPr>
        <p:txBody>
          <a:bodyPr wrap="square" lIns="0" tIns="0" rIns="0" bIns="0" rtlCol="0" anchor="t">
            <a:normAutofit/>
          </a:bodyPr>
          <a:lstStyle/>
          <a:p>
            <a:pPr indent="0" marL="0">
              <a:buNone/>
            </a:pPr>
            <a:r>
              <a:rPr lang="en-US" sz="2600" b="1" dirty="0">
                <a:solidFill>
                  <a:srgbClr val="F2F0EA"/>
                </a:solidFill>
                <a:latin typeface="Arial" pitchFamily="34" charset="0"/>
                <a:ea typeface="Arial" pitchFamily="34" charset="-122"/>
                <a:cs typeface="Arial" pitchFamily="34" charset="-120"/>
              </a:rPr>
              <a:t>Vieira e Garrett usam a palavra para resistir a um poder?</a:t>
            </a:r>
            <a:endParaRPr 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18: A palavra contra o poder</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4</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ANTES DE LER</a:t>
            </a:r>
            <a:endParaRPr lang="en-US" sz="1100" dirty="0"/>
          </a:p>
        </p:txBody>
      </p:sp>
      <p:sp>
        <p:nvSpPr>
          <p:cNvPr id="7"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3600" i="1" dirty="0">
                <a:solidFill>
                  <a:srgbClr val="F2F0EA"/>
                </a:solidFill>
                <a:latin typeface="Georgia" pitchFamily="34" charset="0"/>
                <a:ea typeface="Georgia" pitchFamily="34" charset="-122"/>
                <a:cs typeface="Georgia" pitchFamily="34" charset="-120"/>
              </a:rPr>
              <a:t>Vieira está numa igreja de São Luís, a falar a homens. Procura para onde diz que pregou e para quem era a doutrina.</a:t>
            </a:r>
            <a:endParaRPr lang="en-US" sz="3600" dirty="0"/>
          </a:p>
        </p:txBody>
      </p:sp>
      <p:sp>
        <p:nvSpPr>
          <p:cNvPr id="8" name="Shape 6"/>
          <p:cNvSpPr/>
          <p:nvPr/>
        </p:nvSpPr>
        <p:spPr>
          <a:xfrm>
            <a:off x="822960" y="4526280"/>
            <a:ext cx="640080" cy="64008"/>
          </a:xfrm>
          <a:prstGeom prst="rect">
            <a:avLst/>
          </a:prstGeom>
          <a:solidFill>
            <a:srgbClr val="E4555C"/>
          </a:solidFill>
          <a:ln w="12700">
            <a:solidFill>
              <a:srgbClr val="E4555C"/>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18: A palavra contra o poder</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5</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O TEXTO: VIEIRA DESPEDE-SE DOS PEIXES (1 DE 2)</a:t>
            </a:r>
            <a:endParaRPr lang="en-US" sz="1100" dirty="0"/>
          </a:p>
        </p:txBody>
      </p:sp>
      <p:sp>
        <p:nvSpPr>
          <p:cNvPr id="7" name="Text 5"/>
          <p:cNvSpPr/>
          <p:nvPr/>
        </p:nvSpPr>
        <p:spPr>
          <a:xfrm>
            <a:off x="822960" y="1005840"/>
            <a:ext cx="9814255" cy="4846320"/>
          </a:xfrm>
          <a:prstGeom prst="rect">
            <a:avLst/>
          </a:prstGeom>
          <a:noFill/>
          <a:ln/>
        </p:spPr>
        <p:txBody>
          <a:bodyPr wrap="square" lIns="0" tIns="0" rIns="0" bIns="0" rtlCol="0" anchor="t">
            <a:normAutofit/>
          </a:bodyPr>
          <a:lstStyle/>
          <a:p>
            <a:pPr indent="0" marL="0">
              <a:lnSpc>
                <a:spcPct val="125000"/>
              </a:lnSpc>
              <a:spcAft>
                <a:spcPts val="800"/>
              </a:spcAft>
              <a:buNone/>
            </a:pPr>
            <a:r>
              <a:rPr lang="en-US" sz="2600" b="1" dirty="0">
                <a:solidFill>
                  <a:srgbClr val="F2F0EA"/>
                </a:solidFill>
                <a:latin typeface="Georgia" pitchFamily="34" charset="0"/>
                <a:ea typeface="Georgia" pitchFamily="34" charset="-122"/>
                <a:cs typeface="Georgia" pitchFamily="34" charset="-120"/>
              </a:rPr>
              <a:t>[1]</a:t>
            </a:r>
            <a:pPr indent="0" marL="0">
              <a:lnSpc>
                <a:spcPct val="125000"/>
              </a:lnSpc>
              <a:spcAft>
                <a:spcPts val="800"/>
              </a:spcAft>
              <a:buNone/>
            </a:pPr>
            <a:r>
              <a:rPr lang="en-US" sz="2600" dirty="0">
                <a:solidFill>
                  <a:srgbClr val="F2F0EA"/>
                </a:solidFill>
                <a:latin typeface="Georgia" pitchFamily="34" charset="0"/>
                <a:ea typeface="Georgia" pitchFamily="34" charset="-122"/>
                <a:cs typeface="Georgia" pitchFamily="34" charset="-120"/>
              </a:rPr>
              <a:t> Oh que boa doutrina era esta para a terra, se eu não pregara para o mar! […] Com esta última advertência vos despeço, ou me despeço eu de vós, meus peixes.</a:t>
            </a:r>
            <a:endParaRPr lang="en-US" sz="2600" dirty="0"/>
          </a:p>
        </p:txBody>
      </p:sp>
      <p:sp>
        <p:nvSpPr>
          <p:cNvPr id="8" name="Text 6"/>
          <p:cNvSpPr/>
          <p:nvPr/>
        </p:nvSpPr>
        <p:spPr>
          <a:xfrm>
            <a:off x="822960" y="5943600"/>
            <a:ext cx="9814255" cy="365760"/>
          </a:xfrm>
          <a:prstGeom prst="rect">
            <a:avLst/>
          </a:prstGeom>
          <a:noFill/>
          <a:ln/>
        </p:spPr>
        <p:txBody>
          <a:bodyPr wrap="square" lIns="0" tIns="0" rIns="0" bIns="0" rtlCol="0" anchor="ctr">
            <a:normAutofit/>
          </a:bodyPr>
          <a:lstStyle/>
          <a:p>
            <a:pPr indent="0" marL="0">
              <a:buNone/>
            </a:pPr>
            <a:r>
              <a:rPr lang="en-US" sz="1100" dirty="0">
                <a:solidFill>
                  <a:srgbClr val="A9A79F"/>
                </a:solidFill>
                <a:latin typeface="Arial" pitchFamily="34" charset="0"/>
                <a:ea typeface="Arial" pitchFamily="34" charset="-122"/>
                <a:cs typeface="Arial" pitchFamily="34" charset="-120"/>
              </a:rPr>
              <a:t>Vieira, </a:t>
            </a:r>
            <a:pPr indent="0" marL="0">
              <a:buNone/>
            </a:pPr>
            <a:r>
              <a:rPr lang="en-US" sz="1100" i="1" dirty="0">
                <a:solidFill>
                  <a:srgbClr val="A9A79F"/>
                </a:solidFill>
                <a:latin typeface="Arial" pitchFamily="34" charset="0"/>
                <a:ea typeface="Arial" pitchFamily="34" charset="-122"/>
                <a:cs typeface="Arial" pitchFamily="34" charset="-120"/>
              </a:rPr>
              <a:t>Sermão de Santo António</a:t>
            </a:r>
            <a:pPr indent="0" marL="0">
              <a:buNone/>
            </a:pPr>
            <a:r>
              <a:rPr lang="en-US" sz="1100" dirty="0">
                <a:solidFill>
                  <a:srgbClr val="A9A79F"/>
                </a:solidFill>
                <a:latin typeface="Arial" pitchFamily="34" charset="0"/>
                <a:ea typeface="Arial" pitchFamily="34" charset="-122"/>
                <a:cs typeface="Arial" pitchFamily="34" charset="-120"/>
              </a:rPr>
              <a:t> (1654), o fim do sermão, ortografia atualizada; corte marcado com […].</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18: A palavra contra o poder</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6</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RESPONDE NO TELEMÓVEL</a:t>
            </a:r>
            <a:endParaRPr lang="en-US" sz="1100" dirty="0"/>
          </a:p>
        </p:txBody>
      </p:sp>
      <p:sp>
        <p:nvSpPr>
          <p:cNvPr id="7" name="Text 5"/>
          <p:cNvSpPr/>
          <p:nvPr/>
        </p:nvSpPr>
        <p:spPr>
          <a:xfrm>
            <a:off x="822960" y="914400"/>
            <a:ext cx="9814255" cy="685800"/>
          </a:xfrm>
          <a:prstGeom prst="rect">
            <a:avLst/>
          </a:prstGeom>
          <a:noFill/>
          <a:ln/>
        </p:spPr>
        <p:txBody>
          <a:bodyPr wrap="square" lIns="0" tIns="0" rIns="0" bIns="0" rtlCol="0" anchor="t">
            <a:normAutofit/>
          </a:bodyPr>
          <a:lstStyle/>
          <a:p>
            <a:pPr indent="0" marL="0">
              <a:buNone/>
            </a:pPr>
            <a:r>
              <a:rPr lang="en-US" sz="1600" i="1" dirty="0">
                <a:solidFill>
                  <a:srgbClr val="A9A79F"/>
                </a:solidFill>
                <a:latin typeface="Georgia" pitchFamily="34" charset="0"/>
                <a:ea typeface="Georgia" pitchFamily="34" charset="-122"/>
                <a:cs typeface="Georgia" pitchFamily="34" charset="-120"/>
              </a:rPr>
              <a:t>«Oh que boa doutrina era esta para a terra, se eu não pregara para o mar!»</a:t>
            </a:r>
            <a:endParaRPr lang="en-US" sz="1600" dirty="0"/>
          </a:p>
        </p:txBody>
      </p:sp>
      <p:sp>
        <p:nvSpPr>
          <p:cNvPr id="8" name="Text 6"/>
          <p:cNvSpPr/>
          <p:nvPr/>
        </p:nvSpPr>
        <p:spPr>
          <a:xfrm>
            <a:off x="822960" y="1691640"/>
            <a:ext cx="9814255" cy="1234440"/>
          </a:xfrm>
          <a:prstGeom prst="rect">
            <a:avLst/>
          </a:prstGeom>
          <a:noFill/>
          <a:ln/>
        </p:spPr>
        <p:txBody>
          <a:bodyPr wrap="square" lIns="0" tIns="0" rIns="0" bIns="0" rtlCol="0" anchor="t">
            <a:normAutofit/>
          </a:bodyPr>
          <a:lstStyle/>
          <a:p>
            <a:pPr indent="0" marL="0">
              <a:buNone/>
            </a:pPr>
            <a:r>
              <a:rPr lang="en-US" sz="3200" dirty="0">
                <a:solidFill>
                  <a:srgbClr val="F2F0EA"/>
                </a:solidFill>
                <a:latin typeface="Georgia" pitchFamily="34" charset="0"/>
                <a:ea typeface="Georgia" pitchFamily="34" charset="-122"/>
                <a:cs typeface="Georgia" pitchFamily="34" charset="-120"/>
              </a:rPr>
              <a:t>Dito numa igreja de São Luís, a homens: que lhes dá Vieira a entender?</a:t>
            </a:r>
            <a:endParaRPr lang="en-US" sz="3200" dirty="0"/>
          </a:p>
        </p:txBody>
      </p:sp>
      <p:sp>
        <p:nvSpPr>
          <p:cNvPr id="9" name="Shape 7"/>
          <p:cNvSpPr/>
          <p:nvPr/>
        </p:nvSpPr>
        <p:spPr>
          <a:xfrm>
            <a:off x="822960" y="3017520"/>
            <a:ext cx="640080" cy="64008"/>
          </a:xfrm>
          <a:prstGeom prst="rect">
            <a:avLst/>
          </a:prstGeom>
          <a:solidFill>
            <a:srgbClr val="E4555C"/>
          </a:solidFill>
          <a:ln w="12700">
            <a:solidFill>
              <a:srgbClr val="E4555C"/>
            </a:solidFill>
            <a:prstDash val="solid"/>
          </a:ln>
        </p:spPr>
      </p:sp>
      <p:sp>
        <p:nvSpPr>
          <p:cNvPr id="10" name="Shape 8"/>
          <p:cNvSpPr/>
          <p:nvPr/>
        </p:nvSpPr>
        <p:spPr>
          <a:xfrm>
            <a:off x="1005840" y="3474720"/>
            <a:ext cx="0" cy="1200912"/>
          </a:xfrm>
          <a:prstGeom prst="line">
            <a:avLst/>
          </a:prstGeom>
          <a:noFill/>
          <a:ln w="12700">
            <a:solidFill>
              <a:srgbClr val="A9A79F"/>
            </a:solidFill>
            <a:prstDash val="solid"/>
          </a:ln>
        </p:spPr>
      </p:sp>
      <p:sp>
        <p:nvSpPr>
          <p:cNvPr id="11" name="Shape 9"/>
          <p:cNvSpPr/>
          <p:nvPr/>
        </p:nvSpPr>
        <p:spPr>
          <a:xfrm>
            <a:off x="822960" y="3291840"/>
            <a:ext cx="365760" cy="365760"/>
          </a:xfrm>
          <a:prstGeom prst="ellipse">
            <a:avLst/>
          </a:prstGeom>
          <a:solidFill>
            <a:srgbClr val="111111"/>
          </a:solidFill>
          <a:ln w="15875">
            <a:solidFill>
              <a:srgbClr val="F2F0EA"/>
            </a:solidFill>
            <a:prstDash val="solid"/>
          </a:ln>
        </p:spPr>
      </p:sp>
      <p:sp>
        <p:nvSpPr>
          <p:cNvPr id="12" name="Text 10"/>
          <p:cNvSpPr/>
          <p:nvPr/>
        </p:nvSpPr>
        <p:spPr>
          <a:xfrm>
            <a:off x="822960" y="329184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A</a:t>
            </a:r>
            <a:endParaRPr lang="en-US" sz="1300" dirty="0"/>
          </a:p>
        </p:txBody>
      </p:sp>
      <p:sp>
        <p:nvSpPr>
          <p:cNvPr id="13" name="Text 11"/>
          <p:cNvSpPr/>
          <p:nvPr/>
        </p:nvSpPr>
        <p:spPr>
          <a:xfrm>
            <a:off x="1417320" y="3300984"/>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Que a doutrina era má e não servia</a:t>
            </a:r>
            <a:endParaRPr lang="en-US" sz="2400" dirty="0"/>
          </a:p>
        </p:txBody>
      </p:sp>
      <p:sp>
        <p:nvSpPr>
          <p:cNvPr id="14" name="Shape 12"/>
          <p:cNvSpPr/>
          <p:nvPr/>
        </p:nvSpPr>
        <p:spPr>
          <a:xfrm>
            <a:off x="822960" y="3892296"/>
            <a:ext cx="365760" cy="365760"/>
          </a:xfrm>
          <a:prstGeom prst="ellipse">
            <a:avLst/>
          </a:prstGeom>
          <a:solidFill>
            <a:srgbClr val="111111"/>
          </a:solidFill>
          <a:ln w="15875">
            <a:solidFill>
              <a:srgbClr val="F2F0EA"/>
            </a:solidFill>
            <a:prstDash val="solid"/>
          </a:ln>
        </p:spPr>
      </p:sp>
      <p:sp>
        <p:nvSpPr>
          <p:cNvPr id="15" name="Text 13"/>
          <p:cNvSpPr/>
          <p:nvPr/>
        </p:nvSpPr>
        <p:spPr>
          <a:xfrm>
            <a:off x="822960" y="3892296"/>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B</a:t>
            </a:r>
            <a:endParaRPr lang="en-US" sz="1300" dirty="0"/>
          </a:p>
        </p:txBody>
      </p:sp>
      <p:sp>
        <p:nvSpPr>
          <p:cNvPr id="16" name="Text 14"/>
          <p:cNvSpPr/>
          <p:nvPr/>
        </p:nvSpPr>
        <p:spPr>
          <a:xfrm>
            <a:off x="1417320" y="3901440"/>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Que a doutrina é para eles: o mar é só a alegoria</a:t>
            </a:r>
            <a:endParaRPr lang="en-US" sz="2400" dirty="0"/>
          </a:p>
        </p:txBody>
      </p:sp>
      <p:sp>
        <p:nvSpPr>
          <p:cNvPr id="17" name="Shape 15"/>
          <p:cNvSpPr/>
          <p:nvPr/>
        </p:nvSpPr>
        <p:spPr>
          <a:xfrm>
            <a:off x="822960" y="4492752"/>
            <a:ext cx="365760" cy="365760"/>
          </a:xfrm>
          <a:prstGeom prst="ellipse">
            <a:avLst/>
          </a:prstGeom>
          <a:solidFill>
            <a:srgbClr val="111111"/>
          </a:solidFill>
          <a:ln w="15875">
            <a:solidFill>
              <a:srgbClr val="F2F0EA"/>
            </a:solidFill>
            <a:prstDash val="solid"/>
          </a:ln>
        </p:spPr>
      </p:sp>
      <p:sp>
        <p:nvSpPr>
          <p:cNvPr id="18" name="Text 16"/>
          <p:cNvSpPr/>
          <p:nvPr/>
        </p:nvSpPr>
        <p:spPr>
          <a:xfrm>
            <a:off x="822960" y="4492752"/>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C</a:t>
            </a:r>
            <a:endParaRPr lang="en-US" sz="1300" dirty="0"/>
          </a:p>
        </p:txBody>
      </p:sp>
      <p:sp>
        <p:nvSpPr>
          <p:cNvPr id="19" name="Text 17"/>
          <p:cNvSpPr/>
          <p:nvPr/>
        </p:nvSpPr>
        <p:spPr>
          <a:xfrm>
            <a:off x="1417320" y="4501896"/>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Que pregou mesmo aos peixes, na praia</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18: A palavra contra o poder</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7</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RESPOSTA</a:t>
            </a:r>
            <a:endParaRPr lang="en-US" sz="1100" dirty="0"/>
          </a:p>
        </p:txBody>
      </p:sp>
      <p:sp>
        <p:nvSpPr>
          <p:cNvPr id="7" name="Text 5"/>
          <p:cNvSpPr/>
          <p:nvPr/>
        </p:nvSpPr>
        <p:spPr>
          <a:xfrm>
            <a:off x="822960" y="1005840"/>
            <a:ext cx="9814255" cy="1463040"/>
          </a:xfrm>
          <a:prstGeom prst="rect">
            <a:avLst/>
          </a:prstGeom>
          <a:noFill/>
          <a:ln/>
        </p:spPr>
        <p:txBody>
          <a:bodyPr wrap="square" lIns="0" tIns="0" rIns="0" bIns="0" rtlCol="0" anchor="t">
            <a:normAutofit/>
          </a:bodyPr>
          <a:lstStyle/>
          <a:p>
            <a:pPr indent="0" marL="0">
              <a:buNone/>
            </a:pPr>
            <a:r>
              <a:rPr lang="en-US" sz="3400" b="1" dirty="0">
                <a:solidFill>
                  <a:srgbClr val="F2F0EA"/>
                </a:solidFill>
                <a:latin typeface="Arial" pitchFamily="34" charset="0"/>
                <a:ea typeface="Arial" pitchFamily="34" charset="-122"/>
                <a:cs typeface="Arial" pitchFamily="34" charset="-120"/>
              </a:rPr>
              <a:t>Que a doutrina é para eles: o mar é só a alegoria</a:t>
            </a:r>
            <a:endParaRPr lang="en-US" sz="3400" dirty="0"/>
          </a:p>
        </p:txBody>
      </p:sp>
      <p:sp>
        <p:nvSpPr>
          <p:cNvPr id="8" name="Shape 6"/>
          <p:cNvSpPr/>
          <p:nvPr/>
        </p:nvSpPr>
        <p:spPr>
          <a:xfrm>
            <a:off x="822960" y="2606040"/>
            <a:ext cx="640080" cy="64008"/>
          </a:xfrm>
          <a:prstGeom prst="rect">
            <a:avLst/>
          </a:prstGeom>
          <a:solidFill>
            <a:srgbClr val="E4555C"/>
          </a:solidFill>
          <a:ln w="12700">
            <a:solidFill>
              <a:srgbClr val="E4555C"/>
            </a:solidFill>
            <a:prstDash val="solid"/>
          </a:ln>
        </p:spPr>
      </p:sp>
      <p:sp>
        <p:nvSpPr>
          <p:cNvPr id="9" name="Text 7"/>
          <p:cNvSpPr/>
          <p:nvPr/>
        </p:nvSpPr>
        <p:spPr>
          <a:xfrm>
            <a:off x="822960" y="2880360"/>
            <a:ext cx="9814255" cy="3246120"/>
          </a:xfrm>
          <a:prstGeom prst="rect">
            <a:avLst/>
          </a:prstGeom>
          <a:noFill/>
          <a:ln/>
        </p:spPr>
        <p:txBody>
          <a:bodyPr wrap="square" lIns="0" tIns="0" rIns="0" bIns="0" rtlCol="0" anchor="t">
            <a:normAutofit/>
          </a:bodyPr>
          <a:lstStyle/>
          <a:p>
            <a:pPr indent="0" marL="0">
              <a:lnSpc>
                <a:spcPct val="120000"/>
              </a:lnSpc>
              <a:buNone/>
            </a:pPr>
            <a:r>
              <a:rPr lang="en-US" sz="2200" dirty="0">
                <a:solidFill>
                  <a:srgbClr val="F2F0EA"/>
                </a:solidFill>
                <a:latin typeface="Georgia" pitchFamily="34" charset="0"/>
                <a:ea typeface="Georgia" pitchFamily="34" charset="-122"/>
                <a:cs typeface="Georgia" pitchFamily="34" charset="-120"/>
              </a:rPr>
              <a:t>Vieira está numa igreja, diante de homens, e lamenta ter pregado «para o mar»: «para a terra» diz-lhes que a doutrina era para eles. O mar e os peixes são a alegoria, desde o cap. I.</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18: A palavra contra o poder</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8</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CONCEITO: EM QUE PONTO DO SERMÃO ESTAMOS?, 1 DE 7</a:t>
            </a:r>
            <a:endParaRPr lang="en-US" sz="1100" dirty="0"/>
          </a:p>
        </p:txBody>
      </p:sp>
      <p:sp>
        <p:nvSpPr>
          <p:cNvPr id="7" name="Text 5"/>
          <p:cNvSpPr/>
          <p:nvPr/>
        </p:nvSpPr>
        <p:spPr>
          <a:xfrm>
            <a:off x="822960" y="914400"/>
            <a:ext cx="9814255" cy="411480"/>
          </a:xfrm>
          <a:prstGeom prst="rect">
            <a:avLst/>
          </a:prstGeom>
          <a:noFill/>
          <a:ln/>
        </p:spPr>
        <p:txBody>
          <a:bodyPr wrap="square" lIns="0" tIns="0" rIns="0" bIns="0" rtlCol="0" anchor="ctr"/>
          <a:lstStyle/>
          <a:p>
            <a:pPr indent="0" marL="0">
              <a:buNone/>
            </a:pPr>
            <a:r>
              <a:rPr lang="en-US" sz="1400" b="1" spc="300" kern="0" dirty="0">
                <a:solidFill>
                  <a:srgbClr val="A9A79F"/>
                </a:solidFill>
                <a:latin typeface="Arial" pitchFamily="34" charset="0"/>
                <a:ea typeface="Arial" pitchFamily="34" charset="-122"/>
                <a:cs typeface="Arial" pitchFamily="34" charset="-120"/>
              </a:rPr>
              <a:t>O CASO</a:t>
            </a:r>
            <a:endParaRPr lang="en-US" sz="1400" dirty="0"/>
          </a:p>
        </p:txBody>
      </p:sp>
      <p:sp>
        <p:nvSpPr>
          <p:cNvPr id="8" name="Text 6"/>
          <p:cNvSpPr/>
          <p:nvPr/>
        </p:nvSpPr>
        <p:spPr>
          <a:xfrm>
            <a:off x="822960" y="1554480"/>
            <a:ext cx="10180015" cy="4480560"/>
          </a:xfrm>
          <a:prstGeom prst="rect">
            <a:avLst/>
          </a:prstGeom>
          <a:noFill/>
          <a:ln/>
        </p:spPr>
        <p:txBody>
          <a:bodyPr wrap="square" lIns="0" tIns="0" rIns="0" bIns="0" rtlCol="0" anchor="t">
            <a:normAutofit/>
          </a:bodyPr>
          <a:lstStyle/>
          <a:p>
            <a:pPr indent="0" marL="0">
              <a:lnSpc>
                <a:spcPct val="125000"/>
              </a:lnSpc>
              <a:buNone/>
            </a:pPr>
            <a:r>
              <a:rPr lang="en-US" sz="2800" dirty="0">
                <a:solidFill>
                  <a:srgbClr val="F2F0EA"/>
                </a:solidFill>
                <a:latin typeface="Georgia" pitchFamily="34" charset="0"/>
                <a:ea typeface="Georgia" pitchFamily="34" charset="-122"/>
                <a:cs typeface="Georgia" pitchFamily="34" charset="-120"/>
              </a:rPr>
              <a:t>«Com esta </a:t>
            </a:r>
            <a:pPr indent="0" marL="0">
              <a:lnSpc>
                <a:spcPct val="125000"/>
              </a:lnSpc>
              <a:buNone/>
            </a:pPr>
            <a:r>
              <a:rPr lang="en-US" sz="2800" b="1" dirty="0">
                <a:solidFill>
                  <a:srgbClr val="F2F0EA"/>
                </a:solidFill>
                <a:latin typeface="Georgia" pitchFamily="34" charset="0"/>
                <a:ea typeface="Georgia" pitchFamily="34" charset="-122"/>
                <a:cs typeface="Georgia" pitchFamily="34" charset="-120"/>
              </a:rPr>
              <a:t>última advertência</a:t>
            </a:r>
            <a:pPr indent="0" marL="0">
              <a:lnSpc>
                <a:spcPct val="125000"/>
              </a:lnSpc>
              <a:buNone/>
            </a:pPr>
            <a:r>
              <a:rPr lang="en-US" sz="2800" dirty="0">
                <a:solidFill>
                  <a:srgbClr val="F2F0EA"/>
                </a:solidFill>
                <a:latin typeface="Georgia" pitchFamily="34" charset="0"/>
                <a:ea typeface="Georgia" pitchFamily="34" charset="-122"/>
                <a:cs typeface="Georgia" pitchFamily="34" charset="-120"/>
              </a:rPr>
              <a:t> vos </a:t>
            </a:r>
            <a:pPr indent="0" marL="0">
              <a:lnSpc>
                <a:spcPct val="125000"/>
              </a:lnSpc>
              <a:buNone/>
            </a:pPr>
            <a:r>
              <a:rPr lang="en-US" sz="2800" b="1" dirty="0">
                <a:solidFill>
                  <a:srgbClr val="F2F0EA"/>
                </a:solidFill>
                <a:latin typeface="Georgia" pitchFamily="34" charset="0"/>
                <a:ea typeface="Georgia" pitchFamily="34" charset="-122"/>
                <a:cs typeface="Georgia" pitchFamily="34" charset="-120"/>
              </a:rPr>
              <a:t>despeço, ou me despeço eu de vós</a:t>
            </a:r>
            <a:pPr indent="0" marL="0">
              <a:lnSpc>
                <a:spcPct val="125000"/>
              </a:lnSpc>
              <a:buNone/>
            </a:pPr>
            <a:r>
              <a:rPr lang="en-US" sz="2800" dirty="0">
                <a:solidFill>
                  <a:srgbClr val="F2F0EA"/>
                </a:solidFill>
                <a:latin typeface="Georgia" pitchFamily="34" charset="0"/>
                <a:ea typeface="Georgia" pitchFamily="34" charset="-122"/>
                <a:cs typeface="Georgia" pitchFamily="34" charset="-120"/>
              </a:rPr>
              <a:t>, meus peixes.»Vieira, </a:t>
            </a:r>
            <a:pPr indent="0" marL="0">
              <a:lnSpc>
                <a:spcPct val="125000"/>
              </a:lnSpc>
              <a:buNone/>
            </a:pPr>
            <a:r>
              <a:rPr lang="en-US" sz="2800" i="1" dirty="0">
                <a:solidFill>
                  <a:srgbClr val="F2F0EA"/>
                </a:solidFill>
                <a:latin typeface="Georgia" pitchFamily="34" charset="0"/>
                <a:ea typeface="Georgia" pitchFamily="34" charset="-122"/>
                <a:cs typeface="Georgia" pitchFamily="34" charset="-120"/>
              </a:rPr>
              <a:t>Sermão de Santo António</a:t>
            </a:r>
            <a:pPr indent="0" marL="0">
              <a:lnSpc>
                <a:spcPct val="125000"/>
              </a:lnSpc>
              <a:buNone/>
            </a:pPr>
            <a:r>
              <a:rPr lang="en-US" sz="2800" dirty="0">
                <a:solidFill>
                  <a:srgbClr val="F2F0EA"/>
                </a:solidFill>
                <a:latin typeface="Georgia" pitchFamily="34" charset="0"/>
                <a:ea typeface="Georgia" pitchFamily="34" charset="-122"/>
                <a:cs typeface="Georgia" pitchFamily="34" charset="-120"/>
              </a:rPr>
              <a:t> (1654), o fim do sermão, ortografia atualizada</a:t>
            </a:r>
            <a:endParaRPr lang="en-US"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18: A palavra contra o poder</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9</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CONCEITO: EM QUE PONTO DO SERMÃO ESTAMOS?, 2 DE 7</a:t>
            </a:r>
            <a:endParaRPr lang="en-US" sz="1100" dirty="0"/>
          </a:p>
        </p:txBody>
      </p:sp>
      <p:sp>
        <p:nvSpPr>
          <p:cNvPr id="7" name="Text 5"/>
          <p:cNvSpPr/>
          <p:nvPr/>
        </p:nvSpPr>
        <p:spPr>
          <a:xfrm>
            <a:off x="822960" y="914400"/>
            <a:ext cx="9814255" cy="411480"/>
          </a:xfrm>
          <a:prstGeom prst="rect">
            <a:avLst/>
          </a:prstGeom>
          <a:noFill/>
          <a:ln/>
        </p:spPr>
        <p:txBody>
          <a:bodyPr wrap="square" lIns="0" tIns="0" rIns="0" bIns="0" rtlCol="0" anchor="ctr"/>
          <a:lstStyle/>
          <a:p>
            <a:pPr indent="0" marL="0">
              <a:buNone/>
            </a:pPr>
            <a:r>
              <a:rPr lang="en-US" sz="1400" b="1" spc="300" kern="0" dirty="0">
                <a:solidFill>
                  <a:srgbClr val="A9A79F"/>
                </a:solidFill>
                <a:latin typeface="Arial" pitchFamily="34" charset="0"/>
                <a:ea typeface="Arial" pitchFamily="34" charset="-122"/>
                <a:cs typeface="Arial" pitchFamily="34" charset="-120"/>
              </a:rPr>
              <a:t>DECIDE</a:t>
            </a:r>
            <a:endParaRPr lang="en-US" sz="1400" dirty="0"/>
          </a:p>
        </p:txBody>
      </p:sp>
      <p:sp>
        <p:nvSpPr>
          <p:cNvPr id="8" name="Text 6"/>
          <p:cNvSpPr/>
          <p:nvPr/>
        </p:nvSpPr>
        <p:spPr>
          <a:xfrm>
            <a:off x="822960" y="1554480"/>
            <a:ext cx="10180015" cy="4480560"/>
          </a:xfrm>
          <a:prstGeom prst="rect">
            <a:avLst/>
          </a:prstGeom>
          <a:noFill/>
          <a:ln/>
        </p:spPr>
        <p:txBody>
          <a:bodyPr wrap="square" lIns="0" tIns="0" rIns="0" bIns="0" rtlCol="0" anchor="t">
            <a:normAutofit/>
          </a:bodyPr>
          <a:lstStyle/>
          <a:p>
            <a:pPr indent="0" marL="0">
              <a:lnSpc>
                <a:spcPct val="125000"/>
              </a:lnSpc>
              <a:buNone/>
            </a:pPr>
            <a:r>
              <a:rPr lang="en-US" sz="3200" dirty="0">
                <a:solidFill>
                  <a:srgbClr val="F2F0EA"/>
                </a:solidFill>
                <a:latin typeface="Georgia" pitchFamily="34" charset="0"/>
                <a:ea typeface="Georgia" pitchFamily="34" charset="-122"/>
                <a:cs typeface="Georgia" pitchFamily="34" charset="-120"/>
              </a:rPr>
              <a:t>Esta frase podia abrir o sermão?</a:t>
            </a:r>
            <a:endParaRPr lang="en-US" sz="3200" dirty="0"/>
          </a:p>
          <a:p>
            <a:pPr indent="0" marL="0">
              <a:lnSpc>
                <a:spcPct val="125000"/>
              </a:lnSpc>
              <a:buNone/>
            </a:pPr>
            <a:r>
              <a:rPr lang="en-US" sz="3200" dirty="0">
                <a:solidFill>
                  <a:srgbClr val="F2F0EA"/>
                </a:solidFill>
                <a:latin typeface="Georgia" pitchFamily="34" charset="0"/>
                <a:ea typeface="Georgia" pitchFamily="34" charset="-122"/>
                <a:cs typeface="Georgia" pitchFamily="34" charset="-120"/>
              </a:rPr>
              <a:t>A. Podia</a:t>
            </a:r>
            <a:endParaRPr lang="en-US" sz="3200" dirty="0"/>
          </a:p>
          <a:p>
            <a:pPr indent="0" marL="0">
              <a:lnSpc>
                <a:spcPct val="125000"/>
              </a:lnSpc>
              <a:buNone/>
            </a:pPr>
            <a:r>
              <a:rPr lang="en-US" sz="3200" dirty="0">
                <a:solidFill>
                  <a:srgbClr val="F2F0EA"/>
                </a:solidFill>
                <a:latin typeface="Georgia" pitchFamily="34" charset="0"/>
                <a:ea typeface="Georgia" pitchFamily="34" charset="-122"/>
                <a:cs typeface="Georgia" pitchFamily="34" charset="-120"/>
              </a:rPr>
              <a:t>B. Não podia</a:t>
            </a:r>
            <a:endParaRPr lang="en-US"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18: A palavra contra o poder</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10</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CONCEITO: EM QUE PONTO DO SERMÃO ESTAMOS?, 3 DE 7</a:t>
            </a:r>
            <a:endParaRPr lang="en-US" sz="1100" dirty="0"/>
          </a:p>
        </p:txBody>
      </p:sp>
      <p:sp>
        <p:nvSpPr>
          <p:cNvPr id="7" name="Text 5"/>
          <p:cNvSpPr/>
          <p:nvPr/>
        </p:nvSpPr>
        <p:spPr>
          <a:xfrm>
            <a:off x="822960" y="914400"/>
            <a:ext cx="9814255" cy="411480"/>
          </a:xfrm>
          <a:prstGeom prst="rect">
            <a:avLst/>
          </a:prstGeom>
          <a:noFill/>
          <a:ln/>
        </p:spPr>
        <p:txBody>
          <a:bodyPr wrap="square" lIns="0" tIns="0" rIns="0" bIns="0" rtlCol="0" anchor="ctr"/>
          <a:lstStyle/>
          <a:p>
            <a:pPr indent="0" marL="0">
              <a:buNone/>
            </a:pPr>
            <a:r>
              <a:rPr lang="en-US" sz="1400" b="1" spc="300" kern="0" dirty="0">
                <a:solidFill>
                  <a:srgbClr val="A9A79F"/>
                </a:solidFill>
                <a:latin typeface="Arial" pitchFamily="34" charset="0"/>
                <a:ea typeface="Arial" pitchFamily="34" charset="-122"/>
                <a:cs typeface="Arial" pitchFamily="34" charset="-120"/>
              </a:rPr>
              <a:t>OLHA</a:t>
            </a:r>
            <a:endParaRPr lang="en-US" sz="1400" dirty="0"/>
          </a:p>
        </p:txBody>
      </p:sp>
      <p:sp>
        <p:nvSpPr>
          <p:cNvPr id="8" name="Text 6"/>
          <p:cNvSpPr/>
          <p:nvPr/>
        </p:nvSpPr>
        <p:spPr>
          <a:xfrm>
            <a:off x="822960" y="1554480"/>
            <a:ext cx="10180015" cy="4480560"/>
          </a:xfrm>
          <a:prstGeom prst="rect">
            <a:avLst/>
          </a:prstGeom>
          <a:noFill/>
          <a:ln/>
        </p:spPr>
        <p:txBody>
          <a:bodyPr wrap="square" lIns="0" tIns="0" rIns="0" bIns="0" rtlCol="0" anchor="t">
            <a:normAutofit/>
          </a:bodyPr>
          <a:lstStyle/>
          <a:p>
            <a:pPr indent="0" marL="0">
              <a:lnSpc>
                <a:spcPct val="125000"/>
              </a:lnSpc>
              <a:buNone/>
            </a:pPr>
            <a:r>
              <a:rPr lang="en-US" sz="3200" dirty="0">
                <a:solidFill>
                  <a:srgbClr val="F2F0EA"/>
                </a:solidFill>
                <a:latin typeface="Georgia" pitchFamily="34" charset="0"/>
                <a:ea typeface="Georgia" pitchFamily="34" charset="-122"/>
                <a:cs typeface="Georgia" pitchFamily="34" charset="-120"/>
              </a:rPr>
              <a:t>«Última advertência»: os avisos aos peixes acabaram, e este é o último.</a:t>
            </a:r>
            <a:endParaRPr lang="en-US" sz="3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18: A palavra contra o poder</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11</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CONCEITO: EM QUE PONTO DO SERMÃO ESTAMOS?, 4 DE 7</a:t>
            </a:r>
            <a:endParaRPr lang="en-US" sz="1100" dirty="0"/>
          </a:p>
        </p:txBody>
      </p:sp>
      <p:sp>
        <p:nvSpPr>
          <p:cNvPr id="7" name="Text 5"/>
          <p:cNvSpPr/>
          <p:nvPr/>
        </p:nvSpPr>
        <p:spPr>
          <a:xfrm>
            <a:off x="822960" y="914400"/>
            <a:ext cx="9814255" cy="411480"/>
          </a:xfrm>
          <a:prstGeom prst="rect">
            <a:avLst/>
          </a:prstGeom>
          <a:noFill/>
          <a:ln/>
        </p:spPr>
        <p:txBody>
          <a:bodyPr wrap="square" lIns="0" tIns="0" rIns="0" bIns="0" rtlCol="0" anchor="ctr"/>
          <a:lstStyle/>
          <a:p>
            <a:pPr indent="0" marL="0">
              <a:buNone/>
            </a:pPr>
            <a:r>
              <a:rPr lang="en-US" sz="1400" b="1" spc="300" kern="0" dirty="0">
                <a:solidFill>
                  <a:srgbClr val="A9A79F"/>
                </a:solidFill>
                <a:latin typeface="Arial" pitchFamily="34" charset="0"/>
                <a:ea typeface="Arial" pitchFamily="34" charset="-122"/>
                <a:cs typeface="Arial" pitchFamily="34" charset="-120"/>
              </a:rPr>
              <a:t>O TRAÇO</a:t>
            </a:r>
            <a:endParaRPr lang="en-US" sz="1400" dirty="0"/>
          </a:p>
        </p:txBody>
      </p:sp>
      <p:sp>
        <p:nvSpPr>
          <p:cNvPr id="8" name="Text 6"/>
          <p:cNvSpPr/>
          <p:nvPr/>
        </p:nvSpPr>
        <p:spPr>
          <a:xfrm>
            <a:off x="822960" y="1554480"/>
            <a:ext cx="10180015" cy="4480560"/>
          </a:xfrm>
          <a:prstGeom prst="rect">
            <a:avLst/>
          </a:prstGeom>
          <a:noFill/>
          <a:ln/>
        </p:spPr>
        <p:txBody>
          <a:bodyPr wrap="square" lIns="0" tIns="0" rIns="0" bIns="0" rtlCol="0" anchor="t">
            <a:normAutofit/>
          </a:bodyPr>
          <a:lstStyle/>
          <a:p>
            <a:pPr indent="0" marL="0">
              <a:lnSpc>
                <a:spcPct val="125000"/>
              </a:lnSpc>
              <a:buNone/>
            </a:pPr>
            <a:r>
              <a:rPr lang="en-US" sz="3200" dirty="0">
                <a:solidFill>
                  <a:srgbClr val="F2F0EA"/>
                </a:solidFill>
                <a:latin typeface="Georgia" pitchFamily="34" charset="0"/>
                <a:ea typeface="Georgia" pitchFamily="34" charset="-122"/>
                <a:cs typeface="Georgia" pitchFamily="34" charset="-120"/>
              </a:rPr>
              <a:t>«Me despeço eu de vós»: o pregador diz adeus a quem o ouve. Isto só cabe no fim.</a:t>
            </a:r>
            <a:endParaRPr lang="en-US" sz="3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18: A palavra contra o poder</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12</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CONCEITO: EM QUE PONTO DO SERMÃO ESTAMOS?, 5 DE 7</a:t>
            </a:r>
            <a:endParaRPr lang="en-US" sz="1100" dirty="0"/>
          </a:p>
        </p:txBody>
      </p:sp>
      <p:sp>
        <p:nvSpPr>
          <p:cNvPr id="7" name="Text 5"/>
          <p:cNvSpPr/>
          <p:nvPr/>
        </p:nvSpPr>
        <p:spPr>
          <a:xfrm>
            <a:off x="822960" y="914400"/>
            <a:ext cx="9814255" cy="411480"/>
          </a:xfrm>
          <a:prstGeom prst="rect">
            <a:avLst/>
          </a:prstGeom>
          <a:noFill/>
          <a:ln/>
        </p:spPr>
        <p:txBody>
          <a:bodyPr wrap="square" lIns="0" tIns="0" rIns="0" bIns="0" rtlCol="0" anchor="ctr"/>
          <a:lstStyle/>
          <a:p>
            <a:pPr indent="0" marL="0">
              <a:buNone/>
            </a:pPr>
            <a:r>
              <a:rPr lang="en-US" sz="1400" b="1" spc="300" kern="0" dirty="0">
                <a:solidFill>
                  <a:srgbClr val="A9A79F"/>
                </a:solidFill>
                <a:latin typeface="Arial" pitchFamily="34" charset="0"/>
                <a:ea typeface="Arial" pitchFamily="34" charset="-122"/>
                <a:cs typeface="Arial" pitchFamily="34" charset="-120"/>
              </a:rPr>
              <a:t>O NOME</a:t>
            </a:r>
            <a:endParaRPr lang="en-US" sz="1400" dirty="0"/>
          </a:p>
        </p:txBody>
      </p:sp>
      <p:sp>
        <p:nvSpPr>
          <p:cNvPr id="8" name="Text 6"/>
          <p:cNvSpPr/>
          <p:nvPr/>
        </p:nvSpPr>
        <p:spPr>
          <a:xfrm>
            <a:off x="822960" y="1463040"/>
            <a:ext cx="9814255" cy="1463040"/>
          </a:xfrm>
          <a:prstGeom prst="rect">
            <a:avLst/>
          </a:prstGeom>
          <a:noFill/>
          <a:ln/>
        </p:spPr>
        <p:txBody>
          <a:bodyPr wrap="square" lIns="0" tIns="0" rIns="0" bIns="0" rtlCol="0" anchor="b">
            <a:normAutofit/>
          </a:bodyPr>
          <a:lstStyle/>
          <a:p>
            <a:pPr indent="0" marL="0">
              <a:buNone/>
            </a:pPr>
            <a:r>
              <a:rPr lang="en-US" sz="7200" b="1" dirty="0">
                <a:solidFill>
                  <a:srgbClr val="F2F0EA"/>
                </a:solidFill>
                <a:latin typeface="Arial" pitchFamily="34" charset="0"/>
                <a:ea typeface="Arial" pitchFamily="34" charset="-122"/>
                <a:cs typeface="Arial" pitchFamily="34" charset="-120"/>
              </a:rPr>
              <a:t>PERORAÇÃO</a:t>
            </a:r>
            <a:endParaRPr lang="en-US" sz="7200" dirty="0"/>
          </a:p>
        </p:txBody>
      </p:sp>
      <p:sp>
        <p:nvSpPr>
          <p:cNvPr id="9" name="Shape 7"/>
          <p:cNvSpPr/>
          <p:nvPr/>
        </p:nvSpPr>
        <p:spPr>
          <a:xfrm>
            <a:off x="822960" y="3017520"/>
            <a:ext cx="2011680" cy="82296"/>
          </a:xfrm>
          <a:prstGeom prst="rect">
            <a:avLst/>
          </a:prstGeom>
          <a:solidFill>
            <a:srgbClr val="D9A520"/>
          </a:solidFill>
          <a:ln w="12700">
            <a:solidFill>
              <a:srgbClr val="D9A520"/>
            </a:solidFill>
            <a:prstDash val="solid"/>
          </a:ln>
        </p:spPr>
      </p:sp>
      <p:sp>
        <p:nvSpPr>
          <p:cNvPr id="10" name="Text 8"/>
          <p:cNvSpPr/>
          <p:nvPr/>
        </p:nvSpPr>
        <p:spPr>
          <a:xfrm>
            <a:off x="822960" y="3337560"/>
            <a:ext cx="9814255" cy="2377440"/>
          </a:xfrm>
          <a:prstGeom prst="rect">
            <a:avLst/>
          </a:prstGeom>
          <a:noFill/>
          <a:ln/>
        </p:spPr>
        <p:txBody>
          <a:bodyPr wrap="square" lIns="0" tIns="0" rIns="0" bIns="0" rtlCol="0" anchor="t">
            <a:normAutofit/>
          </a:bodyPr>
          <a:lstStyle/>
          <a:p>
            <a:pPr indent="0" marL="0">
              <a:lnSpc>
                <a:spcPct val="120000"/>
              </a:lnSpc>
              <a:buNone/>
            </a:pPr>
            <a:r>
              <a:rPr lang="en-US" sz="3200" dirty="0">
                <a:solidFill>
                  <a:srgbClr val="F2F0EA"/>
                </a:solidFill>
                <a:latin typeface="Georgia" pitchFamily="34" charset="0"/>
                <a:ea typeface="Georgia" pitchFamily="34" charset="-122"/>
                <a:cs typeface="Georgia" pitchFamily="34" charset="-120"/>
              </a:rPr>
              <a:t>A parte que fecha o sermão ou o discurso e se despede de quem ouve.</a:t>
            </a:r>
            <a:endParaRPr lang="en-US" sz="3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18: A palavra contra o poder</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13</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CONCEITO: EM QUE PONTO DO SERMÃO ESTAMOS?, 6 DE 7</a:t>
            </a:r>
            <a:endParaRPr lang="en-US" sz="1100" dirty="0"/>
          </a:p>
        </p:txBody>
      </p:sp>
      <p:sp>
        <p:nvSpPr>
          <p:cNvPr id="7" name="Text 5"/>
          <p:cNvSpPr/>
          <p:nvPr/>
        </p:nvSpPr>
        <p:spPr>
          <a:xfrm>
            <a:off x="822960" y="914400"/>
            <a:ext cx="9814255" cy="411480"/>
          </a:xfrm>
          <a:prstGeom prst="rect">
            <a:avLst/>
          </a:prstGeom>
          <a:noFill/>
          <a:ln/>
        </p:spPr>
        <p:txBody>
          <a:bodyPr wrap="square" lIns="0" tIns="0" rIns="0" bIns="0" rtlCol="0" anchor="ctr"/>
          <a:lstStyle/>
          <a:p>
            <a:pPr indent="0" marL="0">
              <a:buNone/>
            </a:pPr>
            <a:r>
              <a:rPr lang="en-US" sz="1400" b="1" spc="300" kern="0" dirty="0">
                <a:solidFill>
                  <a:srgbClr val="A9A79F"/>
                </a:solidFill>
                <a:latin typeface="Arial" pitchFamily="34" charset="0"/>
                <a:ea typeface="Arial" pitchFamily="34" charset="-122"/>
                <a:cs typeface="Arial" pitchFamily="34" charset="-120"/>
              </a:rPr>
              <a:t>O QUE NÃO É</a:t>
            </a:r>
            <a:endParaRPr lang="en-US" sz="1400" dirty="0"/>
          </a:p>
        </p:txBody>
      </p:sp>
      <p:sp>
        <p:nvSpPr>
          <p:cNvPr id="8" name="Text 6"/>
          <p:cNvSpPr/>
          <p:nvPr/>
        </p:nvSpPr>
        <p:spPr>
          <a:xfrm>
            <a:off x="822960" y="1554480"/>
            <a:ext cx="10180015" cy="4480560"/>
          </a:xfrm>
          <a:prstGeom prst="rect">
            <a:avLst/>
          </a:prstGeom>
          <a:noFill/>
          <a:ln/>
        </p:spPr>
        <p:txBody>
          <a:bodyPr wrap="square" lIns="0" tIns="0" rIns="0" bIns="0" rtlCol="0" anchor="t">
            <a:normAutofit/>
          </a:bodyPr>
          <a:lstStyle/>
          <a:p>
            <a:pPr indent="0" marL="0">
              <a:lnSpc>
                <a:spcPct val="125000"/>
              </a:lnSpc>
              <a:buNone/>
            </a:pPr>
            <a:r>
              <a:rPr lang="en-US" sz="2800" dirty="0">
                <a:solidFill>
                  <a:srgbClr val="F2F0EA"/>
                </a:solidFill>
                <a:latin typeface="Georgia" pitchFamily="34" charset="0"/>
                <a:ea typeface="Georgia" pitchFamily="34" charset="-122"/>
                <a:cs typeface="Georgia" pitchFamily="34" charset="-120"/>
              </a:rPr>
              <a:t>Não é uma repreensão. Antes, Vieira diz: «Tenho acabado, irmãos peixes, os vossos louvores e repreensões».Não é o exórdio. Esse abre e prende quem ouve: Arimino, no cap. I.</a:t>
            </a:r>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18: A palavra contra o poder</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14</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CONCEITO: EM QUE PONTO DO SERMÃO ESTAMOS?, 7 DE 7</a:t>
            </a:r>
            <a:endParaRPr lang="en-US" sz="1100" dirty="0"/>
          </a:p>
        </p:txBody>
      </p:sp>
      <p:sp>
        <p:nvSpPr>
          <p:cNvPr id="7" name="Text 5"/>
          <p:cNvSpPr/>
          <p:nvPr/>
        </p:nvSpPr>
        <p:spPr>
          <a:xfrm>
            <a:off x="822960" y="914400"/>
            <a:ext cx="9814255" cy="411480"/>
          </a:xfrm>
          <a:prstGeom prst="rect">
            <a:avLst/>
          </a:prstGeom>
          <a:noFill/>
          <a:ln/>
        </p:spPr>
        <p:txBody>
          <a:bodyPr wrap="square" lIns="0" tIns="0" rIns="0" bIns="0" rtlCol="0" anchor="ctr"/>
          <a:lstStyle/>
          <a:p>
            <a:pPr indent="0" marL="0">
              <a:buNone/>
            </a:pPr>
            <a:r>
              <a:rPr lang="en-US" sz="1400" b="1" spc="300" kern="0" dirty="0">
                <a:solidFill>
                  <a:srgbClr val="A9A79F"/>
                </a:solidFill>
                <a:latin typeface="Arial" pitchFamily="34" charset="0"/>
                <a:ea typeface="Arial" pitchFamily="34" charset="-122"/>
                <a:cs typeface="Arial" pitchFamily="34" charset="-120"/>
              </a:rPr>
              <a:t>PARA LEVAR</a:t>
            </a:r>
            <a:endParaRPr lang="en-US" sz="1400" dirty="0"/>
          </a:p>
        </p:txBody>
      </p:sp>
      <p:sp>
        <p:nvSpPr>
          <p:cNvPr id="8" name="Text 6"/>
          <p:cNvSpPr/>
          <p:nvPr/>
        </p:nvSpPr>
        <p:spPr>
          <a:xfrm>
            <a:off x="822960" y="1554480"/>
            <a:ext cx="10180015" cy="4480560"/>
          </a:xfrm>
          <a:prstGeom prst="rect">
            <a:avLst/>
          </a:prstGeom>
          <a:noFill/>
          <a:ln/>
        </p:spPr>
        <p:txBody>
          <a:bodyPr wrap="square" lIns="0" tIns="0" rIns="0" bIns="0" rtlCol="0" anchor="t">
            <a:normAutofit/>
          </a:bodyPr>
          <a:lstStyle/>
          <a:p>
            <a:pPr indent="0" marL="0">
              <a:lnSpc>
                <a:spcPct val="125000"/>
              </a:lnSpc>
              <a:buNone/>
            </a:pPr>
            <a:r>
              <a:rPr lang="en-US" sz="3200" dirty="0">
                <a:solidFill>
                  <a:srgbClr val="F2F0EA"/>
                </a:solidFill>
                <a:latin typeface="Georgia" pitchFamily="34" charset="0"/>
                <a:ea typeface="Georgia" pitchFamily="34" charset="-122"/>
                <a:cs typeface="Georgia" pitchFamily="34" charset="-120"/>
              </a:rPr>
              <a:t>O exórdio abre, a peroração despede-se.</a:t>
            </a:r>
            <a:endParaRPr lang="en-US" sz="3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18: A palavra contra o poder</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15</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RESPONDE NO TELEMÓVEL</a:t>
            </a:r>
            <a:endParaRPr lang="en-US" sz="1100" dirty="0"/>
          </a:p>
        </p:txBody>
      </p:sp>
      <p:sp>
        <p:nvSpPr>
          <p:cNvPr id="7" name="Text 5"/>
          <p:cNvSpPr/>
          <p:nvPr/>
        </p:nvSpPr>
        <p:spPr>
          <a:xfrm>
            <a:off x="822960" y="914400"/>
            <a:ext cx="9814255" cy="1234440"/>
          </a:xfrm>
          <a:prstGeom prst="rect">
            <a:avLst/>
          </a:prstGeom>
          <a:noFill/>
          <a:ln/>
        </p:spPr>
        <p:txBody>
          <a:bodyPr wrap="square" lIns="0" tIns="0" rIns="0" bIns="0" rtlCol="0" anchor="t">
            <a:normAutofit/>
          </a:bodyPr>
          <a:lstStyle/>
          <a:p>
            <a:pPr indent="0" marL="0">
              <a:buNone/>
            </a:pPr>
            <a:r>
              <a:rPr lang="en-US" sz="2800" dirty="0">
                <a:solidFill>
                  <a:srgbClr val="F2F0EA"/>
                </a:solidFill>
                <a:latin typeface="Georgia" pitchFamily="34" charset="0"/>
                <a:ea typeface="Georgia" pitchFamily="34" charset="-122"/>
                <a:cs typeface="Georgia" pitchFamily="34" charset="-120"/>
              </a:rPr>
              <a:t>Caso imaginário: o discurso dos finalistas acaba com «Obrigado a todos, e até sempre». Que parte é essa?</a:t>
            </a:r>
            <a:endParaRPr lang="en-US" sz="2800" dirty="0"/>
          </a:p>
        </p:txBody>
      </p:sp>
      <p:sp>
        <p:nvSpPr>
          <p:cNvPr id="8" name="Shape 6"/>
          <p:cNvSpPr/>
          <p:nvPr/>
        </p:nvSpPr>
        <p:spPr>
          <a:xfrm>
            <a:off x="822960" y="2240280"/>
            <a:ext cx="640080" cy="64008"/>
          </a:xfrm>
          <a:prstGeom prst="rect">
            <a:avLst/>
          </a:prstGeom>
          <a:solidFill>
            <a:srgbClr val="E4555C"/>
          </a:solidFill>
          <a:ln w="12700">
            <a:solidFill>
              <a:srgbClr val="E4555C"/>
            </a:solidFill>
            <a:prstDash val="solid"/>
          </a:ln>
        </p:spPr>
      </p:sp>
      <p:sp>
        <p:nvSpPr>
          <p:cNvPr id="9" name="Shape 7"/>
          <p:cNvSpPr/>
          <p:nvPr/>
        </p:nvSpPr>
        <p:spPr>
          <a:xfrm>
            <a:off x="1005840" y="2697480"/>
            <a:ext cx="0" cy="1581912"/>
          </a:xfrm>
          <a:prstGeom prst="line">
            <a:avLst/>
          </a:prstGeom>
          <a:noFill/>
          <a:ln w="12700">
            <a:solidFill>
              <a:srgbClr val="A9A79F"/>
            </a:solidFill>
            <a:prstDash val="solid"/>
          </a:ln>
        </p:spPr>
      </p:sp>
      <p:sp>
        <p:nvSpPr>
          <p:cNvPr id="10" name="Shape 8"/>
          <p:cNvSpPr/>
          <p:nvPr/>
        </p:nvSpPr>
        <p:spPr>
          <a:xfrm>
            <a:off x="822960" y="2514600"/>
            <a:ext cx="365760" cy="365760"/>
          </a:xfrm>
          <a:prstGeom prst="ellipse">
            <a:avLst/>
          </a:prstGeom>
          <a:solidFill>
            <a:srgbClr val="111111"/>
          </a:solidFill>
          <a:ln w="15875">
            <a:solidFill>
              <a:srgbClr val="F2F0EA"/>
            </a:solidFill>
            <a:prstDash val="solid"/>
          </a:ln>
        </p:spPr>
      </p:sp>
      <p:sp>
        <p:nvSpPr>
          <p:cNvPr id="11" name="Text 9"/>
          <p:cNvSpPr/>
          <p:nvPr/>
        </p:nvSpPr>
        <p:spPr>
          <a:xfrm>
            <a:off x="822960" y="251460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A</a:t>
            </a:r>
            <a:endParaRPr lang="en-US" sz="1300" dirty="0"/>
          </a:p>
        </p:txBody>
      </p:sp>
      <p:sp>
        <p:nvSpPr>
          <p:cNvPr id="12" name="Text 10"/>
          <p:cNvSpPr/>
          <p:nvPr/>
        </p:nvSpPr>
        <p:spPr>
          <a:xfrm>
            <a:off x="1417320" y="2523744"/>
            <a:ext cx="9174175" cy="981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A peroração: fecha o discurso e despede-se de quem ouve</a:t>
            </a:r>
            <a:endParaRPr lang="en-US" sz="2400" dirty="0"/>
          </a:p>
        </p:txBody>
      </p:sp>
      <p:sp>
        <p:nvSpPr>
          <p:cNvPr id="13" name="Shape 11"/>
          <p:cNvSpPr/>
          <p:nvPr/>
        </p:nvSpPr>
        <p:spPr>
          <a:xfrm>
            <a:off x="822960" y="3496056"/>
            <a:ext cx="365760" cy="365760"/>
          </a:xfrm>
          <a:prstGeom prst="ellipse">
            <a:avLst/>
          </a:prstGeom>
          <a:solidFill>
            <a:srgbClr val="111111"/>
          </a:solidFill>
          <a:ln w="15875">
            <a:solidFill>
              <a:srgbClr val="F2F0EA"/>
            </a:solidFill>
            <a:prstDash val="solid"/>
          </a:ln>
        </p:spPr>
      </p:sp>
      <p:sp>
        <p:nvSpPr>
          <p:cNvPr id="14" name="Text 12"/>
          <p:cNvSpPr/>
          <p:nvPr/>
        </p:nvSpPr>
        <p:spPr>
          <a:xfrm>
            <a:off x="822960" y="3496056"/>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B</a:t>
            </a:r>
            <a:endParaRPr lang="en-US" sz="1300" dirty="0"/>
          </a:p>
        </p:txBody>
      </p:sp>
      <p:sp>
        <p:nvSpPr>
          <p:cNvPr id="15" name="Text 13"/>
          <p:cNvSpPr/>
          <p:nvPr/>
        </p:nvSpPr>
        <p:spPr>
          <a:xfrm>
            <a:off x="1417320" y="3505200"/>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Uma repreensão: lembra o que correu mal</a:t>
            </a:r>
            <a:endParaRPr lang="en-US" sz="2400" dirty="0"/>
          </a:p>
        </p:txBody>
      </p:sp>
      <p:sp>
        <p:nvSpPr>
          <p:cNvPr id="16" name="Shape 14"/>
          <p:cNvSpPr/>
          <p:nvPr/>
        </p:nvSpPr>
        <p:spPr>
          <a:xfrm>
            <a:off x="822960" y="4096512"/>
            <a:ext cx="365760" cy="365760"/>
          </a:xfrm>
          <a:prstGeom prst="ellipse">
            <a:avLst/>
          </a:prstGeom>
          <a:solidFill>
            <a:srgbClr val="111111"/>
          </a:solidFill>
          <a:ln w="15875">
            <a:solidFill>
              <a:srgbClr val="F2F0EA"/>
            </a:solidFill>
            <a:prstDash val="solid"/>
          </a:ln>
        </p:spPr>
      </p:sp>
      <p:sp>
        <p:nvSpPr>
          <p:cNvPr id="17" name="Text 15"/>
          <p:cNvSpPr/>
          <p:nvPr/>
        </p:nvSpPr>
        <p:spPr>
          <a:xfrm>
            <a:off x="822960" y="4096512"/>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C</a:t>
            </a:r>
            <a:endParaRPr lang="en-US" sz="1300" dirty="0"/>
          </a:p>
        </p:txBody>
      </p:sp>
      <p:sp>
        <p:nvSpPr>
          <p:cNvPr id="18" name="Text 16"/>
          <p:cNvSpPr/>
          <p:nvPr/>
        </p:nvSpPr>
        <p:spPr>
          <a:xfrm>
            <a:off x="1417320" y="4105656"/>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O tema: diz de que fala o discurso</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18: A palavra contra o poder</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16</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RESPOSTA</a:t>
            </a:r>
            <a:endParaRPr lang="en-US" sz="1100" dirty="0"/>
          </a:p>
        </p:txBody>
      </p:sp>
      <p:sp>
        <p:nvSpPr>
          <p:cNvPr id="7" name="Text 5"/>
          <p:cNvSpPr/>
          <p:nvPr/>
        </p:nvSpPr>
        <p:spPr>
          <a:xfrm>
            <a:off x="822960" y="1005840"/>
            <a:ext cx="9814255" cy="1463040"/>
          </a:xfrm>
          <a:prstGeom prst="rect">
            <a:avLst/>
          </a:prstGeom>
          <a:noFill/>
          <a:ln/>
        </p:spPr>
        <p:txBody>
          <a:bodyPr wrap="square" lIns="0" tIns="0" rIns="0" bIns="0" rtlCol="0" anchor="t">
            <a:normAutofit/>
          </a:bodyPr>
          <a:lstStyle/>
          <a:p>
            <a:pPr indent="0" marL="0">
              <a:buNone/>
            </a:pPr>
            <a:r>
              <a:rPr lang="en-US" sz="3400" b="1" dirty="0">
                <a:solidFill>
                  <a:srgbClr val="F2F0EA"/>
                </a:solidFill>
                <a:latin typeface="Arial" pitchFamily="34" charset="0"/>
                <a:ea typeface="Arial" pitchFamily="34" charset="-122"/>
                <a:cs typeface="Arial" pitchFamily="34" charset="-120"/>
              </a:rPr>
              <a:t>A peroração: fecha o discurso e despede-se de quem ouve</a:t>
            </a:r>
            <a:endParaRPr lang="en-US" sz="3400" dirty="0"/>
          </a:p>
        </p:txBody>
      </p:sp>
      <p:sp>
        <p:nvSpPr>
          <p:cNvPr id="8" name="Shape 6"/>
          <p:cNvSpPr/>
          <p:nvPr/>
        </p:nvSpPr>
        <p:spPr>
          <a:xfrm>
            <a:off x="822960" y="2606040"/>
            <a:ext cx="640080" cy="64008"/>
          </a:xfrm>
          <a:prstGeom prst="rect">
            <a:avLst/>
          </a:prstGeom>
          <a:solidFill>
            <a:srgbClr val="E4555C"/>
          </a:solidFill>
          <a:ln w="12700">
            <a:solidFill>
              <a:srgbClr val="E4555C"/>
            </a:solidFill>
            <a:prstDash val="solid"/>
          </a:ln>
        </p:spPr>
      </p:sp>
      <p:sp>
        <p:nvSpPr>
          <p:cNvPr id="9" name="Text 7"/>
          <p:cNvSpPr/>
          <p:nvPr/>
        </p:nvSpPr>
        <p:spPr>
          <a:xfrm>
            <a:off x="822960" y="2880360"/>
            <a:ext cx="9814255" cy="3246120"/>
          </a:xfrm>
          <a:prstGeom prst="rect">
            <a:avLst/>
          </a:prstGeom>
          <a:noFill/>
          <a:ln/>
        </p:spPr>
        <p:txBody>
          <a:bodyPr wrap="square" lIns="0" tIns="0" rIns="0" bIns="0" rtlCol="0" anchor="t">
            <a:normAutofit/>
          </a:bodyPr>
          <a:lstStyle/>
          <a:p>
            <a:pPr indent="0" marL="0">
              <a:lnSpc>
                <a:spcPct val="120000"/>
              </a:lnSpc>
              <a:buNone/>
            </a:pPr>
            <a:r>
              <a:rPr lang="en-US" sz="2500" dirty="0">
                <a:solidFill>
                  <a:srgbClr val="F2F0EA"/>
                </a:solidFill>
                <a:latin typeface="Georgia" pitchFamily="34" charset="0"/>
                <a:ea typeface="Georgia" pitchFamily="34" charset="-122"/>
                <a:cs typeface="Georgia" pitchFamily="34" charset="-120"/>
              </a:rPr>
              <a:t>A peroração fecha o discurso e despede-se de quem ouve, como Vieira com «vos despeço, ou me despeço eu de vós, meus peixes».</a:t>
            </a:r>
            <a:endParaRPr lang="en-US" sz="2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18: A palavra contra o poder</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17</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ANTES DE LER</a:t>
            </a:r>
            <a:endParaRPr lang="en-US" sz="1100" dirty="0"/>
          </a:p>
        </p:txBody>
      </p:sp>
      <p:sp>
        <p:nvSpPr>
          <p:cNvPr id="7"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3600" i="1" dirty="0">
                <a:solidFill>
                  <a:srgbClr val="F2F0EA"/>
                </a:solidFill>
                <a:latin typeface="Georgia" pitchFamily="34" charset="0"/>
                <a:ea typeface="Georgia" pitchFamily="34" charset="-122"/>
                <a:cs typeface="Georgia" pitchFamily="34" charset="-120"/>
              </a:rPr>
              <a:t>Os governadores do rei de Castela querem a casa de Manuel. Procura o que ele faz e o que diz que está a fazer.</a:t>
            </a:r>
            <a:endParaRPr lang="en-US" sz="3600" dirty="0"/>
          </a:p>
        </p:txBody>
      </p:sp>
      <p:sp>
        <p:nvSpPr>
          <p:cNvPr id="8" name="Shape 6"/>
          <p:cNvSpPr/>
          <p:nvPr/>
        </p:nvSpPr>
        <p:spPr>
          <a:xfrm>
            <a:off x="822960" y="4526280"/>
            <a:ext cx="640080" cy="64008"/>
          </a:xfrm>
          <a:prstGeom prst="rect">
            <a:avLst/>
          </a:prstGeom>
          <a:solidFill>
            <a:srgbClr val="E4555C"/>
          </a:solidFill>
          <a:ln w="12700">
            <a:solidFill>
              <a:srgbClr val="E4555C"/>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18: A palavra contra o poder</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18</a:t>
            </a:r>
            <a:endParaRPr lang="en-US" sz="1000" dirty="0"/>
          </a:p>
        </p:txBody>
      </p:sp>
      <p:sp>
        <p:nvSpPr>
          <p:cNvPr id="5" name="Shape 3"/>
          <p:cNvSpPr/>
          <p:nvPr/>
        </p:nvSpPr>
        <p:spPr>
          <a:xfrm>
            <a:off x="822960" y="502920"/>
            <a:ext cx="201168" cy="201168"/>
          </a:xfrm>
          <a:prstGeom prst="ellips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O TEXTO: MANUEL RESPONDE AOS GOVERNADORES (2 DE 2)</a:t>
            </a:r>
            <a:endParaRPr lang="en-US" sz="1100" dirty="0"/>
          </a:p>
        </p:txBody>
      </p:sp>
      <p:sp>
        <p:nvSpPr>
          <p:cNvPr id="7" name="Text 5"/>
          <p:cNvSpPr/>
          <p:nvPr/>
        </p:nvSpPr>
        <p:spPr>
          <a:xfrm>
            <a:off x="822960" y="1005840"/>
            <a:ext cx="9814255" cy="4846320"/>
          </a:xfrm>
          <a:prstGeom prst="rect">
            <a:avLst/>
          </a:prstGeom>
          <a:noFill/>
          <a:ln/>
        </p:spPr>
        <p:txBody>
          <a:bodyPr wrap="square" lIns="0" tIns="0" rIns="0" bIns="0" rtlCol="0" anchor="t">
            <a:normAutofit/>
          </a:bodyPr>
          <a:lstStyle/>
          <a:p>
            <a:pPr indent="0" marL="0">
              <a:lnSpc>
                <a:spcPct val="125000"/>
              </a:lnSpc>
              <a:spcAft>
                <a:spcPts val="800"/>
              </a:spcAft>
              <a:buNone/>
            </a:pPr>
            <a:r>
              <a:rPr lang="en-US" sz="2600" b="1" dirty="0">
                <a:solidFill>
                  <a:srgbClr val="F2F0EA"/>
                </a:solidFill>
                <a:latin typeface="Georgia" pitchFamily="34" charset="0"/>
                <a:ea typeface="Georgia" pitchFamily="34" charset="-122"/>
                <a:cs typeface="Georgia" pitchFamily="34" charset="-120"/>
              </a:rPr>
              <a:t>[1]</a:t>
            </a:r>
            <a:pPr indent="0" marL="0">
              <a:lnSpc>
                <a:spcPct val="125000"/>
              </a:lnSpc>
              <a:spcAft>
                <a:spcPts val="800"/>
              </a:spcAft>
              <a:buNone/>
            </a:pPr>
            <a:r>
              <a:rPr lang="en-US" sz="2600" dirty="0">
                <a:solidFill>
                  <a:srgbClr val="F2F0EA"/>
                </a:solidFill>
                <a:latin typeface="Georgia" pitchFamily="34" charset="0"/>
                <a:ea typeface="Georgia" pitchFamily="34" charset="-122"/>
                <a:cs typeface="Georgia" pitchFamily="34" charset="-120"/>
              </a:rPr>
              <a:t> (Arrebata duas tochas das mãos dos criados, corre à porta da esquerda, atira com uma para dentro: e vê-se atear logo uma labareda imensa. Vai ao fundo, atira a outra tocha; e sucede o mesmo. Ouve-se alarido de fora.)</a:t>
            </a:r>
            <a:endParaRPr lang="en-US" sz="2600" dirty="0"/>
          </a:p>
          <a:p>
            <a:pPr indent="0" marL="0">
              <a:lnSpc>
                <a:spcPct val="125000"/>
              </a:lnSpc>
              <a:spcAft>
                <a:spcPts val="800"/>
              </a:spcAft>
              <a:buNone/>
            </a:pPr>
            <a:r>
              <a:rPr lang="en-US" sz="2600" b="1" dirty="0">
                <a:solidFill>
                  <a:srgbClr val="F2F0EA"/>
                </a:solidFill>
                <a:latin typeface="Georgia" pitchFamily="34" charset="0"/>
                <a:ea typeface="Georgia" pitchFamily="34" charset="-122"/>
                <a:cs typeface="Georgia" pitchFamily="34" charset="-120"/>
              </a:rPr>
              <a:t>[2]</a:t>
            </a:r>
            <a:pPr indent="0" marL="0">
              <a:lnSpc>
                <a:spcPct val="125000"/>
              </a:lnSpc>
              <a:spcAft>
                <a:spcPts val="800"/>
              </a:spcAft>
              <a:buNone/>
            </a:pPr>
            <a:r>
              <a:rPr lang="en-US" sz="2600" dirty="0">
                <a:solidFill>
                  <a:srgbClr val="F2F0EA"/>
                </a:solidFill>
                <a:latin typeface="Georgia" pitchFamily="34" charset="0"/>
                <a:ea typeface="Georgia" pitchFamily="34" charset="-122"/>
                <a:cs typeface="Georgia" pitchFamily="34" charset="-120"/>
              </a:rPr>
              <a:t> MADALENA: Que fazes?… que fizeste? Que é isto, oh meu Deus!</a:t>
            </a:r>
            <a:endParaRPr lang="en-US" sz="2600" dirty="0"/>
          </a:p>
          <a:p>
            <a:pPr indent="0" marL="0">
              <a:lnSpc>
                <a:spcPct val="125000"/>
              </a:lnSpc>
              <a:spcAft>
                <a:spcPts val="800"/>
              </a:spcAft>
              <a:buNone/>
            </a:pPr>
            <a:r>
              <a:rPr lang="en-US" sz="2600" b="1" dirty="0">
                <a:solidFill>
                  <a:srgbClr val="F2F0EA"/>
                </a:solidFill>
                <a:latin typeface="Georgia" pitchFamily="34" charset="0"/>
                <a:ea typeface="Georgia" pitchFamily="34" charset="-122"/>
                <a:cs typeface="Georgia" pitchFamily="34" charset="-120"/>
              </a:rPr>
              <a:t>[3]</a:t>
            </a:r>
            <a:pPr indent="0" marL="0">
              <a:lnSpc>
                <a:spcPct val="125000"/>
              </a:lnSpc>
              <a:spcAft>
                <a:spcPts val="800"/>
              </a:spcAft>
              <a:buNone/>
            </a:pPr>
            <a:r>
              <a:rPr lang="en-US" sz="2600" dirty="0">
                <a:solidFill>
                  <a:srgbClr val="F2F0EA"/>
                </a:solidFill>
                <a:latin typeface="Georgia" pitchFamily="34" charset="0"/>
                <a:ea typeface="Georgia" pitchFamily="34" charset="-122"/>
                <a:cs typeface="Georgia" pitchFamily="34" charset="-120"/>
              </a:rPr>
              <a:t> MANUEL, tranquilamente: Ilumino a minha casa para receber os muito poderosos e excelentes senhores governadores destes reinos. Suas excelências podem vir quando quiserem.</a:t>
            </a:r>
            <a:endParaRPr lang="en-US" sz="2600" dirty="0"/>
          </a:p>
        </p:txBody>
      </p:sp>
      <p:sp>
        <p:nvSpPr>
          <p:cNvPr id="8" name="Text 6"/>
          <p:cNvSpPr/>
          <p:nvPr/>
        </p:nvSpPr>
        <p:spPr>
          <a:xfrm>
            <a:off x="822960" y="5943600"/>
            <a:ext cx="9814255" cy="365760"/>
          </a:xfrm>
          <a:prstGeom prst="rect">
            <a:avLst/>
          </a:prstGeom>
          <a:noFill/>
          <a:ln/>
        </p:spPr>
        <p:txBody>
          <a:bodyPr wrap="square" lIns="0" tIns="0" rIns="0" bIns="0" rtlCol="0" anchor="ctr">
            <a:normAutofit/>
          </a:bodyPr>
          <a:lstStyle/>
          <a:p>
            <a:pPr indent="0" marL="0">
              <a:buNone/>
            </a:pPr>
            <a:r>
              <a:rPr lang="en-US" sz="1100" dirty="0">
                <a:solidFill>
                  <a:srgbClr val="A9A79F"/>
                </a:solidFill>
                <a:latin typeface="Arial" pitchFamily="34" charset="0"/>
                <a:ea typeface="Arial" pitchFamily="34" charset="-122"/>
                <a:cs typeface="Arial" pitchFamily="34" charset="-120"/>
              </a:rPr>
              <a:t>Almeida Garrett, </a:t>
            </a:r>
            <a:pPr indent="0" marL="0">
              <a:buNone/>
            </a:pPr>
            <a:r>
              <a:rPr lang="en-US" sz="1100" i="1" dirty="0">
                <a:solidFill>
                  <a:srgbClr val="A9A79F"/>
                </a:solidFill>
                <a:latin typeface="Arial" pitchFamily="34" charset="0"/>
                <a:ea typeface="Arial" pitchFamily="34" charset="-122"/>
                <a:cs typeface="Arial" pitchFamily="34" charset="-120"/>
              </a:rPr>
              <a:t>Frei Luís de Sousa</a:t>
            </a:r>
            <a:pPr indent="0" marL="0">
              <a:buNone/>
            </a:pPr>
            <a:r>
              <a:rPr lang="en-US" sz="1100" dirty="0">
                <a:solidFill>
                  <a:srgbClr val="A9A79F"/>
                </a:solidFill>
                <a:latin typeface="Arial" pitchFamily="34" charset="0"/>
                <a:ea typeface="Arial" pitchFamily="34" charset="-122"/>
                <a:cs typeface="Arial" pitchFamily="34" charset="-120"/>
              </a:rPr>
              <a:t> (1844), ato I, cenas XI e XII, ortografia atualizada.</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18: A palavra contra o poder</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19</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RESPONDE NO TELEMÓVEL</a:t>
            </a:r>
            <a:endParaRPr lang="en-US" sz="1100" dirty="0"/>
          </a:p>
        </p:txBody>
      </p:sp>
      <p:sp>
        <p:nvSpPr>
          <p:cNvPr id="7" name="Text 5"/>
          <p:cNvSpPr/>
          <p:nvPr/>
        </p:nvSpPr>
        <p:spPr>
          <a:xfrm>
            <a:off x="822960" y="914400"/>
            <a:ext cx="9814255" cy="1234440"/>
          </a:xfrm>
          <a:prstGeom prst="rect">
            <a:avLst/>
          </a:prstGeom>
          <a:noFill/>
          <a:ln/>
        </p:spPr>
        <p:txBody>
          <a:bodyPr wrap="square" lIns="0" tIns="0" rIns="0" bIns="0" rtlCol="0" anchor="t">
            <a:normAutofit/>
          </a:bodyPr>
          <a:lstStyle/>
          <a:p>
            <a:pPr indent="0" marL="0">
              <a:buNone/>
            </a:pPr>
            <a:r>
              <a:rPr lang="en-US" sz="3200" dirty="0">
                <a:solidFill>
                  <a:srgbClr val="F2F0EA"/>
                </a:solidFill>
                <a:latin typeface="Georgia" pitchFamily="34" charset="0"/>
                <a:ea typeface="Georgia" pitchFamily="34" charset="-122"/>
                <a:cs typeface="Georgia" pitchFamily="34" charset="-120"/>
              </a:rPr>
              <a:t>Lidas com o sítio onde são ditas, em que se parecem as duas frases?</a:t>
            </a:r>
            <a:endParaRPr lang="en-US" sz="3200" dirty="0"/>
          </a:p>
        </p:txBody>
      </p:sp>
      <p:sp>
        <p:nvSpPr>
          <p:cNvPr id="8" name="Shape 6"/>
          <p:cNvSpPr/>
          <p:nvPr/>
        </p:nvSpPr>
        <p:spPr>
          <a:xfrm>
            <a:off x="822960" y="2240280"/>
            <a:ext cx="640080" cy="64008"/>
          </a:xfrm>
          <a:prstGeom prst="rect">
            <a:avLst/>
          </a:prstGeom>
          <a:solidFill>
            <a:srgbClr val="E4555C"/>
          </a:solidFill>
          <a:ln w="12700">
            <a:solidFill>
              <a:srgbClr val="E4555C"/>
            </a:solidFill>
            <a:prstDash val="solid"/>
          </a:ln>
        </p:spPr>
      </p:sp>
      <p:sp>
        <p:nvSpPr>
          <p:cNvPr id="9" name="Shape 7"/>
          <p:cNvSpPr/>
          <p:nvPr/>
        </p:nvSpPr>
        <p:spPr>
          <a:xfrm>
            <a:off x="1005840" y="2697480"/>
            <a:ext cx="0" cy="1200912"/>
          </a:xfrm>
          <a:prstGeom prst="line">
            <a:avLst/>
          </a:prstGeom>
          <a:noFill/>
          <a:ln w="12700">
            <a:solidFill>
              <a:srgbClr val="A9A79F"/>
            </a:solidFill>
            <a:prstDash val="solid"/>
          </a:ln>
        </p:spPr>
      </p:sp>
      <p:sp>
        <p:nvSpPr>
          <p:cNvPr id="10" name="Shape 8"/>
          <p:cNvSpPr/>
          <p:nvPr/>
        </p:nvSpPr>
        <p:spPr>
          <a:xfrm>
            <a:off x="822960" y="2514600"/>
            <a:ext cx="365760" cy="365760"/>
          </a:xfrm>
          <a:prstGeom prst="ellipse">
            <a:avLst/>
          </a:prstGeom>
          <a:solidFill>
            <a:srgbClr val="111111"/>
          </a:solidFill>
          <a:ln w="15875">
            <a:solidFill>
              <a:srgbClr val="F2F0EA"/>
            </a:solidFill>
            <a:prstDash val="solid"/>
          </a:ln>
        </p:spPr>
      </p:sp>
      <p:sp>
        <p:nvSpPr>
          <p:cNvPr id="11" name="Text 9"/>
          <p:cNvSpPr/>
          <p:nvPr/>
        </p:nvSpPr>
        <p:spPr>
          <a:xfrm>
            <a:off x="822960" y="251460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A</a:t>
            </a:r>
            <a:endParaRPr lang="en-US" sz="1300" dirty="0"/>
          </a:p>
        </p:txBody>
      </p:sp>
      <p:sp>
        <p:nvSpPr>
          <p:cNvPr id="12" name="Text 10"/>
          <p:cNvSpPr/>
          <p:nvPr/>
        </p:nvSpPr>
        <p:spPr>
          <a:xfrm>
            <a:off x="1417320" y="2523744"/>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Dizem o contrário do que querem dar a entender</a:t>
            </a:r>
            <a:endParaRPr lang="en-US" sz="2400" dirty="0"/>
          </a:p>
        </p:txBody>
      </p:sp>
      <p:sp>
        <p:nvSpPr>
          <p:cNvPr id="13" name="Shape 11"/>
          <p:cNvSpPr/>
          <p:nvPr/>
        </p:nvSpPr>
        <p:spPr>
          <a:xfrm>
            <a:off x="822960" y="3115056"/>
            <a:ext cx="365760" cy="365760"/>
          </a:xfrm>
          <a:prstGeom prst="ellipse">
            <a:avLst/>
          </a:prstGeom>
          <a:solidFill>
            <a:srgbClr val="111111"/>
          </a:solidFill>
          <a:ln w="15875">
            <a:solidFill>
              <a:srgbClr val="F2F0EA"/>
            </a:solidFill>
            <a:prstDash val="solid"/>
          </a:ln>
        </p:spPr>
      </p:sp>
      <p:sp>
        <p:nvSpPr>
          <p:cNvPr id="14" name="Text 12"/>
          <p:cNvSpPr/>
          <p:nvPr/>
        </p:nvSpPr>
        <p:spPr>
          <a:xfrm>
            <a:off x="822960" y="3115056"/>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B</a:t>
            </a:r>
            <a:endParaRPr lang="en-US" sz="1300" dirty="0"/>
          </a:p>
        </p:txBody>
      </p:sp>
      <p:sp>
        <p:nvSpPr>
          <p:cNvPr id="15" name="Text 13"/>
          <p:cNvSpPr/>
          <p:nvPr/>
        </p:nvSpPr>
        <p:spPr>
          <a:xfrm>
            <a:off x="1417320" y="3124200"/>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São indicações de cena, como uma didascália</a:t>
            </a:r>
            <a:endParaRPr lang="en-US" sz="2400" dirty="0"/>
          </a:p>
        </p:txBody>
      </p:sp>
      <p:sp>
        <p:nvSpPr>
          <p:cNvPr id="16" name="Shape 14"/>
          <p:cNvSpPr/>
          <p:nvPr/>
        </p:nvSpPr>
        <p:spPr>
          <a:xfrm>
            <a:off x="822960" y="3715512"/>
            <a:ext cx="365760" cy="365760"/>
          </a:xfrm>
          <a:prstGeom prst="ellipse">
            <a:avLst/>
          </a:prstGeom>
          <a:solidFill>
            <a:srgbClr val="111111"/>
          </a:solidFill>
          <a:ln w="15875">
            <a:solidFill>
              <a:srgbClr val="F2F0EA"/>
            </a:solidFill>
            <a:prstDash val="solid"/>
          </a:ln>
        </p:spPr>
      </p:sp>
      <p:sp>
        <p:nvSpPr>
          <p:cNvPr id="17" name="Text 15"/>
          <p:cNvSpPr/>
          <p:nvPr/>
        </p:nvSpPr>
        <p:spPr>
          <a:xfrm>
            <a:off x="822960" y="3715512"/>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C</a:t>
            </a:r>
            <a:endParaRPr lang="en-US" sz="1300" dirty="0"/>
          </a:p>
        </p:txBody>
      </p:sp>
      <p:sp>
        <p:nvSpPr>
          <p:cNvPr id="18" name="Text 16"/>
          <p:cNvSpPr/>
          <p:nvPr/>
        </p:nvSpPr>
        <p:spPr>
          <a:xfrm>
            <a:off x="1417320" y="3724656"/>
            <a:ext cx="9174175" cy="600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Anunciam uma desgraça que ainda vai chegar</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18: A palavra contra o poder</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20</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RESPOSTA</a:t>
            </a:r>
            <a:endParaRPr lang="en-US" sz="1100" dirty="0"/>
          </a:p>
        </p:txBody>
      </p:sp>
      <p:sp>
        <p:nvSpPr>
          <p:cNvPr id="7" name="Text 5"/>
          <p:cNvSpPr/>
          <p:nvPr/>
        </p:nvSpPr>
        <p:spPr>
          <a:xfrm>
            <a:off x="822960" y="1005840"/>
            <a:ext cx="9814255" cy="1463040"/>
          </a:xfrm>
          <a:prstGeom prst="rect">
            <a:avLst/>
          </a:prstGeom>
          <a:noFill/>
          <a:ln/>
        </p:spPr>
        <p:txBody>
          <a:bodyPr wrap="square" lIns="0" tIns="0" rIns="0" bIns="0" rtlCol="0" anchor="t">
            <a:normAutofit/>
          </a:bodyPr>
          <a:lstStyle/>
          <a:p>
            <a:pPr indent="0" marL="0">
              <a:buNone/>
            </a:pPr>
            <a:r>
              <a:rPr lang="en-US" sz="3400" b="1" dirty="0">
                <a:solidFill>
                  <a:srgbClr val="F2F0EA"/>
                </a:solidFill>
                <a:latin typeface="Arial" pitchFamily="34" charset="0"/>
                <a:ea typeface="Arial" pitchFamily="34" charset="-122"/>
                <a:cs typeface="Arial" pitchFamily="34" charset="-120"/>
              </a:rPr>
              <a:t>Dizem o contrário do que querem dar a entender</a:t>
            </a:r>
            <a:endParaRPr lang="en-US" sz="3400" dirty="0"/>
          </a:p>
        </p:txBody>
      </p:sp>
      <p:sp>
        <p:nvSpPr>
          <p:cNvPr id="8" name="Shape 6"/>
          <p:cNvSpPr/>
          <p:nvPr/>
        </p:nvSpPr>
        <p:spPr>
          <a:xfrm>
            <a:off x="822960" y="2606040"/>
            <a:ext cx="640080" cy="64008"/>
          </a:xfrm>
          <a:prstGeom prst="rect">
            <a:avLst/>
          </a:prstGeom>
          <a:solidFill>
            <a:srgbClr val="E4555C"/>
          </a:solidFill>
          <a:ln w="12700">
            <a:solidFill>
              <a:srgbClr val="E4555C"/>
            </a:solidFill>
            <a:prstDash val="solid"/>
          </a:ln>
        </p:spPr>
      </p:sp>
      <p:sp>
        <p:nvSpPr>
          <p:cNvPr id="9" name="Text 7"/>
          <p:cNvSpPr/>
          <p:nvPr/>
        </p:nvSpPr>
        <p:spPr>
          <a:xfrm>
            <a:off x="822960" y="2880360"/>
            <a:ext cx="9814255" cy="3246120"/>
          </a:xfrm>
          <a:prstGeom prst="rect">
            <a:avLst/>
          </a:prstGeom>
          <a:noFill/>
          <a:ln/>
        </p:spPr>
        <p:txBody>
          <a:bodyPr wrap="square" lIns="0" tIns="0" rIns="0" bIns="0" rtlCol="0" anchor="t">
            <a:normAutofit/>
          </a:bodyPr>
          <a:lstStyle/>
          <a:p>
            <a:pPr indent="0" marL="0">
              <a:lnSpc>
                <a:spcPct val="120000"/>
              </a:lnSpc>
              <a:buNone/>
            </a:pPr>
            <a:r>
              <a:rPr lang="en-US" sz="2500" dirty="0">
                <a:solidFill>
                  <a:srgbClr val="F2F0EA"/>
                </a:solidFill>
                <a:latin typeface="Georgia" pitchFamily="34" charset="0"/>
                <a:ea typeface="Georgia" pitchFamily="34" charset="-122"/>
                <a:cs typeface="Georgia" pitchFamily="34" charset="-120"/>
              </a:rPr>
              <a:t>As duas são irónicas: Manuel diz «receber» com a casa a arder; Vieira diz que pregou ao mar diante dos homens. O contexto desmente a frase, e quem fala quer ser apanhado.</a:t>
            </a:r>
            <a:endParaRPr lang="en-US" sz="2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18: A palavra contra o poder</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21</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DECIDE: DECIDE EM SILÊNCIO</a:t>
            </a:r>
            <a:endParaRPr lang="en-US" sz="1100" dirty="0"/>
          </a:p>
        </p:txBody>
      </p:sp>
      <p:sp>
        <p:nvSpPr>
          <p:cNvPr id="7"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4400" i="1" dirty="0">
                <a:solidFill>
                  <a:srgbClr val="F2F0EA"/>
                </a:solidFill>
                <a:latin typeface="Georgia" pitchFamily="34" charset="0"/>
                <a:ea typeface="Georgia" pitchFamily="34" charset="-122"/>
                <a:cs typeface="Georgia" pitchFamily="34" charset="-120"/>
              </a:rPr>
              <a:t>Vale a pena dizer a verdade a quem não a quer ouvir?</a:t>
            </a:r>
            <a:endParaRPr lang="en-US" sz="4400" dirty="0"/>
          </a:p>
        </p:txBody>
      </p:sp>
      <p:sp>
        <p:nvSpPr>
          <p:cNvPr id="8" name="Shape 6"/>
          <p:cNvSpPr/>
          <p:nvPr/>
        </p:nvSpPr>
        <p:spPr>
          <a:xfrm>
            <a:off x="822960" y="4526280"/>
            <a:ext cx="640080" cy="64008"/>
          </a:xfrm>
          <a:prstGeom prst="rect">
            <a:avLst/>
          </a:prstGeom>
          <a:solidFill>
            <a:srgbClr val="E4555C"/>
          </a:solidFill>
          <a:ln w="12700">
            <a:solidFill>
              <a:srgbClr val="E4555C"/>
            </a:solidFill>
            <a:prstDash val="solid"/>
          </a:ln>
        </p:spPr>
      </p:sp>
      <p:sp>
        <p:nvSpPr>
          <p:cNvPr id="9" name="Text 7"/>
          <p:cNvSpPr/>
          <p:nvPr/>
        </p:nvSpPr>
        <p:spPr>
          <a:xfrm>
            <a:off x="822960" y="4800600"/>
            <a:ext cx="9814255" cy="1097280"/>
          </a:xfrm>
          <a:prstGeom prst="rect">
            <a:avLst/>
          </a:prstGeom>
          <a:noFill/>
          <a:ln/>
        </p:spPr>
        <p:txBody>
          <a:bodyPr wrap="square" lIns="0" tIns="0" rIns="0" bIns="0" rtlCol="0" anchor="t">
            <a:normAutofit/>
          </a:bodyPr>
          <a:lstStyle/>
          <a:p>
            <a:pPr indent="0" marL="0">
              <a:buNone/>
            </a:pPr>
            <a:r>
              <a:rPr lang="en-US" sz="1800" dirty="0">
                <a:solidFill>
                  <a:srgbClr val="A9A79F"/>
                </a:solidFill>
                <a:latin typeface="Arial" pitchFamily="34" charset="0"/>
                <a:ea typeface="Arial" pitchFamily="34" charset="-122"/>
                <a:cs typeface="Arial" pitchFamily="34" charset="-120"/>
              </a:rPr>
              <a:t>Vieira disse aos colonos de São Luís, falando aos peixes, o que eles não queriam ouvir. Manuel respondeu aos governadores com fogo e uma frase. O Romeiro disse «Ninguém», e a família desfez-se.</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18: A palavra contra o poder</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22</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DECIDE: OS LADOS</a:t>
            </a:r>
            <a:endParaRPr lang="en-US" sz="1100" dirty="0"/>
          </a:p>
        </p:txBody>
      </p:sp>
      <p:sp>
        <p:nvSpPr>
          <p:cNvPr id="7" name="Text 5"/>
          <p:cNvSpPr/>
          <p:nvPr/>
        </p:nvSpPr>
        <p:spPr>
          <a:xfrm>
            <a:off x="822960" y="868680"/>
            <a:ext cx="9814255" cy="822960"/>
          </a:xfrm>
          <a:prstGeom prst="rect">
            <a:avLst/>
          </a:prstGeom>
          <a:noFill/>
          <a:ln/>
        </p:spPr>
        <p:txBody>
          <a:bodyPr wrap="square" lIns="0" tIns="0" rIns="0" bIns="0" rtlCol="0" anchor="b">
            <a:normAutofit/>
          </a:bodyPr>
          <a:lstStyle/>
          <a:p>
            <a:pPr indent="0" marL="0">
              <a:buNone/>
            </a:pPr>
            <a:r>
              <a:rPr lang="en-US" sz="3400" dirty="0">
                <a:solidFill>
                  <a:srgbClr val="F2F0EA"/>
                </a:solidFill>
                <a:latin typeface="Arial" pitchFamily="34" charset="0"/>
                <a:ea typeface="Arial" pitchFamily="34" charset="-122"/>
                <a:cs typeface="Arial" pitchFamily="34" charset="-120"/>
              </a:rPr>
              <a:t>A verdade a quem não quer ouvir</a:t>
            </a:r>
            <a:endParaRPr lang="en-US" sz="3400" dirty="0"/>
          </a:p>
        </p:txBody>
      </p:sp>
      <p:sp>
        <p:nvSpPr>
          <p:cNvPr id="8" name="Shape 6"/>
          <p:cNvSpPr/>
          <p:nvPr/>
        </p:nvSpPr>
        <p:spPr>
          <a:xfrm>
            <a:off x="822960" y="1746504"/>
            <a:ext cx="640080" cy="64008"/>
          </a:xfrm>
          <a:prstGeom prst="rect">
            <a:avLst/>
          </a:prstGeom>
          <a:solidFill>
            <a:srgbClr val="E4555C"/>
          </a:solidFill>
          <a:ln w="12700">
            <a:solidFill>
              <a:srgbClr val="E4555C"/>
            </a:solidFill>
            <a:prstDash val="solid"/>
          </a:ln>
        </p:spPr>
      </p:sp>
      <p:sp>
        <p:nvSpPr>
          <p:cNvPr id="9" name="Text 7"/>
          <p:cNvSpPr/>
          <p:nvPr/>
        </p:nvSpPr>
        <p:spPr>
          <a:xfrm>
            <a:off x="822960" y="2103120"/>
            <a:ext cx="3210458" cy="822960"/>
          </a:xfrm>
          <a:prstGeom prst="rect">
            <a:avLst/>
          </a:prstGeom>
          <a:noFill/>
          <a:ln/>
        </p:spPr>
        <p:txBody>
          <a:bodyPr wrap="square" lIns="0" tIns="0" rIns="0" bIns="0" rtlCol="0" anchor="t">
            <a:normAutofit/>
          </a:bodyPr>
          <a:lstStyle/>
          <a:p>
            <a:pPr indent="0" marL="0">
              <a:buNone/>
            </a:pPr>
            <a:r>
              <a:rPr lang="en-US" sz="2000" b="1" dirty="0">
                <a:solidFill>
                  <a:srgbClr val="F2F0EA"/>
                </a:solidFill>
                <a:latin typeface="Arial" pitchFamily="34" charset="0"/>
                <a:ea typeface="Arial" pitchFamily="34" charset="-122"/>
                <a:cs typeface="Arial" pitchFamily="34" charset="-120"/>
              </a:rPr>
              <a:t>A razão de Vieira</a:t>
            </a:r>
            <a:endParaRPr lang="en-US" sz="2000" dirty="0"/>
          </a:p>
        </p:txBody>
      </p:sp>
      <p:sp>
        <p:nvSpPr>
          <p:cNvPr id="10" name="Text 8"/>
          <p:cNvSpPr/>
          <p:nvPr/>
        </p:nvSpPr>
        <p:spPr>
          <a:xfrm>
            <a:off x="822960" y="2971800"/>
            <a:ext cx="3210458" cy="3108960"/>
          </a:xfrm>
          <a:prstGeom prst="rect">
            <a:avLst/>
          </a:prstGeom>
          <a:noFill/>
          <a:ln/>
        </p:spPr>
        <p:txBody>
          <a:bodyPr wrap="square" lIns="0" tIns="0" rIns="0" bIns="0" rtlCol="0" anchor="t">
            <a:normAutofit/>
          </a:bodyPr>
          <a:lstStyle/>
          <a:p>
            <a:pPr indent="0" marL="0">
              <a:lnSpc>
                <a:spcPct val="115000"/>
              </a:lnSpc>
              <a:buNone/>
            </a:pPr>
            <a:r>
              <a:rPr lang="en-US" sz="1700" dirty="0">
                <a:solidFill>
                  <a:srgbClr val="F2F0EA"/>
                </a:solidFill>
                <a:latin typeface="Georgia" pitchFamily="34" charset="0"/>
                <a:ea typeface="Georgia" pitchFamily="34" charset="-122"/>
                <a:cs typeface="Georgia" pitchFamily="34" charset="-120"/>
              </a:rPr>
              <a:t>Vale a pena, e escolhe-se a maneira. Vieira fala aos peixes para os homens ouvirem e, no fim, lamenta: «Oh que boa doutrina era esta para a terra, se eu não pregara para o mar!». Três dias depois, embarca para o Reino «a procurar o remédio da salvação dos índios».Vieira, no fim do sermão; a nota da edição de 1682.</a:t>
            </a:r>
            <a:endParaRPr lang="en-US" sz="1700" dirty="0"/>
          </a:p>
        </p:txBody>
      </p:sp>
      <p:sp>
        <p:nvSpPr>
          <p:cNvPr id="11" name="Text 9"/>
          <p:cNvSpPr/>
          <p:nvPr/>
        </p:nvSpPr>
        <p:spPr>
          <a:xfrm>
            <a:off x="4490618" y="2103120"/>
            <a:ext cx="3210458" cy="822960"/>
          </a:xfrm>
          <a:prstGeom prst="rect">
            <a:avLst/>
          </a:prstGeom>
          <a:noFill/>
          <a:ln/>
        </p:spPr>
        <p:txBody>
          <a:bodyPr wrap="square" lIns="0" tIns="0" rIns="0" bIns="0" rtlCol="0" anchor="t">
            <a:normAutofit/>
          </a:bodyPr>
          <a:lstStyle/>
          <a:p>
            <a:pPr indent="0" marL="0">
              <a:buNone/>
            </a:pPr>
            <a:r>
              <a:rPr lang="en-US" sz="2000" b="1" dirty="0">
                <a:solidFill>
                  <a:srgbClr val="F2F0EA"/>
                </a:solidFill>
                <a:latin typeface="Arial" pitchFamily="34" charset="0"/>
                <a:ea typeface="Arial" pitchFamily="34" charset="-122"/>
                <a:cs typeface="Arial" pitchFamily="34" charset="-120"/>
              </a:rPr>
              <a:t>A razão de Manuel</a:t>
            </a:r>
            <a:endParaRPr lang="en-US" sz="2000" dirty="0"/>
          </a:p>
        </p:txBody>
      </p:sp>
      <p:sp>
        <p:nvSpPr>
          <p:cNvPr id="12" name="Text 10"/>
          <p:cNvSpPr/>
          <p:nvPr/>
        </p:nvSpPr>
        <p:spPr>
          <a:xfrm>
            <a:off x="4490618" y="2971800"/>
            <a:ext cx="3210458" cy="3108960"/>
          </a:xfrm>
          <a:prstGeom prst="rect">
            <a:avLst/>
          </a:prstGeom>
          <a:noFill/>
          <a:ln/>
        </p:spPr>
        <p:txBody>
          <a:bodyPr wrap="square" lIns="0" tIns="0" rIns="0" bIns="0" rtlCol="0" anchor="t">
            <a:normAutofit/>
          </a:bodyPr>
          <a:lstStyle/>
          <a:p>
            <a:pPr indent="0" marL="0">
              <a:lnSpc>
                <a:spcPct val="115000"/>
              </a:lnSpc>
              <a:buNone/>
            </a:pPr>
            <a:r>
              <a:rPr lang="en-US" sz="1700" dirty="0">
                <a:solidFill>
                  <a:srgbClr val="F2F0EA"/>
                </a:solidFill>
                <a:latin typeface="Georgia" pitchFamily="34" charset="0"/>
                <a:ea typeface="Georgia" pitchFamily="34" charset="-122"/>
                <a:cs typeface="Georgia" pitchFamily="34" charset="-120"/>
              </a:rPr>
              <a:t>Vale a pena, mas não só com palavras. Manuel atira as tochas e diz, tranquilamente: «Ilumino a minha casa para receber os muito poderosos e excelentes senhores governadores destes reinos». Pouco antes, dissera que um homem de honra, «por mais poderosa que seja a tirania, sempre lhe pode resistir».Manuel de Sousa, ato I, cenas XI e XII.</a:t>
            </a:r>
            <a:endParaRPr lang="en-US" sz="1700" dirty="0"/>
          </a:p>
        </p:txBody>
      </p:sp>
      <p:sp>
        <p:nvSpPr>
          <p:cNvPr id="13" name="Text 11"/>
          <p:cNvSpPr/>
          <p:nvPr/>
        </p:nvSpPr>
        <p:spPr>
          <a:xfrm>
            <a:off x="8158277" y="2103120"/>
            <a:ext cx="3210458" cy="822960"/>
          </a:xfrm>
          <a:prstGeom prst="rect">
            <a:avLst/>
          </a:prstGeom>
          <a:noFill/>
          <a:ln/>
        </p:spPr>
        <p:txBody>
          <a:bodyPr wrap="square" lIns="0" tIns="0" rIns="0" bIns="0" rtlCol="0" anchor="t">
            <a:normAutofit/>
          </a:bodyPr>
          <a:lstStyle/>
          <a:p>
            <a:pPr indent="0" marL="0">
              <a:buNone/>
            </a:pPr>
            <a:r>
              <a:rPr lang="en-US" sz="2000" b="1" dirty="0">
                <a:solidFill>
                  <a:srgbClr val="F2F0EA"/>
                </a:solidFill>
                <a:latin typeface="Arial" pitchFamily="34" charset="0"/>
                <a:ea typeface="Arial" pitchFamily="34" charset="-122"/>
                <a:cs typeface="Arial" pitchFamily="34" charset="-120"/>
              </a:rPr>
              <a:t>A objeção do Romeiro</a:t>
            </a:r>
            <a:endParaRPr lang="en-US" sz="2000" dirty="0"/>
          </a:p>
        </p:txBody>
      </p:sp>
      <p:sp>
        <p:nvSpPr>
          <p:cNvPr id="14" name="Text 12"/>
          <p:cNvSpPr/>
          <p:nvPr/>
        </p:nvSpPr>
        <p:spPr>
          <a:xfrm>
            <a:off x="8158277" y="2971800"/>
            <a:ext cx="3210458" cy="3108960"/>
          </a:xfrm>
          <a:prstGeom prst="rect">
            <a:avLst/>
          </a:prstGeom>
          <a:noFill/>
          <a:ln/>
        </p:spPr>
        <p:txBody>
          <a:bodyPr wrap="square" lIns="0" tIns="0" rIns="0" bIns="0" rtlCol="0" anchor="t">
            <a:normAutofit/>
          </a:bodyPr>
          <a:lstStyle/>
          <a:p>
            <a:pPr indent="0" marL="0">
              <a:lnSpc>
                <a:spcPct val="115000"/>
              </a:lnSpc>
              <a:buNone/>
            </a:pPr>
            <a:r>
              <a:rPr lang="en-US" sz="1700" dirty="0">
                <a:solidFill>
                  <a:srgbClr val="F2F0EA"/>
                </a:solidFill>
                <a:latin typeface="Georgia" pitchFamily="34" charset="0"/>
                <a:ea typeface="Georgia" pitchFamily="34" charset="-122"/>
                <a:cs typeface="Georgia" pitchFamily="34" charset="-120"/>
              </a:rPr>
              <a:t>Uma objeção possível: a verdade também destrói, e quem paga nem sempre é quem a diz. O Romeiro aponta para o retrato e diz «Ninguém»; no ato III, diz a Telmo: «Fui imprudente, fui injusto, fui duro e cruel. E para quê?» No fim, Maria morre e os pais vão tomar o hábito. Calar teria poupado alguém?O Romeiro, a Telmo, ato III, cena V.</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18: A palavra contra o poder</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23</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RESPONDE NO TELEMÓVEL</a:t>
            </a:r>
            <a:endParaRPr lang="en-US" sz="1100" dirty="0"/>
          </a:p>
        </p:txBody>
      </p:sp>
      <p:sp>
        <p:nvSpPr>
          <p:cNvPr id="7" name="Text 5"/>
          <p:cNvSpPr/>
          <p:nvPr/>
        </p:nvSpPr>
        <p:spPr>
          <a:xfrm>
            <a:off x="822960" y="914400"/>
            <a:ext cx="9814255" cy="1234440"/>
          </a:xfrm>
          <a:prstGeom prst="rect">
            <a:avLst/>
          </a:prstGeom>
          <a:noFill/>
          <a:ln/>
        </p:spPr>
        <p:txBody>
          <a:bodyPr wrap="square" lIns="0" tIns="0" rIns="0" bIns="0" rtlCol="0" anchor="t">
            <a:normAutofit/>
          </a:bodyPr>
          <a:lstStyle/>
          <a:p>
            <a:pPr indent="0" marL="0">
              <a:buNone/>
            </a:pPr>
            <a:r>
              <a:rPr lang="en-US" sz="3200" dirty="0">
                <a:solidFill>
                  <a:srgbClr val="F2F0EA"/>
                </a:solidFill>
                <a:latin typeface="Georgia" pitchFamily="34" charset="0"/>
                <a:ea typeface="Georgia" pitchFamily="34" charset="-122"/>
                <a:cs typeface="Georgia" pitchFamily="34" charset="-120"/>
              </a:rPr>
              <a:t>O texto de 100 a 140 palavras, por ordem:</a:t>
            </a:r>
            <a:endParaRPr lang="en-US" sz="3200" dirty="0"/>
          </a:p>
        </p:txBody>
      </p:sp>
      <p:sp>
        <p:nvSpPr>
          <p:cNvPr id="8" name="Shape 6"/>
          <p:cNvSpPr/>
          <p:nvPr/>
        </p:nvSpPr>
        <p:spPr>
          <a:xfrm>
            <a:off x="822960" y="2240280"/>
            <a:ext cx="640080" cy="64008"/>
          </a:xfrm>
          <a:prstGeom prst="rect">
            <a:avLst/>
          </a:prstGeom>
          <a:solidFill>
            <a:srgbClr val="E4555C"/>
          </a:solidFill>
          <a:ln w="12700">
            <a:solidFill>
              <a:srgbClr val="E4555C"/>
            </a:solidFill>
            <a:prstDash val="solid"/>
          </a:ln>
        </p:spPr>
      </p:sp>
      <p:sp>
        <p:nvSpPr>
          <p:cNvPr id="9" name="Text 7"/>
          <p:cNvSpPr/>
          <p:nvPr/>
        </p:nvSpPr>
        <p:spPr>
          <a:xfrm>
            <a:off x="822960" y="2514600"/>
            <a:ext cx="9814255" cy="3611880"/>
          </a:xfrm>
          <a:prstGeom prst="rect">
            <a:avLst/>
          </a:prstGeom>
          <a:noFill/>
          <a:ln/>
        </p:spPr>
        <p:txBody>
          <a:bodyPr wrap="square" lIns="0" tIns="0" rIns="0" bIns="0" rtlCol="0" anchor="t">
            <a:normAutofit/>
          </a:bodyPr>
          <a:lstStyle/>
          <a:p>
            <a:pPr marL="342900" indent="-342900">
              <a:spcAft>
                <a:spcPts val="600"/>
              </a:spcAft>
              <a:buSzPct val="100000"/>
              <a:buChar char="–"/>
            </a:pPr>
            <a:r>
              <a:rPr lang="en-US" sz="2000" dirty="0">
                <a:solidFill>
                  <a:srgbClr val="F2F0EA"/>
                </a:solidFill>
                <a:latin typeface="Arial" pitchFamily="34" charset="0"/>
                <a:ea typeface="Arial" pitchFamily="34" charset="-122"/>
                <a:cs typeface="Arial" pitchFamily="34" charset="-120"/>
              </a:rPr>
              <a:t>A posição, na primeira frase</a:t>
            </a:r>
            <a:endParaRPr lang="en-US" sz="2000" dirty="0"/>
          </a:p>
          <a:p>
            <a:pPr marL="342900" indent="-342900">
              <a:spcAft>
                <a:spcPts val="600"/>
              </a:spcAft>
              <a:buSzPct val="100000"/>
              <a:buChar char="–"/>
            </a:pPr>
            <a:r>
              <a:rPr lang="en-US" sz="2000" dirty="0">
                <a:solidFill>
                  <a:srgbClr val="F2F0EA"/>
                </a:solidFill>
                <a:latin typeface="Arial" pitchFamily="34" charset="0"/>
                <a:ea typeface="Arial" pitchFamily="34" charset="-122"/>
                <a:cs typeface="Arial" pitchFamily="34" charset="-120"/>
              </a:rPr>
              <a:t>Um exemplo de cada autor, com passagem e explicação</a:t>
            </a:r>
            <a:endParaRPr lang="en-US" sz="2000" dirty="0"/>
          </a:p>
          <a:p>
            <a:pPr marL="342900" indent="-342900">
              <a:spcAft>
                <a:spcPts val="600"/>
              </a:spcAft>
              <a:buSzPct val="100000"/>
              <a:buChar char="–"/>
            </a:pPr>
            <a:r>
              <a:rPr lang="en-US" sz="2000" dirty="0">
                <a:solidFill>
                  <a:srgbClr val="F2F0EA"/>
                </a:solidFill>
                <a:latin typeface="Arial" pitchFamily="34" charset="0"/>
                <a:ea typeface="Arial" pitchFamily="34" charset="-122"/>
                <a:cs typeface="Arial" pitchFamily="34" charset="-120"/>
              </a:rPr>
              <a:t>A última frase volta à posição</a:t>
            </a:r>
            <a:endParaRPr lang="en-US" sz="2000" dirty="0"/>
          </a:p>
          <a:p>
            <a:pPr marL="342900" indent="-342900">
              <a:spcAft>
                <a:spcPts val="600"/>
              </a:spcAft>
              <a:buSzPct val="100000"/>
              <a:buChar char="–"/>
            </a:pPr>
            <a:r>
              <a:rPr lang="en-US" sz="2000" dirty="0">
                <a:solidFill>
                  <a:srgbClr val="F2F0EA"/>
                </a:solidFill>
                <a:latin typeface="Arial" pitchFamily="34" charset="0"/>
                <a:ea typeface="Arial" pitchFamily="34" charset="-122"/>
                <a:cs typeface="Arial" pitchFamily="34" charset="-120"/>
              </a:rPr>
              <a:t>Uma objeção e a resposta</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18: A palavra contra o poder</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24</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RESPOSTA</a:t>
            </a:r>
            <a:endParaRPr lang="en-US" sz="1100" dirty="0"/>
          </a:p>
        </p:txBody>
      </p:sp>
      <p:sp>
        <p:nvSpPr>
          <p:cNvPr id="7" name="Text 5"/>
          <p:cNvSpPr/>
          <p:nvPr/>
        </p:nvSpPr>
        <p:spPr>
          <a:xfrm>
            <a:off x="822960" y="1005840"/>
            <a:ext cx="9814255" cy="2377440"/>
          </a:xfrm>
          <a:prstGeom prst="rect">
            <a:avLst/>
          </a:prstGeom>
          <a:noFill/>
          <a:ln/>
        </p:spPr>
        <p:txBody>
          <a:bodyPr wrap="square" lIns="0" tIns="0" rIns="0" bIns="0" rtlCol="0" anchor="t">
            <a:normAutofit/>
          </a:bodyPr>
          <a:lstStyle/>
          <a:p>
            <a:pPr marL="342900" indent="-342900">
              <a:spcAft>
                <a:spcPts val="400"/>
              </a:spcAft>
              <a:buSzPct val="100000"/>
              <a:buFont typeface="+mj-lt"/>
              <a:buAutoNum type="arabicPeriod" startAt="1"/>
            </a:pPr>
            <a:r>
              <a:rPr lang="en-US" sz="2200" dirty="0">
                <a:solidFill>
                  <a:srgbClr val="F2F0EA"/>
                </a:solidFill>
                <a:latin typeface="Arial" pitchFamily="34" charset="0"/>
                <a:ea typeface="Arial" pitchFamily="34" charset="-122"/>
                <a:cs typeface="Arial" pitchFamily="34" charset="-120"/>
              </a:rPr>
              <a:t>A posição, na primeira frase</a:t>
            </a:r>
            <a:endParaRPr lang="en-US" sz="2200" dirty="0"/>
          </a:p>
          <a:p>
            <a:pPr marL="342900" indent="-342900">
              <a:spcAft>
                <a:spcPts val="400"/>
              </a:spcAft>
              <a:buSzPct val="100000"/>
              <a:buFont typeface="+mj-lt"/>
              <a:buAutoNum type="arabicPeriod" startAt="1"/>
            </a:pPr>
            <a:r>
              <a:rPr lang="en-US" sz="2200" dirty="0">
                <a:solidFill>
                  <a:srgbClr val="F2F0EA"/>
                </a:solidFill>
                <a:latin typeface="Arial" pitchFamily="34" charset="0"/>
                <a:ea typeface="Arial" pitchFamily="34" charset="-122"/>
                <a:cs typeface="Arial" pitchFamily="34" charset="-120"/>
              </a:rPr>
              <a:t>Um exemplo de cada autor, com passagem e explicação</a:t>
            </a:r>
            <a:endParaRPr lang="en-US" sz="2200" dirty="0"/>
          </a:p>
          <a:p>
            <a:pPr marL="342900" indent="-342900">
              <a:spcAft>
                <a:spcPts val="400"/>
              </a:spcAft>
              <a:buSzPct val="100000"/>
              <a:buFont typeface="+mj-lt"/>
              <a:buAutoNum type="arabicPeriod" startAt="1"/>
            </a:pPr>
            <a:r>
              <a:rPr lang="en-US" sz="2200" dirty="0">
                <a:solidFill>
                  <a:srgbClr val="F2F0EA"/>
                </a:solidFill>
                <a:latin typeface="Arial" pitchFamily="34" charset="0"/>
                <a:ea typeface="Arial" pitchFamily="34" charset="-122"/>
                <a:cs typeface="Arial" pitchFamily="34" charset="-120"/>
              </a:rPr>
              <a:t>Uma objeção e a resposta</a:t>
            </a:r>
            <a:endParaRPr lang="en-US" sz="2200" dirty="0"/>
          </a:p>
          <a:p>
            <a:pPr marL="342900" indent="-342900">
              <a:spcAft>
                <a:spcPts val="400"/>
              </a:spcAft>
              <a:buSzPct val="100000"/>
              <a:buFont typeface="+mj-lt"/>
              <a:buAutoNum type="arabicPeriod" startAt="1"/>
            </a:pPr>
            <a:r>
              <a:rPr lang="en-US" sz="2200" dirty="0">
                <a:solidFill>
                  <a:srgbClr val="F2F0EA"/>
                </a:solidFill>
                <a:latin typeface="Arial" pitchFamily="34" charset="0"/>
                <a:ea typeface="Arial" pitchFamily="34" charset="-122"/>
                <a:cs typeface="Arial" pitchFamily="34" charset="-120"/>
              </a:rPr>
              <a:t>A última frase volta à posição</a:t>
            </a:r>
            <a:endParaRPr lang="en-US" sz="2200" dirty="0"/>
          </a:p>
        </p:txBody>
      </p:sp>
      <p:sp>
        <p:nvSpPr>
          <p:cNvPr id="8" name="Shape 6"/>
          <p:cNvSpPr/>
          <p:nvPr/>
        </p:nvSpPr>
        <p:spPr>
          <a:xfrm>
            <a:off x="822960" y="3520440"/>
            <a:ext cx="640080" cy="64008"/>
          </a:xfrm>
          <a:prstGeom prst="rect">
            <a:avLst/>
          </a:prstGeom>
          <a:solidFill>
            <a:srgbClr val="E4555C"/>
          </a:solidFill>
          <a:ln w="12700">
            <a:solidFill>
              <a:srgbClr val="E4555C"/>
            </a:solidFill>
            <a:prstDash val="solid"/>
          </a:ln>
        </p:spPr>
      </p:sp>
      <p:sp>
        <p:nvSpPr>
          <p:cNvPr id="9" name="Text 7"/>
          <p:cNvSpPr/>
          <p:nvPr/>
        </p:nvSpPr>
        <p:spPr>
          <a:xfrm>
            <a:off x="822960" y="3794760"/>
            <a:ext cx="9814255" cy="2331720"/>
          </a:xfrm>
          <a:prstGeom prst="rect">
            <a:avLst/>
          </a:prstGeom>
          <a:noFill/>
          <a:ln/>
        </p:spPr>
        <p:txBody>
          <a:bodyPr wrap="square" lIns="0" tIns="0" rIns="0" bIns="0" rtlCol="0" anchor="t">
            <a:normAutofit/>
          </a:bodyPr>
          <a:lstStyle/>
          <a:p>
            <a:pPr indent="0" marL="0">
              <a:lnSpc>
                <a:spcPct val="120000"/>
              </a:lnSpc>
              <a:buNone/>
            </a:pPr>
            <a:r>
              <a:rPr lang="en-US" sz="2200" dirty="0">
                <a:solidFill>
                  <a:srgbClr val="F2F0EA"/>
                </a:solidFill>
                <a:latin typeface="Georgia" pitchFamily="34" charset="0"/>
                <a:ea typeface="Georgia" pitchFamily="34" charset="-122"/>
                <a:cs typeface="Georgia" pitchFamily="34" charset="-120"/>
              </a:rPr>
              <a:t>Uma posição precisa de provas: indica uma passagem de Vieira e outra de Garrett, </a:t>
            </a:r>
            <a:pPr indent="0" marL="0">
              <a:lnSpc>
                <a:spcPct val="120000"/>
              </a:lnSpc>
              <a:buNone/>
            </a:pPr>
            <a:r>
              <a:rPr lang="en-US" sz="2200" b="1" dirty="0">
                <a:solidFill>
                  <a:srgbClr val="F2F0EA"/>
                </a:solidFill>
                <a:latin typeface="Georgia" pitchFamily="34" charset="0"/>
                <a:ea typeface="Georgia" pitchFamily="34" charset="-122"/>
                <a:cs typeface="Georgia" pitchFamily="34" charset="-120"/>
              </a:rPr>
              <a:t>explica</a:t>
            </a:r>
            <a:pPr indent="0" marL="0">
              <a:lnSpc>
                <a:spcPct val="120000"/>
              </a:lnSpc>
              <a:buNone/>
            </a:pPr>
            <a:r>
              <a:rPr lang="en-US" sz="2200" dirty="0">
                <a:solidFill>
                  <a:srgbClr val="F2F0EA"/>
                </a:solidFill>
                <a:latin typeface="Georgia" pitchFamily="34" charset="0"/>
                <a:ea typeface="Georgia" pitchFamily="34" charset="-122"/>
                <a:cs typeface="Georgia" pitchFamily="34" charset="-120"/>
              </a:rPr>
              <a:t> como cada uma sustenta a tese, enfrenta uma objeção pertinente e conclui sem repetir apenas a frase inicial.</a:t>
            </a:r>
            <a:endParaRPr lang="en-US"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18: A palavra contra o poder</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25</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RESPONDE NO TELEMÓVEL</a:t>
            </a:r>
            <a:endParaRPr lang="en-US" sz="1100" dirty="0"/>
          </a:p>
        </p:txBody>
      </p:sp>
      <p:sp>
        <p:nvSpPr>
          <p:cNvPr id="7" name="Text 5"/>
          <p:cNvSpPr/>
          <p:nvPr/>
        </p:nvSpPr>
        <p:spPr>
          <a:xfrm>
            <a:off x="822960" y="914400"/>
            <a:ext cx="9814255" cy="1234440"/>
          </a:xfrm>
          <a:prstGeom prst="rect">
            <a:avLst/>
          </a:prstGeom>
          <a:noFill/>
          <a:ln/>
        </p:spPr>
        <p:txBody>
          <a:bodyPr wrap="square" lIns="0" tIns="0" rIns="0" bIns="0" rtlCol="0" anchor="t">
            <a:normAutofit/>
          </a:bodyPr>
          <a:lstStyle/>
          <a:p>
            <a:pPr indent="0" marL="0">
              <a:buNone/>
            </a:pPr>
            <a:r>
              <a:rPr lang="en-US" sz="2800" dirty="0">
                <a:solidFill>
                  <a:srgbClr val="F2F0EA"/>
                </a:solidFill>
                <a:latin typeface="Georgia" pitchFamily="34" charset="0"/>
                <a:ea typeface="Georgia" pitchFamily="34" charset="-122"/>
                <a:cs typeface="Georgia" pitchFamily="34" charset="-120"/>
              </a:rPr>
              <a:t>Qual destas frases é uma objeção a «Vieira e Garrett usam a palavra para resistir a um poder»?</a:t>
            </a:r>
            <a:endParaRPr lang="en-US" sz="2800" dirty="0"/>
          </a:p>
        </p:txBody>
      </p:sp>
      <p:sp>
        <p:nvSpPr>
          <p:cNvPr id="8" name="Shape 6"/>
          <p:cNvSpPr/>
          <p:nvPr/>
        </p:nvSpPr>
        <p:spPr>
          <a:xfrm>
            <a:off x="822960" y="2240280"/>
            <a:ext cx="640080" cy="64008"/>
          </a:xfrm>
          <a:prstGeom prst="rect">
            <a:avLst/>
          </a:prstGeom>
          <a:solidFill>
            <a:srgbClr val="E4555C"/>
          </a:solidFill>
          <a:ln w="12700">
            <a:solidFill>
              <a:srgbClr val="E4555C"/>
            </a:solidFill>
            <a:prstDash val="solid"/>
          </a:ln>
        </p:spPr>
      </p:sp>
      <p:sp>
        <p:nvSpPr>
          <p:cNvPr id="9" name="Shape 7"/>
          <p:cNvSpPr/>
          <p:nvPr/>
        </p:nvSpPr>
        <p:spPr>
          <a:xfrm>
            <a:off x="1005840" y="2697480"/>
            <a:ext cx="0" cy="1962912"/>
          </a:xfrm>
          <a:prstGeom prst="line">
            <a:avLst/>
          </a:prstGeom>
          <a:noFill/>
          <a:ln w="12700">
            <a:solidFill>
              <a:srgbClr val="A9A79F"/>
            </a:solidFill>
            <a:prstDash val="solid"/>
          </a:ln>
        </p:spPr>
      </p:sp>
      <p:sp>
        <p:nvSpPr>
          <p:cNvPr id="10" name="Shape 8"/>
          <p:cNvSpPr/>
          <p:nvPr/>
        </p:nvSpPr>
        <p:spPr>
          <a:xfrm>
            <a:off x="822960" y="2514600"/>
            <a:ext cx="365760" cy="365760"/>
          </a:xfrm>
          <a:prstGeom prst="ellipse">
            <a:avLst/>
          </a:prstGeom>
          <a:solidFill>
            <a:srgbClr val="111111"/>
          </a:solidFill>
          <a:ln w="15875">
            <a:solidFill>
              <a:srgbClr val="F2F0EA"/>
            </a:solidFill>
            <a:prstDash val="solid"/>
          </a:ln>
        </p:spPr>
      </p:sp>
      <p:sp>
        <p:nvSpPr>
          <p:cNvPr id="11" name="Text 9"/>
          <p:cNvSpPr/>
          <p:nvPr/>
        </p:nvSpPr>
        <p:spPr>
          <a:xfrm>
            <a:off x="822960" y="251460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A</a:t>
            </a:r>
            <a:endParaRPr lang="en-US" sz="1300" dirty="0"/>
          </a:p>
        </p:txBody>
      </p:sp>
      <p:sp>
        <p:nvSpPr>
          <p:cNvPr id="12" name="Text 10"/>
          <p:cNvSpPr/>
          <p:nvPr/>
        </p:nvSpPr>
        <p:spPr>
          <a:xfrm>
            <a:off x="1417320" y="2523744"/>
            <a:ext cx="9174175" cy="981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Em Garrett, Manuel resiste também com um gesto, e não apenas com a palavra</a:t>
            </a:r>
            <a:endParaRPr lang="en-US" sz="2400" dirty="0"/>
          </a:p>
        </p:txBody>
      </p:sp>
      <p:sp>
        <p:nvSpPr>
          <p:cNvPr id="13" name="Shape 11"/>
          <p:cNvSpPr/>
          <p:nvPr/>
        </p:nvSpPr>
        <p:spPr>
          <a:xfrm>
            <a:off x="822960" y="3496056"/>
            <a:ext cx="365760" cy="365760"/>
          </a:xfrm>
          <a:prstGeom prst="ellipse">
            <a:avLst/>
          </a:prstGeom>
          <a:solidFill>
            <a:srgbClr val="111111"/>
          </a:solidFill>
          <a:ln w="15875">
            <a:solidFill>
              <a:srgbClr val="F2F0EA"/>
            </a:solidFill>
            <a:prstDash val="solid"/>
          </a:ln>
        </p:spPr>
      </p:sp>
      <p:sp>
        <p:nvSpPr>
          <p:cNvPr id="14" name="Text 12"/>
          <p:cNvSpPr/>
          <p:nvPr/>
        </p:nvSpPr>
        <p:spPr>
          <a:xfrm>
            <a:off x="822960" y="3496056"/>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B</a:t>
            </a:r>
            <a:endParaRPr lang="en-US" sz="1300" dirty="0"/>
          </a:p>
        </p:txBody>
      </p:sp>
      <p:sp>
        <p:nvSpPr>
          <p:cNvPr id="15" name="Text 13"/>
          <p:cNvSpPr/>
          <p:nvPr/>
        </p:nvSpPr>
        <p:spPr>
          <a:xfrm>
            <a:off x="1417320" y="3505200"/>
            <a:ext cx="9174175" cy="981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Os dois textos são do mesmo século, por isso não há diferença entre os meios</a:t>
            </a:r>
            <a:endParaRPr lang="en-US" sz="2400" dirty="0"/>
          </a:p>
        </p:txBody>
      </p:sp>
      <p:sp>
        <p:nvSpPr>
          <p:cNvPr id="16" name="Shape 14"/>
          <p:cNvSpPr/>
          <p:nvPr/>
        </p:nvSpPr>
        <p:spPr>
          <a:xfrm>
            <a:off x="822960" y="4477512"/>
            <a:ext cx="365760" cy="365760"/>
          </a:xfrm>
          <a:prstGeom prst="ellipse">
            <a:avLst/>
          </a:prstGeom>
          <a:solidFill>
            <a:srgbClr val="111111"/>
          </a:solidFill>
          <a:ln w="15875">
            <a:solidFill>
              <a:srgbClr val="F2F0EA"/>
            </a:solidFill>
            <a:prstDash val="solid"/>
          </a:ln>
        </p:spPr>
      </p:sp>
      <p:sp>
        <p:nvSpPr>
          <p:cNvPr id="17" name="Text 15"/>
          <p:cNvSpPr/>
          <p:nvPr/>
        </p:nvSpPr>
        <p:spPr>
          <a:xfrm>
            <a:off x="822960" y="4477512"/>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C</a:t>
            </a:r>
            <a:endParaRPr lang="en-US" sz="1300" dirty="0"/>
          </a:p>
        </p:txBody>
      </p:sp>
      <p:sp>
        <p:nvSpPr>
          <p:cNvPr id="18" name="Text 16"/>
          <p:cNvSpPr/>
          <p:nvPr/>
        </p:nvSpPr>
        <p:spPr>
          <a:xfrm>
            <a:off x="1417320" y="4486656"/>
            <a:ext cx="9174175" cy="981456"/>
          </a:xfrm>
          <a:prstGeom prst="rect">
            <a:avLst/>
          </a:prstGeom>
          <a:noFill/>
          <a:ln/>
        </p:spPr>
        <p:txBody>
          <a:bodyPr wrap="square" lIns="0" tIns="0" rIns="0" bIns="0" rtlCol="0" anchor="t">
            <a:normAutofit/>
          </a:bodyPr>
          <a:lstStyle/>
          <a:p>
            <a:pPr indent="0" marL="0">
              <a:lnSpc>
                <a:spcPct val="105000"/>
              </a:lnSpc>
              <a:buNone/>
            </a:pPr>
            <a:r>
              <a:rPr lang="en-US" sz="2400" dirty="0">
                <a:solidFill>
                  <a:srgbClr val="F2F0EA"/>
                </a:solidFill>
                <a:latin typeface="Arial" pitchFamily="34" charset="0"/>
                <a:ea typeface="Arial" pitchFamily="34" charset="-122"/>
                <a:cs typeface="Arial" pitchFamily="34" charset="-120"/>
              </a:rPr>
              <a:t>Vieira nunca se dirigiu aos homens, e Garrett nunca chegou a escrever para teatro</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18: A palavra contra o poder</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26</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RESPOSTA</a:t>
            </a:r>
            <a:endParaRPr lang="en-US" sz="1100" dirty="0"/>
          </a:p>
        </p:txBody>
      </p:sp>
      <p:sp>
        <p:nvSpPr>
          <p:cNvPr id="7" name="Text 5"/>
          <p:cNvSpPr/>
          <p:nvPr/>
        </p:nvSpPr>
        <p:spPr>
          <a:xfrm>
            <a:off x="822960" y="1005840"/>
            <a:ext cx="9814255" cy="1463040"/>
          </a:xfrm>
          <a:prstGeom prst="rect">
            <a:avLst/>
          </a:prstGeom>
          <a:noFill/>
          <a:ln/>
        </p:spPr>
        <p:txBody>
          <a:bodyPr wrap="square" lIns="0" tIns="0" rIns="0" bIns="0" rtlCol="0" anchor="t">
            <a:normAutofit/>
          </a:bodyPr>
          <a:lstStyle/>
          <a:p>
            <a:pPr indent="0" marL="0">
              <a:buNone/>
            </a:pPr>
            <a:r>
              <a:rPr lang="en-US" sz="3400" b="1" dirty="0">
                <a:solidFill>
                  <a:srgbClr val="F2F0EA"/>
                </a:solidFill>
                <a:latin typeface="Arial" pitchFamily="34" charset="0"/>
                <a:ea typeface="Arial" pitchFamily="34" charset="-122"/>
                <a:cs typeface="Arial" pitchFamily="34" charset="-120"/>
              </a:rPr>
              <a:t>Em Garrett, Manuel resiste também com um gesto, e não apenas com a palavra</a:t>
            </a:r>
            <a:endParaRPr lang="en-US" sz="3400" dirty="0"/>
          </a:p>
        </p:txBody>
      </p:sp>
      <p:sp>
        <p:nvSpPr>
          <p:cNvPr id="8" name="Shape 6"/>
          <p:cNvSpPr/>
          <p:nvPr/>
        </p:nvSpPr>
        <p:spPr>
          <a:xfrm>
            <a:off x="822960" y="2606040"/>
            <a:ext cx="640080" cy="64008"/>
          </a:xfrm>
          <a:prstGeom prst="rect">
            <a:avLst/>
          </a:prstGeom>
          <a:solidFill>
            <a:srgbClr val="E4555C"/>
          </a:solidFill>
          <a:ln w="12700">
            <a:solidFill>
              <a:srgbClr val="E4555C"/>
            </a:solidFill>
            <a:prstDash val="solid"/>
          </a:ln>
        </p:spPr>
      </p:sp>
      <p:sp>
        <p:nvSpPr>
          <p:cNvPr id="9" name="Text 7"/>
          <p:cNvSpPr/>
          <p:nvPr/>
        </p:nvSpPr>
        <p:spPr>
          <a:xfrm>
            <a:off x="822960" y="2880360"/>
            <a:ext cx="9814255" cy="3246120"/>
          </a:xfrm>
          <a:prstGeom prst="rect">
            <a:avLst/>
          </a:prstGeom>
          <a:noFill/>
          <a:ln/>
        </p:spPr>
        <p:txBody>
          <a:bodyPr wrap="square" lIns="0" tIns="0" rIns="0" bIns="0" rtlCol="0" anchor="t">
            <a:normAutofit/>
          </a:bodyPr>
          <a:lstStyle/>
          <a:p>
            <a:pPr indent="0" marL="0">
              <a:lnSpc>
                <a:spcPct val="120000"/>
              </a:lnSpc>
              <a:buNone/>
            </a:pPr>
            <a:r>
              <a:rPr lang="en-US" sz="2200" dirty="0">
                <a:solidFill>
                  <a:srgbClr val="F2F0EA"/>
                </a:solidFill>
                <a:latin typeface="Georgia" pitchFamily="34" charset="0"/>
                <a:ea typeface="Georgia" pitchFamily="34" charset="-122"/>
                <a:cs typeface="Georgia" pitchFamily="34" charset="-120"/>
              </a:rPr>
              <a:t>Esta objeção </a:t>
            </a:r>
            <a:pPr indent="0" marL="0">
              <a:lnSpc>
                <a:spcPct val="120000"/>
              </a:lnSpc>
              <a:buNone/>
            </a:pPr>
            <a:r>
              <a:rPr lang="en-US" sz="2200" b="1" dirty="0">
                <a:solidFill>
                  <a:srgbClr val="F2F0EA"/>
                </a:solidFill>
                <a:latin typeface="Georgia" pitchFamily="34" charset="0"/>
                <a:ea typeface="Georgia" pitchFamily="34" charset="-122"/>
                <a:cs typeface="Georgia" pitchFamily="34" charset="-120"/>
              </a:rPr>
              <a:t>limita a tese</a:t>
            </a:r>
            <a:pPr indent="0" marL="0">
              <a:lnSpc>
                <a:spcPct val="120000"/>
              </a:lnSpc>
              <a:buNone/>
            </a:pPr>
            <a:r>
              <a:rPr lang="en-US" sz="2200" dirty="0">
                <a:solidFill>
                  <a:srgbClr val="F2F0EA"/>
                </a:solidFill>
                <a:latin typeface="Georgia" pitchFamily="34" charset="0"/>
                <a:ea typeface="Georgia" pitchFamily="34" charset="-122"/>
                <a:cs typeface="Georgia" pitchFamily="34" charset="-120"/>
              </a:rPr>
              <a:t>: Vieira acusa pela alegoria e pela palavra; em Garrett, a resistência de Manuel torna-se visível também no incêndio. Uma boa resposta reconhece a diferença dos meios, sem negar que ambos confrontam o poder.</a:t>
            </a:r>
            <a:endParaRPr lang="en-US" sz="2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18: A palavra contra o poder</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27</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PARA DISCUTIR, 1 DE 3</a:t>
            </a:r>
            <a:endParaRPr lang="en-US" sz="1100" dirty="0"/>
          </a:p>
        </p:txBody>
      </p:sp>
      <p:sp>
        <p:nvSpPr>
          <p:cNvPr id="7"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4400" i="1" dirty="0">
                <a:solidFill>
                  <a:srgbClr val="F2F0EA"/>
                </a:solidFill>
                <a:latin typeface="Georgia" pitchFamily="34" charset="0"/>
                <a:ea typeface="Georgia" pitchFamily="34" charset="-122"/>
                <a:cs typeface="Georgia" pitchFamily="34" charset="-120"/>
              </a:rPr>
              <a:t>«se eu não pregara para o mar»: Vieira pregou mesmo para o mar?</a:t>
            </a:r>
            <a:endParaRPr lang="en-US" sz="4400" dirty="0"/>
          </a:p>
        </p:txBody>
      </p:sp>
      <p:sp>
        <p:nvSpPr>
          <p:cNvPr id="8" name="Shape 6"/>
          <p:cNvSpPr/>
          <p:nvPr/>
        </p:nvSpPr>
        <p:spPr>
          <a:xfrm>
            <a:off x="822960" y="4526280"/>
            <a:ext cx="640080" cy="64008"/>
          </a:xfrm>
          <a:prstGeom prst="rect">
            <a:avLst/>
          </a:prstGeom>
          <a:solidFill>
            <a:srgbClr val="E4555C"/>
          </a:solidFill>
          <a:ln w="12700">
            <a:solidFill>
              <a:srgbClr val="E4555C"/>
            </a:solidFill>
            <a:prstDash val="solid"/>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18: A palavra contra o poder</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28</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PARA DISCUTIR, 2 DE 3</a:t>
            </a:r>
            <a:endParaRPr lang="en-US" sz="1100" dirty="0"/>
          </a:p>
        </p:txBody>
      </p:sp>
      <p:sp>
        <p:nvSpPr>
          <p:cNvPr id="7"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3600" i="1" dirty="0">
                <a:solidFill>
                  <a:srgbClr val="F2F0EA"/>
                </a:solidFill>
                <a:latin typeface="Georgia" pitchFamily="34" charset="0"/>
                <a:ea typeface="Georgia" pitchFamily="34" charset="-122"/>
                <a:cs typeface="Georgia" pitchFamily="34" charset="-120"/>
              </a:rPr>
              <a:t>Manuel resiste aos governadores com fogo, não com um discurso. Isso desfaz a ideia de que Vieira e Garrett usam a palavra contra um poder?</a:t>
            </a:r>
            <a:endParaRPr lang="en-US" sz="3600" dirty="0"/>
          </a:p>
        </p:txBody>
      </p:sp>
      <p:sp>
        <p:nvSpPr>
          <p:cNvPr id="8" name="Shape 6"/>
          <p:cNvSpPr/>
          <p:nvPr/>
        </p:nvSpPr>
        <p:spPr>
          <a:xfrm>
            <a:off x="822960" y="4526280"/>
            <a:ext cx="640080" cy="64008"/>
          </a:xfrm>
          <a:prstGeom prst="rect">
            <a:avLst/>
          </a:prstGeom>
          <a:solidFill>
            <a:srgbClr val="E4555C"/>
          </a:solidFill>
          <a:ln w="12700">
            <a:solidFill>
              <a:srgbClr val="E4555C"/>
            </a:solidFill>
            <a:prstDash val="solid"/>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18: A palavra contra o poder</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29</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PARA DISCUTIR, 3 DE 3</a:t>
            </a:r>
            <a:endParaRPr lang="en-US" sz="1100" dirty="0"/>
          </a:p>
        </p:txBody>
      </p:sp>
      <p:sp>
        <p:nvSpPr>
          <p:cNvPr id="7"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4400" i="1" dirty="0">
                <a:solidFill>
                  <a:srgbClr val="F2F0EA"/>
                </a:solidFill>
                <a:latin typeface="Georgia" pitchFamily="34" charset="0"/>
                <a:ea typeface="Georgia" pitchFamily="34" charset="-122"/>
                <a:cs typeface="Georgia" pitchFamily="34" charset="-120"/>
              </a:rPr>
              <a:t>Como se defende uma regra em dois minutos?</a:t>
            </a:r>
            <a:endParaRPr lang="en-US" sz="4400" dirty="0"/>
          </a:p>
        </p:txBody>
      </p:sp>
      <p:sp>
        <p:nvSpPr>
          <p:cNvPr id="8" name="Shape 6"/>
          <p:cNvSpPr/>
          <p:nvPr/>
        </p:nvSpPr>
        <p:spPr>
          <a:xfrm>
            <a:off x="822960" y="4526280"/>
            <a:ext cx="640080" cy="64008"/>
          </a:xfrm>
          <a:prstGeom prst="rect">
            <a:avLst/>
          </a:prstGeom>
          <a:solidFill>
            <a:srgbClr val="E4555C"/>
          </a:solidFill>
          <a:ln w="12700">
            <a:solidFill>
              <a:srgbClr val="E4555C"/>
            </a:solidFill>
            <a:prstDash val="solid"/>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18: A palavra contra o poder</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30</a:t>
            </a:r>
            <a:endParaRPr lang="en-US" sz="1000" dirty="0"/>
          </a:p>
        </p:txBody>
      </p:sp>
      <p:sp>
        <p:nvSpPr>
          <p:cNvPr id="5" name="Shape 3"/>
          <p:cNvSpPr/>
          <p:nvPr/>
        </p:nvSpPr>
        <p:spPr>
          <a:xfrm>
            <a:off x="822960" y="502920"/>
            <a:ext cx="201168" cy="201168"/>
          </a:xfrm>
          <a:prstGeom prst="rect">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EM PAPEL, O QUE SE ENTREGA</a:t>
            </a:r>
            <a:endParaRPr lang="en-US" sz="1100" dirty="0"/>
          </a:p>
        </p:txBody>
      </p:sp>
      <p:sp>
        <p:nvSpPr>
          <p:cNvPr id="7" name="Text 5"/>
          <p:cNvSpPr/>
          <p:nvPr/>
        </p:nvSpPr>
        <p:spPr>
          <a:xfrm>
            <a:off x="822960" y="1005840"/>
            <a:ext cx="9814255" cy="1554480"/>
          </a:xfrm>
          <a:prstGeom prst="rect">
            <a:avLst/>
          </a:prstGeom>
          <a:noFill/>
          <a:ln/>
        </p:spPr>
        <p:txBody>
          <a:bodyPr wrap="square" lIns="0" tIns="0" rIns="0" bIns="0" rtlCol="0" anchor="b">
            <a:normAutofit/>
          </a:bodyPr>
          <a:lstStyle/>
          <a:p>
            <a:pPr indent="0" marL="0">
              <a:buNone/>
            </a:pPr>
            <a:r>
              <a:rPr lang="en-US" sz="2400" dirty="0">
                <a:solidFill>
                  <a:srgbClr val="F2F0EA"/>
                </a:solidFill>
                <a:latin typeface="Georgia" pitchFamily="34" charset="0"/>
                <a:ea typeface="Georgia" pitchFamily="34" charset="-122"/>
                <a:cs typeface="Georgia" pitchFamily="34" charset="-120"/>
              </a:rPr>
              <a:t>«Vieira e Garrett usam a palavra para resistir a um poder.» Concordas? Responde em 100 a 140 palavras: a tua posição; uma passagem de cada autor, entre aspas e explicada; uma objeção com resposta; uma frase final que volta à posição.</a:t>
            </a:r>
            <a:endParaRPr lang="en-US" sz="2400" dirty="0"/>
          </a:p>
        </p:txBody>
      </p:sp>
      <p:sp>
        <p:nvSpPr>
          <p:cNvPr id="8" name="Shape 6"/>
          <p:cNvSpPr/>
          <p:nvPr/>
        </p:nvSpPr>
        <p:spPr>
          <a:xfrm>
            <a:off x="822960" y="2697480"/>
            <a:ext cx="640080" cy="64008"/>
          </a:xfrm>
          <a:prstGeom prst="rect">
            <a:avLst/>
          </a:prstGeom>
          <a:solidFill>
            <a:srgbClr val="E4555C"/>
          </a:solidFill>
          <a:ln w="12700">
            <a:solidFill>
              <a:srgbClr val="E4555C"/>
            </a:solidFill>
            <a:prstDash val="solid"/>
          </a:ln>
        </p:spPr>
      </p:sp>
      <p:sp>
        <p:nvSpPr>
          <p:cNvPr id="9" name="Text 7"/>
          <p:cNvSpPr/>
          <p:nvPr/>
        </p:nvSpPr>
        <p:spPr>
          <a:xfrm>
            <a:off x="822960" y="2971800"/>
            <a:ext cx="9814255" cy="320040"/>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O QUE CONTA</a:t>
            </a:r>
            <a:endParaRPr lang="en-US" sz="1100" dirty="0"/>
          </a:p>
        </p:txBody>
      </p:sp>
      <p:sp>
        <p:nvSpPr>
          <p:cNvPr id="10" name="Shape 8"/>
          <p:cNvSpPr/>
          <p:nvPr/>
        </p:nvSpPr>
        <p:spPr>
          <a:xfrm>
            <a:off x="1005840" y="3611880"/>
            <a:ext cx="0" cy="2087118"/>
          </a:xfrm>
          <a:prstGeom prst="line">
            <a:avLst/>
          </a:prstGeom>
          <a:noFill/>
          <a:ln w="12700">
            <a:solidFill>
              <a:srgbClr val="A9A79F"/>
            </a:solidFill>
            <a:prstDash val="solid"/>
          </a:ln>
        </p:spPr>
      </p:sp>
      <p:sp>
        <p:nvSpPr>
          <p:cNvPr id="11" name="Shape 9"/>
          <p:cNvSpPr/>
          <p:nvPr/>
        </p:nvSpPr>
        <p:spPr>
          <a:xfrm>
            <a:off x="822960" y="3429000"/>
            <a:ext cx="365760" cy="365760"/>
          </a:xfrm>
          <a:prstGeom prst="ellipse">
            <a:avLst/>
          </a:prstGeom>
          <a:solidFill>
            <a:srgbClr val="111111"/>
          </a:solidFill>
          <a:ln w="15875">
            <a:solidFill>
              <a:srgbClr val="F2F0EA"/>
            </a:solidFill>
            <a:prstDash val="solid"/>
          </a:ln>
        </p:spPr>
      </p:sp>
      <p:sp>
        <p:nvSpPr>
          <p:cNvPr id="12" name="Text 10"/>
          <p:cNvSpPr/>
          <p:nvPr/>
        </p:nvSpPr>
        <p:spPr>
          <a:xfrm>
            <a:off x="822960" y="3429000"/>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1</a:t>
            </a:r>
            <a:endParaRPr lang="en-US" sz="1300" dirty="0"/>
          </a:p>
        </p:txBody>
      </p:sp>
      <p:sp>
        <p:nvSpPr>
          <p:cNvPr id="13" name="Text 11"/>
          <p:cNvSpPr/>
          <p:nvPr/>
        </p:nvSpPr>
        <p:spPr>
          <a:xfrm>
            <a:off x="1417320" y="3438144"/>
            <a:ext cx="9174175" cy="790956"/>
          </a:xfrm>
          <a:prstGeom prst="rect">
            <a:avLst/>
          </a:prstGeom>
          <a:noFill/>
          <a:ln/>
        </p:spPr>
        <p:txBody>
          <a:bodyPr wrap="square" lIns="0" tIns="0" rIns="0" bIns="0" rtlCol="0" anchor="t">
            <a:normAutofit/>
          </a:bodyPr>
          <a:lstStyle/>
          <a:p>
            <a:pPr indent="0" marL="0">
              <a:lnSpc>
                <a:spcPct val="105000"/>
              </a:lnSpc>
              <a:buNone/>
            </a:pPr>
            <a:r>
              <a:rPr lang="en-US" sz="1800" dirty="0">
                <a:solidFill>
                  <a:srgbClr val="F2F0EA"/>
                </a:solidFill>
                <a:latin typeface="Arial" pitchFamily="34" charset="0"/>
                <a:ea typeface="Arial" pitchFamily="34" charset="-122"/>
                <a:cs typeface="Arial" pitchFamily="34" charset="-120"/>
              </a:rPr>
              <a:t>A primeira frase diz a posição (sim, não ou até onde) e a última volta a ela sem a copiar.</a:t>
            </a:r>
            <a:endParaRPr lang="en-US" sz="1800" dirty="0"/>
          </a:p>
        </p:txBody>
      </p:sp>
      <p:sp>
        <p:nvSpPr>
          <p:cNvPr id="14" name="Shape 12"/>
          <p:cNvSpPr/>
          <p:nvPr/>
        </p:nvSpPr>
        <p:spPr>
          <a:xfrm>
            <a:off x="822960" y="4219956"/>
            <a:ext cx="365760" cy="365760"/>
          </a:xfrm>
          <a:prstGeom prst="ellipse">
            <a:avLst/>
          </a:prstGeom>
          <a:solidFill>
            <a:srgbClr val="111111"/>
          </a:solidFill>
          <a:ln w="15875">
            <a:solidFill>
              <a:srgbClr val="F2F0EA"/>
            </a:solidFill>
            <a:prstDash val="solid"/>
          </a:ln>
        </p:spPr>
      </p:sp>
      <p:sp>
        <p:nvSpPr>
          <p:cNvPr id="15" name="Text 13"/>
          <p:cNvSpPr/>
          <p:nvPr/>
        </p:nvSpPr>
        <p:spPr>
          <a:xfrm>
            <a:off x="822960" y="4219956"/>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2</a:t>
            </a:r>
            <a:endParaRPr lang="en-US" sz="1300" dirty="0"/>
          </a:p>
        </p:txBody>
      </p:sp>
      <p:sp>
        <p:nvSpPr>
          <p:cNvPr id="16" name="Text 14"/>
          <p:cNvSpPr/>
          <p:nvPr/>
        </p:nvSpPr>
        <p:spPr>
          <a:xfrm>
            <a:off x="1417320" y="4229100"/>
            <a:ext cx="9174175" cy="790956"/>
          </a:xfrm>
          <a:prstGeom prst="rect">
            <a:avLst/>
          </a:prstGeom>
          <a:noFill/>
          <a:ln/>
        </p:spPr>
        <p:txBody>
          <a:bodyPr wrap="square" lIns="0" tIns="0" rIns="0" bIns="0" rtlCol="0" anchor="t">
            <a:normAutofit/>
          </a:bodyPr>
          <a:lstStyle/>
          <a:p>
            <a:pPr indent="0" marL="0">
              <a:lnSpc>
                <a:spcPct val="105000"/>
              </a:lnSpc>
              <a:buNone/>
            </a:pPr>
            <a:r>
              <a:rPr lang="en-US" sz="1800" dirty="0">
                <a:solidFill>
                  <a:srgbClr val="F2F0EA"/>
                </a:solidFill>
                <a:latin typeface="Arial" pitchFamily="34" charset="0"/>
                <a:ea typeface="Arial" pitchFamily="34" charset="-122"/>
                <a:cs typeface="Arial" pitchFamily="34" charset="-120"/>
              </a:rPr>
              <a:t>Cita, entre aspas, uma passagem de Vieira e uma de Garrett (a fala de uma personagem) e explica como cada uma sustenta a posição.</a:t>
            </a:r>
            <a:endParaRPr lang="en-US" sz="1800" dirty="0"/>
          </a:p>
        </p:txBody>
      </p:sp>
      <p:sp>
        <p:nvSpPr>
          <p:cNvPr id="17" name="Shape 15"/>
          <p:cNvSpPr/>
          <p:nvPr/>
        </p:nvSpPr>
        <p:spPr>
          <a:xfrm>
            <a:off x="822960" y="5010912"/>
            <a:ext cx="365760" cy="365760"/>
          </a:xfrm>
          <a:prstGeom prst="ellipse">
            <a:avLst/>
          </a:prstGeom>
          <a:solidFill>
            <a:srgbClr val="111111"/>
          </a:solidFill>
          <a:ln w="15875">
            <a:solidFill>
              <a:srgbClr val="F2F0EA"/>
            </a:solidFill>
            <a:prstDash val="solid"/>
          </a:ln>
        </p:spPr>
      </p:sp>
      <p:sp>
        <p:nvSpPr>
          <p:cNvPr id="18" name="Text 16"/>
          <p:cNvSpPr/>
          <p:nvPr/>
        </p:nvSpPr>
        <p:spPr>
          <a:xfrm>
            <a:off x="822960" y="5010912"/>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3</a:t>
            </a:r>
            <a:endParaRPr lang="en-US" sz="1300" dirty="0"/>
          </a:p>
        </p:txBody>
      </p:sp>
      <p:sp>
        <p:nvSpPr>
          <p:cNvPr id="19" name="Text 17"/>
          <p:cNvSpPr/>
          <p:nvPr/>
        </p:nvSpPr>
        <p:spPr>
          <a:xfrm>
            <a:off x="1417320" y="5020056"/>
            <a:ext cx="9174175" cy="505206"/>
          </a:xfrm>
          <a:prstGeom prst="rect">
            <a:avLst/>
          </a:prstGeom>
          <a:noFill/>
          <a:ln/>
        </p:spPr>
        <p:txBody>
          <a:bodyPr wrap="square" lIns="0" tIns="0" rIns="0" bIns="0" rtlCol="0" anchor="t">
            <a:normAutofit/>
          </a:bodyPr>
          <a:lstStyle/>
          <a:p>
            <a:pPr indent="0" marL="0">
              <a:lnSpc>
                <a:spcPct val="105000"/>
              </a:lnSpc>
              <a:buNone/>
            </a:pPr>
            <a:r>
              <a:rPr lang="en-US" sz="1800" dirty="0">
                <a:solidFill>
                  <a:srgbClr val="F2F0EA"/>
                </a:solidFill>
                <a:latin typeface="Arial" pitchFamily="34" charset="0"/>
                <a:ea typeface="Arial" pitchFamily="34" charset="-122"/>
                <a:cs typeface="Arial" pitchFamily="34" charset="-120"/>
              </a:rPr>
              <a:t>Apresenta uma objeção pertinente e responde-lhe com o texto.</a:t>
            </a:r>
            <a:endParaRPr lang="en-US" sz="1800" dirty="0"/>
          </a:p>
        </p:txBody>
      </p:sp>
      <p:sp>
        <p:nvSpPr>
          <p:cNvPr id="20" name="Shape 18"/>
          <p:cNvSpPr/>
          <p:nvPr/>
        </p:nvSpPr>
        <p:spPr>
          <a:xfrm>
            <a:off x="822960" y="5516118"/>
            <a:ext cx="365760" cy="365760"/>
          </a:xfrm>
          <a:prstGeom prst="ellipse">
            <a:avLst/>
          </a:prstGeom>
          <a:solidFill>
            <a:srgbClr val="111111"/>
          </a:solidFill>
          <a:ln w="15875">
            <a:solidFill>
              <a:srgbClr val="F2F0EA"/>
            </a:solidFill>
            <a:prstDash val="solid"/>
          </a:ln>
        </p:spPr>
      </p:sp>
      <p:sp>
        <p:nvSpPr>
          <p:cNvPr id="21" name="Text 19"/>
          <p:cNvSpPr/>
          <p:nvPr/>
        </p:nvSpPr>
        <p:spPr>
          <a:xfrm>
            <a:off x="822960" y="5516118"/>
            <a:ext cx="365760" cy="365760"/>
          </a:xfrm>
          <a:prstGeom prst="rect">
            <a:avLst/>
          </a:prstGeom>
          <a:noFill/>
          <a:ln/>
        </p:spPr>
        <p:txBody>
          <a:bodyPr wrap="square" lIns="0" tIns="0" rIns="0" bIns="0" rtlCol="0" anchor="ctr"/>
          <a:lstStyle/>
          <a:p>
            <a:pPr algn="ctr" indent="0" marL="0">
              <a:buNone/>
            </a:pPr>
            <a:r>
              <a:rPr lang="en-US" sz="1300" b="1" dirty="0">
                <a:solidFill>
                  <a:srgbClr val="F2F0EA"/>
                </a:solidFill>
                <a:latin typeface="Arial" pitchFamily="34" charset="0"/>
                <a:ea typeface="Arial" pitchFamily="34" charset="-122"/>
                <a:cs typeface="Arial" pitchFamily="34" charset="-120"/>
              </a:rPr>
              <a:t>4</a:t>
            </a:r>
            <a:endParaRPr lang="en-US" sz="1300" dirty="0"/>
          </a:p>
        </p:txBody>
      </p:sp>
      <p:sp>
        <p:nvSpPr>
          <p:cNvPr id="22" name="Text 20"/>
          <p:cNvSpPr/>
          <p:nvPr/>
        </p:nvSpPr>
        <p:spPr>
          <a:xfrm>
            <a:off x="1417320" y="5525262"/>
            <a:ext cx="9174175" cy="505206"/>
          </a:xfrm>
          <a:prstGeom prst="rect">
            <a:avLst/>
          </a:prstGeom>
          <a:noFill/>
          <a:ln/>
        </p:spPr>
        <p:txBody>
          <a:bodyPr wrap="square" lIns="0" tIns="0" rIns="0" bIns="0" rtlCol="0" anchor="t">
            <a:normAutofit/>
          </a:bodyPr>
          <a:lstStyle/>
          <a:p>
            <a:pPr indent="0" marL="0">
              <a:lnSpc>
                <a:spcPct val="105000"/>
              </a:lnSpc>
              <a:buNone/>
            </a:pPr>
            <a:r>
              <a:rPr lang="en-US" sz="1800" dirty="0">
                <a:solidFill>
                  <a:srgbClr val="F2F0EA"/>
                </a:solidFill>
                <a:latin typeface="Arial" pitchFamily="34" charset="0"/>
                <a:ea typeface="Arial" pitchFamily="34" charset="-122"/>
                <a:cs typeface="Arial" pitchFamily="34" charset="-120"/>
              </a:rPr>
              <a:t>Tem entre 100 e 140 palavras, com o número escrito no fim.</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18: A palavra contra o poder</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31</a:t>
            </a:r>
            <a:endParaRPr lang="en-US" sz="1000" dirty="0"/>
          </a:p>
        </p:txBody>
      </p:sp>
      <p:sp>
        <p:nvSpPr>
          <p:cNvPr id="5" name="Shape 3"/>
          <p:cNvSpPr/>
          <p:nvPr/>
        </p:nvSpPr>
        <p:spPr>
          <a:xfrm>
            <a:off x="822960" y="502920"/>
            <a:ext cx="201168" cy="201168"/>
          </a:xfrm>
          <a:prstGeom prst="triangl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PARA LEVAR</a:t>
            </a:r>
            <a:endParaRPr lang="en-US" sz="1100" dirty="0"/>
          </a:p>
        </p:txBody>
      </p:sp>
      <p:sp>
        <p:nvSpPr>
          <p:cNvPr id="7" name="Text 5"/>
          <p:cNvSpPr/>
          <p:nvPr/>
        </p:nvSpPr>
        <p:spPr>
          <a:xfrm>
            <a:off x="822960" y="1097280"/>
            <a:ext cx="9814255" cy="3291840"/>
          </a:xfrm>
          <a:prstGeom prst="rect">
            <a:avLst/>
          </a:prstGeom>
          <a:noFill/>
          <a:ln/>
        </p:spPr>
        <p:txBody>
          <a:bodyPr wrap="square" lIns="0" tIns="0" rIns="0" bIns="0" rtlCol="0" anchor="b">
            <a:normAutofit/>
          </a:bodyPr>
          <a:lstStyle/>
          <a:p>
            <a:pPr indent="0" marL="0">
              <a:lnSpc>
                <a:spcPct val="115000"/>
              </a:lnSpc>
              <a:buNone/>
            </a:pPr>
            <a:r>
              <a:rPr lang="en-US" sz="4400" i="1" dirty="0">
                <a:solidFill>
                  <a:srgbClr val="F2F0EA"/>
                </a:solidFill>
                <a:latin typeface="Georgia" pitchFamily="34" charset="0"/>
                <a:ea typeface="Georgia" pitchFamily="34" charset="-122"/>
                <a:cs typeface="Georgia" pitchFamily="34" charset="-120"/>
              </a:rPr>
              <a:t>A ironia diz ao poder, pelo avesso, o que ele não quer ouvir.</a:t>
            </a:r>
            <a:endParaRPr lang="en-US" sz="4400" dirty="0"/>
          </a:p>
        </p:txBody>
      </p:sp>
      <p:sp>
        <p:nvSpPr>
          <p:cNvPr id="8" name="Shape 6"/>
          <p:cNvSpPr/>
          <p:nvPr/>
        </p:nvSpPr>
        <p:spPr>
          <a:xfrm>
            <a:off x="822960" y="4526280"/>
            <a:ext cx="640080" cy="64008"/>
          </a:xfrm>
          <a:prstGeom prst="rect">
            <a:avLst/>
          </a:prstGeom>
          <a:solidFill>
            <a:srgbClr val="E4555C"/>
          </a:solidFill>
          <a:ln w="12700">
            <a:solidFill>
              <a:srgbClr val="E4555C"/>
            </a:solidFill>
            <a:prstDash val="solid"/>
          </a:ln>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637215" y="384048"/>
            <a:ext cx="731520" cy="365760"/>
          </a:xfrm>
          <a:prstGeom prst="rect">
            <a:avLst/>
          </a:prstGeom>
          <a:noFill/>
          <a:ln/>
        </p:spPr>
        <p:txBody>
          <a:bodyPr wrap="square" lIns="0" tIns="0" rIns="0" bIns="0" rtlCol="0" anchor="ctr"/>
          <a:lstStyle/>
          <a:p>
            <a:pPr algn="r" indent="0" marL="0">
              <a:buNone/>
            </a:pPr>
            <a:r>
              <a:rPr lang="en-US" sz="1200" b="1" spc="300" kern="0" dirty="0">
                <a:solidFill>
                  <a:srgbClr val="A9A79F"/>
                </a:solidFill>
                <a:latin typeface="Arial" pitchFamily="34" charset="0"/>
                <a:ea typeface="Arial" pitchFamily="34" charset="-122"/>
                <a:cs typeface="Arial" pitchFamily="34" charset="-120"/>
              </a:rPr>
              <a:t>EPI</a:t>
            </a:r>
            <a:endParaRPr lang="en-US" sz="1200" dirty="0"/>
          </a:p>
        </p:txBody>
      </p:sp>
      <p:sp>
        <p:nvSpPr>
          <p:cNvPr id="3" name="Text 1"/>
          <p:cNvSpPr/>
          <p:nvPr/>
        </p:nvSpPr>
        <p:spPr>
          <a:xfrm>
            <a:off x="822960" y="6400800"/>
            <a:ext cx="9631375" cy="274320"/>
          </a:xfrm>
          <a:prstGeom prst="rect">
            <a:avLst/>
          </a:prstGeom>
          <a:noFill/>
          <a:ln/>
        </p:spPr>
        <p:txBody>
          <a:bodyPr wrap="square" lIns="0" tIns="0" rIns="0" bIns="0" rtlCol="0" anchor="ctr"/>
          <a:lstStyle/>
          <a:p>
            <a:pPr indent="0" marL="0">
              <a:buNone/>
            </a:pPr>
            <a:r>
              <a:rPr lang="en-US" sz="1000" dirty="0">
                <a:solidFill>
                  <a:srgbClr val="A9A79F"/>
                </a:solidFill>
                <a:latin typeface="Arial" pitchFamily="34" charset="0"/>
                <a:ea typeface="Arial" pitchFamily="34" charset="-122"/>
                <a:cs typeface="Arial" pitchFamily="34" charset="-120"/>
              </a:rPr>
              <a:t>Módulo 4, aula 18: A palavra contra o poder</a:t>
            </a:r>
            <a:endParaRPr lang="en-US" sz="1000" dirty="0"/>
          </a:p>
        </p:txBody>
      </p:sp>
      <p:sp>
        <p:nvSpPr>
          <p:cNvPr id="4" name="Text 2"/>
          <p:cNvSpPr/>
          <p:nvPr/>
        </p:nvSpPr>
        <p:spPr>
          <a:xfrm>
            <a:off x="10637215" y="6400800"/>
            <a:ext cx="731520" cy="274320"/>
          </a:xfrm>
          <a:prstGeom prst="rect">
            <a:avLst/>
          </a:prstGeom>
          <a:noFill/>
          <a:ln/>
        </p:spPr>
        <p:txBody>
          <a:bodyPr wrap="square" lIns="0" tIns="0" rIns="0" bIns="0" rtlCol="0" anchor="ctr"/>
          <a:lstStyle/>
          <a:p>
            <a:pPr algn="r" indent="0" marL="0">
              <a:buNone/>
            </a:pPr>
            <a:r>
              <a:rPr lang="en-US" sz="1000" dirty="0">
                <a:solidFill>
                  <a:srgbClr val="A9A79F"/>
                </a:solidFill>
                <a:latin typeface="Arial" pitchFamily="34" charset="0"/>
                <a:ea typeface="Arial" pitchFamily="34" charset="-122"/>
                <a:cs typeface="Arial" pitchFamily="34" charset="-120"/>
              </a:rPr>
              <a:t>32</a:t>
            </a:r>
            <a:endParaRPr lang="en-US" sz="1000" dirty="0"/>
          </a:p>
        </p:txBody>
      </p:sp>
      <p:sp>
        <p:nvSpPr>
          <p:cNvPr id="5" name="Shape 3"/>
          <p:cNvSpPr/>
          <p:nvPr/>
        </p:nvSpPr>
        <p:spPr>
          <a:xfrm>
            <a:off x="822960" y="502920"/>
            <a:ext cx="201168" cy="201168"/>
          </a:xfrm>
          <a:prstGeom prst="triangle">
            <a:avLst/>
          </a:prstGeom>
          <a:ln w="19050">
            <a:solidFill>
              <a:srgbClr val="F2F0EA"/>
            </a:solidFill>
            <a:prstDash val="solid"/>
          </a:ln>
        </p:spPr>
      </p:sp>
      <p:sp>
        <p:nvSpPr>
          <p:cNvPr id="6" name="Text 4"/>
          <p:cNvSpPr/>
          <p:nvPr/>
        </p:nvSpPr>
        <p:spPr>
          <a:xfrm>
            <a:off x="1188720" y="457200"/>
            <a:ext cx="9448495" cy="292608"/>
          </a:xfrm>
          <a:prstGeom prst="rect">
            <a:avLst/>
          </a:prstGeom>
          <a:noFill/>
          <a:ln/>
        </p:spPr>
        <p:txBody>
          <a:bodyPr wrap="square" lIns="0" tIns="0" rIns="0" bIns="0" rtlCol="0" anchor="ctr"/>
          <a:lstStyle/>
          <a:p>
            <a:pPr indent="0" marL="0">
              <a:buNone/>
            </a:pPr>
            <a:r>
              <a:rPr lang="en-US" sz="1100" b="1" spc="250" kern="0" dirty="0">
                <a:solidFill>
                  <a:srgbClr val="A9A79F"/>
                </a:solidFill>
                <a:latin typeface="Arial" pitchFamily="34" charset="0"/>
                <a:ea typeface="Arial" pitchFamily="34" charset="-122"/>
                <a:cs typeface="Arial" pitchFamily="34" charset="-120"/>
              </a:rPr>
              <a:t>ATÉ À PRÓXIMA AULA</a:t>
            </a:r>
            <a:endParaRPr lang="en-US" sz="1100" dirty="0"/>
          </a:p>
        </p:txBody>
      </p:sp>
      <p:sp>
        <p:nvSpPr>
          <p:cNvPr id="7" name="Text 5"/>
          <p:cNvSpPr/>
          <p:nvPr/>
        </p:nvSpPr>
        <p:spPr>
          <a:xfrm>
            <a:off x="822960" y="868680"/>
            <a:ext cx="6705295" cy="822960"/>
          </a:xfrm>
          <a:prstGeom prst="rect">
            <a:avLst/>
          </a:prstGeom>
          <a:noFill/>
          <a:ln/>
        </p:spPr>
        <p:txBody>
          <a:bodyPr wrap="square" lIns="0" tIns="0" rIns="0" bIns="0" rtlCol="0" anchor="b"/>
          <a:lstStyle/>
          <a:p>
            <a:pPr indent="0" marL="0">
              <a:buNone/>
            </a:pPr>
            <a:r>
              <a:rPr lang="en-US" sz="3600" dirty="0">
                <a:solidFill>
                  <a:srgbClr val="F2F0EA"/>
                </a:solidFill>
                <a:latin typeface="Arial" pitchFamily="34" charset="0"/>
                <a:ea typeface="Arial" pitchFamily="34" charset="-122"/>
                <a:cs typeface="Arial" pitchFamily="34" charset="-120"/>
              </a:rPr>
              <a:t>Para ir mais longe</a:t>
            </a:r>
            <a:endParaRPr lang="en-US" sz="3600" dirty="0"/>
          </a:p>
        </p:txBody>
      </p:sp>
      <p:sp>
        <p:nvSpPr>
          <p:cNvPr id="8" name="Shape 6"/>
          <p:cNvSpPr/>
          <p:nvPr/>
        </p:nvSpPr>
        <p:spPr>
          <a:xfrm>
            <a:off x="822960" y="1746504"/>
            <a:ext cx="640080" cy="64008"/>
          </a:xfrm>
          <a:prstGeom prst="rect">
            <a:avLst/>
          </a:prstGeom>
          <a:solidFill>
            <a:srgbClr val="E4555C"/>
          </a:solidFill>
          <a:ln w="12700">
            <a:solidFill>
              <a:srgbClr val="E4555C"/>
            </a:solidFill>
            <a:prstDash val="solid"/>
          </a:ln>
        </p:spPr>
      </p:sp>
      <p:sp>
        <p:nvSpPr>
          <p:cNvPr id="9" name="Text 7"/>
          <p:cNvSpPr/>
          <p:nvPr/>
        </p:nvSpPr>
        <p:spPr>
          <a:xfrm>
            <a:off x="822960" y="2103120"/>
            <a:ext cx="6522415" cy="3291840"/>
          </a:xfrm>
          <a:prstGeom prst="rect">
            <a:avLst/>
          </a:prstGeom>
          <a:noFill/>
          <a:ln/>
        </p:spPr>
        <p:txBody>
          <a:bodyPr wrap="square" lIns="0" tIns="0" rIns="0" bIns="0" rtlCol="0" anchor="t">
            <a:normAutofit/>
          </a:bodyPr>
          <a:lstStyle/>
          <a:p>
            <a:pPr indent="0" marL="0">
              <a:lnSpc>
                <a:spcPct val="120000"/>
              </a:lnSpc>
              <a:buNone/>
            </a:pPr>
            <a:r>
              <a:rPr lang="en-US" sz="2400" dirty="0">
                <a:solidFill>
                  <a:srgbClr val="F2F0EA"/>
                </a:solidFill>
                <a:latin typeface="Georgia" pitchFamily="34" charset="0"/>
                <a:ea typeface="Georgia" pitchFamily="34" charset="-122"/>
                <a:cs typeface="Georgia" pitchFamily="34" charset="-120"/>
              </a:rPr>
              <a:t>Para ir mais longe (opcional, em casa): 2 cartões de leitura e 3 de pergunta. Vieira e Garrett em paralelo, com os dois rostos; facto, interpretação ou opinião sobre a peça, com a página de 1844; os três passos da tragédia (presságio, revelação, catástrofe), aplicados a uma série imaginada; e a peroração separada da repreensão, num caso da escola.</a:t>
            </a:r>
            <a:endParaRPr lang="en-US" sz="2400" dirty="0"/>
          </a:p>
        </p:txBody>
      </p:sp>
      <p:sp>
        <p:nvSpPr>
          <p:cNvPr id="10" name="Shape 8"/>
          <p:cNvSpPr/>
          <p:nvPr/>
        </p:nvSpPr>
        <p:spPr>
          <a:xfrm>
            <a:off x="8515807" y="1078992"/>
            <a:ext cx="2962656" cy="2962656"/>
          </a:xfrm>
          <a:prstGeom prst="rect">
            <a:avLst/>
          </a:prstGeom>
          <a:solidFill>
            <a:srgbClr val="FFFFFF"/>
          </a:solidFill>
          <a:ln w="12700">
            <a:solidFill>
              <a:srgbClr val="F2F0EA"/>
            </a:solidFill>
            <a:prstDash val="solid"/>
          </a:ln>
        </p:spPr>
      </p:sp>
      <p:pic>
        <p:nvPicPr>
          <p:cNvPr id="11" name="Image 0" descr="/tmp/aulas-diap-jdU3MK/qr-18.png">    </p:cNvPr>
          <p:cNvPicPr>
            <a:picLocks noChangeAspect="1"/>
          </p:cNvPicPr>
          <p:nvPr/>
        </p:nvPicPr>
        <p:blipFill>
          <a:blip r:embed="rId1"/>
          <a:stretch>
            <a:fillRect/>
          </a:stretch>
        </p:blipFill>
        <p:spPr>
          <a:xfrm>
            <a:off x="8625535" y="1188720"/>
            <a:ext cx="2743200" cy="2743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Módulo 4, aula 18: A palavra contra o poder</dc:title>
  <dc:subject>PptxGenJS Presentation</dc:subject>
  <dc:creator>EPI, Português</dc:creator>
  <cp:lastModifiedBy>EPI, Português</cp:lastModifiedBy>
  <cp:revision>1</cp:revision>
  <dcterms:created xsi:type="dcterms:W3CDTF">2026-10-24T00:57:45Z</dcterms:created>
  <dcterms:modified xsi:type="dcterms:W3CDTF">2026-10-24T00:57:45Z</dcterms:modified>
</cp:coreProperties>
</file>