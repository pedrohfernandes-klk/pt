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5"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2.º ANO, MÓDULO 4, UNIDADE 3: TRINTA DIAS NO ABRIGO</a:t>
            </a:r>
            <a:endParaRPr lang="en-US" sz="1100" dirty="0"/>
          </a:p>
        </p:txBody>
      </p:sp>
      <p:sp>
        <p:nvSpPr>
          <p:cNvPr id="6" name="Text 4"/>
          <p:cNvSpPr/>
          <p:nvPr/>
        </p:nvSpPr>
        <p:spPr>
          <a:xfrm>
            <a:off x="777240" y="685800"/>
            <a:ext cx="512064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17</a:t>
            </a:r>
            <a:endParaRPr lang="en-US" sz="15000" dirty="0"/>
          </a:p>
        </p:txBody>
      </p:sp>
      <p:sp>
        <p:nvSpPr>
          <p:cNvPr id="7" name="Text 5"/>
          <p:cNvSpPr/>
          <p:nvPr/>
        </p:nvSpPr>
        <p:spPr>
          <a:xfrm>
            <a:off x="822960" y="2697480"/>
            <a:ext cx="6583680" cy="12801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Uma ideia precisa de uma prova</a:t>
            </a:r>
            <a:endParaRPr lang="en-US" sz="3400" dirty="0"/>
          </a:p>
        </p:txBody>
      </p:sp>
      <p:sp>
        <p:nvSpPr>
          <p:cNvPr id="8"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9" name="Text 7"/>
          <p:cNvSpPr/>
          <p:nvPr/>
        </p:nvSpPr>
        <p:spPr>
          <a:xfrm>
            <a:off x="822960" y="4297680"/>
            <a:ext cx="6583680" cy="1463040"/>
          </a:xfrm>
          <a:prstGeom prst="rect">
            <a:avLst/>
          </a:prstGeom>
          <a:noFill/>
          <a:ln/>
        </p:spPr>
        <p:txBody>
          <a:bodyPr wrap="square" lIns="0" tIns="0" rIns="0" bIns="0" rtlCol="0" anchor="t">
            <a:normAutofit/>
          </a:bodyPr>
          <a:lstStyle/>
          <a:p>
            <a:pPr indent="0" marL="0">
              <a:lnSpc>
                <a:spcPct val="115000"/>
              </a:lnSpc>
              <a:buNone/>
            </a:pPr>
            <a:r>
              <a:rPr lang="en-US" sz="2100" i="1" dirty="0">
                <a:solidFill>
                  <a:srgbClr val="F2F0EA"/>
                </a:solidFill>
                <a:latin typeface="Georgia" pitchFamily="34" charset="0"/>
                <a:ea typeface="Georgia" pitchFamily="34" charset="-122"/>
                <a:cs typeface="Georgia" pitchFamily="34" charset="-120"/>
              </a:rPr>
              <a:t>Escrever uma resposta sobre um texto em três movimentos: a ideia, a prova no texto e a explicação da ligação.</a:t>
            </a:r>
            <a:endParaRPr lang="en-US" sz="2100" dirty="0"/>
          </a:p>
        </p:txBody>
      </p:sp>
      <p:sp>
        <p:nvSpPr>
          <p:cNvPr id="10" name="Shape 8"/>
          <p:cNvSpPr/>
          <p:nvPr/>
        </p:nvSpPr>
        <p:spPr>
          <a:xfrm>
            <a:off x="822960" y="6089904"/>
            <a:ext cx="182880" cy="182880"/>
          </a:xfrm>
          <a:prstGeom prst="ellipse">
            <a:avLst/>
          </a:prstGeom>
          <a:ln w="19050">
            <a:solidFill>
              <a:srgbClr val="F2F0EA"/>
            </a:solidFill>
            <a:prstDash val="solid"/>
          </a:ln>
        </p:spPr>
      </p:sp>
      <p:sp>
        <p:nvSpPr>
          <p:cNvPr id="11" name="Shape 9"/>
          <p:cNvSpPr/>
          <p:nvPr/>
        </p:nvSpPr>
        <p:spPr>
          <a:xfrm>
            <a:off x="1152144" y="6089904"/>
            <a:ext cx="182880" cy="182880"/>
          </a:xfrm>
          <a:prstGeom prst="rect">
            <a:avLst/>
          </a:prstGeom>
          <a:ln w="19050">
            <a:solidFill>
              <a:srgbClr val="F2F0EA"/>
            </a:solidFill>
            <a:prstDash val="solid"/>
          </a:ln>
        </p:spPr>
      </p:sp>
      <p:sp>
        <p:nvSpPr>
          <p:cNvPr id="12" name="Shape 10"/>
          <p:cNvSpPr/>
          <p:nvPr/>
        </p:nvSpPr>
        <p:spPr>
          <a:xfrm>
            <a:off x="1481328" y="6089904"/>
            <a:ext cx="182880" cy="182880"/>
          </a:xfrm>
          <a:prstGeom prst="triangle">
            <a:avLst/>
          </a:prstGeom>
          <a:ln w="19050">
            <a:solidFill>
              <a:srgbClr val="F2F0EA"/>
            </a:solidFill>
            <a:prstDash val="solid"/>
          </a:ln>
        </p:spPr>
      </p:sp>
      <p:sp>
        <p:nvSpPr>
          <p:cNvPr id="13" name="Text 11"/>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Shape 12"/>
          <p:cNvSpPr/>
          <p:nvPr/>
        </p:nvSpPr>
        <p:spPr>
          <a:xfrm>
            <a:off x="8515807" y="1078992"/>
            <a:ext cx="2962656" cy="2962656"/>
          </a:xfrm>
          <a:prstGeom prst="rect">
            <a:avLst/>
          </a:prstGeom>
          <a:solidFill>
            <a:srgbClr val="FFFFFF"/>
          </a:solidFill>
          <a:ln w="12700">
            <a:solidFill>
              <a:srgbClr val="F2F0EA"/>
            </a:solidFill>
            <a:prstDash val="solid"/>
          </a:ln>
        </p:spPr>
      </p:sp>
      <p:pic>
        <p:nvPicPr>
          <p:cNvPr id="15" name="Image 0" descr="/tmp/aulas-diap-jdU3MK/qr-17.png">    </p:cNvPr>
          <p:cNvPicPr>
            <a:picLocks noChangeAspect="1"/>
          </p:cNvPicPr>
          <p:nvPr/>
        </p:nvPicPr>
        <p:blipFill>
          <a:blip r:embed="rId1"/>
          <a:stretch>
            <a:fillRect/>
          </a:stretch>
        </p:blipFill>
        <p:spPr>
          <a:xfrm>
            <a:off x="8625535" y="1188720"/>
            <a:ext cx="2743200" cy="2743200"/>
          </a:xfrm>
          <a:prstGeom prst="rect">
            <a:avLst/>
          </a:prstGeom>
        </p:spPr>
      </p:pic>
      <p:sp>
        <p:nvSpPr>
          <p:cNvPr id="16" name="Text 13"/>
          <p:cNvSpPr/>
          <p:nvPr/>
        </p:nvSpPr>
        <p:spPr>
          <a:xfrm>
            <a:off x="8442655" y="4160520"/>
            <a:ext cx="3108960"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pedrohfernandes-klk.github.io/pt/m4/</a:t>
            </a:r>
            <a:endParaRPr lang="en-US" sz="1200" dirty="0"/>
          </a:p>
          <a:p>
            <a:pPr algn="ctr" indent="0" marL="0">
              <a:buNone/>
            </a:pPr>
            <a:r>
              <a:rPr lang="en-US" sz="1200" dirty="0">
                <a:solidFill>
                  <a:srgbClr val="F2F0EA"/>
                </a:solidFill>
                <a:latin typeface="Arial" pitchFamily="34" charset="0"/>
                <a:ea typeface="Arial" pitchFamily="34" charset="-122"/>
                <a:cs typeface="Arial" pitchFamily="34" charset="-120"/>
              </a:rPr>
              <a:t>licao-m4-f27/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HOJE, 90 MINUTOS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Uma ideia precisa de uma prova</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4884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HOJE</a:t>
            </a:r>
            <a:endParaRPr lang="en-US" sz="1200" dirty="0"/>
          </a:p>
        </p:txBody>
      </p:sp>
      <p:sp>
        <p:nvSpPr>
          <p:cNvPr id="10" name="Text 8"/>
          <p:cNvSpPr/>
          <p:nvPr/>
        </p:nvSpPr>
        <p:spPr>
          <a:xfrm>
            <a:off x="2743200" y="209397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Escrever uma resposta sobre um texto em três movimentos: a ideia, a prova no texto e a explicação da ligação.</a:t>
            </a:r>
            <a:endParaRPr lang="en-US" sz="2400" dirty="0"/>
          </a:p>
        </p:txBody>
      </p:sp>
      <p:sp>
        <p:nvSpPr>
          <p:cNvPr id="11" name="Text 9"/>
          <p:cNvSpPr/>
          <p:nvPr/>
        </p:nvSpPr>
        <p:spPr>
          <a:xfrm>
            <a:off x="822960" y="347472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TEMPO</a:t>
            </a:r>
            <a:endParaRPr lang="en-US" sz="1200" dirty="0"/>
          </a:p>
        </p:txBody>
      </p:sp>
      <p:sp>
        <p:nvSpPr>
          <p:cNvPr id="12" name="Text 10"/>
          <p:cNvSpPr/>
          <p:nvPr/>
        </p:nvSpPr>
        <p:spPr>
          <a:xfrm>
            <a:off x="2743200" y="341985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90 minutos: 12 cartões, uma resposta construída em turma no quadro, uma decisão em turma e uma resposta escrita por cada um, em papel.</a:t>
            </a:r>
            <a:endParaRPr lang="en-US" sz="2400" dirty="0"/>
          </a:p>
        </p:txBody>
      </p:sp>
      <p:sp>
        <p:nvSpPr>
          <p:cNvPr id="13" name="Text 11"/>
          <p:cNvSpPr/>
          <p:nvPr/>
        </p:nvSpPr>
        <p:spPr>
          <a:xfrm>
            <a:off x="822960" y="480060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NO FIM</a:t>
            </a:r>
            <a:endParaRPr lang="en-US" sz="1200" dirty="0"/>
          </a:p>
        </p:txBody>
      </p:sp>
      <p:sp>
        <p:nvSpPr>
          <p:cNvPr id="14" name="Text 12"/>
          <p:cNvSpPr/>
          <p:nvPr/>
        </p:nvSpPr>
        <p:spPr>
          <a:xfrm>
            <a:off x="2743200" y="474573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Em papel, quatro a seis linhas: a frase «Telmo mente.» corrigida e fundamentada, com uma citação da cena entre aspas e os três movimentos marcados na margem.</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ABRE</a:t>
            </a:r>
            <a:endParaRPr lang="en-US" sz="1100" dirty="0"/>
          </a:p>
        </p:txBody>
      </p:sp>
      <p:pic>
        <p:nvPicPr>
          <p:cNvPr id="7" name="Image 0" descr="Pintura: num senado romano em semicírculo, um orador de toga branca, de pé à esquerda, fala de mão erguida; dezenas de senadores ouvem nos bancos; à direita, um homem está sentado sozinho, de cabeça baixa, com os bancos vazios à volta.">    </p:cNvPr>
          <p:cNvPicPr>
            <a:picLocks noChangeAspect="1"/>
          </p:cNvPicPr>
          <p:nvPr/>
        </p:nvPicPr>
        <p:blipFill>
          <a:blip r:embed="rId1"/>
          <a:stretch>
            <a:fillRect/>
          </a:stretch>
        </p:blipFill>
        <p:spPr>
          <a:xfrm>
            <a:off x="822960" y="914400"/>
            <a:ext cx="4206240" cy="2740628"/>
          </a:xfrm>
          <a:prstGeom prst="rect">
            <a:avLst/>
          </a:prstGeom>
        </p:spPr>
      </p:pic>
      <p:sp>
        <p:nvSpPr>
          <p:cNvPr id="8" name="Text 5"/>
          <p:cNvSpPr/>
          <p:nvPr/>
        </p:nvSpPr>
        <p:spPr>
          <a:xfrm>
            <a:off x="822960" y="3728180"/>
            <a:ext cx="4206240" cy="365760"/>
          </a:xfrm>
          <a:prstGeom prst="rect">
            <a:avLst/>
          </a:prstGeom>
          <a:noFill/>
          <a:ln/>
        </p:spPr>
        <p:txBody>
          <a:bodyPr wrap="square" lIns="0" tIns="0" rIns="0" bIns="0" rtlCol="0" anchor="t">
            <a:normAutofit/>
          </a:bodyPr>
          <a:lstStyle/>
          <a:p>
            <a:pPr indent="0" marL="0">
              <a:buNone/>
            </a:pPr>
            <a:r>
              <a:rPr lang="en-US" sz="1000" dirty="0">
                <a:solidFill>
                  <a:srgbClr val="A9A79F"/>
                </a:solidFill>
                <a:latin typeface="Arial" pitchFamily="34" charset="0"/>
                <a:ea typeface="Arial" pitchFamily="34" charset="-122"/>
                <a:cs typeface="Arial" pitchFamily="34" charset="-120"/>
              </a:rPr>
              <a:t>Cesare Maccari, </a:t>
            </a:r>
            <a:pPr indent="0" marL="0">
              <a:buNone/>
            </a:pPr>
            <a:r>
              <a:rPr lang="en-US" sz="1000" i="1" dirty="0">
                <a:solidFill>
                  <a:srgbClr val="A9A79F"/>
                </a:solidFill>
                <a:latin typeface="Arial" pitchFamily="34" charset="0"/>
                <a:ea typeface="Arial" pitchFamily="34" charset="-122"/>
                <a:cs typeface="Arial" pitchFamily="34" charset="-120"/>
              </a:rPr>
              <a:t>Cícero denuncia Catilina no Senado</a:t>
            </a:r>
            <a:pPr indent="0" marL="0">
              <a:buNone/>
            </a:pPr>
            <a:r>
              <a:rPr lang="en-US" sz="1000" dirty="0">
                <a:solidFill>
                  <a:srgbClr val="A9A79F"/>
                </a:solidFill>
                <a:latin typeface="Arial" pitchFamily="34" charset="0"/>
                <a:ea typeface="Arial" pitchFamily="34" charset="-122"/>
                <a:cs typeface="Arial" pitchFamily="34" charset="-120"/>
              </a:rPr>
              <a:t>, 1889. Domínio público.</a:t>
            </a:r>
            <a:endParaRPr lang="en-US" sz="1000" dirty="0"/>
          </a:p>
        </p:txBody>
      </p:sp>
      <p:sp>
        <p:nvSpPr>
          <p:cNvPr id="9" name="Text 6"/>
          <p:cNvSpPr/>
          <p:nvPr/>
        </p:nvSpPr>
        <p:spPr>
          <a:xfrm>
            <a:off x="5486400" y="914400"/>
            <a:ext cx="5516575" cy="91440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Uma ideia precisa de uma prova</a:t>
            </a:r>
            <a:endParaRPr lang="en-US" sz="3400" dirty="0"/>
          </a:p>
        </p:txBody>
      </p:sp>
      <p:sp>
        <p:nvSpPr>
          <p:cNvPr id="10" name="Shape 7"/>
          <p:cNvSpPr/>
          <p:nvPr/>
        </p:nvSpPr>
        <p:spPr>
          <a:xfrm>
            <a:off x="822960" y="1901952"/>
            <a:ext cx="640080" cy="64008"/>
          </a:xfrm>
          <a:prstGeom prst="rect">
            <a:avLst/>
          </a:prstGeom>
          <a:solidFill>
            <a:srgbClr val="E4555C"/>
          </a:solidFill>
          <a:ln w="12700">
            <a:solidFill>
              <a:srgbClr val="E4555C"/>
            </a:solidFill>
            <a:prstDash val="solid"/>
          </a:ln>
        </p:spPr>
      </p:sp>
      <p:sp>
        <p:nvSpPr>
          <p:cNvPr id="11" name="Text 8"/>
          <p:cNvSpPr/>
          <p:nvPr/>
        </p:nvSpPr>
        <p:spPr>
          <a:xfrm>
            <a:off x="5486400" y="2148840"/>
            <a:ext cx="5516575" cy="2103120"/>
          </a:xfrm>
          <a:prstGeom prst="rect">
            <a:avLst/>
          </a:prstGeom>
          <a:noFill/>
          <a:ln/>
        </p:spPr>
        <p:txBody>
          <a:bodyPr wrap="square" lIns="0" tIns="0" rIns="0" bIns="0" rtlCol="0" anchor="t">
            <a:normAutofit/>
          </a:bodyPr>
          <a:lstStyle/>
          <a:p>
            <a:pPr indent="0" marL="0">
              <a:lnSpc>
                <a:spcPct val="120000"/>
              </a:lnSpc>
              <a:buNone/>
            </a:pPr>
            <a:r>
              <a:rPr lang="en-US" sz="2100" dirty="0">
                <a:solidFill>
                  <a:srgbClr val="F2F0EA"/>
                </a:solidFill>
                <a:latin typeface="Georgia" pitchFamily="34" charset="0"/>
                <a:ea typeface="Georgia" pitchFamily="34" charset="-122"/>
                <a:cs typeface="Georgia" pitchFamily="34" charset="-120"/>
              </a:rPr>
              <a:t>Cícero acusa Catilina diante do Senado: tem de mostrar o que diz para que acreditem nele. Num teste, à pergunta «Explica como Vieira critica os homens», alguém escreve «Há uma alegoria.»: está certo, e não mostra nada.</a:t>
            </a:r>
            <a:endParaRPr lang="en-US" sz="2100" dirty="0"/>
          </a:p>
        </p:txBody>
      </p:sp>
      <p:sp>
        <p:nvSpPr>
          <p:cNvPr id="12" name="Text 9"/>
          <p:cNvSpPr/>
          <p:nvPr/>
        </p:nvSpPr>
        <p:spPr>
          <a:xfrm>
            <a:off x="5486400" y="4389120"/>
            <a:ext cx="5516575" cy="1463040"/>
          </a:xfrm>
          <a:prstGeom prst="rect">
            <a:avLst/>
          </a:prstGeom>
          <a:noFill/>
          <a:ln/>
        </p:spPr>
        <p:txBody>
          <a:bodyPr wrap="square" lIns="0" tIns="0" rIns="0" bIns="0" rtlCol="0" anchor="t">
            <a:normAutofit/>
          </a:bodyPr>
          <a:lstStyle/>
          <a:p>
            <a:pPr indent="0" marL="0">
              <a:buNone/>
            </a:pPr>
            <a:r>
              <a:rPr lang="en-US" sz="2600" b="1" dirty="0">
                <a:solidFill>
                  <a:srgbClr val="F2F0EA"/>
                </a:solidFill>
                <a:latin typeface="Arial" pitchFamily="34" charset="0"/>
                <a:ea typeface="Arial" pitchFamily="34" charset="-122"/>
                <a:cs typeface="Arial" pitchFamily="34" charset="-120"/>
              </a:rPr>
              <a:t>O que falta a «Há uma alegoria» para ser uma resposta?</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Vieira fala aos peixes. Procura a frase que diz quem come quem e o sítio para onde, no fim, os manda olhar.</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VIEIRA: OS GRANDES E OS PEQUENOS</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[1]</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Não só vos comeis uns aos outros, mas os grandes comem os pequenos. Se fosse ao contrário, era menos mal. Se os pequenos comessem os grandes, bastara um grande para muitos pequenos; mas como os grandes comem os pequenos, não bastam cem pequenos, nem mil, para um só grande.</a:t>
            </a:r>
            <a:endParaRPr lang="en-US" sz="2600" dirty="0"/>
          </a:p>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[2]</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Olhai, peixes, lá do mar para a terra. Não, não: não é isso o que vos digo. […] Para cá, para cá; para a cidade é que haveis de olhar.</a:t>
            </a:r>
            <a:endParaRPr lang="en-US" sz="26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Vieira, </a:t>
            </a:r>
            <a:pPr indent="0" marL="0">
              <a:buNone/>
            </a:pPr>
            <a:r>
              <a:rPr lang="en-US" sz="1100" i="1" dirty="0">
                <a:solidFill>
                  <a:srgbClr val="A9A79F"/>
                </a:solidFill>
                <a:latin typeface="Arial" pitchFamily="34" charset="0"/>
                <a:ea typeface="Arial" pitchFamily="34" charset="-122"/>
                <a:cs typeface="Arial" pitchFamily="34" charset="-120"/>
              </a:rPr>
              <a:t>Sermão de Santo António</a:t>
            </a:r>
            <a:pPr indent="0" marL="0">
              <a:buNone/>
            </a:pPr>
            <a:r>
              <a:rPr lang="en-US" sz="1100" dirty="0">
                <a:solidFill>
                  <a:srgbClr val="A9A79F"/>
                </a:solidFill>
                <a:latin typeface="Arial" pitchFamily="34" charset="0"/>
                <a:ea typeface="Arial" pitchFamily="34" charset="-122"/>
                <a:cs typeface="Arial" pitchFamily="34" charset="-120"/>
              </a:rPr>
              <a:t> (1654), cap. IV, ortografia atualizada.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«Não só vos comeis uns aos outros, mas os grandes comem os pequenos.»</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Pergunta: «Explica como a relação entre os grandes e os pequenos serve a crítica de Vieira». Que resposta cumpre?</a:t>
            </a:r>
            <a:endParaRPr lang="en-US" sz="28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83591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relação serve para censurar a violência da natureza, sem a comparar com a sociedade.</a:t>
            </a:r>
            <a:endParaRPr lang="en-US" sz="2200" dirty="0"/>
          </a:p>
        </p:txBody>
      </p:sp>
      <p:sp>
        <p:nvSpPr>
          <p:cNvPr id="14" name="Shape 12"/>
          <p:cNvSpPr/>
          <p:nvPr/>
        </p:nvSpPr>
        <p:spPr>
          <a:xfrm>
            <a:off x="822960" y="42097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42097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4218940"/>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predação mostra a força dos maiores; a crítica só surge depois, com a cidade.</a:t>
            </a:r>
            <a:endParaRPr lang="en-US" sz="2200" dirty="0"/>
          </a:p>
        </p:txBody>
      </p:sp>
      <p:sp>
        <p:nvSpPr>
          <p:cNvPr id="17" name="Shape 15"/>
          <p:cNvSpPr/>
          <p:nvPr/>
        </p:nvSpPr>
        <p:spPr>
          <a:xfrm>
            <a:off x="822960" y="512775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512775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5136896"/>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relação entre os peixes figura a exploração dos fracos pelos poderosos, que Vieira critica.</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2800" b="1" dirty="0">
                <a:solidFill>
                  <a:srgbClr val="F2F0EA"/>
                </a:solidFill>
                <a:latin typeface="Arial" pitchFamily="34" charset="0"/>
                <a:ea typeface="Arial" pitchFamily="34" charset="-122"/>
                <a:cs typeface="Arial" pitchFamily="34" charset="-120"/>
              </a:rPr>
              <a:t>A relação entre os peixes figura a exploração dos fracos pelos poderosos, que Vieira critica.</a:t>
            </a:r>
            <a:endParaRPr lang="en-US" sz="28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 explicação liga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a ação dos grandes sobre os pequenos</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à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exploração dos fracos</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não basta nomear a alegoria ou descrever o mar. Para fundamentar completamente, acrescenta a passagem «os grandes comem os pequenos».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«Olhai, peixes, lá do mar para a terra. Não, não: não é isso o que vos digo. […] Para cá, para cá; para a cidade é que haveis de olhar.»</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Que explicação de «Olhai, peixes» vai além do nome do recurso?</a:t>
            </a:r>
            <a:endParaRPr lang="en-US" sz="32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83591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Interpela os peixes e pede-lhes que olhem a terra para compreenderem os seus hábitos.</a:t>
            </a:r>
            <a:endParaRPr lang="en-US" sz="2200" dirty="0"/>
          </a:p>
        </p:txBody>
      </p:sp>
      <p:sp>
        <p:nvSpPr>
          <p:cNvPr id="14" name="Shape 12"/>
          <p:cNvSpPr/>
          <p:nvPr/>
        </p:nvSpPr>
        <p:spPr>
          <a:xfrm>
            <a:off x="822960" y="42097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42097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4218940"/>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Interpela os peixes e desloca o olhar para a cidade: a crítica passa aos homens.</a:t>
            </a:r>
            <a:endParaRPr lang="en-US" sz="2200" dirty="0"/>
          </a:p>
        </p:txBody>
      </p:sp>
      <p:sp>
        <p:nvSpPr>
          <p:cNvPr id="17" name="Shape 15"/>
          <p:cNvSpPr/>
          <p:nvPr/>
        </p:nvSpPr>
        <p:spPr>
          <a:xfrm>
            <a:off x="822960" y="512775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512775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5136896"/>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Interpela os peixes; a cidade só indica o lugar onde o pregador está a falar.</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Interpela os peixes e desloca o olhar para a cidade: a crítica passa aos homens.</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 apóstrofe chama os peixes; os imperativos «Olhai» e «Para cá»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deslocam a atenção para a cidade</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A função do recurso depende do movimento que a passagem constrói, não apenas do vocativo.</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10</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1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CASO</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400" dirty="0">
                <a:solidFill>
                  <a:srgbClr val="F2F0EA"/>
                </a:solidFill>
                <a:latin typeface="Georgia" pitchFamily="34" charset="0"/>
                <a:ea typeface="Georgia" pitchFamily="34" charset="-122"/>
                <a:cs typeface="Georgia" pitchFamily="34" charset="-120"/>
              </a:rPr>
              <a:t>Pergunta: «Explica como Vieira critica os homens.»1. «Há uma alegoria.»2. «Vieira critica os poderosos. Diz aos peixes que </a:t>
            </a:r>
            <a:pPr indent="0" marL="0">
              <a:lnSpc>
                <a:spcPct val="125000"/>
              </a:lnSpc>
              <a:buNone/>
            </a:pPr>
            <a:r>
              <a:rPr lang="en-US" sz="2400" b="1" dirty="0">
                <a:solidFill>
                  <a:srgbClr val="F2F0EA"/>
                </a:solidFill>
                <a:latin typeface="Georgia" pitchFamily="34" charset="0"/>
                <a:ea typeface="Georgia" pitchFamily="34" charset="-122"/>
                <a:cs typeface="Georgia" pitchFamily="34" charset="-120"/>
              </a:rPr>
              <a:t>“os grandes comem os pequenos”</a:t>
            </a:r>
            <a:pPr indent="0" marL="0">
              <a:lnSpc>
                <a:spcPct val="125000"/>
              </a:lnSpc>
              <a:buNone/>
            </a:pPr>
            <a:r>
              <a:rPr lang="en-US" sz="2400" dirty="0">
                <a:solidFill>
                  <a:srgbClr val="F2F0EA"/>
                </a:solidFill>
                <a:latin typeface="Georgia" pitchFamily="34" charset="0"/>
                <a:ea typeface="Georgia" pitchFamily="34" charset="-122"/>
                <a:cs typeface="Georgia" pitchFamily="34" charset="-120"/>
              </a:rPr>
              <a:t>. </a:t>
            </a:r>
            <a:pPr indent="0" marL="0">
              <a:lnSpc>
                <a:spcPct val="125000"/>
              </a:lnSpc>
              <a:buNone/>
            </a:pPr>
            <a:r>
              <a:rPr lang="en-US" sz="2400" b="1" dirty="0">
                <a:solidFill>
                  <a:srgbClr val="F2F0EA"/>
                </a:solidFill>
                <a:latin typeface="Georgia" pitchFamily="34" charset="0"/>
                <a:ea typeface="Georgia" pitchFamily="34" charset="-122"/>
                <a:cs typeface="Georgia" pitchFamily="34" charset="-120"/>
              </a:rPr>
              <a:t>Os peixes valem pelos homens: os grandes são os que exploram os fracos.</a:t>
            </a:r>
            <a:pPr indent="0" marL="0">
              <a:lnSpc>
                <a:spcPct val="125000"/>
              </a:lnSpc>
              <a:buNone/>
            </a:pPr>
            <a:r>
              <a:rPr lang="en-US" sz="2400" dirty="0">
                <a:solidFill>
                  <a:srgbClr val="F2F0EA"/>
                </a:solidFill>
                <a:latin typeface="Georgia" pitchFamily="34" charset="0"/>
                <a:ea typeface="Georgia" pitchFamily="34" charset="-122"/>
                <a:cs typeface="Georgia" pitchFamily="34" charset="-120"/>
              </a:rPr>
              <a:t>»Duas respostas de aluno, feitas para a aula.</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2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DECIDE</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O que falta à 1 para cumprir a pergunta?</a:t>
            </a:r>
            <a:endParaRPr lang="en-US" sz="3200" dirty="0"/>
          </a:p>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A. Uma citação</a:t>
            </a:r>
            <a:endParaRPr lang="en-US" sz="3200" dirty="0"/>
          </a:p>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B. Uma citação explicada</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3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OLHA</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A 2 dá uma ideia (Vieira critica os poderosos) e mostra onde está no texto, entre aspas: é a prova.</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4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TRAÇO</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Por fim, diz porque é que a passagem prova a ideia: os peixes valem pelos homens.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5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NOME</a:t>
            </a:r>
            <a:endParaRPr lang="en-US" sz="1400" dirty="0"/>
          </a:p>
        </p:txBody>
      </p:sp>
      <p:sp>
        <p:nvSpPr>
          <p:cNvPr id="8" name="Text 6"/>
          <p:cNvSpPr/>
          <p:nvPr/>
        </p:nvSpPr>
        <p:spPr>
          <a:xfrm>
            <a:off x="822960" y="1463040"/>
            <a:ext cx="9814255" cy="1463040"/>
          </a:xfrm>
          <a:prstGeom prst="rect">
            <a:avLst/>
          </a:prstGeom>
          <a:noFill/>
          <a:ln/>
        </p:spPr>
        <p:txBody>
          <a:bodyPr wrap="square" lIns="0" tIns="0" rIns="0" bIns="0" rtlCol="0" anchor="b">
            <a:normAutofit/>
          </a:bodyPr>
          <a:lstStyle/>
          <a:p>
            <a:pPr indent="0" marL="0">
              <a:buNone/>
            </a:pPr>
            <a:r>
              <a:rPr lang="en-US" sz="7200" b="1" dirty="0">
                <a:solidFill>
                  <a:srgbClr val="F2F0EA"/>
                </a:solidFill>
                <a:latin typeface="Arial" pitchFamily="34" charset="0"/>
                <a:ea typeface="Arial" pitchFamily="34" charset="-122"/>
                <a:cs typeface="Arial" pitchFamily="34" charset="-120"/>
              </a:rPr>
              <a:t>RESPOSTA FUNDAMENTADA</a:t>
            </a:r>
            <a:endParaRPr lang="en-US" sz="7200" dirty="0"/>
          </a:p>
        </p:txBody>
      </p:sp>
      <p:sp>
        <p:nvSpPr>
          <p:cNvPr id="9" name="Shape 7"/>
          <p:cNvSpPr/>
          <p:nvPr/>
        </p:nvSpPr>
        <p:spPr>
          <a:xfrm>
            <a:off x="822960" y="3017520"/>
            <a:ext cx="2011680" cy="82296"/>
          </a:xfrm>
          <a:prstGeom prst="rect">
            <a:avLst/>
          </a:prstGeom>
          <a:solidFill>
            <a:srgbClr val="D9A520"/>
          </a:solidFill>
          <a:ln w="12700">
            <a:solidFill>
              <a:srgbClr val="D9A520"/>
            </a:solidFill>
            <a:prstDash val="solid"/>
          </a:ln>
        </p:spPr>
      </p:sp>
      <p:sp>
        <p:nvSpPr>
          <p:cNvPr id="10" name="Text 8"/>
          <p:cNvSpPr/>
          <p:nvPr/>
        </p:nvSpPr>
        <p:spPr>
          <a:xfrm>
            <a:off x="822960" y="3337560"/>
            <a:ext cx="9814255" cy="2377440"/>
          </a:xfrm>
          <a:prstGeom prst="rect">
            <a:avLst/>
          </a:prstGeom>
          <a:noFill/>
          <a:ln/>
        </p:spPr>
        <p:txBody>
          <a:bodyPr wrap="square" lIns="0" tIns="0" rIns="0" bIns="0" rtlCol="0" anchor="t">
            <a:normAutofit/>
          </a:bodyPr>
          <a:lstStyle/>
          <a:p>
            <a:pPr indent="0" marL="0">
              <a:lnSpc>
                <a:spcPct val="120000"/>
              </a:lnSpc>
              <a:buNone/>
            </a:pPr>
            <a:r>
              <a:rPr lang="en-US" sz="3200" dirty="0">
                <a:solidFill>
                  <a:srgbClr val="F2F0EA"/>
                </a:solidFill>
                <a:latin typeface="Georgia" pitchFamily="34" charset="0"/>
                <a:ea typeface="Georgia" pitchFamily="34" charset="-122"/>
                <a:cs typeface="Georgia" pitchFamily="34" charset="-120"/>
              </a:rPr>
              <a:t>Uma resposta em três movimentos: a ideia, a prova no texto e a explicação que as liga.</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15</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6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QUE NÃO É</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Não é identificar. «Há uma alegoria» responde a «identifica o recurso», não a «explica».Não é só citar. «Os grandes comem os pequenos», sozinha, fala só de peixes.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16</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PORQUE NÃO CHEGA «HÁ UMA ALEGORIA»?, 7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PARA LEVAR</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Diz o que pensas, mostra onde está, explica porque prova.</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Aula 1: «Fundamenta que Santo António não desiste.» Qual tem os três movimentos?</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962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Em Arimino, o povo quase o mata e ele vai para a praia.</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Não desiste: «não desistiu da doutrina»; mudar de auditório não é desistir.</a:t>
            </a:r>
            <a:endParaRPr lang="en-US" sz="2400" dirty="0"/>
          </a:p>
        </p:txBody>
      </p:sp>
      <p:sp>
        <p:nvSpPr>
          <p:cNvPr id="16" name="Shape 14"/>
          <p:cNvSpPr/>
          <p:nvPr/>
        </p:nvSpPr>
        <p:spPr>
          <a:xfrm>
            <a:off x="822960" y="4477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477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486656"/>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Não desiste: é uma alegoria, os peixes valem pelos homens.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Não desiste: «não desistiu da doutrina»; mudar de auditório não é desistir.</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 resposta certa tem os três movimentos: a ideia («não desiste»), a prova («não desistiu da doutrina») e a explicação (mudar de auditório não é desistir: a doutrina fica). As outras deixam um movimento de fora.</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19</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Maria pergunta a Telmo de quem é um dos três retratos. Procura o que Telmo faz com o corpo e o que responde em vez do nome.</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20</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GARRETT: A PERGUNTA E O GESTO</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[1]</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MARIA: Oh! mas é verdade… vinde cá: (Leva-o diante dos três retratos que estão no fundo; e apontando para o de D. João) de quem é este retrato aqui, Telmo?</a:t>
            </a:r>
            <a:endParaRPr lang="en-US" sz="2600" dirty="0"/>
          </a:p>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[2]</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TELMO, olha, e vira a cara de repente: Esse é… há de ser… é um da família, destes senhores da casa de Vimioso que aqui estão tantos.</a:t>
            </a:r>
            <a:endParaRPr lang="en-US" sz="2600" dirty="0"/>
          </a:p>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[3]</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MARIA, ameaçando-o com o dedo: Tu não dizes a verdade, Telmo.</a:t>
            </a:r>
            <a:endParaRPr lang="en-US" sz="26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Desenho a partir da didascália: três retratos no fundo; Maria e Telmo diante deles.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«Telmo hesita. Portanto, D. João está vivo.» D. João está mesmo vivo. A resposta está bem fundamentada?</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962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Sim: o «portanto» liga as duas frases e faz a conclusão</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Não: a ideia é verdadeira, mas a hesitação não a prova</a:t>
            </a:r>
            <a:endParaRPr lang="en-US" sz="2400" dirty="0"/>
          </a:p>
        </p:txBody>
      </p:sp>
      <p:sp>
        <p:nvSpPr>
          <p:cNvPr id="16" name="Shape 14"/>
          <p:cNvSpPr/>
          <p:nvPr/>
        </p:nvSpPr>
        <p:spPr>
          <a:xfrm>
            <a:off x="822960" y="4477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477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486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Sim: se a ideia é verdadeira, qualquer prova serve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22</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Não: a ideia é verdadeira, mas a hesitação não a prova</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 hesitação mostra que Telmo esconde alguma coisa, não que D. João está vivo. Acrescentar «portanto» não transforma duas afirmações numa conclusão válida: a prova tem de mostrar aquela ideia.</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23</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«MARIA, ameaçando-o com o dedo: Tu não dizes a verdade, Telmo.»</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Um aluno escreve «Telmo mente.» Que continuação fundamenta e corrige a ideia?</a:t>
            </a:r>
            <a:endParaRPr lang="en-US" sz="32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48666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hesitação «há de ser» prova que Telmo não sabe de quem é o retrato.</a:t>
            </a:r>
            <a:endParaRPr lang="en-US" sz="2200" dirty="0"/>
          </a:p>
        </p:txBody>
      </p:sp>
      <p:sp>
        <p:nvSpPr>
          <p:cNvPr id="14" name="Shape 12"/>
          <p:cNvSpPr/>
          <p:nvPr/>
        </p:nvSpPr>
        <p:spPr>
          <a:xfrm>
            <a:off x="822960" y="42097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42097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4218940"/>
            <a:ext cx="9174175" cy="56870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«Esse é… há de ser…» e o virar da cara mostram evasão.</a:t>
            </a:r>
            <a:endParaRPr lang="en-US" sz="2200" dirty="0"/>
          </a:p>
        </p:txBody>
      </p:sp>
      <p:sp>
        <p:nvSpPr>
          <p:cNvPr id="17" name="Shape 15"/>
          <p:cNvSpPr/>
          <p:nvPr/>
        </p:nvSpPr>
        <p:spPr>
          <a:xfrm>
            <a:off x="822960" y="477850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77850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4787646"/>
            <a:ext cx="9174175" cy="91795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«Um da família» basta para esclarecer Maria; o gesto confirma prudência.</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«Esse é… há de ser…» e o virar da cara mostram evasão.</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 fala interrompida e o gesto «vira a cara» permitem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precisar</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«Telmo mente»: ele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omite e evita identificar o retrato</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A interpretação deve distinguir evasão de uma mentira explícita, que esta passagem não prova.</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DECIDE: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Prometeste guardar um segredo e perguntam-te de frente: recusas responder, contas ou foges à pergunta?</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
        <p:nvSpPr>
          <p:cNvPr id="9" name="Text 7"/>
          <p:cNvSpPr/>
          <p:nvPr/>
        </p:nvSpPr>
        <p:spPr>
          <a:xfrm>
            <a:off x="822960" y="4800600"/>
            <a:ext cx="9814255" cy="1097280"/>
          </a:xfrm>
          <a:prstGeom prst="rect">
            <a:avLst/>
          </a:prstGeom>
          <a:noFill/>
          <a:ln/>
        </p:spPr>
        <p:txBody>
          <a:bodyPr wrap="square" lIns="0" tIns="0" rIns="0" bIns="0" rtlCol="0" anchor="t">
            <a:normAutofit/>
          </a:bodyPr>
          <a:lstStyle/>
          <a:p>
            <a:pPr indent="0" marL="0">
              <a:buNone/>
            </a:pPr>
            <a:r>
              <a:rPr lang="en-US" sz="1800" dirty="0">
                <a:solidFill>
                  <a:srgbClr val="A9A79F"/>
                </a:solidFill>
                <a:latin typeface="Arial" pitchFamily="34" charset="0"/>
                <a:ea typeface="Arial" pitchFamily="34" charset="-122"/>
                <a:cs typeface="Arial" pitchFamily="34" charset="-120"/>
              </a:rPr>
              <a:t>Telmo, aio de D. João de Portugal, prometeu a Madalena não alimentar a dúvida sobre a morte dele. Agora, Maria pergunta-lhe de quem é o retrato.</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DECIDE: OS LADOS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Recusar, contar ou fugir?</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quem guarda a promessa</a:t>
            </a:r>
            <a:endParaRPr lang="en-US" sz="2000" dirty="0"/>
          </a:p>
        </p:txBody>
      </p:sp>
      <p:sp>
        <p:nvSpPr>
          <p:cNvPr id="10" name="Text 8"/>
          <p:cNvSpPr/>
          <p:nvPr/>
        </p:nvSpPr>
        <p:spPr>
          <a:xfrm>
            <a:off x="822960"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Uma promessa é uma promessa. Telmo deu a sua palavra: «À fé de escudeiro honrado, senhora D. Madalena, a minha boca não se abre mais.» E Madalena temia o que a dúvida faria a Maria. Calar o nome é cumprir a palavra e proteger a menina.Telmo a Madalena, ato I, cena II.</a:t>
            </a:r>
            <a:endParaRPr lang="en-US" sz="1700" dirty="0"/>
          </a:p>
        </p:txBody>
      </p:sp>
      <p:sp>
        <p:nvSpPr>
          <p:cNvPr id="11" name="Text 9"/>
          <p:cNvSpPr/>
          <p:nvPr/>
        </p:nvSpPr>
        <p:spPr>
          <a:xfrm>
            <a:off x="4490618"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quem conta</a:t>
            </a:r>
            <a:endParaRPr lang="en-US" sz="2000" dirty="0"/>
          </a:p>
        </p:txBody>
      </p:sp>
      <p:sp>
        <p:nvSpPr>
          <p:cNvPr id="12" name="Text 10"/>
          <p:cNvSpPr/>
          <p:nvPr/>
        </p:nvSpPr>
        <p:spPr>
          <a:xfrm>
            <a:off x="4490618"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Maria quer saber e não aceita que a tratem como criança: «Não sei para que são estes mistérios: cuidam que eu hei de ser sempre criança!» Guardar o segredo é decidir por ela o que pode saber.Maria a Telmo, ato II, cena I, a seguir ao excerto.</a:t>
            </a:r>
            <a:endParaRPr lang="en-US" sz="1700" dirty="0"/>
          </a:p>
        </p:txBody>
      </p:sp>
      <p:sp>
        <p:nvSpPr>
          <p:cNvPr id="13" name="Text 11"/>
          <p:cNvSpPr/>
          <p:nvPr/>
        </p:nvSpPr>
        <p:spPr>
          <a:xfrm>
            <a:off x="8158277"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objeção a quem foge</a:t>
            </a:r>
            <a:endParaRPr lang="en-US" sz="2000" dirty="0"/>
          </a:p>
        </p:txBody>
      </p:sp>
      <p:sp>
        <p:nvSpPr>
          <p:cNvPr id="14" name="Text 12"/>
          <p:cNvSpPr/>
          <p:nvPr/>
        </p:nvSpPr>
        <p:spPr>
          <a:xfrm>
            <a:off x="8158277"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Uma objeção possível: fugir à pergunta falha as duas coisas. Telmo «vira a cara de repente», e Maria percebe logo: «Tu não dizes a verdade, Telmo.» O segredo fica à vista e a verdade fica por dizer.Didascália e fala de Maria, ato II, cena I.</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1 DE 2</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«Há uma alegoria.» A frase está certa. Porque é que não responde a «Explica como Vieira critica os homens»?</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2 DE 2</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Maria diz a Telmo «Tu não dizes a verdade», e não «Tu mentes». Que diferença faz?</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EM PAPEL, O QUE SE ENTREGA</a:t>
            </a:r>
            <a:endParaRPr lang="en-US" sz="1100" dirty="0"/>
          </a:p>
        </p:txBody>
      </p:sp>
      <p:sp>
        <p:nvSpPr>
          <p:cNvPr id="7" name="Text 5"/>
          <p:cNvSpPr/>
          <p:nvPr/>
        </p:nvSpPr>
        <p:spPr>
          <a:xfrm>
            <a:off x="822960" y="1005840"/>
            <a:ext cx="9814255" cy="1554480"/>
          </a:xfrm>
          <a:prstGeom prst="rect">
            <a:avLst/>
          </a:prstGeom>
          <a:noFill/>
          <a:ln/>
        </p:spPr>
        <p:txBody>
          <a:bodyPr wrap="square" lIns="0" tIns="0" rIns="0" bIns="0" rtlCol="0" anchor="b">
            <a:normAutofit/>
          </a:bodyPr>
          <a:lstStyle/>
          <a:p>
            <a:pPr indent="0" marL="0">
              <a:buNone/>
            </a:pPr>
            <a:r>
              <a:rPr lang="en-US" sz="2400" dirty="0">
                <a:solidFill>
                  <a:srgbClr val="F2F0EA"/>
                </a:solidFill>
                <a:latin typeface="Georgia" pitchFamily="34" charset="0"/>
                <a:ea typeface="Georgia" pitchFamily="34" charset="-122"/>
                <a:cs typeface="Georgia" pitchFamily="34" charset="-120"/>
              </a:rPr>
              <a:t>Pergunta: «Telmo mente a Maria? Fundamenta.» Um aluno respondeu só «Telmo mente.» A frase não chega como resposta. Reescreve-a em quatro a seis linhas, em três movimentos: a ideia (corrige-a, se for preciso), a prova (uma citação da cena, fala ou didascália, entre aspas) e a explicação da ligação entre as duas. Marca na margem 1, 2 e 3.</a:t>
            </a:r>
            <a:endParaRPr lang="en-US" sz="2400" dirty="0"/>
          </a:p>
        </p:txBody>
      </p:sp>
      <p:sp>
        <p:nvSpPr>
          <p:cNvPr id="8" name="Shape 6"/>
          <p:cNvSpPr/>
          <p:nvPr/>
        </p:nvSpPr>
        <p:spPr>
          <a:xfrm>
            <a:off x="822960" y="2697480"/>
            <a:ext cx="640080" cy="64008"/>
          </a:xfrm>
          <a:prstGeom prst="rect">
            <a:avLst/>
          </a:prstGeom>
          <a:solidFill>
            <a:srgbClr val="E4555C"/>
          </a:solidFill>
          <a:ln w="12700">
            <a:solidFill>
              <a:srgbClr val="E4555C"/>
            </a:solidFill>
            <a:prstDash val="solid"/>
          </a:ln>
        </p:spPr>
      </p:sp>
      <p:sp>
        <p:nvSpPr>
          <p:cNvPr id="9" name="Text 7"/>
          <p:cNvSpPr/>
          <p:nvPr/>
        </p:nvSpPr>
        <p:spPr>
          <a:xfrm>
            <a:off x="822960" y="2971800"/>
            <a:ext cx="9814255" cy="320040"/>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QUE CONTA</a:t>
            </a:r>
            <a:endParaRPr lang="en-US" sz="1100" dirty="0"/>
          </a:p>
        </p:txBody>
      </p:sp>
      <p:sp>
        <p:nvSpPr>
          <p:cNvPr id="10" name="Shape 8"/>
          <p:cNvSpPr/>
          <p:nvPr/>
        </p:nvSpPr>
        <p:spPr>
          <a:xfrm>
            <a:off x="1005840" y="3611880"/>
            <a:ext cx="0" cy="2087118"/>
          </a:xfrm>
          <a:prstGeom prst="line">
            <a:avLst/>
          </a:prstGeom>
          <a:noFill/>
          <a:ln w="12700">
            <a:solidFill>
              <a:srgbClr val="A9A79F"/>
            </a:solidFill>
            <a:prstDash val="solid"/>
          </a:ln>
        </p:spPr>
      </p:sp>
      <p:sp>
        <p:nvSpPr>
          <p:cNvPr id="11" name="Shape 9"/>
          <p:cNvSpPr/>
          <p:nvPr/>
        </p:nvSpPr>
        <p:spPr>
          <a:xfrm>
            <a:off x="822960" y="342900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4290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1"/>
          <p:cNvSpPr/>
          <p:nvPr/>
        </p:nvSpPr>
        <p:spPr>
          <a:xfrm>
            <a:off x="1417320" y="3438144"/>
            <a:ext cx="9174175" cy="79095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A primeira frase responde à pergunta e afina «mente»: Telmo cala o nome sem dizer nada falso; é uma omissão, não uma mentira.</a:t>
            </a:r>
            <a:endParaRPr lang="en-US" sz="1800" dirty="0"/>
          </a:p>
        </p:txBody>
      </p:sp>
      <p:sp>
        <p:nvSpPr>
          <p:cNvPr id="14" name="Shape 12"/>
          <p:cNvSpPr/>
          <p:nvPr/>
        </p:nvSpPr>
        <p:spPr>
          <a:xfrm>
            <a:off x="822960" y="421995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42199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1417320" y="4229100"/>
            <a:ext cx="9174175" cy="50520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Cita a cena com exatidão, entre aspas (uma fala ou uma didascália).</a:t>
            </a:r>
            <a:endParaRPr lang="en-US" sz="1800" dirty="0"/>
          </a:p>
        </p:txBody>
      </p:sp>
      <p:sp>
        <p:nvSpPr>
          <p:cNvPr id="17" name="Shape 15"/>
          <p:cNvSpPr/>
          <p:nvPr/>
        </p:nvSpPr>
        <p:spPr>
          <a:xfrm>
            <a:off x="822960" y="472516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72516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1417320" y="4734306"/>
            <a:ext cx="9174175" cy="79095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Uma frase explica a ligação entre a citação e a ideia: a citação não fica solta.</a:t>
            </a:r>
            <a:endParaRPr lang="en-US" sz="1800" dirty="0"/>
          </a:p>
        </p:txBody>
      </p:sp>
      <p:sp>
        <p:nvSpPr>
          <p:cNvPr id="20" name="Shape 18"/>
          <p:cNvSpPr/>
          <p:nvPr/>
        </p:nvSpPr>
        <p:spPr>
          <a:xfrm>
            <a:off x="822960" y="5516118"/>
            <a:ext cx="365760" cy="365760"/>
          </a:xfrm>
          <a:prstGeom prst="ellipse">
            <a:avLst/>
          </a:prstGeom>
          <a:solidFill>
            <a:srgbClr val="111111"/>
          </a:solidFill>
          <a:ln w="15875">
            <a:solidFill>
              <a:srgbClr val="F2F0EA"/>
            </a:solidFill>
            <a:prstDash val="solid"/>
          </a:ln>
        </p:spPr>
      </p:sp>
      <p:sp>
        <p:nvSpPr>
          <p:cNvPr id="21" name="Text 19"/>
          <p:cNvSpPr/>
          <p:nvPr/>
        </p:nvSpPr>
        <p:spPr>
          <a:xfrm>
            <a:off x="822960" y="551611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1417320" y="5525262"/>
            <a:ext cx="9174175" cy="50520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Os três movimentos estão marcados na margem (1, 2, 3), pela ordem.</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30</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LEVAR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Ideia, prova, explicação: três movimentos, e nenhum vale sem os outros dois.</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17: Uma ideia precisa de uma prova</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31</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7" name="Text 5"/>
          <p:cNvSpPr/>
          <p:nvPr/>
        </p:nvSpPr>
        <p:spPr>
          <a:xfrm>
            <a:off x="822960" y="868680"/>
            <a:ext cx="6705295" cy="822960"/>
          </a:xfrm>
          <a:prstGeom prst="rect">
            <a:avLst/>
          </a:prstGeom>
          <a:noFill/>
          <a:ln/>
        </p:spPr>
        <p:txBody>
          <a:bodyPr wrap="square" lIns="0" tIns="0" rIns="0" bIns="0" rtlCol="0" anchor="b"/>
          <a:lstStyle/>
          <a:p>
            <a:pPr indent="0" marL="0">
              <a:buNone/>
            </a:pPr>
            <a:r>
              <a:rPr lang="en-US" sz="3600" dirty="0">
                <a:solidFill>
                  <a:srgbClr val="F2F0EA"/>
                </a:solidFill>
                <a:latin typeface="Arial" pitchFamily="34" charset="0"/>
                <a:ea typeface="Arial" pitchFamily="34" charset="-122"/>
                <a:cs typeface="Arial" pitchFamily="34" charset="-120"/>
              </a:rPr>
              <a:t>Para ir mais longe</a:t>
            </a:r>
            <a:endParaRPr lang="en-US" sz="36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6522415" cy="329184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F2F0EA"/>
                </a:solidFill>
                <a:latin typeface="Georgia" pitchFamily="34" charset="0"/>
                <a:ea typeface="Georgia" pitchFamily="34" charset="-122"/>
                <a:cs typeface="Georgia" pitchFamily="34" charset="-120"/>
              </a:rPr>
              <a:t>Para ir mais longe (opcional, em casa): 5 cartões de pergunta e 1 de leitura. O retrato identificado pelo gesto (o deítico da aula 12, com a prova numa didascália) e as citações a mais; depois, o verbo da pergunta (identifica, explica, fundamenta, compara), num cartão de conceito com três perguntas: o que pede «fundamenta», que verbo cumpre cada resposta, e uma comparação entre Vieira e Garrett com critério comum. Em casa, o excerto de Garrett volta antes das perguntas.</a:t>
            </a:r>
            <a:endParaRPr lang="en-US" sz="2400" dirty="0"/>
          </a:p>
        </p:txBody>
      </p:sp>
      <p:sp>
        <p:nvSpPr>
          <p:cNvPr id="10" name="Shape 8"/>
          <p:cNvSpPr/>
          <p:nvPr/>
        </p:nvSpPr>
        <p:spPr>
          <a:xfrm>
            <a:off x="8515807" y="1078992"/>
            <a:ext cx="2962656" cy="2962656"/>
          </a:xfrm>
          <a:prstGeom prst="rect">
            <a:avLst/>
          </a:prstGeom>
          <a:solidFill>
            <a:srgbClr val="FFFFFF"/>
          </a:solidFill>
          <a:ln w="12700">
            <a:solidFill>
              <a:srgbClr val="F2F0EA"/>
            </a:solidFill>
            <a:prstDash val="solid"/>
          </a:ln>
        </p:spPr>
      </p:sp>
      <p:pic>
        <p:nvPicPr>
          <p:cNvPr id="11" name="Image 0" descr="/tmp/aulas-diap-jdU3MK/qr-17.png">    </p:cNvPr>
          <p:cNvPicPr>
            <a:picLocks noChangeAspect="1"/>
          </p:cNvPicPr>
          <p:nvPr/>
        </p:nvPicPr>
        <p:blipFill>
          <a:blip r:embed="rId1"/>
          <a:stretch>
            <a:fillRect/>
          </a:stretch>
        </p:blipFill>
        <p:spPr>
          <a:xfrm>
            <a:off x="8625535" y="1188720"/>
            <a:ext cx="2743200"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4, aula 17: Uma ideia precisa de uma prova</dc:title>
  <dc:subject>PptxGenJS Presentation</dc:subject>
  <dc:creator>EPI, Português</dc:creator>
  <cp:lastModifiedBy>EPI, Português</cp:lastModifiedBy>
  <cp:revision>1</cp:revision>
  <dcterms:created xsi:type="dcterms:W3CDTF">2026-10-24T00:57:45Z</dcterms:created>
  <dcterms:modified xsi:type="dcterms:W3CDTF">2026-10-24T00:57:45Z</dcterms:modified>
</cp:coreProperties>
</file>