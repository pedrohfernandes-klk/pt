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5"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2.º ANO, MÓDULO 4, UNIDADE 1: PREGAR AOS PEIXES</a:t>
            </a:r>
            <a:endParaRPr lang="en-US" sz="1100" dirty="0"/>
          </a:p>
        </p:txBody>
      </p:sp>
      <p:sp>
        <p:nvSpPr>
          <p:cNvPr id="6" name="Text 4"/>
          <p:cNvSpPr/>
          <p:nvPr/>
        </p:nvSpPr>
        <p:spPr>
          <a:xfrm>
            <a:off x="777240" y="685800"/>
            <a:ext cx="512064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3</a:t>
            </a:r>
            <a:endParaRPr lang="en-US" sz="15000" dirty="0"/>
          </a:p>
        </p:txBody>
      </p:sp>
      <p:sp>
        <p:nvSpPr>
          <p:cNvPr id="7" name="Text 5"/>
          <p:cNvSpPr/>
          <p:nvPr/>
        </p:nvSpPr>
        <p:spPr>
          <a:xfrm>
            <a:off x="822960" y="2697480"/>
            <a:ext cx="6583680" cy="12801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Os grandes comem os pequenos</a:t>
            </a:r>
            <a:endParaRPr lang="en-US" sz="3400" dirty="0"/>
          </a:p>
        </p:txBody>
      </p:sp>
      <p:sp>
        <p:nvSpPr>
          <p:cNvPr id="8"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9" name="Text 7"/>
          <p:cNvSpPr/>
          <p:nvPr/>
        </p:nvSpPr>
        <p:spPr>
          <a:xfrm>
            <a:off x="822960" y="4297680"/>
            <a:ext cx="6583680" cy="1463040"/>
          </a:xfrm>
          <a:prstGeom prst="rect">
            <a:avLst/>
          </a:prstGeom>
          <a:noFill/>
          <a:ln/>
        </p:spPr>
        <p:txBody>
          <a:bodyPr wrap="square" lIns="0" tIns="0" rIns="0" bIns="0" rtlCol="0" anchor="t">
            <a:normAutofit/>
          </a:bodyPr>
          <a:lstStyle/>
          <a:p>
            <a:pPr indent="0" marL="0">
              <a:lnSpc>
                <a:spcPct val="115000"/>
              </a:lnSpc>
              <a:buNone/>
            </a:pPr>
            <a:r>
              <a:rPr lang="en-US" sz="1800" i="1" dirty="0">
                <a:solidFill>
                  <a:srgbClr val="F2F0EA"/>
                </a:solidFill>
                <a:latin typeface="Georgia" pitchFamily="34" charset="0"/>
                <a:ea typeface="Georgia" pitchFamily="34" charset="-122"/>
                <a:cs typeface="Georgia" pitchFamily="34" charset="-120"/>
              </a:rPr>
              <a:t>Perceber como Vieira repreende os peixes para mostrar o escândalo nos homens da cidade, e o que é uma apóstrofe e o que ela faz.</a:t>
            </a:r>
            <a:endParaRPr lang="en-US" sz="1800" dirty="0"/>
          </a:p>
        </p:txBody>
      </p:sp>
      <p:sp>
        <p:nvSpPr>
          <p:cNvPr id="10" name="Shape 8"/>
          <p:cNvSpPr/>
          <p:nvPr/>
        </p:nvSpPr>
        <p:spPr>
          <a:xfrm>
            <a:off x="822960" y="6089904"/>
            <a:ext cx="182880" cy="182880"/>
          </a:xfrm>
          <a:prstGeom prst="ellipse">
            <a:avLst/>
          </a:prstGeom>
          <a:ln w="19050">
            <a:solidFill>
              <a:srgbClr val="F2F0EA"/>
            </a:solidFill>
            <a:prstDash val="solid"/>
          </a:ln>
        </p:spPr>
      </p:sp>
      <p:sp>
        <p:nvSpPr>
          <p:cNvPr id="11" name="Shape 9"/>
          <p:cNvSpPr/>
          <p:nvPr/>
        </p:nvSpPr>
        <p:spPr>
          <a:xfrm>
            <a:off x="1152144" y="6089904"/>
            <a:ext cx="182880" cy="182880"/>
          </a:xfrm>
          <a:prstGeom prst="rect">
            <a:avLst/>
          </a:prstGeom>
          <a:ln w="19050">
            <a:solidFill>
              <a:srgbClr val="F2F0EA"/>
            </a:solidFill>
            <a:prstDash val="solid"/>
          </a:ln>
        </p:spPr>
      </p:sp>
      <p:sp>
        <p:nvSpPr>
          <p:cNvPr id="12" name="Shape 10"/>
          <p:cNvSpPr/>
          <p:nvPr/>
        </p:nvSpPr>
        <p:spPr>
          <a:xfrm>
            <a:off x="1481328" y="6089904"/>
            <a:ext cx="182880" cy="182880"/>
          </a:xfrm>
          <a:prstGeom prst="triangle">
            <a:avLst/>
          </a:prstGeom>
          <a:ln w="19050">
            <a:solidFill>
              <a:srgbClr val="F2F0EA"/>
            </a:solidFill>
            <a:prstDash val="solid"/>
          </a:ln>
        </p:spPr>
      </p:sp>
      <p:sp>
        <p:nvSpPr>
          <p:cNvPr id="13" name="Text 11"/>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Shape 12"/>
          <p:cNvSpPr/>
          <p:nvPr/>
        </p:nvSpPr>
        <p:spPr>
          <a:xfrm>
            <a:off x="8515807" y="1078992"/>
            <a:ext cx="2962656" cy="2962656"/>
          </a:xfrm>
          <a:prstGeom prst="rect">
            <a:avLst/>
          </a:prstGeom>
          <a:solidFill>
            <a:srgbClr val="FFFFFF"/>
          </a:solidFill>
          <a:ln w="12700">
            <a:solidFill>
              <a:srgbClr val="F2F0EA"/>
            </a:solidFill>
            <a:prstDash val="solid"/>
          </a:ln>
        </p:spPr>
      </p:sp>
      <p:pic>
        <p:nvPicPr>
          <p:cNvPr id="15" name="Image 0" descr="/tmp/aulas-diap-jdU3MK/qr-3.png">    </p:cNvPr>
          <p:cNvPicPr>
            <a:picLocks noChangeAspect="1"/>
          </p:cNvPicPr>
          <p:nvPr/>
        </p:nvPicPr>
        <p:blipFill>
          <a:blip r:embed="rId1"/>
          <a:stretch>
            <a:fillRect/>
          </a:stretch>
        </p:blipFill>
        <p:spPr>
          <a:xfrm>
            <a:off x="8625535" y="1188720"/>
            <a:ext cx="2743200" cy="2743200"/>
          </a:xfrm>
          <a:prstGeom prst="rect">
            <a:avLst/>
          </a:prstGeom>
        </p:spPr>
      </p:pic>
      <p:sp>
        <p:nvSpPr>
          <p:cNvPr id="16" name="Text 13"/>
          <p:cNvSpPr/>
          <p:nvPr/>
        </p:nvSpPr>
        <p:spPr>
          <a:xfrm>
            <a:off x="8442655" y="4160520"/>
            <a:ext cx="3108960"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a:t>
            </a:r>
            <a:endParaRPr lang="en-US" sz="1200" dirty="0"/>
          </a:p>
          <a:p>
            <a:pPr algn="ctr" indent="0" marL="0">
              <a:buNone/>
            </a:pPr>
            <a:r>
              <a:rPr lang="en-US" sz="1200" dirty="0">
                <a:solidFill>
                  <a:srgbClr val="F2F0EA"/>
                </a:solidFill>
                <a:latin typeface="Arial" pitchFamily="34" charset="0"/>
                <a:ea typeface="Arial" pitchFamily="34" charset="-122"/>
                <a:cs typeface="Arial" pitchFamily="34" charset="-120"/>
              </a:rPr>
              <a:t>licao-m4-f04/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HOJE, 90 MINUTOS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Os grandes comem os pequenos</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4884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HOJE</a:t>
            </a:r>
            <a:endParaRPr lang="en-US" sz="1200" dirty="0"/>
          </a:p>
        </p:txBody>
      </p:sp>
      <p:sp>
        <p:nvSpPr>
          <p:cNvPr id="10" name="Text 8"/>
          <p:cNvSpPr/>
          <p:nvPr/>
        </p:nvSpPr>
        <p:spPr>
          <a:xfrm>
            <a:off x="2743200" y="209397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Perceber como Vieira repreende os peixes para mostrar o escândalo nos homens da cidade, e o que é uma apóstrofe e o que ela faz.</a:t>
            </a:r>
            <a:endParaRPr lang="en-US" sz="2400" dirty="0"/>
          </a:p>
        </p:txBody>
      </p:sp>
      <p:sp>
        <p:nvSpPr>
          <p:cNvPr id="11" name="Text 9"/>
          <p:cNvSpPr/>
          <p:nvPr/>
        </p:nvSpPr>
        <p:spPr>
          <a:xfrm>
            <a:off x="822960" y="347472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TEMPO</a:t>
            </a:r>
            <a:endParaRPr lang="en-US" sz="1200" dirty="0"/>
          </a:p>
        </p:txBody>
      </p:sp>
      <p:sp>
        <p:nvSpPr>
          <p:cNvPr id="12" name="Text 10"/>
          <p:cNvSpPr/>
          <p:nvPr/>
        </p:nvSpPr>
        <p:spPr>
          <a:xfrm>
            <a:off x="2743200" y="341985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90 minutos: 12 cartões, uma decisão em turma e uma resposta escrita.</a:t>
            </a:r>
            <a:endParaRPr lang="en-US" sz="2400" dirty="0"/>
          </a:p>
        </p:txBody>
      </p:sp>
      <p:sp>
        <p:nvSpPr>
          <p:cNvPr id="13" name="Text 11"/>
          <p:cNvSpPr/>
          <p:nvPr/>
        </p:nvSpPr>
        <p:spPr>
          <a:xfrm>
            <a:off x="822960" y="480060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NO FIM</a:t>
            </a:r>
            <a:endParaRPr lang="en-US" sz="1200" dirty="0"/>
          </a:p>
        </p:txBody>
      </p:sp>
      <p:sp>
        <p:nvSpPr>
          <p:cNvPr id="14" name="Text 12"/>
          <p:cNvSpPr/>
          <p:nvPr/>
        </p:nvSpPr>
        <p:spPr>
          <a:xfrm>
            <a:off x="2743200" y="474573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Em papel, quatro a seis linhas: para onde manda Vieira os peixes olhar, e o que veem lá? Com uma citação do texto entre aspas e um recurso expressivo.</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ABRE</a:t>
            </a:r>
            <a:endParaRPr lang="en-US" sz="1100" dirty="0"/>
          </a:p>
        </p:txBody>
      </p:sp>
      <p:pic>
        <p:nvPicPr>
          <p:cNvPr id="7" name="Image 0" descr="Fotografia a preto e branco de um mercado ao ar livre: mulheres de saia comprida e avental, homens de chapéu e rapazes juntam-se em roda, de olhos no meio; à esquerda, uma mulher leva um cesto à cabeça; ao fundo, o pavilhão do mercado.">    </p:cNvPr>
          <p:cNvPicPr>
            <a:picLocks noChangeAspect="1"/>
          </p:cNvPicPr>
          <p:nvPr/>
        </p:nvPicPr>
        <p:blipFill>
          <a:blip r:embed="rId1"/>
          <a:stretch>
            <a:fillRect/>
          </a:stretch>
        </p:blipFill>
        <p:spPr>
          <a:xfrm>
            <a:off x="822960" y="914400"/>
            <a:ext cx="4206240" cy="3056096"/>
          </a:xfrm>
          <a:prstGeom prst="rect">
            <a:avLst/>
          </a:prstGeom>
        </p:spPr>
      </p:pic>
      <p:sp>
        <p:nvSpPr>
          <p:cNvPr id="8" name="Text 5"/>
          <p:cNvSpPr/>
          <p:nvPr/>
        </p:nvSpPr>
        <p:spPr>
          <a:xfrm>
            <a:off x="822960" y="4043648"/>
            <a:ext cx="4206240" cy="365760"/>
          </a:xfrm>
          <a:prstGeom prst="rect">
            <a:avLst/>
          </a:prstGeom>
          <a:noFill/>
          <a:ln/>
        </p:spPr>
        <p:txBody>
          <a:bodyPr wrap="square" lIns="0" tIns="0" rIns="0" bIns="0" rtlCol="0" anchor="t">
            <a:normAutofit/>
          </a:bodyPr>
          <a:lstStyle/>
          <a:p>
            <a:pPr indent="0" marL="0">
              <a:buNone/>
            </a:pPr>
            <a:r>
              <a:rPr lang="en-US" sz="1000" dirty="0">
                <a:solidFill>
                  <a:srgbClr val="A9A79F"/>
                </a:solidFill>
                <a:latin typeface="Arial" pitchFamily="34" charset="0"/>
                <a:ea typeface="Arial" pitchFamily="34" charset="-122"/>
                <a:cs typeface="Arial" pitchFamily="34" charset="-120"/>
              </a:rPr>
              <a:t>José Artur Leitão Bárcia, mercado de peixe na Ribeira Nova, Lisboa, c. 1900. Domínio público.</a:t>
            </a:r>
            <a:endParaRPr lang="en-US" sz="1000" dirty="0"/>
          </a:p>
        </p:txBody>
      </p:sp>
      <p:sp>
        <p:nvSpPr>
          <p:cNvPr id="9" name="Text 6"/>
          <p:cNvSpPr/>
          <p:nvPr/>
        </p:nvSpPr>
        <p:spPr>
          <a:xfrm>
            <a:off x="5486400" y="914400"/>
            <a:ext cx="5516575" cy="91440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Os grandes comem os pequenos</a:t>
            </a:r>
            <a:endParaRPr lang="en-US" sz="3400" dirty="0"/>
          </a:p>
        </p:txBody>
      </p:sp>
      <p:sp>
        <p:nvSpPr>
          <p:cNvPr id="10" name="Shape 7"/>
          <p:cNvSpPr/>
          <p:nvPr/>
        </p:nvSpPr>
        <p:spPr>
          <a:xfrm>
            <a:off x="822960" y="1901952"/>
            <a:ext cx="640080" cy="64008"/>
          </a:xfrm>
          <a:prstGeom prst="rect">
            <a:avLst/>
          </a:prstGeom>
          <a:solidFill>
            <a:srgbClr val="E4555C"/>
          </a:solidFill>
          <a:ln w="12700">
            <a:solidFill>
              <a:srgbClr val="E4555C"/>
            </a:solidFill>
            <a:prstDash val="solid"/>
          </a:ln>
        </p:spPr>
      </p:sp>
      <p:sp>
        <p:nvSpPr>
          <p:cNvPr id="11" name="Text 8"/>
          <p:cNvSpPr/>
          <p:nvPr/>
        </p:nvSpPr>
        <p:spPr>
          <a:xfrm>
            <a:off x="5486400" y="2148840"/>
            <a:ext cx="5516575" cy="2103120"/>
          </a:xfrm>
          <a:prstGeom prst="rect">
            <a:avLst/>
          </a:prstGeom>
          <a:noFill/>
          <a:ln/>
        </p:spPr>
        <p:txBody>
          <a:bodyPr wrap="square" lIns="0" tIns="0" rIns="0" bIns="0" rtlCol="0" anchor="t">
            <a:normAutofit/>
          </a:bodyPr>
          <a:lstStyle/>
          <a:p>
            <a:pPr indent="0" marL="0">
              <a:lnSpc>
                <a:spcPct val="120000"/>
              </a:lnSpc>
              <a:buNone/>
            </a:pPr>
            <a:r>
              <a:rPr lang="en-US" sz="2100" dirty="0">
                <a:solidFill>
                  <a:srgbClr val="F2F0EA"/>
                </a:solidFill>
                <a:latin typeface="Georgia" pitchFamily="34" charset="0"/>
                <a:ea typeface="Georgia" pitchFamily="34" charset="-122"/>
                <a:cs typeface="Georgia" pitchFamily="34" charset="-120"/>
              </a:rPr>
              <a:t>Num mercado de peixe de Lisboa, as pessoas juntam-se em roda, de olhos no que está no meio. Em 1654, em São Luís do Maranhão, Vieira repreende os peixes por se comerem uns aos outros, e depois manda-os olhar para a cidade.</a:t>
            </a:r>
            <a:endParaRPr lang="en-US" sz="2100" dirty="0"/>
          </a:p>
        </p:txBody>
      </p:sp>
      <p:sp>
        <p:nvSpPr>
          <p:cNvPr id="12" name="Text 9"/>
          <p:cNvSpPr/>
          <p:nvPr/>
        </p:nvSpPr>
        <p:spPr>
          <a:xfrm>
            <a:off x="5486400" y="4389120"/>
            <a:ext cx="5516575" cy="1463040"/>
          </a:xfrm>
          <a:prstGeom prst="rect">
            <a:avLst/>
          </a:prstGeom>
          <a:noFill/>
          <a:ln/>
        </p:spPr>
        <p:txBody>
          <a:bodyPr wrap="square" lIns="0" tIns="0" rIns="0" bIns="0" rtlCol="0" anchor="t">
            <a:normAutofit/>
          </a:bodyPr>
          <a:lstStyle/>
          <a:p>
            <a:pPr indent="0" marL="0">
              <a:buNone/>
            </a:pPr>
            <a:r>
              <a:rPr lang="en-US" sz="2600" b="1" dirty="0">
                <a:solidFill>
                  <a:srgbClr val="F2F0EA"/>
                </a:solidFill>
                <a:latin typeface="Arial" pitchFamily="34" charset="0"/>
                <a:ea typeface="Arial" pitchFamily="34" charset="-122"/>
                <a:cs typeface="Arial" pitchFamily="34" charset="-120"/>
              </a:rPr>
              <a:t>Na cidade para onde Vieira manda os peixes olhar, quem come quem?</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Vieira passa dos louvores às repreensões. Repara na conta de grandes e pequenos.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A PRIMEIRA REPREENSÃO (1 DE 3)</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200" b="1" dirty="0">
                <a:solidFill>
                  <a:srgbClr val="F2F0EA"/>
                </a:solidFill>
                <a:latin typeface="Georgia" pitchFamily="34" charset="0"/>
                <a:ea typeface="Georgia" pitchFamily="34" charset="-122"/>
                <a:cs typeface="Georgia" pitchFamily="34" charset="-120"/>
              </a:rPr>
              <a:t>[1]</a:t>
            </a:r>
            <a:pPr indent="0" marL="0">
              <a:lnSpc>
                <a:spcPct val="125000"/>
              </a:lnSpc>
              <a:spcAft>
                <a:spcPts val="800"/>
              </a:spcAft>
              <a:buNone/>
            </a:pPr>
            <a:r>
              <a:rPr lang="en-US" sz="2200" dirty="0">
                <a:solidFill>
                  <a:srgbClr val="F2F0EA"/>
                </a:solidFill>
                <a:latin typeface="Georgia" pitchFamily="34" charset="0"/>
                <a:ea typeface="Georgia" pitchFamily="34" charset="-122"/>
                <a:cs typeface="Georgia" pitchFamily="34" charset="-120"/>
              </a:rPr>
              <a:t> Antes, porém, que vos vás embora, assim como ouvistes os vossos louvores, ouvi também agora as vossas repreensões. Servir-vos-ão de confusão, já que não seja de emenda. A primeira coisa que me desedifica, peixes, de vós, é que vos comeis uns aos outros. Grande escândalo é este, mas a circunstância o faz ainda maior. Não só vos comeis uns aos outros, mas os grandes comem os pequenos. Se fosse ao contrário, era menos mal. Se os pequenos comessem os grandes, bastara um grande para muitos pequenos; mas como os grandes comem os pequenos, não bastam cem pequenos, nem mil, para um só grande.</a:t>
            </a:r>
            <a:endParaRPr lang="en-US" sz="22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Vieira, </a:t>
            </a:r>
            <a:pPr indent="0" marL="0">
              <a:buNone/>
            </a:pPr>
            <a:r>
              <a:rPr lang="en-US" sz="1100" i="1" dirty="0">
                <a:solidFill>
                  <a:srgbClr val="A9A79F"/>
                </a:solidFill>
                <a:latin typeface="Arial" pitchFamily="34" charset="0"/>
                <a:ea typeface="Arial" pitchFamily="34" charset="-122"/>
                <a:cs typeface="Arial" pitchFamily="34" charset="-120"/>
              </a:rPr>
              <a:t>Sermão de Santo António</a:t>
            </a:r>
            <a:pPr indent="0" marL="0">
              <a:buNone/>
            </a:pPr>
            <a:r>
              <a:rPr lang="en-US" sz="1100" dirty="0">
                <a:solidFill>
                  <a:srgbClr val="A9A79F"/>
                </a:solidFill>
                <a:latin typeface="Arial" pitchFamily="34" charset="0"/>
                <a:ea typeface="Arial" pitchFamily="34" charset="-122"/>
                <a:cs typeface="Arial" pitchFamily="34" charset="-120"/>
              </a:rPr>
              <a:t> (1654), cap. IV, ortografia atualizada.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«Não só vos comeis uns aos outros, mas os grandes comem os pequenos.»</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«Se fosse ao contrário, era menos mal.» Porquê, na conta de Vieira?</a:t>
            </a:r>
            <a:endParaRPr lang="en-US" sz="32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581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Um grande fartava muitos; a um grande nem mil bastam</a:t>
            </a:r>
            <a:endParaRPr lang="en-US" sz="2400" dirty="0"/>
          </a:p>
        </p:txBody>
      </p:sp>
      <p:sp>
        <p:nvSpPr>
          <p:cNvPr id="14" name="Shape 12"/>
          <p:cNvSpPr/>
          <p:nvPr/>
        </p:nvSpPr>
        <p:spPr>
          <a:xfrm>
            <a:off x="822960" y="38922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38922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3901440"/>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Seria um castigo justo para os grandes, que o merecem</a:t>
            </a:r>
            <a:endParaRPr lang="en-US" sz="2400" dirty="0"/>
          </a:p>
        </p:txBody>
      </p:sp>
      <p:sp>
        <p:nvSpPr>
          <p:cNvPr id="17" name="Shape 15"/>
          <p:cNvSpPr/>
          <p:nvPr/>
        </p:nvSpPr>
        <p:spPr>
          <a:xfrm>
            <a:off x="822960" y="4873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873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488289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Os pequenos são mais fracos e não se sabem defender</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Um grande fartava muitos; a um grande nem mil bastam</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Ao contrário, morria um grande e fartavam-se muitos pequenos. Assim, para fartar um só grande, «não bastam cem pequenos, nem mil»: a fome de quem é grande não tem fim. Grandes contra pequenos é uma antítese: os opostos lado a lado.</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Os colonos chamavam canibais aos Tapuias, povos indígenas do interior. Procura para onde Vieira manda olhar.</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PARA A CIDADE (2 DE 3)</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200" dirty="0">
                <a:solidFill>
                  <a:srgbClr val="F2F0EA"/>
                </a:solidFill>
                <a:latin typeface="Georgia" pitchFamily="34" charset="0"/>
                <a:ea typeface="Georgia" pitchFamily="34" charset="-122"/>
                <a:cs typeface="Georgia" pitchFamily="34" charset="-120"/>
              </a:rPr>
              <a:t>[…] Santo Agostinho, que pregava aos homens, para encarecer a fealdade deste escândalo, mostrou-lho nos peixes; e eu, que prego aos peixes, para que vejais quão feio e abominável é, quero que o vejais nos homens.</a:t>
            </a:r>
            <a:endParaRPr lang="en-US" sz="2200" dirty="0"/>
          </a:p>
          <a:p>
            <a:pPr indent="0" marL="0">
              <a:lnSpc>
                <a:spcPct val="125000"/>
              </a:lnSpc>
              <a:spcAft>
                <a:spcPts val="800"/>
              </a:spcAft>
              <a:buNone/>
            </a:pPr>
            <a:r>
              <a:rPr lang="en-US" sz="2200" b="1" dirty="0">
                <a:solidFill>
                  <a:srgbClr val="F2F0EA"/>
                </a:solidFill>
                <a:latin typeface="Georgia" pitchFamily="34" charset="0"/>
                <a:ea typeface="Georgia" pitchFamily="34" charset="-122"/>
                <a:cs typeface="Georgia" pitchFamily="34" charset="-120"/>
              </a:rPr>
              <a:t>[2]</a:t>
            </a:r>
            <a:pPr indent="0" marL="0">
              <a:lnSpc>
                <a:spcPct val="125000"/>
              </a:lnSpc>
              <a:spcAft>
                <a:spcPts val="800"/>
              </a:spcAft>
              <a:buNone/>
            </a:pPr>
            <a:r>
              <a:rPr lang="en-US" sz="2200" dirty="0">
                <a:solidFill>
                  <a:srgbClr val="F2F0EA"/>
                </a:solidFill>
                <a:latin typeface="Georgia" pitchFamily="34" charset="0"/>
                <a:ea typeface="Georgia" pitchFamily="34" charset="-122"/>
                <a:cs typeface="Georgia" pitchFamily="34" charset="-120"/>
              </a:rPr>
              <a:t> Olhai, peixes, lá do mar para a terra. Não, não: não é isso o que vos digo. Vós virais os olhos para os matos e para os campos? Para cá, para cá; para a cidade é que haveis de olhar. Pensais que só os Tapuias se comem uns aos outros? Muito maior matadouro é o de cá, muito mais se comem os brancos.</a:t>
            </a:r>
            <a:endParaRPr lang="en-US" sz="22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Vieira, </a:t>
            </a:r>
            <a:pPr indent="0" marL="0">
              <a:buNone/>
            </a:pPr>
            <a:r>
              <a:rPr lang="en-US" sz="1100" i="1" dirty="0">
                <a:solidFill>
                  <a:srgbClr val="A9A79F"/>
                </a:solidFill>
                <a:latin typeface="Arial" pitchFamily="34" charset="0"/>
                <a:ea typeface="Arial" pitchFamily="34" charset="-122"/>
                <a:cs typeface="Arial" pitchFamily="34" charset="-120"/>
              </a:rPr>
              <a:t>Sermão de Santo António</a:t>
            </a:r>
            <a:pPr indent="0" marL="0">
              <a:buNone/>
            </a:pPr>
            <a:r>
              <a:rPr lang="en-US" sz="1100" dirty="0">
                <a:solidFill>
                  <a:srgbClr val="A9A79F"/>
                </a:solidFill>
                <a:latin typeface="Arial" pitchFamily="34" charset="0"/>
                <a:ea typeface="Arial" pitchFamily="34" charset="-122"/>
                <a:cs typeface="Arial" pitchFamily="34" charset="-120"/>
              </a:rPr>
              <a:t> (1654), cap. IV, ortografia atualizada.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«para a cidade é que haveis de olhar.»</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Agostinho mostrava o escândalo nos peixes. Porque manda Vieira os peixes olhar para a cidade?</a:t>
            </a:r>
            <a:endParaRPr lang="en-US" sz="28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200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Para verem os Tapuias, que se comem uns aos outros</a:t>
            </a:r>
            <a:endParaRPr lang="en-US" sz="2400" dirty="0"/>
          </a:p>
        </p:txBody>
      </p:sp>
      <p:sp>
        <p:nvSpPr>
          <p:cNvPr id="14" name="Shape 12"/>
          <p:cNvSpPr/>
          <p:nvPr/>
        </p:nvSpPr>
        <p:spPr>
          <a:xfrm>
            <a:off x="822960" y="38922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38922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390144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Porque os peixes do Maranhão vivem junto à cidade</a:t>
            </a:r>
            <a:endParaRPr lang="en-US" sz="2400" dirty="0"/>
          </a:p>
        </p:txBody>
      </p:sp>
      <p:sp>
        <p:nvSpPr>
          <p:cNvPr id="17" name="Shape 15"/>
          <p:cNvSpPr/>
          <p:nvPr/>
        </p:nvSpPr>
        <p:spPr>
          <a:xfrm>
            <a:off x="822960" y="4492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492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450189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Para verem nos homens o vício que lhes repreende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Para verem nos homens o vício que lhes repreende</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«Quero que o vejais nos homens»: Agostinho mostrava aos homens o escândalo nos peixes, e Vieira faz o contrário. Na cidade, «muito mais se comem os brancos»: é a alegoria virada para quem ouve.</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1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CASO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a:t>
            </a:r>
            <a:pPr indent="0" marL="0">
              <a:lnSpc>
                <a:spcPct val="125000"/>
              </a:lnSpc>
              <a:buNone/>
            </a:pPr>
            <a:r>
              <a:rPr lang="en-US" sz="2800" b="1" dirty="0">
                <a:solidFill>
                  <a:srgbClr val="F2F0EA"/>
                </a:solidFill>
                <a:latin typeface="Georgia" pitchFamily="34" charset="0"/>
                <a:ea typeface="Georgia" pitchFamily="34" charset="-122"/>
                <a:cs typeface="Georgia" pitchFamily="34" charset="-120"/>
              </a:rPr>
              <a:t>Olhai, peixes</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lá do mar para a terra. </a:t>
            </a:r>
            <a:pPr indent="0" marL="0">
              <a:lnSpc>
                <a:spcPct val="125000"/>
              </a:lnSpc>
              <a:buNone/>
            </a:pPr>
            <a:r>
              <a:rPr lang="en-US" sz="2800" b="1" dirty="0">
                <a:solidFill>
                  <a:srgbClr val="F2F0EA"/>
                </a:solidFill>
                <a:latin typeface="Georgia" pitchFamily="34" charset="0"/>
                <a:ea typeface="Georgia" pitchFamily="34" charset="-122"/>
                <a:cs typeface="Georgia" pitchFamily="34" charset="-120"/>
              </a:rPr>
              <a:t>Não, não: não é isso o que vos digo.</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Vós virais os olhos para os matos e para os campos?»Vieira, </a:t>
            </a:r>
            <a:pPr indent="0" marL="0">
              <a:lnSpc>
                <a:spcPct val="125000"/>
              </a:lnSpc>
              <a:buNone/>
            </a:pPr>
            <a:r>
              <a:rPr lang="en-US" sz="2800" i="1" dirty="0">
                <a:solidFill>
                  <a:srgbClr val="F2F0EA"/>
                </a:solidFill>
                <a:latin typeface="Georgia" pitchFamily="34" charset="0"/>
                <a:ea typeface="Georgia" pitchFamily="34" charset="-122"/>
                <a:cs typeface="Georgia" pitchFamily="34" charset="-120"/>
              </a:rPr>
              <a:t>Sermão de Santo António</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cap. IV</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2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DECIDE</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Quem tem de olhar: os peixes ou os homens que ouvem o sermão?</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A. Os peixes</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B. Os homens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3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OLHA</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«Olhai, peixes»: Vieira chama os peixes pelo nome e dá-lhes uma ordem, como a quem está à frente.</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15</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4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TRAÇO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E corrige-os, como se os visse: «Não, não». Os peixes não respondem; quem ouve são os homens: o olhar vai para a cidade e a crítica passa a eles.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16</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5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NOME</a:t>
            </a:r>
            <a:endParaRPr lang="en-US" sz="1400" dirty="0"/>
          </a:p>
        </p:txBody>
      </p:sp>
      <p:sp>
        <p:nvSpPr>
          <p:cNvPr id="8" name="Text 6"/>
          <p:cNvSpPr/>
          <p:nvPr/>
        </p:nvSpPr>
        <p:spPr>
          <a:xfrm>
            <a:off x="822960" y="1463040"/>
            <a:ext cx="9814255" cy="1463040"/>
          </a:xfrm>
          <a:prstGeom prst="rect">
            <a:avLst/>
          </a:prstGeom>
          <a:noFill/>
          <a:ln/>
        </p:spPr>
        <p:txBody>
          <a:bodyPr wrap="square" lIns="0" tIns="0" rIns="0" bIns="0" rtlCol="0" anchor="b">
            <a:normAutofit/>
          </a:bodyPr>
          <a:lstStyle/>
          <a:p>
            <a:pPr indent="0" marL="0">
              <a:buNone/>
            </a:pPr>
            <a:r>
              <a:rPr lang="en-US" sz="7200" b="1" dirty="0">
                <a:solidFill>
                  <a:srgbClr val="F2F0EA"/>
                </a:solidFill>
                <a:latin typeface="Arial" pitchFamily="34" charset="0"/>
                <a:ea typeface="Arial" pitchFamily="34" charset="-122"/>
                <a:cs typeface="Arial" pitchFamily="34" charset="-120"/>
              </a:rPr>
              <a:t>APÓSTROFE</a:t>
            </a:r>
            <a:endParaRPr lang="en-US" sz="7200" dirty="0"/>
          </a:p>
        </p:txBody>
      </p:sp>
      <p:sp>
        <p:nvSpPr>
          <p:cNvPr id="9" name="Shape 7"/>
          <p:cNvSpPr/>
          <p:nvPr/>
        </p:nvSpPr>
        <p:spPr>
          <a:xfrm>
            <a:off x="822960" y="3017520"/>
            <a:ext cx="2011680" cy="82296"/>
          </a:xfrm>
          <a:prstGeom prst="rect">
            <a:avLst/>
          </a:prstGeom>
          <a:solidFill>
            <a:srgbClr val="D9A520"/>
          </a:solidFill>
          <a:ln w="12700">
            <a:solidFill>
              <a:srgbClr val="D9A520"/>
            </a:solidFill>
            <a:prstDash val="solid"/>
          </a:ln>
        </p:spPr>
      </p:sp>
      <p:sp>
        <p:nvSpPr>
          <p:cNvPr id="10" name="Text 8"/>
          <p:cNvSpPr/>
          <p:nvPr/>
        </p:nvSpPr>
        <p:spPr>
          <a:xfrm>
            <a:off x="822960" y="3337560"/>
            <a:ext cx="9814255" cy="2377440"/>
          </a:xfrm>
          <a:prstGeom prst="rect">
            <a:avLst/>
          </a:prstGeom>
          <a:noFill/>
          <a:ln/>
        </p:spPr>
        <p:txBody>
          <a:bodyPr wrap="square" lIns="0" tIns="0" rIns="0" bIns="0" rtlCol="0" anchor="t">
            <a:normAutofit/>
          </a:bodyPr>
          <a:lstStyle/>
          <a:p>
            <a:pPr indent="0" marL="0">
              <a:lnSpc>
                <a:spcPct val="120000"/>
              </a:lnSpc>
              <a:buNone/>
            </a:pPr>
            <a:r>
              <a:rPr lang="en-US" sz="2800" dirty="0">
                <a:solidFill>
                  <a:srgbClr val="F2F0EA"/>
                </a:solidFill>
                <a:latin typeface="Georgia" pitchFamily="34" charset="0"/>
                <a:ea typeface="Georgia" pitchFamily="34" charset="-122"/>
                <a:cs typeface="Georgia" pitchFamily="34" charset="-120"/>
              </a:rPr>
              <a:t>Dirigir a palavra diretamente a alguém ou a alguma coisa, chamando-o, mesmo que não possa responder.</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17</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6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QUE NÃO É</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Não é falar sobre. «Os peixes olham para os matos» fala deles; «Olhai, peixes» fala-lhes.</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A QUEM FALA VIEIRA?, 7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PARA LEVAR</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Se o texto chama alguém e lhe fala, há apóstrofe.</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Caso imaginário: no discurso de finalistas, queres falar à escola como Vieira aos peixes. Que frase dizes?</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 escola foi a nossa segunda casa.»</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 escola ensinou-nos mais do que imagina.»</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«Escola, ensinaste-nos mais do que imaginas.»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«Escola, ensinaste-nos mais do que imaginas.»</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500" dirty="0">
                <a:solidFill>
                  <a:srgbClr val="F2F0EA"/>
                </a:solidFill>
                <a:latin typeface="Georgia" pitchFamily="34" charset="0"/>
                <a:ea typeface="Georgia" pitchFamily="34" charset="-122"/>
                <a:cs typeface="Georgia" pitchFamily="34" charset="-120"/>
              </a:rPr>
              <a:t>«Escola, ensinaste-nos…» chama a escola e fala-lhe, como «Olhai, peixes»: é uma apóstrofe. As outras falam da escola, sem a chamar.</a:t>
            </a:r>
            <a:endParaRPr lang="en-US" sz="2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Se quem te ouve não vai mudar: dizes de frente, dizes de lado, ou calas-te?</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
        <p:nvSpPr>
          <p:cNvPr id="9" name="Text 7"/>
          <p:cNvSpPr/>
          <p:nvPr/>
        </p:nvSpPr>
        <p:spPr>
          <a:xfrm>
            <a:off x="822960" y="4800600"/>
            <a:ext cx="9814255" cy="1097280"/>
          </a:xfrm>
          <a:prstGeom prst="rect">
            <a:avLst/>
          </a:prstGeom>
          <a:noFill/>
          <a:ln/>
        </p:spPr>
        <p:txBody>
          <a:bodyPr wrap="square" lIns="0" tIns="0" rIns="0" bIns="0" rtlCol="0" anchor="t">
            <a:normAutofit/>
          </a:bodyPr>
          <a:lstStyle/>
          <a:p>
            <a:pPr indent="0" marL="0">
              <a:buNone/>
            </a:pPr>
            <a:r>
              <a:rPr lang="en-US" sz="1800" dirty="0">
                <a:solidFill>
                  <a:srgbClr val="A9A79F"/>
                </a:solidFill>
                <a:latin typeface="Arial" pitchFamily="34" charset="0"/>
                <a:ea typeface="Arial" pitchFamily="34" charset="-122"/>
                <a:cs typeface="Arial" pitchFamily="34" charset="-120"/>
              </a:rPr>
              <a:t>Vieira não conta que os ouvintes mudem: as repreensões «servir-vos-ão de confusão, já que não seja de emenda». Mesmo assim, repreende, e não acusa os homens de frente: fala aos peixes para que vejam o vício «nos homens».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OS LADOS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Vale a pena repreender?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quem diz de frente</a:t>
            </a:r>
            <a:endParaRPr lang="en-US" sz="2000" dirty="0"/>
          </a:p>
        </p:txBody>
      </p:sp>
      <p:sp>
        <p:nvSpPr>
          <p:cNvPr id="10" name="Text 8"/>
          <p:cNvSpPr/>
          <p:nvPr/>
        </p:nvSpPr>
        <p:spPr>
          <a:xfrm>
            <a:off x="822960"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Por imagens, deixa-se uma saída a quem ouve: cada um pode pensar que é do vizinho que se fala. Dito de frente, ninguém escapa. E o próprio Vieira, a falar aos peixes, acaba por dizer quem: «muito mais se comem os brancos».Citação de Vieira, no cap. IV.</a:t>
            </a:r>
            <a:endParaRPr lang="en-US" sz="1700" dirty="0"/>
          </a:p>
        </p:txBody>
      </p:sp>
      <p:sp>
        <p:nvSpPr>
          <p:cNvPr id="11" name="Text 9"/>
          <p:cNvSpPr/>
          <p:nvPr/>
        </p:nvSpPr>
        <p:spPr>
          <a:xfrm>
            <a:off x="4490618"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Vieira</a:t>
            </a:r>
            <a:endParaRPr lang="en-US" sz="2000" dirty="0"/>
          </a:p>
        </p:txBody>
      </p:sp>
      <p:sp>
        <p:nvSpPr>
          <p:cNvPr id="12" name="Text 10"/>
          <p:cNvSpPr/>
          <p:nvPr/>
        </p:nvSpPr>
        <p:spPr>
          <a:xfrm>
            <a:off x="4490618"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«Quero que o vejais nos homens.» Fala aos peixes e manda-os olhar «para a cidade»: quem ouve vê-se de fora, sem ser apontado pelo nome. E, se não emenda, ao menos envergonha: serve «de confusão».Vieira, no cap. IV.</a:t>
            </a:r>
            <a:endParaRPr lang="en-US" sz="1700" dirty="0"/>
          </a:p>
        </p:txBody>
      </p:sp>
      <p:sp>
        <p:nvSpPr>
          <p:cNvPr id="13" name="Text 11"/>
          <p:cNvSpPr/>
          <p:nvPr/>
        </p:nvSpPr>
        <p:spPr>
          <a:xfrm>
            <a:off x="8158277"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quem se cala</a:t>
            </a:r>
            <a:endParaRPr lang="en-US" sz="2000" dirty="0"/>
          </a:p>
        </p:txBody>
      </p:sp>
      <p:sp>
        <p:nvSpPr>
          <p:cNvPr id="14" name="Text 12"/>
          <p:cNvSpPr/>
          <p:nvPr/>
        </p:nvSpPr>
        <p:spPr>
          <a:xfrm>
            <a:off x="8158277"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Se nem o pregador conta com a emenda, repreender só faz inimigos. Em Arimino, o povo levantou-se contra Santo António, e «faltou pouco, para que lhe não tirassem a vida».Citação de Vieira, no cap. I, sobre Santo António em Arimino.</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Repara nos dois «comer» da mesma frase. Querem dizer a mesma coisa?</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TODA A TERRA (3 DE 3)</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200" dirty="0">
                <a:solidFill>
                  <a:srgbClr val="F2F0EA"/>
                </a:solidFill>
                <a:latin typeface="Georgia" pitchFamily="34" charset="0"/>
                <a:ea typeface="Georgia" pitchFamily="34" charset="-122"/>
                <a:cs typeface="Georgia" pitchFamily="34" charset="-120"/>
              </a:rPr>
              <a:t>Vedes vós todo aquele trabalhar, vedes todo aquele andar, vedes aquele concorrer às praças e cruzar as ruas; vedes aquele subir e descer as calçadas, vedes aquele entrar e sair sem quietação nem sossego? Pois tudo aquilo é andarem os homens à procura de como hão de comer, e como se hão de comer.</a:t>
            </a:r>
            <a:endParaRPr lang="en-US" sz="2200" dirty="0"/>
          </a:p>
          <a:p>
            <a:pPr indent="0" marL="0">
              <a:lnSpc>
                <a:spcPct val="125000"/>
              </a:lnSpc>
              <a:spcAft>
                <a:spcPts val="800"/>
              </a:spcAft>
              <a:buNone/>
            </a:pPr>
            <a:r>
              <a:rPr lang="en-US" sz="2200" dirty="0">
                <a:solidFill>
                  <a:srgbClr val="F2F0EA"/>
                </a:solidFill>
                <a:latin typeface="Georgia" pitchFamily="34" charset="0"/>
                <a:ea typeface="Georgia" pitchFamily="34" charset="-122"/>
                <a:cs typeface="Georgia" pitchFamily="34" charset="-120"/>
              </a:rPr>
              <a:t>Morreu algum deles, vereis logo tantos sobre o miserável a despedaçá-lo e a comê-lo. […] come-o a mesma mulher, que de má vontade lhe dá para mortalha o lençol mais velho da casa; […] enfim, ainda o pobre defunto não foi comido pela terra, e já o tem comido toda a terra.</a:t>
            </a:r>
            <a:endParaRPr lang="en-US" sz="22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Vieira, </a:t>
            </a:r>
            <a:pPr indent="0" marL="0">
              <a:buNone/>
            </a:pPr>
            <a:r>
              <a:rPr lang="en-US" sz="1100" i="1" dirty="0">
                <a:solidFill>
                  <a:srgbClr val="A9A79F"/>
                </a:solidFill>
                <a:latin typeface="Arial" pitchFamily="34" charset="0"/>
                <a:ea typeface="Arial" pitchFamily="34" charset="-122"/>
                <a:cs typeface="Arial" pitchFamily="34" charset="-120"/>
              </a:rPr>
              <a:t>Sermão de Santo António</a:t>
            </a:r>
            <a:pPr indent="0" marL="0">
              <a:buNone/>
            </a:pPr>
            <a:r>
              <a:rPr lang="en-US" sz="1100" dirty="0">
                <a:solidFill>
                  <a:srgbClr val="A9A79F"/>
                </a:solidFill>
                <a:latin typeface="Arial" pitchFamily="34" charset="0"/>
                <a:ea typeface="Arial" pitchFamily="34" charset="-122"/>
                <a:cs typeface="Arial" pitchFamily="34" charset="-120"/>
              </a:rPr>
              <a:t> (1654), cap. IV, ortografia atualizada.</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«como hão de comer, e como se hão de comer.»</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O que muda do primeiro «comer» para o segundo?</a:t>
            </a:r>
            <a:endParaRPr lang="en-US" sz="32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200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Alimentar-se, e depois viver à custa uns dos outros</a:t>
            </a:r>
            <a:endParaRPr lang="en-US" sz="2400" dirty="0"/>
          </a:p>
        </p:txBody>
      </p:sp>
      <p:sp>
        <p:nvSpPr>
          <p:cNvPr id="14" name="Shape 12"/>
          <p:cNvSpPr/>
          <p:nvPr/>
        </p:nvSpPr>
        <p:spPr>
          <a:xfrm>
            <a:off x="822960" y="38922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38922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390144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Nada: Vieira repete a palavra para lhe dar força</a:t>
            </a:r>
            <a:endParaRPr lang="en-US" sz="2400" dirty="0"/>
          </a:p>
        </p:txBody>
      </p:sp>
      <p:sp>
        <p:nvSpPr>
          <p:cNvPr id="17" name="Shape 15"/>
          <p:cNvSpPr/>
          <p:nvPr/>
        </p:nvSpPr>
        <p:spPr>
          <a:xfrm>
            <a:off x="822960" y="4492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492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450189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Comer peixe, e depois comer carne humana</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Alimentar-se, e depois viver à custa uns dos outros</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500" dirty="0">
                <a:solidFill>
                  <a:srgbClr val="F2F0EA"/>
                </a:solidFill>
                <a:latin typeface="Georgia" pitchFamily="34" charset="0"/>
                <a:ea typeface="Georgia" pitchFamily="34" charset="-122"/>
                <a:cs typeface="Georgia" pitchFamily="34" charset="-120"/>
              </a:rPr>
              <a:t>Primeiro, comer é alimentar-se, ganhar a vida; com o «se», é comerem-se uns aos outros, viver à custa dos outros. Até a mulher «come» o morto, com o lençol mais velho da casa.</a:t>
            </a:r>
            <a:endParaRPr lang="en-US" sz="2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1 DE 2</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«Grande escândalo é este, mas a circunstância o faz ainda maior»: que circunstância é essa, e porque agrava o escândalo?</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2 DE 2</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«Pensais que só os Tapuias se comem uns aos outros?»: porque fala Vieira dos Tapuias, se quem quer acusar são os brancos?</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EM PAPEL, O QUE SE ENTREGA</a:t>
            </a:r>
            <a:endParaRPr lang="en-US" sz="1100" dirty="0"/>
          </a:p>
        </p:txBody>
      </p:sp>
      <p:sp>
        <p:nvSpPr>
          <p:cNvPr id="7" name="Text 5"/>
          <p:cNvSpPr/>
          <p:nvPr/>
        </p:nvSpPr>
        <p:spPr>
          <a:xfrm>
            <a:off x="822960" y="1005840"/>
            <a:ext cx="9814255" cy="1554480"/>
          </a:xfrm>
          <a:prstGeom prst="rect">
            <a:avLst/>
          </a:prstGeom>
          <a:noFill/>
          <a:ln/>
        </p:spPr>
        <p:txBody>
          <a:bodyPr wrap="square" lIns="0" tIns="0" rIns="0" bIns="0" rtlCol="0" anchor="b">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Para onde manda Vieira os peixes olhar, e o que veem lá? Responde em quatro a seis linhas, com uma citação do texto entre aspas e um recurso expressivo.</a:t>
            </a:r>
            <a:endParaRPr lang="en-US" sz="2800" dirty="0"/>
          </a:p>
        </p:txBody>
      </p:sp>
      <p:sp>
        <p:nvSpPr>
          <p:cNvPr id="8" name="Shape 6"/>
          <p:cNvSpPr/>
          <p:nvPr/>
        </p:nvSpPr>
        <p:spPr>
          <a:xfrm>
            <a:off x="822960" y="2697480"/>
            <a:ext cx="640080" cy="64008"/>
          </a:xfrm>
          <a:prstGeom prst="rect">
            <a:avLst/>
          </a:prstGeom>
          <a:solidFill>
            <a:srgbClr val="E4555C"/>
          </a:solidFill>
          <a:ln w="12700">
            <a:solidFill>
              <a:srgbClr val="E4555C"/>
            </a:solidFill>
            <a:prstDash val="solid"/>
          </a:ln>
        </p:spPr>
      </p:sp>
      <p:sp>
        <p:nvSpPr>
          <p:cNvPr id="9" name="Text 7"/>
          <p:cNvSpPr/>
          <p:nvPr/>
        </p:nvSpPr>
        <p:spPr>
          <a:xfrm>
            <a:off x="822960" y="2971800"/>
            <a:ext cx="9814255" cy="320040"/>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QUE CONTA</a:t>
            </a:r>
            <a:endParaRPr lang="en-US" sz="1100" dirty="0"/>
          </a:p>
        </p:txBody>
      </p:sp>
      <p:sp>
        <p:nvSpPr>
          <p:cNvPr id="10" name="Shape 8"/>
          <p:cNvSpPr/>
          <p:nvPr/>
        </p:nvSpPr>
        <p:spPr>
          <a:xfrm>
            <a:off x="1005840" y="3611880"/>
            <a:ext cx="0" cy="1928368"/>
          </a:xfrm>
          <a:prstGeom prst="line">
            <a:avLst/>
          </a:prstGeom>
          <a:noFill/>
          <a:ln w="12700">
            <a:solidFill>
              <a:srgbClr val="A9A79F"/>
            </a:solidFill>
            <a:prstDash val="solid"/>
          </a:ln>
        </p:spPr>
      </p:sp>
      <p:sp>
        <p:nvSpPr>
          <p:cNvPr id="11" name="Shape 9"/>
          <p:cNvSpPr/>
          <p:nvPr/>
        </p:nvSpPr>
        <p:spPr>
          <a:xfrm>
            <a:off x="822960" y="342900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4290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1"/>
          <p:cNvSpPr/>
          <p:nvPr/>
        </p:nvSpPr>
        <p:spPr>
          <a:xfrm>
            <a:off x="1417320" y="3438144"/>
            <a:ext cx="9174175" cy="473456"/>
          </a:xfrm>
          <a:prstGeom prst="rect">
            <a:avLst/>
          </a:prstGeom>
          <a:noFill/>
          <a:ln/>
        </p:spPr>
        <p:txBody>
          <a:bodyPr wrap="square" lIns="0" tIns="0" rIns="0" bIns="0" rtlCol="0" anchor="t">
            <a:normAutofit/>
          </a:bodyPr>
          <a:lstStyle/>
          <a:p>
            <a:pPr indent="0" marL="0">
              <a:lnSpc>
                <a:spcPct val="105000"/>
              </a:lnSpc>
              <a:buNone/>
            </a:pPr>
            <a:r>
              <a:rPr lang="en-US" sz="1600" dirty="0">
                <a:solidFill>
                  <a:srgbClr val="F2F0EA"/>
                </a:solidFill>
                <a:latin typeface="Arial" pitchFamily="34" charset="0"/>
                <a:ea typeface="Arial" pitchFamily="34" charset="-122"/>
                <a:cs typeface="Arial" pitchFamily="34" charset="-120"/>
              </a:rPr>
              <a:t>Diz que Vieira manda olhar para a cidade, e não para os matos e os campos.</a:t>
            </a:r>
            <a:endParaRPr lang="en-US" sz="1600" dirty="0"/>
          </a:p>
        </p:txBody>
      </p:sp>
      <p:sp>
        <p:nvSpPr>
          <p:cNvPr id="14" name="Shape 12"/>
          <p:cNvSpPr/>
          <p:nvPr/>
        </p:nvSpPr>
        <p:spPr>
          <a:xfrm>
            <a:off x="822960" y="390245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39024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1417320" y="3911600"/>
            <a:ext cx="9174175" cy="727456"/>
          </a:xfrm>
          <a:prstGeom prst="rect">
            <a:avLst/>
          </a:prstGeom>
          <a:noFill/>
          <a:ln/>
        </p:spPr>
        <p:txBody>
          <a:bodyPr wrap="square" lIns="0" tIns="0" rIns="0" bIns="0" rtlCol="0" anchor="t">
            <a:normAutofit/>
          </a:bodyPr>
          <a:lstStyle/>
          <a:p>
            <a:pPr indent="0" marL="0">
              <a:lnSpc>
                <a:spcPct val="105000"/>
              </a:lnSpc>
              <a:buNone/>
            </a:pPr>
            <a:r>
              <a:rPr lang="en-US" sz="1600" dirty="0">
                <a:solidFill>
                  <a:srgbClr val="F2F0EA"/>
                </a:solidFill>
                <a:latin typeface="Arial" pitchFamily="34" charset="0"/>
                <a:ea typeface="Arial" pitchFamily="34" charset="-122"/>
                <a:cs typeface="Arial" pitchFamily="34" charset="-120"/>
              </a:rPr>
              <a:t>Explica que na cidade os homens se comem uns aos outros, isto é, vivem à custa dos outros: os brancos, muito mais do que os Tapuias.</a:t>
            </a:r>
            <a:endParaRPr lang="en-US" sz="1600" dirty="0"/>
          </a:p>
        </p:txBody>
      </p:sp>
      <p:sp>
        <p:nvSpPr>
          <p:cNvPr id="17" name="Shape 15"/>
          <p:cNvSpPr/>
          <p:nvPr/>
        </p:nvSpPr>
        <p:spPr>
          <a:xfrm>
            <a:off x="822960" y="462991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6299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1417320" y="4639056"/>
            <a:ext cx="9174175" cy="727456"/>
          </a:xfrm>
          <a:prstGeom prst="rect">
            <a:avLst/>
          </a:prstGeom>
          <a:noFill/>
          <a:ln/>
        </p:spPr>
        <p:txBody>
          <a:bodyPr wrap="square" lIns="0" tIns="0" rIns="0" bIns="0" rtlCol="0" anchor="t">
            <a:normAutofit/>
          </a:bodyPr>
          <a:lstStyle/>
          <a:p>
            <a:pPr indent="0" marL="0">
              <a:lnSpc>
                <a:spcPct val="105000"/>
              </a:lnSpc>
              <a:buNone/>
            </a:pPr>
            <a:r>
              <a:rPr lang="en-US" sz="1600" dirty="0">
                <a:solidFill>
                  <a:srgbClr val="F2F0EA"/>
                </a:solidFill>
                <a:latin typeface="Arial" pitchFamily="34" charset="0"/>
                <a:ea typeface="Arial" pitchFamily="34" charset="-122"/>
                <a:cs typeface="Arial" pitchFamily="34" charset="-120"/>
              </a:rPr>
              <a:t>Nomeia um recurso do texto com o nome certo (a apóstrofe, por exemplo) e diz o que ele faz.</a:t>
            </a:r>
            <a:endParaRPr lang="en-US" sz="1600" dirty="0"/>
          </a:p>
        </p:txBody>
      </p:sp>
      <p:sp>
        <p:nvSpPr>
          <p:cNvPr id="20" name="Shape 18"/>
          <p:cNvSpPr/>
          <p:nvPr/>
        </p:nvSpPr>
        <p:spPr>
          <a:xfrm>
            <a:off x="822960" y="5357368"/>
            <a:ext cx="365760" cy="365760"/>
          </a:xfrm>
          <a:prstGeom prst="ellipse">
            <a:avLst/>
          </a:prstGeom>
          <a:solidFill>
            <a:srgbClr val="111111"/>
          </a:solidFill>
          <a:ln w="15875">
            <a:solidFill>
              <a:srgbClr val="F2F0EA"/>
            </a:solidFill>
            <a:prstDash val="solid"/>
          </a:ln>
        </p:spPr>
      </p:sp>
      <p:sp>
        <p:nvSpPr>
          <p:cNvPr id="21" name="Text 19"/>
          <p:cNvSpPr/>
          <p:nvPr/>
        </p:nvSpPr>
        <p:spPr>
          <a:xfrm>
            <a:off x="822960" y="53573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417320" y="5366512"/>
            <a:ext cx="9174175" cy="473456"/>
          </a:xfrm>
          <a:prstGeom prst="rect">
            <a:avLst/>
          </a:prstGeom>
          <a:noFill/>
          <a:ln/>
        </p:spPr>
        <p:txBody>
          <a:bodyPr wrap="square" lIns="0" tIns="0" rIns="0" bIns="0" rtlCol="0" anchor="t">
            <a:normAutofit/>
          </a:bodyPr>
          <a:lstStyle/>
          <a:p>
            <a:pPr indent="0" marL="0">
              <a:lnSpc>
                <a:spcPct val="105000"/>
              </a:lnSpc>
              <a:buNone/>
            </a:pPr>
            <a:r>
              <a:rPr lang="en-US" sz="1600" dirty="0">
                <a:solidFill>
                  <a:srgbClr val="F2F0EA"/>
                </a:solidFill>
                <a:latin typeface="Arial" pitchFamily="34" charset="0"/>
                <a:ea typeface="Arial" pitchFamily="34" charset="-122"/>
                <a:cs typeface="Arial" pitchFamily="34" charset="-120"/>
              </a:rPr>
              <a:t>Cita o texto corretamente, entre aspas.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30</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LEVAR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No mar, os grandes comem os pequenos; na cidade, os homens comem-se uns aos outros.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3: Os grandes comem os pequenos</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7" name="Text 5"/>
          <p:cNvSpPr/>
          <p:nvPr/>
        </p:nvSpPr>
        <p:spPr>
          <a:xfrm>
            <a:off x="822960" y="868680"/>
            <a:ext cx="6705295" cy="822960"/>
          </a:xfrm>
          <a:prstGeom prst="rect">
            <a:avLst/>
          </a:prstGeom>
          <a:noFill/>
          <a:ln/>
        </p:spPr>
        <p:txBody>
          <a:bodyPr wrap="square" lIns="0" tIns="0" rIns="0" bIns="0" rtlCol="0" anchor="b"/>
          <a:lstStyle/>
          <a:p>
            <a:pPr indent="0" marL="0">
              <a:buNone/>
            </a:pPr>
            <a:r>
              <a:rPr lang="en-US" sz="3600" dirty="0">
                <a:solidFill>
                  <a:srgbClr val="F2F0EA"/>
                </a:solidFill>
                <a:latin typeface="Arial" pitchFamily="34" charset="0"/>
                <a:ea typeface="Arial" pitchFamily="34" charset="-122"/>
                <a:cs typeface="Arial" pitchFamily="34" charset="-120"/>
              </a:rPr>
              <a:t>Para ir mais longe</a:t>
            </a:r>
            <a:endParaRPr lang="en-US" sz="36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6522415" cy="329184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F2F0EA"/>
                </a:solidFill>
                <a:latin typeface="Georgia" pitchFamily="34" charset="0"/>
                <a:ea typeface="Georgia" pitchFamily="34" charset="-122"/>
                <a:cs typeface="Georgia" pitchFamily="34" charset="-120"/>
              </a:rPr>
              <a:t>Para ir mais longe (opcional, em casa): 4 cartões de pergunta e 1 de leitura. A apóstrofe em «Dizei-me, voadores» (cap. V, que se lê na aula 4), ao lado de uma pergunta de Vieira que não chama ninguém; a mulher na lista dos que comem o morto; e o trocadilho, num cartão de conceito, com as duas terras do fecho e uma legenda para uma pintura de Boccioni, de 1910. Antes de cada grupo de perguntas volta a parte do texto a que pertencem. No fim, o cartão extra «Os grandes comem os pequenos».</a:t>
            </a:r>
            <a:endParaRPr lang="en-US" sz="2400" dirty="0"/>
          </a:p>
        </p:txBody>
      </p:sp>
      <p:sp>
        <p:nvSpPr>
          <p:cNvPr id="10" name="Shape 8"/>
          <p:cNvSpPr/>
          <p:nvPr/>
        </p:nvSpPr>
        <p:spPr>
          <a:xfrm>
            <a:off x="8515807" y="1078992"/>
            <a:ext cx="2962656" cy="2962656"/>
          </a:xfrm>
          <a:prstGeom prst="rect">
            <a:avLst/>
          </a:prstGeom>
          <a:solidFill>
            <a:srgbClr val="FFFFFF"/>
          </a:solidFill>
          <a:ln w="12700">
            <a:solidFill>
              <a:srgbClr val="F2F0EA"/>
            </a:solidFill>
            <a:prstDash val="solid"/>
          </a:ln>
        </p:spPr>
      </p:sp>
      <p:pic>
        <p:nvPicPr>
          <p:cNvPr id="11" name="Image 0" descr="/tmp/aulas-diap-jdU3MK/qr-3.png">    </p:cNvPr>
          <p:cNvPicPr>
            <a:picLocks noChangeAspect="1"/>
          </p:cNvPicPr>
          <p:nvPr/>
        </p:nvPicPr>
        <p:blipFill>
          <a:blip r:embed="rId1"/>
          <a:stretch>
            <a:fillRect/>
          </a:stretch>
        </p:blipFill>
        <p:spPr>
          <a:xfrm>
            <a:off x="8625535" y="1188720"/>
            <a:ext cx="274320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4, aula 3: Os grandes comem os pequenos</dc:title>
  <dc:subject>PptxGenJS Presentation</dc:subject>
  <dc:creator>EPI, Português</dc:creator>
  <cp:lastModifiedBy>EPI, Português</cp:lastModifiedBy>
  <cp:revision>1</cp:revision>
  <dcterms:created xsi:type="dcterms:W3CDTF">2026-10-24T00:57:44Z</dcterms:created>
  <dcterms:modified xsi:type="dcterms:W3CDTF">2026-10-24T00:57:44Z</dcterms:modified>
</cp:coreProperties>
</file>