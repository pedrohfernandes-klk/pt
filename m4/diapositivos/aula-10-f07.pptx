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10: Ilumino a minha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4, UNIDADE 2: O ROMEIRO DIZ «NINGUÉM»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6858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Ilumino a minha casa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Ler as didascálias com as falas para perceber a ironia de Manuel quando diz «Ilumino a minha casa», e o presságio do retrato que arde.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5" name="Image 0" descr="/tmp/aulas-diap-jdU3MK/qr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442655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pedrohfernandes-klk.github.io/pt/m4/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licao-m4-f07/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10: Ilumino a minha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90 MINUTOS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Ilumino a minha casa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09397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 as didascálias com as falas para perceber a ironia de Manuel quando diz «Ilumino a minha casa», e o presságio do retrato que arde.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41985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minutos: 12 cartões, uma leitura a três vozes, uma decisão em turma e uma resposta escrita.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474573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cinco a sete linhas: porque é irónico «Ilumino a minha casa», e que lição quer Manuel dar com o fogo? Com uma fala de Manuel e uma didascália, citadas entre aspas.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10: Ilumino a minha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</a:t>
            </a:r>
            <a:endParaRPr lang="en-US" sz="1100" dirty="0"/>
          </a:p>
        </p:txBody>
      </p:sp>
      <p:pic>
        <p:nvPicPr>
          <p:cNvPr id="7" name="Image 0" descr="Retrato redondo de um homem de meia-idade, de cabelo escuro e pera, casaco preto e laço escuro ao pescoço; assinado «Malhoa 1881»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4206240" cy="41142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5101781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José Malhoa, </a:t>
            </a:r>
            <a:pPr indent="0" marL="0">
              <a:buNone/>
            </a:pPr>
            <a:r>
              <a:rPr lang="en-US" sz="10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Almeida Garrett</a:t>
            </a:r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1881, pintado depois da morte do escritor. Domínio público.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0" y="914400"/>
            <a:ext cx="5516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Ilumino a minha casa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822960" y="1901952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2148840"/>
            <a:ext cx="55165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Garrett, aqui pintado por Malhoa, estreia em 1843 um drama passado no fim do século XVI, quando o rei de Castela é também rei de Portugal. Os governadores desse rei querem a casa de Manuel de Sousa, e Manuel deita-lhe fogo: «Ilumino a minha casa».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486400" y="4389120"/>
            <a:ext cx="55165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Porque diz Manuel que ilumina a casa, se a está a queimar?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10: Ilumino a minha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Manuel fala antes de agir. Procura o que, para ele, um homem de honra pode sempre fazer, e com que condição.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10: Ilumino a minha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TEXTO: ATO I, CENA XI: ANTES DAS TOCHAS (1 DE 2)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MANUEL: Meu pai morreu desastrosamente caindo sobre a sua própria espada; quem sabe se eu morrerei nas chamas ateadas por minhas mãos? Seja. Mas fique-se aprendendo em Portugal como um homem de honra e coração, por mais poderosa que seja a tirania, sempre lhe pode resistir, em perdendo o amor a coisas tão vis e precárias como são esses haveres que duas faíscas destroem num momento… como é esta vida miserável que um sopro pode apagar em menos tempo ainda!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Almeida Garrett, </a:t>
            </a:r>
            <a:pPr indent="0" marL="0">
              <a:buNone/>
            </a:pPr>
            <a:r>
              <a:rPr lang="en-US" sz="11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 Luís de Sousa</a:t>
            </a:r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(1844), ato I, cena XI, ortografia atualizada.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10: Ilumino a minha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«em perdendo o amor a coisas tão vis e precárias»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Porque chama Manuel «vis e precárias» às coisas que vai queimar?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 convencer-se a si próprio de que não tem medo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Manuel, nada vale a pena, nem a honra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492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2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01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não se prende aos bens pode resistir à tirania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10: Ilumino a minha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não se prende aos bens pode resistir à tirania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«Por mais poderosa que seja a tirania, sempre lhe pode resistir, em perdendo o amor» aos haveres: quem não se prende às coisas não tem nada que a tirania lhe possa tirar.</a:t>
            </a:r>
            <a:endParaRPr lang="en-US" sz="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10: Ilumino a minha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didascália vem sem parênteses, junto ao nome. Procura-a e repara no tom que pede.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10: Ilumino a minha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TEXTO: ATO I, CENAS XI E XII: O FOGO (2 DE 2)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(Arrebata duas tochas das mãos dos criados, corre à porta da esquerda, atira com uma para dentro: e vê-se atear logo uma labareda imensa. Vai ao fundo, atira a outra tocha; e sucede o mesmo. Ouve-se alarido de fora.)</a:t>
            </a:r>
            <a:endParaRPr lang="en-US" sz="22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 MADALENA: Que fazes?… que fizeste? […]</a:t>
            </a:r>
            <a:endParaRPr lang="en-US" sz="22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MANUEL, tranquilamente: Ilumino a minha casa para receber os muito poderosos e excelentes senhores governadores destes reinos. Suas excelências podem vir quando quiserem.</a:t>
            </a:r>
            <a:endParaRPr lang="en-US" sz="22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MADALENA: Meu Deus, meu Deus!… Ai, e o retrato de meu marido!… Salvem-me aquele retrato.</a:t>
            </a:r>
            <a:endParaRPr lang="en-US" sz="22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(Miranda e outro criado vão para tirar o painel; uma coluna de fogo salta nas tapeçarias e os afugenta.) […]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Almeida Garrett, </a:t>
            </a:r>
            <a:pPr indent="0" marL="0">
              <a:buNone/>
            </a:pPr>
            <a:r>
              <a:rPr lang="en-US" sz="11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 Luís de Sousa</a:t>
            </a:r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(1844), ato I, cenas XI e XII, ortografia atualizada.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10: Ilumino a minha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«MANUEL, tranquilamente: Ilumino a minha casa para receber os muito poderosos e excelentes senhores governadores destes reinos.»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Corta «tranquilamente» e lê a fala aos gritos. O que se perde?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notícia de que a casa está a arder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respeito de Manuel pelos governadores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492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2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01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calma de quem desafia: gritada, seria só raiva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10: Ilumino a minha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calma de quem desafia: gritada, seria só raiva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«MANUEL, tranquilamente»: a didascália junto ao nome dá o tom. Dita com calma, a cortesia aos governadores é um desafio; aos gritos, seria só raiva.</a:t>
            </a:r>
            <a:endParaRPr lang="en-US" sz="2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10: Ilumino a minha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está a enganar os governadores?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98142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Ironia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dizer o contrário do que se quer dar a entender, contando que o contexto o denuncie.Manuel diz «Ilumino a minha casa para receber»; a didascália mostra o fogo: «vê-se atear logo uma labareda imensa».Não é mentira: Manuel quer ser apanhado.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10: Ilumino a minha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Numa peça escrita pela turma, lê-se esta linha. Onde está a prova da ironia?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581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nada: a Rita mente, para não ofender quem a convidou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496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96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505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ponto de exclamação, que mostra emoção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096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105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didascália: rasga o convite enquanto agradece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10: Ilumino a minha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didascália: rasga o convite enquanto agradece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didascália mostra o contrário do que a fala diz: a Rita agradece e rasga. É a prova que serve para Manuel: «receber» na fala, a labareda na didascália.</a:t>
            </a:r>
            <a:endParaRPr lang="en-US" sz="2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10: Ilumino a minha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NÃO ESQUECE MADALENA O RETRATO?,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Cena XII: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MADALENA: […] Ai, e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retrato de meu marido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!… Salvem-me aquele retrato.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Ato II, cena I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Maria, sobre a mãe: «a perda do retrato é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prognóstico fatal de outra perda maior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que está perto»Garrett, </a:t>
            </a:r>
            <a:pPr indent="0" marL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Frei Luís de Sousa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ortografia atualizada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10: Ilumino a minha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NÃO ESQUECE MADALENA O RETRATO?,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quem é o retrato que arde?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De Manuel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De D. João de Portugal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10: Ilumino a minha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NÃO ESQUECE MADALENA O RETRATO?,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o de Manuel: no ato I, Maria aponta-o na sala: «Como ele era bonito meu pai!»</a:t>
            </a:r>
            <a:endParaRPr lang="en-US" sz="3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10: Ilumino a minha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NÃO ESQUECE MADALENA O RETRATO?,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Oito dias depois, Madalena ainda o lê como aviso de uma perda maior, «que a tem de separar de meu pai», conta Maria.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10: Ilumino a minha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NÃO ESQUECE MADALENA O RETRATO?,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PRESSÁGIO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sinal que anuncia o que ainda vai acontecer, quase sempre uma desgraça.</a:t>
            </a:r>
            <a:endParaRPr lang="en-US" sz="3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10: Ilumino a minha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NÃO ESQUECE MADALENA O RETRATO?,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a desgraça. O retrato a arder ainda não é a perda maior: é o aviso dela.Não é a revelação. No presságio nada se descobre: só se avisa.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10: Ilumino a minha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NÃO ESQUECE MADALENA O RETRATO?,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Pergunta: o que é que este pormenor anuncia?</a:t>
            </a:r>
            <a:endParaRPr lang="en-US" sz="3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10: Ilumino a minha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Numa história inventada, um casal prepara uma viagem. Qual destes pormenores é um presságio?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581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véspera, a aliança dela parte-se ao fechar a mala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fazer as malas, ela lembra-se de como se conheceram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096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105656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regresso, a casa deles ardeu, com as fotografias todas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10: Ilumino a minha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véspera, a aliança dela parte-se ao fechar a mala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aliança que se parte avisa de uma separação antes de ela chegar, como o retrato de Manuel que arde. A revelação descobre; a desgraça acontece; o presságio avisa.</a:t>
            </a:r>
            <a:endParaRPr lang="en-US" sz="2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10: Ilumino a minha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DECIDE EM SILÊNCIO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Entregas a casa ou queimas o que é teu?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00600"/>
            <a:ext cx="9814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governadores, fidalgos portugueses que mandam em nome do rei de Castela, querem instalar-se em casa de Manuel. A família tem de sair nessa noite, de qualquer maneira. Manuel pode deixar-lhes a casa como está, ou deitar-lhe fogo.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10: Ilumino a minha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OS LADOS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tu, no lugar de Manuel?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razão de Manuel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«Tenho que não hei de sofrer esta afronta…» Deixar a casa aos governadores era aceitá-la. Queimá-la é uma lição: «Há de saber-se no mundo que ainda há um português em Portugal.»Manuel, ato I, cena VIII.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90618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razão da prudência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90618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«Não te deites a perder, não te arrebates. Que farás tu contra esses poderosos?», pede Madalena. E Frei Jorge: «Prudência, e lembra-te de tua filha.» Os governadores podem vingar-se, e quem paga é a família.Madalena e Frei Jorge, ato I, cena VII.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58277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objeção: o que se queima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158277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objeção possível: o fogo não queima só o que é de Manuel. Arde a casa da família, arde o retrato que Madalena pede que lhe salvem, e os criados fogem das chamas. A lição é dele; o preço é de todos.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10: Ilumino a minha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1 DE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Porque fala Manuel do pai antes de pegar nas tochas?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10: Ilumino a minha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2 DE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«Ilumino a minha casa» é só ironia?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10: Ilumino a minha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O QUE SE ENTREGA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Porque é irónico «Ilumino a minha casa», e que lição quer Manuel dar com o fogo? Responde em cinco a sete linhas, com duas citações entre aspas: uma fala de Manuel e uma didascália.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611880"/>
            <a:ext cx="0" cy="176961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438144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 a ironia: Manuel diz que ilumina a casa para receber os governadores, mas incendeia-a para não a entregar.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0929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929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4102100"/>
            <a:ext cx="9174175" cy="441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 uma fala de Manuel e uma didascália, corretamente e entre aspas, e diz qual é qual.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453466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53466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43806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o que a didascália acrescenta: a ação (as tochas, a labareda) ou o tom («tranquilamente»), sem os quais a fala não se entende.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519861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19861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5207762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 o gesto à ideia de honra de Manuel: quem perde o amor aos haveres pode resistir à tirania.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10: Ilumino a minha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fala diz receber; a didascália mostra queimar: é a ironia de Manuel.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10: Ilumino a minha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6705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ir mais longe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6522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ir mais longe (opcional, em casa): 3 cartões de pergunta e 2 de leitura. Ironia ou exagero, em falas inventadas; a palavra que prepara o fogo («alumiar», na cena VIII); um presságio para um conto teu e presságio, revelação ou desgraça numa lenda inventada; o mesmo fogo visto por Telmo e por Maria, no ato II. No fim, o cartão extra «Ilumino a minha casa» (ler a fundo), inteiro.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1" name="Image 0" descr="/tmp/aulas-diap-jdU3MK/qr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4, aula 10: Ilumino a minha casa</dc:title>
  <dc:subject>PptxGenJS Presentation</dc:subject>
  <dc:creator>EPI, Português</dc:creator>
  <cp:lastModifiedBy>EPI, Português</cp:lastModifiedBy>
  <cp:revision>1</cp:revision>
  <dcterms:created xsi:type="dcterms:W3CDTF">2026-10-24T00:57:45Z</dcterms:created>
  <dcterms:modified xsi:type="dcterms:W3CDTF">2026-10-24T00:57:45Z</dcterms:modified>
</cp:coreProperties>
</file>