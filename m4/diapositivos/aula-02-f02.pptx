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1: PREGAR AOS PEIXES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sal e a terra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Perceber de onde parte o sermão (o conceito predicável) e como Vieira reduz a causa da corrupção a um dilema.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licao-m4-f02/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sal e a terra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Perceber de onde parte o sermão (o conceito predicável) e como Vieira reduz a causa da corrupção a um dilema.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decisão em turma e uma resposta escrita com um dilema teu.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sete linhas: as duas portas do dilema de Vieira e o que o «ou… ou…» obriga a fazer, com uma citação do texto, e um dilema teu à maneira dele.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Primeira página do Sermão de Santo António na edição de 1682: o título, uma nota em itálico, uma linha em latim e, por baixo, o § I em duas colunas, a começar por um V gran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213" y="914400"/>
            <a:ext cx="3439734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Sermoens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Vieira, Lisboa, 1682: a primeira página do sermão.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sal e a terra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primeira página do sermão há uma linha em latim, e na coluna da direita duas frases começam por «Ou». Vieira pergunta porque está a terra tão corrupta, com tantos pregadores, e só deixa duas respostas.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terra está corrupta, de quem é a culpa: de quem prega ou de quem ouve?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explica porque chama Cristo «sal» aos pregadores e acaba numa pergunta. Procura o que devia fazer o sal e em que estado está a terra.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O SAL DA TERRA (1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Vós, diz Cristo Senhor nosso, falando com os pregadores, sois o sal da terra: e chama-lhes sal da terra, porque quer que façam na terra o que faz o sal. O efeito do sal é impedir a corrupção, mas quando a terra se vê tão corrupta como está a nossa, havendo tantos nela que têm ofício de sal, qual será, ou qual pode ser a causa desta corrupção?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início do cap. 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«quando a terra se vê tão corrupta como está a nossa»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sal impede que a comida apodreça. Na terra de que Vieira fala, o que está a apodrecer?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doutrina que os pregadores ensinam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costumes da gente, cheios de vícios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chão de São Luís, onde se semeia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costumes da gente, cheios de vícios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imagem de Cristo, cada coisa vale por outra, como na alegoria da aula 1: o sal são os pregadores, a terra as pessoas, a corrupção o que nelas apodrece. Mais à frente, Vieira diz que a terra tem «vícios que a corrompem».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 FRASE NASCE O SERMÃO?,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«Vos estis sal terrae.»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(Mateus 5, 13)«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Vós, diz Cristo Senhor nosso, falando com os pregadores, sois o sal da terra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[…]»Vieira,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(1654), cap. I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 FRASE NASCE O SERMÃO?,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abre Vieira com esta frase de Cristo, em latim?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É uma prece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É o assunto do sermão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 FRASE NASCE O SERMÃO?,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cabeça, antes do § I, uma frase do Evangelho de São Mateus, em latim.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 FRASE NASCE O SERMÃO?,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a seguir, Vieira traduz a frase e aplica-a: os pregadores são o sal. Todo o sermão vai nascer desta imagem, o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a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 FRASE NASCE O SERMÃO?,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PREDICÁVEL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frase da Bíblia que dá o tema a um sermão: o pregador parte dela e desenvolve-a.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 FRASE NASCE O SERMÃO?,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título. O título diz o santo do dia.Não é uma citação de apoio. Essa prova uma ideia a meio; esta abre e dá o tema.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DE QUE FRASE NASCE O SERMÃO?,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achar o tema de um sermão, procura a frase bíblica à cabeça.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no jornal da escola, uma crónica abre com um provérbio e explica-o palavra a palavra. Que papel tem?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 a atenção, e o assunto vem depois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logo a conclusão a que o texto chega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o tema: a crónica parte dele e desenvolve-o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o tema: a crónica parte dele e desenvolve-o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provérbio está à cabeça e a crónica desenvolve-o palavra a palavra: faz o papel do conceito predicável, como «Vós sois o sal da terra» no sermão de Vieira.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página de 1682, à direita, duas frases começam por «Ou». Separa as duas causas da corrupção: em cada uma, quem falha, quem prega ou quem ouve?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O SAL DA TERRA (2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 é porque o sal não salga, ou porque a terra se não deixa salgar. Ou é porque o sal não salga, e os pregadores não pregam a verdadeira doutrina; ou porque a terra se não deixa salgar, e os ouvintes, sendo verdadeira a doutrina que lhes dão, a não querem receber.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cap. 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os ouvintes, sendo verdadeira a doutrina que lhes dão, a não querem receber.»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segunda causa, a terra «se não deixa salgar». Porque não pega a doutrina?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doutrina é falsa, e os ouvintes notam-no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ouvintes não a conseguem perceber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ouvintes recusam-na, e ela é verdadeira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ouvintes recusam-na, e ela é verdadeira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segunda causa, a doutrina é verdadeira («sendo verdadeira a doutrina que lhes dão») e os ouvintes «a não querem receber»: a terra não falha por não conseguir, falha por recusar.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QUANTAS PORTAS DEIXA VIEIRA ABERTAS?,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«Ou é porque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sal não salga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ou porque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terra se não deixa salgar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.»Vieira,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(1654), cap. I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QUANTAS PORTAS DEIXA VIEIRA ABERTAS?,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Além destas duas, há outras causas possíveis para a corrupção da terra?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Há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 há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QUANTAS PORTAS DEIXA VIEIRA ABERTAS?,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Primeira porta: falha quem prega. O sal não faz o que devia: os pregadores «não pregam a verdadeira doutrina».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QUANTAS PORTAS DEIXA VIEIRA ABERTAS?,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Segunda porta: falha quem ouve. Com «ou… ou…», as duas portas ficam lado a lado e as outras fecham-se: quem ouve tem de escolher.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QUANTAS PORTAS DEIXA VIEIRA ABERTAS?,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DILEMA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raciocínio que só deixa duas saídas e obriga a escolher uma delas.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QUANTAS PORTAS DEIXA VIEIRA ABERTAS?,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uma soma. Com «e», a frase culpava os dois; com «ou… ou…», obriga a escolher.Não é sempre a verdade toda. Se fica uma terceira porta escondida, é um falso dilema.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QUANTAS PORTAS DEIXA VIEIRA ABERTAS?,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 as portas: só duas, e tens de escolher uma? É um dilema.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metade da turma teve negativa no teste. Qual destas frases é um dilema como o de Vieira?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«Talvez a turma não tenha estudado o suficiente desta vez»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«Ou o teste era mau, ou a turma não estudou»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 a turma tivesse estudado, não tinha tido negativa»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«Ou o teste era mau, ou a turma não estudou»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em Vieira, duas portas lado a lado com «ou… ou…»: ou falha quem preparou o teste, ou falha a turma que o fez. Quem ouve tem de escolher uma.</a:t>
            </a:r>
            <a:endParaRPr lang="en-US" sz="2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uma mensagem não pega, a culpa é de quem fala ou de quem ouve?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só deixa duas portas: ou falha quem prega, ou falha quem ouve. Na pintura, Santo António tem a praça atrás de si e aponta para baixo, para a água onde prega aos peixes.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quem é a culpa?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do sal: falha quem fala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«Ou é porque o sal não salga, e os pregadores não pregam a verdadeira doutrina». Mais à frente, Vieira dá outras maneiras de o sal falhar: pregadores que «dizem uma coisa e fazem outra», ou que «se pregam a si, e não a Cristo».Vieira, cap. I; a primeira frase está no texto da aula.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da terra: falha quem ouve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ouvintes, «sendo verdadeira a doutrina que lhes dão, a não querem receber». É a porta de Santo António em Arimino: «Já que me não querem ouvir os homens, ouçam-me os peixes.»Vieira, cap. I; a fala é de Santo António, contada por Vieira (aula 1).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objeção: quem julga é quem fala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a segunda porta é a mais cómoda para quem prega. Dizer que a terra «se não deixa salgar» é o pregador a julgar o próprio sermão, e a absolver-se. Quem ouve não tem a palavra.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sair do sal e da terra, que terceira causa a frase de Vieira deixa de fora?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sal não salga» e «a terra se não deixa salgar»: que diferença há entre estas duas maneiras de falhar?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terra está corrupta, de quem é a culpa? Explica a resposta de Vieira, o dilema, com uma citação entre aspas. Depois, escreve um dilema teu sobre a escola. Cinco a sete linhas.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547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Nomeia as duas portas: ou falham os pregadores (o sal não salga), ou falham os ouvintes (a terra se não deixa salgar).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o texto corretamente, entre aspas.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5346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346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43806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que o «ou… ou…» só deixa duas saídas e obriga quem ouve a escolher uma.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976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76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985512"/>
            <a:ext cx="9174175" cy="886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dilema próprio parte de outro problema da escola (não o do teste com negativa) e dá-lhe duas causas, uma do lado de quem dá e outra do lado de quem recebe, com «Ou é porque…, ou porque…».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dilema é uma frase com duas portas e nenhuma janela: repara em quem as escolheu.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2: O sal e a terra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4 cartões de pergunta e 2 de leitura. As linhas da primeira página do sermão (título, lugar, aviso e tema), como Vieira volta ao tema com o «sal do mar», onde fica o exórdio no sermão (com o desenho dos seis capítulos), a porta que o dilema deixa fechada, um dilema no podcast da escola e, em paralelo, Santo António e Vieira diante da mesma porta. No fim, o cartão extra «O sal e a terra».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2: O sal e a terra</dc:title>
  <dc:subject>PptxGenJS Presentation</dc:subject>
  <dc:creator>EPI, Português</dc:creator>
  <cp:lastModifiedBy>EPI, Português</cp:lastModifiedBy>
  <cp:revision>1</cp:revision>
  <dcterms:created xsi:type="dcterms:W3CDTF">2026-10-24T00:57:44Z</dcterms:created>
  <dcterms:modified xsi:type="dcterms:W3CDTF">2026-10-24T00:57:44Z</dcterms:modified>
</cp:coreProperties>
</file>