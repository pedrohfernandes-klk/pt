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4, UNIDADE 1: PREGAR AOS PEIXES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685800"/>
            <a:ext cx="5120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sermão posto em tribunal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29768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Decidir, com provas do texto, quem é o réu do sermão, lendo-o como um julgamento.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515807" y="1078992"/>
            <a:ext cx="2962656" cy="296265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5" name="Image 0" descr="/tmp/aulas-diap-jdU3MK/qr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5535" y="1188720"/>
            <a:ext cx="2743200" cy="274320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442655" y="4160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pedrohfernandes-klk.github.io/pt/m4/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m4-sermao-tribunal/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HOJE, 90 MINUTOS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sermão posto em tribunal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48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0" y="2093976"/>
            <a:ext cx="78940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Decidir, com provas do texto, quem é o réu do sermão, lendo-o como um julgamento.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22960" y="3474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43200" y="3419856"/>
            <a:ext cx="78940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minutos: os 31 cartões do exercício, projetados, um quadro no caderno, uma conversa em turma e uma resposta escrita.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22960" y="4800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43200" y="4745736"/>
            <a:ext cx="78940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papel, seis a oito linhas: se o sermão fosse um julgamento, quem seria o réu? Com duas citações de partes diferentes do sermão.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praia, um pregador, uma cidade que não ouve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981425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São Luís do Maranhão, 13 de junho de 1654. Vieira sobe ao púlpito e conta a história de Santo António em Arimino: pregava contra os hereges, o povo levantou-se contra ele, e o santo foi pregar aos peixes. Três dias depois do sermão, Vieira embarca para Lisboa, onde vai defender os indígenas que os colonos escravizavam.Lê o que António podia ter feito e o que fez. Repara nas saídas que Vieira enumera, uma a uma, e recusa. A frase que fecha o episódio é a que Vieira vai fazer sua: «Já que me não querem ouvir os homens, ouçam-me os peixes».Pregava Santo António em Itália na cidade de Arimino, contra os hereges, que nela eram muitos; e como erros de entendimento são dificultosos de arrancar,…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PENSA PRIMEIRO: DECIDE EM SILÊNCIO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Quando António deixa a praça e vai para a praia, está a desistir ou a insistir?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Segundo Vieira, o que muda e o que não muda quando António vai pregar aos peixes?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218236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Muda o lugar e o auditório; a doutrina fica a mesma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3115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115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12420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Muda a doutrina; o lugar fica o mesmo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" y="371551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715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3724656"/>
            <a:ext cx="9174175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Muda tudo: António desiste dos homens e dedica-se aos peixes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822960" y="4696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696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17320" y="4706112"/>
            <a:ext cx="9174175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muda nada: a praia é só uma pausa antes de voltar à praça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Muda o lugar e o auditório; a doutrina fica a mesma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«Mudou somente o púlpito e o auditório, mas não desistiu da doutrina.» A doutrina é a acusação, e mantém-se; o que muda é diante de quem se diz. Quem lê desistência (terceira opção) esquece o «a altas vozes»: fala-se alto para a praia inteira ouvir. A pausa (quarta opção) não tem apoio no texto, e a segunda inverte-o. Retirar-se, calar-se, dissimular eram saídas que, diz Vieira, «ensinaria porventura a prudência, ou a covardia humana»; António recusa-as todas.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 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réu que se senta primeiro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981425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Vieira anuncia duas metades: louvar o bem para o conservar, repreender o mal para preservar dele. Os louvores vêm primeiro, e já são estranhos: os peixes são bons ouvintes porque «ouvem e não falam». No capítulo IV começa a acusação formal.Lê a primeira repreensão e repara na testemunha que Vieira chama a depor. A segunda metade do capítulo, a ordem de olhar para a cidade e a lista dos que comem o defunto, já a leste na lição; aqui conta como prova.Antes, porém, que vos vás embora, assim como ouvistes os vossos louvores, ouvi também agora as vossas repreensões. Servir-vos-ão de confusão, já que não seja de emenda. A primeira coisa que me desedifica, peixes, de vós, é que vos comeis uns aos…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PENSA PRIMEIRO: DECIDE EM SILÊNCIO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Vieira chama Santo Agostinho a depor. Que prova traz a testemunha: um facto sobre peixes, ou uma frase sobre homens?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faz a citação de Santo Agostinho na acusação de Vieira?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256336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Diz que os homens são como os peixes que se comem: a testemunha fala de homens, não de peixes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3496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496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505200"/>
            <a:ext cx="9174175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Prova, com observação do mar, que os peixes grandes comem os pequenos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" y="447751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477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4486656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Desculpa os peixes, porque a natureza os fez assim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822960" y="5077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5077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17320" y="5087112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 que Agostinho também pregou aos peixes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Diz que os homens são como os peixes que se comem: a testemunha fala de homens, não de peixes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frase citada é «Os homens, com as suas más e perversas cobiças, vêm a ser como os peixes […]». Agostinho «pregava aos homens» e mostrou-lhes o escândalo nos peixes; Vieira inverte o espelho. A testemunha depõe contra os homens no julgamento dos peixes. As outras opções fazem de Agostinho um naturalista ou um defensor, e o texto não permite nenhuma das duas leituras.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Toca nas duas palavras que dizem para onde Vieira obriga os peixes a olhar.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514600"/>
            <a:ext cx="98142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cá, para cá; para a cidade é que haveis de olhar.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cidade olhar.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«para a cidade é que haveis de olhar»: os peixes olhavam para os matos e os campos, e Vieira corrige-os. A ordem desloca o julgamento: o escândalo que importa ver não está no mar, está na cidade onde o sermão é pregado.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Seleciona as duas provas que Vieira apresenta contra a cidade, no capítulo IV.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22960" y="10058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UMA POSIÇÃO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Depois do capítulo IV, quem é o réu do sermão?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15819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peixes: é a eles que Vieira fala, chama e repreende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3496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496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50520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homens da cidade: os peixes são só o espelho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" y="409651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096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4105656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dois, à vez: Vieira muda de réu quando lhe convém</a:t>
            </a:r>
            <a:endParaRPr lang="en-US" sz="2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 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Acusados com nome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981425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capítulo V, Vieira desce «ao particular» e acusa peixes pelo nome: roncadores, pegadores, voadores, polvo. Para cada um há um traço observado e um vício humano. Lê o pegador: repara em como a acusação passa do peixe a um cargo.[…] sendo pequenos, não só se chegam a outros maiores, mas de tal sorte se lhes pegam aos costados, que nunca os desferram.[…] não parte vice-rei ou governador para as conquistas, que não vá rodeado de pegadores […].Padre António Vieira, </a:t>
            </a:r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Sermão de Santo António aos Peixes</a:t>
            </a:r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cap. V, os pegadores. 1654; digitalização Luso Livros, com ortografia atualizada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PENSA PRIMEIRO: DECIDE EM SILÊNCIO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«não parte vice-rei ou governador para as conquistas, que não vá rodeado de pegadores»: nesta frase, ainda há alegoria?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«não parte vice-rei ou governador para as conquistas, que não vá rodeado de pegadores», o que acontece à alegoria?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294436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Vieira aplica o nome do peixe aos homens: a acusação sai do mar e nomeia um cargo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3496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496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505200"/>
            <a:ext cx="9174175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Vieira descreve peixes que acompanham os navios dos governadores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" y="447751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477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4486656"/>
            <a:ext cx="9174175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Vieira louva os governadores por protegerem os peixes pequenos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822960" y="545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545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17320" y="5468112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Vieira pede desculpa aos pegadores pela comparação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Vieira aplica o nome do peixe aos homens: a acusação sai do mar e nomeia um cargo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«Pegadores» passa a designar os homens que rodeiam o vice-rei e o governador: o traço do peixe, pegar-se ao grande e nunca o largar, serve de prova contra quem vive à custa do poder. A alegoria não desaparece, mas aqui deixa de esconder o réu. A segunda opção lê à letra o que é figura; as outras duas invertem o sentido da repreensão.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EXCERTO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polvo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981425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Lê agora o acusado mais grave do capítulo V. Conta as vezes que Vieira diz «parece» antes de dizer o que o polvo faz.O Polvo, com aquele seu capelo na cabeça, parece um monge; com aqueles seus raios estendidos, parece uma estrela; como não tem osso nem espinha, parece a mesma brandura, a mesma mansidão. E debaixo desta aparência tão modesta, ou desta hipocrisia tão santa, testemunham constantemente os dois grandes Doutores da Igreja latina e grega, que o dito polvo é o maior traidor do mar. Consiste esta traição do polvo primeiramente em se vestir ou pintar das mesmas cores de todas aquelas cores a que está pegado. […] Se está nos limos, faz-se verde; se está na areia, faz-se branco; se…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Toca nas duas palavras que nomeiam o polvo pelo que faz, e não pelo que parece.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514600"/>
            <a:ext cx="98142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o salteador, que está de emboscada dentro do seu próprio engano, lança-lhe os braços de repente, e fá-lo prisioneiro.</a:t>
            </a:r>
            <a:endParaRPr lang="en-US" sz="2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salteador, emboscada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«salteador» e «emboscada»: depois de três «parece» (monge, estrela, mansidão), a sentença chega nos nomes da ação. A prova contra o polvo não é a aparência, é o gesto: os braços de repente. É assim que Vieira acusa: primeiro o que se vê, depois o que se faz.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Liga cada acusado à prova que Vieira apresenta contra ele.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51460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Roncadores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Pegadores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Voadores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Polvo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004408" y="251460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pequenos, e roncam; o espadarte, que tem espada, não ronca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pegam-se ao grande e nunca o largam; ele sustenta-lhes o peso e a fome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querem ser aves; tocam na vela e caem; a isca é o vento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parece monge e estrela; muda de cor e lança os braços de repente</a:t>
            </a:r>
            <a:endParaRPr lang="en-US" sz="2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Roncadores → pequenos, e roncam; o espadarte, que tem espada, não ronca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Pegadores → pegam-se ao grande e nunca o largam; ele sustenta-lhes o peso e a fome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Voadores → querem ser aves; tocam na vela e caem; a isca é o vento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Polvo → parece monge e estrela; muda de cor e lança os braços de repente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35204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794760"/>
            <a:ext cx="981425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Cada acusação tem um traço observável e uma consequência: o barulho do pequeno, o peso do parasita, a queda do presunçoso, a emboscada do que parece manso. Sem a passagem, o nome do vício é só um rótulo; com ela, é uma prova.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Põe por ordem os passos de uma acusação de Vieira: a ordem lógica, não a ordem das frases.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514600"/>
            <a:ext cx="9814255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 o peixe pelo nome e descreve o que se vê nele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 o que o peixe faz, com a consequência para os outros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 nome ao vício que esse comportamento figura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 olhar para os homens em que o mesmo se vê</a:t>
            </a:r>
            <a:endParaRPr lang="en-US" sz="2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 o peixe pelo nome e descreve o que se vê nele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 o que o peixe faz, com a consequência para os outros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 nome ao vício que esse comportamento figura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 olhar para os homens em que o mesmo se vê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35204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794760"/>
            <a:ext cx="981425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Primeiro o traço visível, depois a ação e o dano, depois o nome do vício, no fim os homens. É a ordem de um processo: observação, prova, qualificação do crime, identificação do réu. Nas frases, Vieira troca-a quando quer (nos pegadores chega aos homens logo; no polvo diz «traidor» antes de mostrar a emboscada), mas a prova é sempre o traço e a ação: sem eles, o nome do vício não acusa ninguém.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 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melhor objeção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981425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Imagina um ouvinte de São Luís que responde ao sermão: «O padre falou de peixes. Se eu me reconheci, o problema é meu. Ninguém me acusou de nada, e eu não posso defender-me de uma acusação que não foi feita.» A objeção é séria. Um réu que não é nomeado não pode responder; e um acusador que fala por figuras pode sempre dizer que falava de peixes.Há uma segunda objeção, mais dura: três dias depois, Vieira embarca para Lisboa. O acusador acusa e parte. Lê o que o próprio sermão responde à primeira, na peroração.Oh que boa doutrina era esta para a terra, se eu não pregara para o mar!Padre António Vieira, </a:t>
            </a:r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Sermão de Santo António aos Peixes</a:t>
            </a:r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Ler, Texto A. 1654; digitalização Luso Livros, com…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PENSA PRIMEIRO: DECIDE EM SILÊNCIO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«se eu não pregara para o mar»: Vieira lamenta-se, confessa ou ironiza? O que ganha ao dizer isto em voz alta diante da cidade?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«Oh que boa doutrina era esta para a terra, se eu não pregara para o mar!» Que faz esta frase à objeção do ouvinte («ninguém me acusou»)?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256336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Desmonta-a: Vieira diz à cidade que a doutrina era para ela, e deixa de haver dúvida sobre o réu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3496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496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505200"/>
            <a:ext cx="9174175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Confirma-a: Vieira admite que a doutrina se perdeu no mar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" y="447751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477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4486656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Ignora-a: a frase fala só da qualidade da doutrina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822960" y="5077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5077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17320" y="5087112"/>
            <a:ext cx="9174175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Reforça-a: Vieira diz que nunca quis falar aos homens</a:t>
            </a:r>
            <a:endParaRPr lang="en-US" sz="2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Desmonta-a: Vieira diz à cidade que a doutrina era para ela, e deixa de haver dúvida sobre o réu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frase é irónica: finge lamentar que a doutrina se desperdice no mar, e com isso diz à terra que era para ela. O ouvinte que se reconheceu já não pode dizer que ninguém o acusou. A segunda opção lê o lamento à letra; a terceira ignora o «para a terra»; a quarta é o contrário do que a frase faz.</a:t>
            </a:r>
            <a:endParaRPr lang="en-US" sz="2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Dizer que o sermão fala dos homens e não dos peixes é uma interpretação que o próprio texto sustenta.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60045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Verdadeiro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3115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115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12420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Falso</a:t>
            </a:r>
            <a:endParaRPr lang="en-US" sz="2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Verdadeiro.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Verdadeiro. Não é uma opinião: há passagens que o provam, a ordem de olhar «para a cidade», a frase sobre vice-reis e governadores, a peroração com o seu «para a terra». Uma interpretação sustentada distingue-se de uma opinião por isto: tem prova localizada no texto.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UMA POSIÇÃO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acusador acusa e, três dias depois, embarca. Isso enfraquece o sermão?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12009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Enfraquece: quem acusa devia ficar para responder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3115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115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12420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enfraquece: a viagem é a continuação da acusação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" y="371551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715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3724656"/>
            <a:ext cx="9174175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Depende: o sermão vale pelo que prova, não por quem fica</a:t>
            </a:r>
            <a:endParaRPr lang="en-US" sz="2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 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acusador senta-se no banco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981425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fim do sermão, Vieira faz uma coisa que nenhum acusador faz: compara-se com os réus e perde. Lê devagar: quem fala, quem ofende a Deus, e quem cumpre o fim para que foi criado.Ah peixes, quantas invejas vos tenho a essa natural irregularidade! Quanto melhor me fora não tomar a Deus nas mãos, que tomá-lo tão indignamente! Em tudo o que vos excedo, peixes, vos reconheço muitas vantagens. A vossa bruteza é melhor que a minha razão e o vosso instinto melhor que o meu arbítrio. Eu falo, mas vós não ofendeis a Deus com as palavras; eu lembro-me, mas vós não ofendeis a Deus com a memória; eu discorro, mas vós não ofendeis a Deus com o entendimento; eu quero, mas vós não ofendeis a Deus com a…</a:t>
            </a:r>
            <a:endParaRPr lang="en-US" sz="2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PENSA PRIMEIRO: DECIDE EM SILÊNCIO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«A vossa bruteza é melhor que a minha razão […]». Se o pregador é pior do que os peixes, quem fica no banco dos réus no fim do sermão?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peroração, Vieira diz que os peixes conseguem «o fim para que fostes criados» e que ele não consegue o seu. Que faz isto ao julgamento?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256336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Inverte-o: o pregador, que tem palavra, memória, entendimento e vontade, é quem mais pode ofender; os peixes ficam absolvidos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3877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877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88620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Encerra-o sem sentença: Vieira muda de assunto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" y="447751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477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4486656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Agrava-o para os peixes: são brutos e não têm razão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822960" y="5077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5077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17320" y="5087112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Absolve toda a gente: ninguém ofende a Deus</a:t>
            </a:r>
            <a:endParaRPr lang="en-US" sz="2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Inverte-o: o pregador, que tem palavra, memória, entendimento e vontade, é quem mais pode ofender; os peixes ficam absolvidos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Cada «eu» tem uma faculdade (falo, lembro-me, discorro, quero) e cada «vós» tem a mesma ausência de culpa. Quem pode mais, deve mais: o homem, e o pregador em primeiro lugar. A terceira opção lê «bruteza» como insulto, e no texto é vantagem. A quarta esquece que Vieira se acusa a si; a segunda não vê que esta é a sentença.</a:t>
            </a:r>
            <a:endParaRPr lang="en-US" sz="2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Toca nas duas palavras que Vieira reconhece como melhores nos peixes do que nele.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514600"/>
            <a:ext cx="98142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vossa bruteza é melhor que a minha razão e o vosso instinto melhor que o meu arbítrio.</a:t>
            </a:r>
            <a:endParaRPr lang="en-US" sz="2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bruteza instinto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«bruteza» e «instinto»: o que nos peixes parecia inferioridade é o que os livra da culpa. A razão e o arbítrio, o que o homem tem a mais, são o que o faz responsável. O réu, no fim, é quem pode escolher.</a:t>
            </a:r>
            <a:endParaRPr lang="en-US" sz="2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CASO AO CONTRÁRIO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se o espelho fosse hoje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981425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Imagina que um colega faz uma apresentação sobre os pegadores de Vieira e descreve, sem nomes, um comportamento que toda a turma reconhece numa pessoa concreta. No fim diz: «Eu falava de peixes.» A sala ri. Faz o que Vieira fez?</a:t>
            </a:r>
            <a:endParaRPr lang="en-US" sz="2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PENSA PRIMEIRO: DECIDE EM SILÊNCIO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distingue uma alegoria que acusa um vício de uma alegoria que serve para apontar uma pessoa sem a nomear?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UMA POSIÇÃO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caso do colega, abre as três posições e compara.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DISCUTIR, 1 DE 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«A vossa bruteza é melhor que a minha razão»: porque é que ter razão e vontade torna o pregador mais culpado do que os peixes?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DISCUTIR, 2 DE 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sermão de acusação que acaba com o acusador a acusar-se: a acusação fica mais fraca ou mais forte?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DISCUTIR, 3 DE 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«Oh que boa doutrina era esta para a terra, se eu não pregara para o mar!» Se a doutrina era para a terra, porque prega Vieira ao mar?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PAPEL, O QUE SE ENTREGA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o sermão fosse um julgamento, quem seria o réu? Responde em seis a oito linhas, com duas citações de partes diferentes do sermão, entre aspas.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6974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971800"/>
            <a:ext cx="9814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CONTA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005840" y="3611880"/>
            <a:ext cx="0" cy="208711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4290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3438144"/>
            <a:ext cx="9174175" cy="5052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Diz na primeira frase quem é o réu.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22960" y="393420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93420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3943350"/>
            <a:ext cx="9174175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 duas citações, entre aspas, de duas partes diferentes do sermão (por exemplo, o cap. IV e a peroração).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22960" y="472516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7251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17320" y="4734306"/>
            <a:ext cx="9174175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 o papel dos peixes: o auditório e o espelho, não o verdadeiro réu.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22960" y="551611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51611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17320" y="5525262"/>
            <a:ext cx="9174175" cy="5052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Diz o que muda no fim, quando o pregador se compara com os peixes.</a:t>
            </a:r>
            <a:endParaRPr lang="en-US" sz="1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o sermão fosse um julgamento, quem seria o réu?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256336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peixes: é a eles que o sermão fala do princípio ao fim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3496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496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505200"/>
            <a:ext cx="9174175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homens da cidade, e no fim o próprio pregador, que se acusa com eles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" y="447751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477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4486656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os colonos que escravizavam os indígenas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822960" y="5077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5077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17320" y="5087112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Santo Agostinho, que inventou a comparação</a:t>
            </a:r>
            <a:endParaRPr lang="en-US" sz="2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homens da cidade, e no fim o próprio pregador, que se acusa com eles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 peixes são o espelho e os absolvidos; os homens de São Luís são o réu que a alegoria aponta e a peroração nomeia («para a terra»); e o pregador senta-se no banco no fim, com a razão e o arbítrio que os peixes não têm. A terceira opção restringe o que o texto alarga a uma cidade inteira, «para a cidade é que haveis de olhar», «muito mais se comem os brancos»; a quarta confunde a testemunha com o réu.</a:t>
            </a:r>
            <a:endParaRPr lang="en-US" sz="2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Vieira acusa os peixes para que a cidade se reconheça, e no fim senta-se no banco com os réus: quem pode escolher é quem responde.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5: O sermão posto em tribunal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6705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ir mais longe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652241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ir mais longe (opcional): refazer o exercício sozinho, no telemóvel, ao teu ritmo (cerca de 25 minutos); e responder no caderno, em três linhas, ao colega que diz «É fácil acusar uma cidade e ir-se embora», com uma frase da peroração.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8515807" y="1078992"/>
            <a:ext cx="2962656" cy="296265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1" name="Image 0" descr="/tmp/aulas-diap-jdU3MK/qr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5535" y="118872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Módulo 4, aula 5: O sermão posto em tribunal</dc:title>
  <dc:subject>PptxGenJS Presentation</dc:subject>
  <dc:creator>EPI, Português</dc:creator>
  <cp:lastModifiedBy>EPI, Português</cp:lastModifiedBy>
  <cp:revision>1</cp:revision>
  <dcterms:created xsi:type="dcterms:W3CDTF">2026-10-24T00:57:44Z</dcterms:created>
  <dcterms:modified xsi:type="dcterms:W3CDTF">2026-10-24T00:57:44Z</dcterms:modified>
</cp:coreProperties>
</file>