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media/image-1-1.jpg" ContentType="image/jpg"/>
  <Override PartName="/ppt/media/image-4-1.jpg" ContentType="image/jpg"/>
  <Override PartName="/ppt/media/image-5-1.jpg" ContentType="image/jpg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image" Target="../media/image-1-1.jpg"/><Relationship Id="rId2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image" Target="../media/image-4-1.jpg"/><Relationship Id="rId2" Type="http://schemas.openxmlformats.org/officeDocument/2006/relationships/slideLayout" Target="../slideLayouts/slideLayout1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image" Target="../media/image-5-1.jpg"/><Relationship Id="rId2" Type="http://schemas.openxmlformats.org/officeDocument/2006/relationships/slideLayout" Target="../slideLayouts/slideLayout1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1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10637215" y="384048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spc="30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EPI</a:t>
            </a:r>
            <a:endParaRPr lang="en-US" sz="1200" dirty="0"/>
          </a:p>
        </p:txBody>
      </p:sp>
      <p:sp>
        <p:nvSpPr>
          <p:cNvPr id="4" name="Text 1"/>
          <p:cNvSpPr/>
          <p:nvPr/>
        </p:nvSpPr>
        <p:spPr>
          <a:xfrm>
            <a:off x="822960" y="6400800"/>
            <a:ext cx="96313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Lição M2-F01, Deram-lhe um provérbio</a:t>
            </a:r>
            <a:endParaRPr lang="en-US" sz="1000" dirty="0"/>
          </a:p>
        </p:txBody>
      </p:sp>
      <p:sp>
        <p:nvSpPr>
          <p:cNvPr id="5" name="Text 2"/>
          <p:cNvSpPr/>
          <p:nvPr/>
        </p:nvSpPr>
        <p:spPr>
          <a:xfrm>
            <a:off x="10637215" y="640080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000" dirty="0"/>
          </a:p>
        </p:txBody>
      </p:sp>
      <p:sp>
        <p:nvSpPr>
          <p:cNvPr id="6" name="Text 3"/>
          <p:cNvSpPr/>
          <p:nvPr/>
        </p:nvSpPr>
        <p:spPr>
          <a:xfrm>
            <a:off x="822960" y="457200"/>
            <a:ext cx="981425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PORTUGUÊS, 1.º ANO, MÓDULO 2, LIÇÃO M2-F01, UNIDADE 1</a:t>
            </a:r>
            <a:endParaRPr lang="en-US" sz="1100" dirty="0"/>
          </a:p>
        </p:txBody>
      </p:sp>
      <p:sp>
        <p:nvSpPr>
          <p:cNvPr id="7" name="Text 4"/>
          <p:cNvSpPr/>
          <p:nvPr/>
        </p:nvSpPr>
        <p:spPr>
          <a:xfrm>
            <a:off x="777240" y="685800"/>
            <a:ext cx="521208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50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5000" dirty="0"/>
          </a:p>
        </p:txBody>
      </p:sp>
      <p:sp>
        <p:nvSpPr>
          <p:cNvPr id="8" name="Text 5"/>
          <p:cNvSpPr/>
          <p:nvPr/>
        </p:nvSpPr>
        <p:spPr>
          <a:xfrm>
            <a:off x="822960" y="2697480"/>
            <a:ext cx="52120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b">
            <a:normAutofit/>
          </a:bodyPr>
          <a:lstStyle/>
          <a:p>
            <a:pPr indent="0" marL="0">
              <a:buNone/>
            </a:pPr>
            <a:r>
              <a:rPr lang="en-US" sz="40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Deram-lhe um provérbio</a:t>
            </a:r>
            <a:endParaRPr lang="en-US" sz="4000" dirty="0"/>
          </a:p>
        </p:txBody>
      </p:sp>
      <p:sp>
        <p:nvSpPr>
          <p:cNvPr id="9" name="Shape 6"/>
          <p:cNvSpPr/>
          <p:nvPr/>
        </p:nvSpPr>
        <p:spPr>
          <a:xfrm>
            <a:off x="822960" y="4069080"/>
            <a:ext cx="640080" cy="64008"/>
          </a:xfrm>
          <a:prstGeom prst="rect">
            <a:avLst/>
          </a:prstGeom>
          <a:solidFill>
            <a:srgbClr val="E4555C"/>
          </a:solidFill>
          <a:ln w="12700">
            <a:solidFill>
              <a:srgbClr val="E4555C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822960" y="6089904"/>
            <a:ext cx="182880" cy="182880"/>
          </a:xfrm>
          <a:prstGeom prst="ellipse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1152144" y="6089904"/>
            <a:ext cx="182880" cy="182880"/>
          </a:xfrm>
          <a:prstGeom prst="rect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>
            <a:off x="1481328" y="6089904"/>
            <a:ext cx="182880" cy="182880"/>
          </a:xfrm>
          <a:prstGeom prst="triangle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1874520" y="6062472"/>
            <a:ext cx="2743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lê, faz, leva</a:t>
            </a:r>
            <a:endParaRPr lang="en-US" sz="1100" dirty="0"/>
          </a:p>
        </p:txBody>
      </p:sp>
      <p:sp>
        <p:nvSpPr>
          <p:cNvPr id="14" name="Text 11"/>
          <p:cNvSpPr/>
          <p:nvPr/>
        </p:nvSpPr>
        <p:spPr>
          <a:xfrm>
            <a:off x="822960" y="4297680"/>
            <a:ext cx="5212080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2000" i="1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Em 1523 deram a Gil Vicente um provérbio e disseram-lhe: faz uma peça disto. Vais ver o que ele fez.</a:t>
            </a:r>
            <a:endParaRPr lang="en-US" sz="2000" dirty="0"/>
          </a:p>
        </p:txBody>
      </p:sp>
      <p:pic>
        <p:nvPicPr>
          <p:cNvPr id="15" name="Image 0" descr="/home/user/epi-portugues-fontes/_interno/biblioteca-imagens/fontes/gil-vicente-copilacam-1562.jp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6613855" y="914400"/>
            <a:ext cx="4754880" cy="4572000"/>
          </a:xfrm>
          <a:prstGeom prst="rect">
            <a:avLst/>
          </a:prstGeom>
        </p:spPr>
      </p:pic>
      <p:sp>
        <p:nvSpPr>
          <p:cNvPr id="16" name="Shape 12"/>
          <p:cNvSpPr/>
          <p:nvPr/>
        </p:nvSpPr>
        <p:spPr>
          <a:xfrm>
            <a:off x="6613855" y="914400"/>
            <a:ext cx="4754880" cy="4572000"/>
          </a:xfrm>
          <a:prstGeom prst="rect">
            <a:avLst/>
          </a:prstGeom>
          <a:ln w="12700">
            <a:solidFill>
              <a:srgbClr val="F2F0EA"/>
            </a:solidFill>
            <a:prstDash val="solid"/>
          </a:ln>
        </p:spPr>
      </p:sp>
      <p:sp>
        <p:nvSpPr>
          <p:cNvPr id="17" name="Text 13"/>
          <p:cNvSpPr/>
          <p:nvPr/>
        </p:nvSpPr>
        <p:spPr>
          <a:xfrm>
            <a:off x="6613855" y="5577840"/>
            <a:ext cx="4754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Copilaçam de todalas obras de Gil Vicente (Lisboa, 1562), frontispício. Domínio público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10637215" y="384048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spc="30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EPI</a:t>
            </a:r>
            <a:endParaRPr lang="en-US" sz="1200" dirty="0"/>
          </a:p>
        </p:txBody>
      </p:sp>
      <p:sp>
        <p:nvSpPr>
          <p:cNvPr id="4" name="Text 1"/>
          <p:cNvSpPr/>
          <p:nvPr/>
        </p:nvSpPr>
        <p:spPr>
          <a:xfrm>
            <a:off x="822960" y="6400800"/>
            <a:ext cx="96313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Lição M2-F01, Deram-lhe um provérbio</a:t>
            </a:r>
            <a:endParaRPr lang="en-US" sz="1000" dirty="0"/>
          </a:p>
        </p:txBody>
      </p:sp>
      <p:sp>
        <p:nvSpPr>
          <p:cNvPr id="5" name="Text 2"/>
          <p:cNvSpPr/>
          <p:nvPr/>
        </p:nvSpPr>
        <p:spPr>
          <a:xfrm>
            <a:off x="10637215" y="640080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000" dirty="0"/>
          </a:p>
        </p:txBody>
      </p:sp>
      <p:sp>
        <p:nvSpPr>
          <p:cNvPr id="6" name="Shape 3"/>
          <p:cNvSpPr/>
          <p:nvPr/>
        </p:nvSpPr>
        <p:spPr>
          <a:xfrm>
            <a:off x="822960" y="502920"/>
            <a:ext cx="201168" cy="201168"/>
          </a:xfrm>
          <a:prstGeom prst="ellipse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1188720" y="457200"/>
            <a:ext cx="944849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PALAVRA DO MÓDULO, «ESCOLHA»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822960" y="1097280"/>
            <a:ext cx="9814255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b">
            <a:norm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4600" i="1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Quem escolhe por ti, e desde quando?</a:t>
            </a:r>
            <a:endParaRPr lang="en-US" sz="4600" dirty="0"/>
          </a:p>
        </p:txBody>
      </p:sp>
      <p:sp>
        <p:nvSpPr>
          <p:cNvPr id="9" name="Shape 6"/>
          <p:cNvSpPr/>
          <p:nvPr/>
        </p:nvSpPr>
        <p:spPr>
          <a:xfrm>
            <a:off x="822960" y="4526280"/>
            <a:ext cx="640080" cy="64008"/>
          </a:xfrm>
          <a:prstGeom prst="rect">
            <a:avLst/>
          </a:prstGeom>
          <a:solidFill>
            <a:srgbClr val="E4555C"/>
          </a:solidFill>
          <a:ln w="12700">
            <a:solidFill>
              <a:srgbClr val="E4555C"/>
            </a:solidFill>
            <a:prstDash val="solid"/>
          </a:ln>
        </p:spPr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10637215" y="384048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spc="30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EPI</a:t>
            </a:r>
            <a:endParaRPr lang="en-US" sz="1200" dirty="0"/>
          </a:p>
        </p:txBody>
      </p:sp>
      <p:sp>
        <p:nvSpPr>
          <p:cNvPr id="4" name="Text 1"/>
          <p:cNvSpPr/>
          <p:nvPr/>
        </p:nvSpPr>
        <p:spPr>
          <a:xfrm>
            <a:off x="822960" y="6400800"/>
            <a:ext cx="96313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Lição M2-F01, Deram-lhe um provérbio</a:t>
            </a:r>
            <a:endParaRPr lang="en-US" sz="1000" dirty="0"/>
          </a:p>
        </p:txBody>
      </p:sp>
      <p:sp>
        <p:nvSpPr>
          <p:cNvPr id="5" name="Text 2"/>
          <p:cNvSpPr/>
          <p:nvPr/>
        </p:nvSpPr>
        <p:spPr>
          <a:xfrm>
            <a:off x="10637215" y="640080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000" dirty="0"/>
          </a:p>
        </p:txBody>
      </p:sp>
      <p:sp>
        <p:nvSpPr>
          <p:cNvPr id="6" name="Shape 3"/>
          <p:cNvSpPr/>
          <p:nvPr/>
        </p:nvSpPr>
        <p:spPr>
          <a:xfrm>
            <a:off x="822960" y="502920"/>
            <a:ext cx="201168" cy="201168"/>
          </a:xfrm>
          <a:prstGeom prst="ellipse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1188720" y="457200"/>
            <a:ext cx="944849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ABRIR, CINCO MINUTOS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822960" y="1097280"/>
            <a:ext cx="9814255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b">
            <a:norm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4600" i="1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Como se transforma um provérbio numa hora de teatro?</a:t>
            </a:r>
            <a:endParaRPr lang="en-US" sz="4600" dirty="0"/>
          </a:p>
        </p:txBody>
      </p:sp>
      <p:sp>
        <p:nvSpPr>
          <p:cNvPr id="9" name="Shape 6"/>
          <p:cNvSpPr/>
          <p:nvPr/>
        </p:nvSpPr>
        <p:spPr>
          <a:xfrm>
            <a:off x="822960" y="4526280"/>
            <a:ext cx="640080" cy="64008"/>
          </a:xfrm>
          <a:prstGeom prst="rect">
            <a:avLst/>
          </a:prstGeom>
          <a:solidFill>
            <a:srgbClr val="E4555C"/>
          </a:solidFill>
          <a:ln w="12700">
            <a:solidFill>
              <a:srgbClr val="E4555C"/>
            </a:solidFill>
            <a:prstDash val="solid"/>
          </a:ln>
        </p:spPr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10637215" y="384048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spc="30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EPI</a:t>
            </a:r>
            <a:endParaRPr lang="en-US" sz="1200" dirty="0"/>
          </a:p>
        </p:txBody>
      </p:sp>
      <p:sp>
        <p:nvSpPr>
          <p:cNvPr id="4" name="Text 1"/>
          <p:cNvSpPr/>
          <p:nvPr/>
        </p:nvSpPr>
        <p:spPr>
          <a:xfrm>
            <a:off x="822960" y="6400800"/>
            <a:ext cx="96313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Lição M2-F01, Deram-lhe um provérbio</a:t>
            </a:r>
            <a:endParaRPr lang="en-US" sz="1000" dirty="0"/>
          </a:p>
        </p:txBody>
      </p:sp>
      <p:sp>
        <p:nvSpPr>
          <p:cNvPr id="5" name="Text 2"/>
          <p:cNvSpPr/>
          <p:nvPr/>
        </p:nvSpPr>
        <p:spPr>
          <a:xfrm>
            <a:off x="10637215" y="640080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000" dirty="0"/>
          </a:p>
        </p:txBody>
      </p:sp>
      <p:pic>
        <p:nvPicPr>
          <p:cNvPr id="6" name="Image 0" descr="/home/user/epi-portugues-fontes/_interno/biblioteca-imagens/fontes/gil-vicente-copilacam-1562.jpg">    </p:cNvPr>
          <p:cNvPicPr>
            <a:picLocks noChangeAspect="1"/>
          </p:cNvPicPr>
          <p:nvPr/>
        </p:nvPicPr>
        <p:blipFill>
          <a:blip r:embed="rId1">
            <a:alphaModFix amt="8000"/>
          </a:blip>
          <a:srcRect l="0" r="0" t="0" b="0"/>
          <a:stretch/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7" name="Shape 3"/>
          <p:cNvSpPr/>
          <p:nvPr/>
        </p:nvSpPr>
        <p:spPr>
          <a:xfrm>
            <a:off x="822960" y="502920"/>
            <a:ext cx="201168" cy="201168"/>
          </a:xfrm>
          <a:prstGeom prst="ellipse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8" name="Text 4"/>
          <p:cNvSpPr/>
          <p:nvPr/>
        </p:nvSpPr>
        <p:spPr>
          <a:xfrm>
            <a:off x="1188720" y="457200"/>
            <a:ext cx="944849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LER: A RUBRICA INICIAL (1 DE 2)</a:t>
            </a:r>
            <a:endParaRPr lang="en-US" sz="1100" dirty="0"/>
          </a:p>
        </p:txBody>
      </p:sp>
      <p:sp>
        <p:nvSpPr>
          <p:cNvPr id="9" name="Text 5"/>
          <p:cNvSpPr/>
          <p:nvPr/>
        </p:nvSpPr>
        <p:spPr>
          <a:xfrm>
            <a:off x="822960" y="1005840"/>
            <a:ext cx="9814255" cy="49377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2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 seguinte farsa de folgar foi representada ao muito alto e mui poderoso rei D. João, o terceiro do nome em Portugal, no seu Convento de Tomar, era do Senhor de MDXXIII. O seu argumento é que porquanto duvidavam certos homens de bom saber se o Autor fazia de si mesmo estas obras, ou se furtava de outros autores, lhe deram este tema sobre que fizesse: segundo um exemplo comum que dizem: mais quero asno que me leve que cavalo que me derrube. E sobre este motivo se fez esta farsa.</a:t>
            </a:r>
            <a:endParaRPr lang="en-US" sz="2200" dirty="0"/>
          </a:p>
        </p:txBody>
      </p:sp>
      <p:sp>
        <p:nvSpPr>
          <p:cNvPr id="10" name="Text 6"/>
          <p:cNvSpPr/>
          <p:nvPr/>
        </p:nvSpPr>
        <p:spPr>
          <a:xfrm>
            <a:off x="822960" y="6035040"/>
            <a:ext cx="981425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Gil Vicente, </a:t>
            </a:r>
            <a:pPr indent="0" marL="0">
              <a:buNone/>
            </a:pPr>
            <a:r>
              <a:rPr lang="en-US" sz="1200" i="1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Farsa de Inês Pereira</a:t>
            </a:r>
            <a:pPr indent="0" marL="0">
              <a:buNone/>
            </a:pPr>
            <a:r>
              <a:rPr lang="en-US" sz="12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(1523) (grafia da edição).</a:t>
            </a:r>
            <a:endParaRPr lang="en-US" sz="1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10637215" y="384048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spc="30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EPI</a:t>
            </a:r>
            <a:endParaRPr lang="en-US" sz="1200" dirty="0"/>
          </a:p>
        </p:txBody>
      </p:sp>
      <p:sp>
        <p:nvSpPr>
          <p:cNvPr id="4" name="Text 1"/>
          <p:cNvSpPr/>
          <p:nvPr/>
        </p:nvSpPr>
        <p:spPr>
          <a:xfrm>
            <a:off x="822960" y="6400800"/>
            <a:ext cx="96313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Lição M2-F01, Deram-lhe um provérbio</a:t>
            </a:r>
            <a:endParaRPr lang="en-US" sz="1000" dirty="0"/>
          </a:p>
        </p:txBody>
      </p:sp>
      <p:sp>
        <p:nvSpPr>
          <p:cNvPr id="5" name="Text 2"/>
          <p:cNvSpPr/>
          <p:nvPr/>
        </p:nvSpPr>
        <p:spPr>
          <a:xfrm>
            <a:off x="10637215" y="640080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1000" dirty="0"/>
          </a:p>
        </p:txBody>
      </p:sp>
      <p:pic>
        <p:nvPicPr>
          <p:cNvPr id="6" name="Image 0" descr="/home/user/epi-portugues-fontes/_interno/biblioteca-imagens/fontes/gil-vicente-copilacam-1562.jpg">    </p:cNvPr>
          <p:cNvPicPr>
            <a:picLocks noChangeAspect="1"/>
          </p:cNvPicPr>
          <p:nvPr/>
        </p:nvPicPr>
        <p:blipFill>
          <a:blip r:embed="rId1">
            <a:alphaModFix amt="8000"/>
          </a:blip>
          <a:srcRect l="0" r="0" t="0" b="0"/>
          <a:stretch/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7" name="Shape 3"/>
          <p:cNvSpPr/>
          <p:nvPr/>
        </p:nvSpPr>
        <p:spPr>
          <a:xfrm>
            <a:off x="822960" y="502920"/>
            <a:ext cx="201168" cy="201168"/>
          </a:xfrm>
          <a:prstGeom prst="ellipse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8" name="Text 4"/>
          <p:cNvSpPr/>
          <p:nvPr/>
        </p:nvSpPr>
        <p:spPr>
          <a:xfrm>
            <a:off x="1188720" y="457200"/>
            <a:ext cx="944849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LER: A RUBRICA INICIAL (2 DE 2)</a:t>
            </a:r>
            <a:endParaRPr lang="en-US" sz="1100" dirty="0"/>
          </a:p>
        </p:txBody>
      </p:sp>
      <p:sp>
        <p:nvSpPr>
          <p:cNvPr id="9" name="Text 5"/>
          <p:cNvSpPr/>
          <p:nvPr/>
        </p:nvSpPr>
        <p:spPr>
          <a:xfrm>
            <a:off x="822960" y="1005840"/>
            <a:ext cx="9814255" cy="49377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25000"/>
              </a:lnSpc>
              <a:buNone/>
            </a:pPr>
            <a:r>
              <a:rPr lang="en-US" sz="2600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A[s] figuras são as seguintes: Inês Pereira; sua Mãe; Lianor Vaz; Pêro Marques; dous Judeus (um chamado Latão, outro Vidal); um Escudeiro com um seu Moço; um Ermitão; Luzia e Fernando.</a:t>
            </a:r>
            <a:endParaRPr lang="en-US" sz="2600" dirty="0"/>
          </a:p>
        </p:txBody>
      </p:sp>
      <p:sp>
        <p:nvSpPr>
          <p:cNvPr id="10" name="Text 6"/>
          <p:cNvSpPr/>
          <p:nvPr/>
        </p:nvSpPr>
        <p:spPr>
          <a:xfrm>
            <a:off x="822960" y="6035040"/>
            <a:ext cx="981425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Gil Vicente, </a:t>
            </a:r>
            <a:pPr indent="0" marL="0">
              <a:buNone/>
            </a:pPr>
            <a:r>
              <a:rPr lang="en-US" sz="1200" i="1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Farsa de Inês Pereira</a:t>
            </a:r>
            <a:pPr indent="0" marL="0">
              <a:buNone/>
            </a:pPr>
            <a:r>
              <a:rPr lang="en-US" sz="12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(1523) (grafia da edição).</a:t>
            </a:r>
            <a:endParaRPr lang="en-US" sz="1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10637215" y="384048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spc="30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EPI</a:t>
            </a:r>
            <a:endParaRPr lang="en-US" sz="1200" dirty="0"/>
          </a:p>
        </p:txBody>
      </p:sp>
      <p:sp>
        <p:nvSpPr>
          <p:cNvPr id="4" name="Text 1"/>
          <p:cNvSpPr/>
          <p:nvPr/>
        </p:nvSpPr>
        <p:spPr>
          <a:xfrm>
            <a:off x="822960" y="6400800"/>
            <a:ext cx="96313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Lição M2-F01, Deram-lhe um provérbio</a:t>
            </a:r>
            <a:endParaRPr lang="en-US" sz="1000" dirty="0"/>
          </a:p>
        </p:txBody>
      </p:sp>
      <p:sp>
        <p:nvSpPr>
          <p:cNvPr id="5" name="Text 2"/>
          <p:cNvSpPr/>
          <p:nvPr/>
        </p:nvSpPr>
        <p:spPr>
          <a:xfrm>
            <a:off x="10637215" y="640080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1000" dirty="0"/>
          </a:p>
        </p:txBody>
      </p:sp>
      <p:sp>
        <p:nvSpPr>
          <p:cNvPr id="6" name="Shape 3"/>
          <p:cNvSpPr/>
          <p:nvPr/>
        </p:nvSpPr>
        <p:spPr>
          <a:xfrm>
            <a:off x="822960" y="502920"/>
            <a:ext cx="201168" cy="201168"/>
          </a:xfrm>
          <a:prstGeom prst="ellipse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1188720" y="457200"/>
            <a:ext cx="944849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ESSENCIAL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822960" y="868680"/>
            <a:ext cx="981425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b">
            <a:normAutofit/>
          </a:bodyPr>
          <a:lstStyle/>
          <a:p>
            <a:pPr indent="0" marL="0">
              <a:buNone/>
            </a:pPr>
            <a:r>
              <a:rPr lang="en-US" sz="34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Três coisas a fixar</a:t>
            </a:r>
            <a:endParaRPr lang="en-US" sz="3400" dirty="0"/>
          </a:p>
        </p:txBody>
      </p:sp>
      <p:sp>
        <p:nvSpPr>
          <p:cNvPr id="9" name="Shape 6"/>
          <p:cNvSpPr/>
          <p:nvPr/>
        </p:nvSpPr>
        <p:spPr>
          <a:xfrm>
            <a:off x="822960" y="1746504"/>
            <a:ext cx="640080" cy="64008"/>
          </a:xfrm>
          <a:prstGeom prst="rect">
            <a:avLst/>
          </a:prstGeom>
          <a:solidFill>
            <a:srgbClr val="E4555C"/>
          </a:solidFill>
          <a:ln w="12700">
            <a:solidFill>
              <a:srgbClr val="E4555C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1005840" y="2286000"/>
            <a:ext cx="0" cy="2788412"/>
          </a:xfrm>
          <a:prstGeom prst="line">
            <a:avLst/>
          </a:prstGeom>
          <a:noFill/>
          <a:ln w="12700">
            <a:solidFill>
              <a:srgbClr val="A9A79F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822960" y="2103120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822960" y="210312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300" dirty="0"/>
          </a:p>
        </p:txBody>
      </p:sp>
      <p:sp>
        <p:nvSpPr>
          <p:cNvPr id="13" name="Text 10"/>
          <p:cNvSpPr/>
          <p:nvPr/>
        </p:nvSpPr>
        <p:spPr>
          <a:xfrm>
            <a:off x="1417320" y="2112264"/>
            <a:ext cx="9174175" cy="122377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Em 1523, no Convento de Tomar, perante D. João III, deram a Gil Vicente um provérbio como tema e pediram-lhe uma farsa: é o que conta a rubrica inicial.</a:t>
            </a:r>
            <a:endParaRPr lang="en-US" sz="2200" dirty="0"/>
          </a:p>
        </p:txBody>
      </p:sp>
      <p:sp>
        <p:nvSpPr>
          <p:cNvPr id="14" name="Shape 11"/>
          <p:cNvSpPr/>
          <p:nvPr/>
        </p:nvSpPr>
        <p:spPr>
          <a:xfrm>
            <a:off x="822960" y="3326892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822960" y="332689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300" dirty="0"/>
          </a:p>
        </p:txBody>
      </p:sp>
      <p:sp>
        <p:nvSpPr>
          <p:cNvPr id="16" name="Text 13"/>
          <p:cNvSpPr/>
          <p:nvPr/>
        </p:nvSpPr>
        <p:spPr>
          <a:xfrm>
            <a:off x="1417320" y="3336036"/>
            <a:ext cx="9174175" cy="15646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rubrica e a lista de figuras mostram as camadas do texto dramático: texto principal (as falas, o aparte) e texto secundário (as didascálias, que dizem quem entra e como vem vestido).</a:t>
            </a:r>
            <a:endParaRPr lang="en-US" sz="2200" dirty="0"/>
          </a:p>
        </p:txBody>
      </p:sp>
      <p:sp>
        <p:nvSpPr>
          <p:cNvPr id="17" name="Shape 14"/>
          <p:cNvSpPr/>
          <p:nvPr/>
        </p:nvSpPr>
        <p:spPr>
          <a:xfrm>
            <a:off x="822960" y="4891532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822960" y="489153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300" dirty="0"/>
          </a:p>
        </p:txBody>
      </p:sp>
      <p:sp>
        <p:nvSpPr>
          <p:cNvPr id="19" name="Text 16"/>
          <p:cNvSpPr/>
          <p:nvPr/>
        </p:nvSpPr>
        <p:spPr>
          <a:xfrm>
            <a:off x="1417320" y="4900676"/>
            <a:ext cx="9174175" cy="122377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Ficas a saber o que é uma farsa de folgar e quem são as figuras e os tipos sociais; e levas uma pergunta: como é que um ditado se transforma em ação?</a:t>
            </a:r>
            <a:endParaRPr lang="en-US" sz="22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10637215" y="384048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spc="30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EPI</a:t>
            </a:r>
            <a:endParaRPr lang="en-US" sz="1200" dirty="0"/>
          </a:p>
        </p:txBody>
      </p:sp>
      <p:sp>
        <p:nvSpPr>
          <p:cNvPr id="4" name="Text 1"/>
          <p:cNvSpPr/>
          <p:nvPr/>
        </p:nvSpPr>
        <p:spPr>
          <a:xfrm>
            <a:off x="822960" y="6400800"/>
            <a:ext cx="96313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Lição M2-F01, Deram-lhe um provérbio</a:t>
            </a:r>
            <a:endParaRPr lang="en-US" sz="1000" dirty="0"/>
          </a:p>
        </p:txBody>
      </p:sp>
      <p:sp>
        <p:nvSpPr>
          <p:cNvPr id="5" name="Text 2"/>
          <p:cNvSpPr/>
          <p:nvPr/>
        </p:nvSpPr>
        <p:spPr>
          <a:xfrm>
            <a:off x="10637215" y="640080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1000" dirty="0"/>
          </a:p>
        </p:txBody>
      </p:sp>
      <p:sp>
        <p:nvSpPr>
          <p:cNvPr id="6" name="Shape 3"/>
          <p:cNvSpPr/>
          <p:nvPr/>
        </p:nvSpPr>
        <p:spPr>
          <a:xfrm>
            <a:off x="822960" y="502920"/>
            <a:ext cx="201168" cy="201168"/>
          </a:xfrm>
          <a:prstGeom prst="rect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1188720" y="457200"/>
            <a:ext cx="944849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VER, E COMPLETAR NO CADERNO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822960" y="868680"/>
            <a:ext cx="981425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b">
            <a:normAutofit/>
          </a:bodyPr>
          <a:lstStyle/>
          <a:p>
            <a:pPr indent="0" marL="0">
              <a:buNone/>
            </a:pPr>
            <a:r>
              <a:rPr lang="en-US" sz="34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Completa no caderno</a:t>
            </a:r>
            <a:endParaRPr lang="en-US" sz="3400" dirty="0"/>
          </a:p>
        </p:txBody>
      </p:sp>
      <p:sp>
        <p:nvSpPr>
          <p:cNvPr id="9" name="Shape 6"/>
          <p:cNvSpPr/>
          <p:nvPr/>
        </p:nvSpPr>
        <p:spPr>
          <a:xfrm>
            <a:off x="822960" y="1746504"/>
            <a:ext cx="640080" cy="64008"/>
          </a:xfrm>
          <a:prstGeom prst="rect">
            <a:avLst/>
          </a:prstGeom>
          <a:solidFill>
            <a:srgbClr val="E4555C"/>
          </a:solidFill>
          <a:ln w="12700">
            <a:solidFill>
              <a:srgbClr val="E4555C"/>
            </a:solidFill>
            <a:prstDash val="solid"/>
          </a:ln>
        </p:spPr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822960" y="2057400"/>
          <a:ext cx="10545775" cy="914400"/>
        </p:xfrm>
        <a:graphic>
          <a:graphicData uri="http://schemas.openxmlformats.org/drawingml/2006/table">
            <a:tbl>
              <a:tblPr/>
              <a:tblGrid>
                <a:gridCol w="4429226"/>
                <a:gridCol w="6116550"/>
              </a:tblGrid>
              <a:tr h="655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spc="150" kern="0" dirty="0">
                          <a:solidFill>
                            <a:srgbClr val="A9A79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PERGUNTA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F2F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spc="150" kern="0" dirty="0">
                          <a:solidFill>
                            <a:srgbClr val="A9A79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RESPOSTA (COM PALAVRAS DO TEXTO)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F2F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</a:tr>
              <a:tr h="655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F2F0E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Quando e onde foi representada?</a:t>
                      </a:r>
                      <a:endParaRPr lang="en-US" sz="1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F2F0EA"/>
                          </a:solidFill>
                          <a:latin typeface="Georgia" pitchFamily="34" charset="0"/>
                          <a:ea typeface="Georgia" pitchFamily="34" charset="-122"/>
                          <a:cs typeface="Georgia" pitchFamily="34" charset="-120"/>
                        </a:rPr>
                        <a:t> </a:t>
                      </a:r>
                      <a:endParaRPr lang="en-US" sz="1800" dirty="0">
                        <a:latin typeface="Georgia" charset="0"/>
                        <a:ea typeface="Georgia" charset="0"/>
                        <a:cs typeface="Georgia" charset="0"/>
                      </a:endParaRPr>
                    </a:p>
                  </a:txBody>
                  <a:tcPr marL="73152" marR="73152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</a:tr>
              <a:tr h="655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F2F0E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Perante quem?</a:t>
                      </a:r>
                      <a:endParaRPr lang="en-US" sz="1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F2F0EA"/>
                          </a:solidFill>
                          <a:latin typeface="Georgia" pitchFamily="34" charset="0"/>
                          <a:ea typeface="Georgia" pitchFamily="34" charset="-122"/>
                          <a:cs typeface="Georgia" pitchFamily="34" charset="-120"/>
                        </a:rPr>
                        <a:t> </a:t>
                      </a:r>
                      <a:endParaRPr lang="en-US" sz="1800" dirty="0">
                        <a:latin typeface="Georgia" charset="0"/>
                        <a:ea typeface="Georgia" charset="0"/>
                        <a:cs typeface="Georgia" charset="0"/>
                      </a:endParaRPr>
                    </a:p>
                  </a:txBody>
                  <a:tcPr marL="73152" marR="73152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</a:tr>
              <a:tr h="655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F2F0E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Porque foi escrita?</a:t>
                      </a:r>
                      <a:endParaRPr lang="en-US" sz="1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F2F0EA"/>
                          </a:solidFill>
                          <a:latin typeface="Georgia" pitchFamily="34" charset="0"/>
                          <a:ea typeface="Georgia" pitchFamily="34" charset="-122"/>
                          <a:cs typeface="Georgia" pitchFamily="34" charset="-120"/>
                        </a:rPr>
                        <a:t> </a:t>
                      </a:r>
                      <a:endParaRPr lang="en-US" sz="1800" dirty="0">
                        <a:latin typeface="Georgia" charset="0"/>
                        <a:ea typeface="Georgia" charset="0"/>
                        <a:cs typeface="Georgia" charset="0"/>
                      </a:endParaRPr>
                    </a:p>
                  </a:txBody>
                  <a:tcPr marL="73152" marR="73152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</a:tr>
              <a:tr h="655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F2F0E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Qual é o tema dado?</a:t>
                      </a:r>
                      <a:endParaRPr lang="en-US" sz="1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F2F0EA"/>
                          </a:solidFill>
                          <a:latin typeface="Georgia" pitchFamily="34" charset="0"/>
                          <a:ea typeface="Georgia" pitchFamily="34" charset="-122"/>
                          <a:cs typeface="Georgia" pitchFamily="34" charset="-120"/>
                        </a:rPr>
                        <a:t> </a:t>
                      </a:r>
                      <a:endParaRPr lang="en-US" sz="1800" dirty="0">
                        <a:latin typeface="Georgia" charset="0"/>
                        <a:ea typeface="Georgia" charset="0"/>
                        <a:cs typeface="Georgia" charset="0"/>
                      </a:endParaRPr>
                    </a:p>
                  </a:txBody>
                  <a:tcPr marL="73152" marR="73152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</a:tr>
              <a:tr h="655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F2F0E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Quantas figuras há? Quais são tipos sociais?</a:t>
                      </a:r>
                      <a:endParaRPr lang="en-US" sz="1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F2F0EA"/>
                          </a:solidFill>
                          <a:latin typeface="Georgia" pitchFamily="34" charset="0"/>
                          <a:ea typeface="Georgia" pitchFamily="34" charset="-122"/>
                          <a:cs typeface="Georgia" pitchFamily="34" charset="-120"/>
                        </a:rPr>
                        <a:t> </a:t>
                      </a:r>
                      <a:endParaRPr lang="en-US" sz="1800" dirty="0">
                        <a:latin typeface="Georgia" charset="0"/>
                        <a:ea typeface="Georgia" charset="0"/>
                        <a:cs typeface="Georgia" charset="0"/>
                      </a:endParaRPr>
                    </a:p>
                  </a:txBody>
                  <a:tcPr marL="73152" marR="73152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10637215" y="384048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spc="30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EPI</a:t>
            </a:r>
            <a:endParaRPr lang="en-US" sz="1200" dirty="0"/>
          </a:p>
        </p:txBody>
      </p:sp>
      <p:sp>
        <p:nvSpPr>
          <p:cNvPr id="4" name="Text 1"/>
          <p:cNvSpPr/>
          <p:nvPr/>
        </p:nvSpPr>
        <p:spPr>
          <a:xfrm>
            <a:off x="822960" y="6400800"/>
            <a:ext cx="96313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Lição M2-F01, Deram-lhe um provérbio</a:t>
            </a:r>
            <a:endParaRPr lang="en-US" sz="1000" dirty="0"/>
          </a:p>
        </p:txBody>
      </p:sp>
      <p:sp>
        <p:nvSpPr>
          <p:cNvPr id="5" name="Text 2"/>
          <p:cNvSpPr/>
          <p:nvPr/>
        </p:nvSpPr>
        <p:spPr>
          <a:xfrm>
            <a:off x="10637215" y="640080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</a:t>
            </a:r>
            <a:endParaRPr lang="en-US" sz="1000" dirty="0"/>
          </a:p>
        </p:txBody>
      </p:sp>
      <p:sp>
        <p:nvSpPr>
          <p:cNvPr id="6" name="Shape 3"/>
          <p:cNvSpPr/>
          <p:nvPr/>
        </p:nvSpPr>
        <p:spPr>
          <a:xfrm>
            <a:off x="822960" y="502920"/>
            <a:ext cx="201168" cy="201168"/>
          </a:xfrm>
          <a:prstGeom prst="rect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1188720" y="457200"/>
            <a:ext cx="944849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ANTES DE COMEÇAR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822960" y="868680"/>
            <a:ext cx="7071055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b">
            <a:normAutofit/>
          </a:bodyPr>
          <a:lstStyle/>
          <a:p>
            <a:pPr indent="0" marL="0">
              <a:buNone/>
            </a:pPr>
            <a:r>
              <a:rPr lang="en-US" sz="38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Como se faz cada exercício</a:t>
            </a:r>
            <a:endParaRPr lang="en-US" sz="3800" dirty="0"/>
          </a:p>
        </p:txBody>
      </p:sp>
      <p:sp>
        <p:nvSpPr>
          <p:cNvPr id="9" name="Shape 6"/>
          <p:cNvSpPr/>
          <p:nvPr/>
        </p:nvSpPr>
        <p:spPr>
          <a:xfrm>
            <a:off x="822960" y="2121408"/>
            <a:ext cx="640080" cy="64008"/>
          </a:xfrm>
          <a:prstGeom prst="rect">
            <a:avLst/>
          </a:prstGeom>
          <a:solidFill>
            <a:srgbClr val="E4555C"/>
          </a:solidFill>
          <a:ln w="12700">
            <a:solidFill>
              <a:srgbClr val="E4555C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1005840" y="2606040"/>
            <a:ext cx="0" cy="1765808"/>
          </a:xfrm>
          <a:prstGeom prst="line">
            <a:avLst/>
          </a:prstGeom>
          <a:noFill/>
          <a:ln w="12700">
            <a:solidFill>
              <a:srgbClr val="A9A79F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822960" y="2423160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822960" y="242316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300" dirty="0"/>
          </a:p>
        </p:txBody>
      </p:sp>
      <p:sp>
        <p:nvSpPr>
          <p:cNvPr id="13" name="Text 10"/>
          <p:cNvSpPr/>
          <p:nvPr/>
        </p:nvSpPr>
        <p:spPr>
          <a:xfrm>
            <a:off x="1417320" y="2432304"/>
            <a:ext cx="6430975" cy="88290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Cada cartão tem um «?» no topo: abre um vídeo curto que mostra como se responde</a:t>
            </a:r>
            <a:endParaRPr lang="en-US" sz="2200" dirty="0"/>
          </a:p>
        </p:txBody>
      </p:sp>
      <p:sp>
        <p:nvSpPr>
          <p:cNvPr id="14" name="Shape 11"/>
          <p:cNvSpPr/>
          <p:nvPr/>
        </p:nvSpPr>
        <p:spPr>
          <a:xfrm>
            <a:off x="822960" y="3306064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822960" y="3306064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300" dirty="0"/>
          </a:p>
        </p:txBody>
      </p:sp>
      <p:sp>
        <p:nvSpPr>
          <p:cNvPr id="16" name="Text 13"/>
          <p:cNvSpPr/>
          <p:nvPr/>
        </p:nvSpPr>
        <p:spPr>
          <a:xfrm>
            <a:off x="1417320" y="3315208"/>
            <a:ext cx="6430975" cy="88290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Na página «Como se faz» estão todos os vídeos</a:t>
            </a:r>
            <a:endParaRPr lang="en-US" sz="2200" dirty="0"/>
          </a:p>
        </p:txBody>
      </p:sp>
      <p:sp>
        <p:nvSpPr>
          <p:cNvPr id="17" name="Shape 14"/>
          <p:cNvSpPr/>
          <p:nvPr/>
        </p:nvSpPr>
        <p:spPr>
          <a:xfrm>
            <a:off x="822960" y="4188968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822960" y="418896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300" dirty="0"/>
          </a:p>
        </p:txBody>
      </p:sp>
      <p:sp>
        <p:nvSpPr>
          <p:cNvPr id="19" name="Text 16"/>
          <p:cNvSpPr/>
          <p:nvPr/>
        </p:nvSpPr>
        <p:spPr>
          <a:xfrm>
            <a:off x="1417320" y="4198112"/>
            <a:ext cx="6430975" cy="88290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Vê o do primeiro cartão antes de começares</a:t>
            </a:r>
            <a:endParaRPr lang="en-US" sz="2200" dirty="0"/>
          </a:p>
        </p:txBody>
      </p:sp>
      <p:sp>
        <p:nvSpPr>
          <p:cNvPr id="20" name="Shape 17"/>
          <p:cNvSpPr/>
          <p:nvPr/>
        </p:nvSpPr>
        <p:spPr>
          <a:xfrm>
            <a:off x="8332927" y="1033272"/>
            <a:ext cx="3145536" cy="3145536"/>
          </a:xfrm>
          <a:prstGeom prst="rect">
            <a:avLst/>
          </a:prstGeom>
          <a:solidFill>
            <a:srgbClr val="FFFFFF"/>
          </a:solidFill>
          <a:ln w="12700">
            <a:solidFill>
              <a:srgbClr val="F2F0EA"/>
            </a:solidFill>
            <a:prstDash val="solid"/>
          </a:ln>
        </p:spPr>
      </p:sp>
      <p:pic>
        <p:nvPicPr>
          <p:cNvPr id="21" name="Image 0" descr="/home/user/epi-portugues-fontes/_interno/biblioteca-imagens/qr/como-se-faz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442655" y="1143000"/>
            <a:ext cx="2926080" cy="2926080"/>
          </a:xfrm>
          <a:prstGeom prst="rect">
            <a:avLst/>
          </a:prstGeom>
        </p:spPr>
      </p:pic>
      <p:sp>
        <p:nvSpPr>
          <p:cNvPr id="22" name="Text 18"/>
          <p:cNvSpPr/>
          <p:nvPr/>
        </p:nvSpPr>
        <p:spPr>
          <a:xfrm>
            <a:off x="8332927" y="4343400"/>
            <a:ext cx="3145536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1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pedrohfernandes-klk.github.io/​pt/​como/​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10637215" y="384048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spc="30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EPI</a:t>
            </a:r>
            <a:endParaRPr lang="en-US" sz="1200" dirty="0"/>
          </a:p>
        </p:txBody>
      </p:sp>
      <p:sp>
        <p:nvSpPr>
          <p:cNvPr id="4" name="Text 1"/>
          <p:cNvSpPr/>
          <p:nvPr/>
        </p:nvSpPr>
        <p:spPr>
          <a:xfrm>
            <a:off x="822960" y="6400800"/>
            <a:ext cx="96313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Lição M2-F01, Deram-lhe um provérbio</a:t>
            </a:r>
            <a:endParaRPr lang="en-US" sz="1000" dirty="0"/>
          </a:p>
        </p:txBody>
      </p:sp>
      <p:sp>
        <p:nvSpPr>
          <p:cNvPr id="5" name="Text 2"/>
          <p:cNvSpPr/>
          <p:nvPr/>
        </p:nvSpPr>
        <p:spPr>
          <a:xfrm>
            <a:off x="10637215" y="640080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</a:t>
            </a:r>
            <a:endParaRPr lang="en-US" sz="1000" dirty="0"/>
          </a:p>
        </p:txBody>
      </p:sp>
      <p:sp>
        <p:nvSpPr>
          <p:cNvPr id="6" name="Shape 3"/>
          <p:cNvSpPr/>
          <p:nvPr/>
        </p:nvSpPr>
        <p:spPr>
          <a:xfrm>
            <a:off x="822960" y="502920"/>
            <a:ext cx="201168" cy="201168"/>
          </a:xfrm>
          <a:prstGeom prst="rect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1188720" y="457200"/>
            <a:ext cx="944849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AGORA NO TELEMÓVEL, QUINZE MINUTOS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822960" y="868680"/>
            <a:ext cx="7071055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b">
            <a:normAutofit/>
          </a:bodyPr>
          <a:lstStyle/>
          <a:p>
            <a:pPr indent="0" marL="0">
              <a:buNone/>
            </a:pPr>
            <a:r>
              <a:rPr lang="en-US" sz="38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Abre a lição no telemóvel</a:t>
            </a:r>
            <a:endParaRPr lang="en-US" sz="3800" dirty="0"/>
          </a:p>
        </p:txBody>
      </p:sp>
      <p:sp>
        <p:nvSpPr>
          <p:cNvPr id="9" name="Shape 6"/>
          <p:cNvSpPr/>
          <p:nvPr/>
        </p:nvSpPr>
        <p:spPr>
          <a:xfrm>
            <a:off x="822960" y="2121408"/>
            <a:ext cx="640080" cy="64008"/>
          </a:xfrm>
          <a:prstGeom prst="rect">
            <a:avLst/>
          </a:prstGeom>
          <a:solidFill>
            <a:srgbClr val="E4555C"/>
          </a:solidFill>
          <a:ln w="12700">
            <a:solidFill>
              <a:srgbClr val="E4555C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1005840" y="2606040"/>
            <a:ext cx="0" cy="882904"/>
          </a:xfrm>
          <a:prstGeom prst="line">
            <a:avLst/>
          </a:prstGeom>
          <a:noFill/>
          <a:ln w="12700">
            <a:solidFill>
              <a:srgbClr val="A9A79F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822960" y="2423160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822960" y="242316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300" dirty="0"/>
          </a:p>
        </p:txBody>
      </p:sp>
      <p:sp>
        <p:nvSpPr>
          <p:cNvPr id="13" name="Text 10"/>
          <p:cNvSpPr/>
          <p:nvPr/>
        </p:nvSpPr>
        <p:spPr>
          <a:xfrm>
            <a:off x="1417320" y="2432304"/>
            <a:ext cx="6430975" cy="88290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Lê e responde aos cartões, um de cada vez</a:t>
            </a:r>
            <a:endParaRPr lang="en-US" sz="2200" dirty="0"/>
          </a:p>
        </p:txBody>
      </p:sp>
      <p:sp>
        <p:nvSpPr>
          <p:cNvPr id="14" name="Shape 11"/>
          <p:cNvSpPr/>
          <p:nvPr/>
        </p:nvSpPr>
        <p:spPr>
          <a:xfrm>
            <a:off x="822960" y="3306064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822960" y="3306064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300" dirty="0"/>
          </a:p>
        </p:txBody>
      </p:sp>
      <p:sp>
        <p:nvSpPr>
          <p:cNvPr id="16" name="Text 13"/>
          <p:cNvSpPr/>
          <p:nvPr/>
        </p:nvSpPr>
        <p:spPr>
          <a:xfrm>
            <a:off x="1417320" y="3315208"/>
            <a:ext cx="6430975" cy="54203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percurso marca a lição como feita</a:t>
            </a:r>
            <a:endParaRPr lang="en-US" sz="2200" dirty="0"/>
          </a:p>
        </p:txBody>
      </p:sp>
      <p:sp>
        <p:nvSpPr>
          <p:cNvPr id="17" name="Shape 14"/>
          <p:cNvSpPr/>
          <p:nvPr/>
        </p:nvSpPr>
        <p:spPr>
          <a:xfrm>
            <a:off x="8332927" y="1033272"/>
            <a:ext cx="3145536" cy="3145536"/>
          </a:xfrm>
          <a:prstGeom prst="rect">
            <a:avLst/>
          </a:prstGeom>
          <a:solidFill>
            <a:srgbClr val="FFFFFF"/>
          </a:solidFill>
          <a:ln w="12700">
            <a:solidFill>
              <a:srgbClr val="F2F0EA"/>
            </a:solidFill>
            <a:prstDash val="solid"/>
          </a:ln>
        </p:spPr>
      </p:sp>
      <p:pic>
        <p:nvPicPr>
          <p:cNvPr id="18" name="Image 0" descr="/home/user/epi-portugues-fontes/_interno/biblioteca-imagens/qr/licao-m2-f01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442655" y="1143000"/>
            <a:ext cx="2926080" cy="2926080"/>
          </a:xfrm>
          <a:prstGeom prst="rect">
            <a:avLst/>
          </a:prstGeom>
        </p:spPr>
      </p:pic>
      <p:sp>
        <p:nvSpPr>
          <p:cNvPr id="19" name="Text 15"/>
          <p:cNvSpPr/>
          <p:nvPr/>
        </p:nvSpPr>
        <p:spPr>
          <a:xfrm>
            <a:off x="8332927" y="4343400"/>
            <a:ext cx="3145536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1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pedrohfernandes-klk.github.io/​pt/​m2/​licao-m2-f01/​</a:t>
            </a:r>
            <a:endParaRPr lang="en-US" sz="12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10637215" y="384048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spc="30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EPI</a:t>
            </a:r>
            <a:endParaRPr lang="en-US" sz="1200" dirty="0"/>
          </a:p>
        </p:txBody>
      </p:sp>
      <p:sp>
        <p:nvSpPr>
          <p:cNvPr id="4" name="Text 1"/>
          <p:cNvSpPr/>
          <p:nvPr/>
        </p:nvSpPr>
        <p:spPr>
          <a:xfrm>
            <a:off x="822960" y="6400800"/>
            <a:ext cx="96313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Lição M2-F01, Deram-lhe um provérbio</a:t>
            </a:r>
            <a:endParaRPr lang="en-US" sz="1000" dirty="0"/>
          </a:p>
        </p:txBody>
      </p:sp>
      <p:sp>
        <p:nvSpPr>
          <p:cNvPr id="5" name="Text 2"/>
          <p:cNvSpPr/>
          <p:nvPr/>
        </p:nvSpPr>
        <p:spPr>
          <a:xfrm>
            <a:off x="10637215" y="640080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1000" dirty="0"/>
          </a:p>
        </p:txBody>
      </p:sp>
      <p:sp>
        <p:nvSpPr>
          <p:cNvPr id="6" name="Shape 3"/>
          <p:cNvSpPr/>
          <p:nvPr/>
        </p:nvSpPr>
        <p:spPr>
          <a:xfrm>
            <a:off x="822960" y="502920"/>
            <a:ext cx="201168" cy="201168"/>
          </a:xfrm>
          <a:prstGeom prst="rect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1188720" y="457200"/>
            <a:ext cx="944849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PAUSA: CARTÕES NO TELEMÓVEL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822960" y="868680"/>
            <a:ext cx="7071055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b">
            <a:normAutofit/>
          </a:bodyPr>
          <a:lstStyle/>
          <a:p>
            <a:pPr indent="0" marL="0">
              <a:buNone/>
            </a:pPr>
            <a:r>
              <a:rPr lang="en-US" sz="38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Três minutos, com placar</a:t>
            </a:r>
            <a:endParaRPr lang="en-US" sz="3800" dirty="0"/>
          </a:p>
        </p:txBody>
      </p:sp>
      <p:sp>
        <p:nvSpPr>
          <p:cNvPr id="9" name="Shape 6"/>
          <p:cNvSpPr/>
          <p:nvPr/>
        </p:nvSpPr>
        <p:spPr>
          <a:xfrm>
            <a:off x="822960" y="2121408"/>
            <a:ext cx="640080" cy="64008"/>
          </a:xfrm>
          <a:prstGeom prst="rect">
            <a:avLst/>
          </a:prstGeom>
          <a:solidFill>
            <a:srgbClr val="E4555C"/>
          </a:solidFill>
          <a:ln w="12700">
            <a:solidFill>
              <a:srgbClr val="E4555C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1005840" y="2606040"/>
            <a:ext cx="0" cy="1424940"/>
          </a:xfrm>
          <a:prstGeom prst="line">
            <a:avLst/>
          </a:prstGeom>
          <a:noFill/>
          <a:ln w="12700">
            <a:solidFill>
              <a:srgbClr val="A9A79F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822960" y="2423160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822960" y="242316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300" dirty="0"/>
          </a:p>
        </p:txBody>
      </p:sp>
      <p:sp>
        <p:nvSpPr>
          <p:cNvPr id="13" name="Text 10"/>
          <p:cNvSpPr/>
          <p:nvPr/>
        </p:nvSpPr>
        <p:spPr>
          <a:xfrm>
            <a:off x="1417320" y="2432304"/>
            <a:ext cx="6430975" cy="88290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Na lição, toca em «Sala» e escreve o código do ecrã e uma alcunha</a:t>
            </a:r>
            <a:endParaRPr lang="en-US" sz="2200" dirty="0"/>
          </a:p>
        </p:txBody>
      </p:sp>
      <p:sp>
        <p:nvSpPr>
          <p:cNvPr id="14" name="Shape 11"/>
          <p:cNvSpPr/>
          <p:nvPr/>
        </p:nvSpPr>
        <p:spPr>
          <a:xfrm>
            <a:off x="822960" y="3306064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822960" y="3306064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300" dirty="0"/>
          </a:p>
        </p:txBody>
      </p:sp>
      <p:sp>
        <p:nvSpPr>
          <p:cNvPr id="16" name="Text 13"/>
          <p:cNvSpPr/>
          <p:nvPr/>
        </p:nvSpPr>
        <p:spPr>
          <a:xfrm>
            <a:off x="1417320" y="3315208"/>
            <a:ext cx="6430975" cy="54203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Faz os cartões que o ecrã indica</a:t>
            </a:r>
            <a:endParaRPr lang="en-US" sz="2200" dirty="0"/>
          </a:p>
        </p:txBody>
      </p:sp>
      <p:sp>
        <p:nvSpPr>
          <p:cNvPr id="17" name="Shape 14"/>
          <p:cNvSpPr/>
          <p:nvPr/>
        </p:nvSpPr>
        <p:spPr>
          <a:xfrm>
            <a:off x="822960" y="3848100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822960" y="384810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300" dirty="0"/>
          </a:p>
        </p:txBody>
      </p:sp>
      <p:sp>
        <p:nvSpPr>
          <p:cNvPr id="19" name="Text 16"/>
          <p:cNvSpPr/>
          <p:nvPr/>
        </p:nvSpPr>
        <p:spPr>
          <a:xfrm>
            <a:off x="1417320" y="3857244"/>
            <a:ext cx="6430975" cy="54203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Quando acabares, olha para o placar</a:t>
            </a:r>
            <a:endParaRPr lang="en-US" sz="2200" dirty="0"/>
          </a:p>
        </p:txBody>
      </p:sp>
      <p:sp>
        <p:nvSpPr>
          <p:cNvPr id="20" name="Shape 17"/>
          <p:cNvSpPr/>
          <p:nvPr/>
        </p:nvSpPr>
        <p:spPr>
          <a:xfrm>
            <a:off x="8332927" y="1033272"/>
            <a:ext cx="3145536" cy="3145536"/>
          </a:xfrm>
          <a:prstGeom prst="rect">
            <a:avLst/>
          </a:prstGeom>
          <a:solidFill>
            <a:srgbClr val="FFFFFF"/>
          </a:solidFill>
          <a:ln w="12700">
            <a:solidFill>
              <a:srgbClr val="F2F0EA"/>
            </a:solidFill>
            <a:prstDash val="solid"/>
          </a:ln>
        </p:spPr>
      </p:sp>
      <p:pic>
        <p:nvPicPr>
          <p:cNvPr id="21" name="Image 0" descr="/home/user/epi-portugues-fontes/_interno/biblioteca-imagens/qr/licao-m2-f01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442655" y="1143000"/>
            <a:ext cx="2926080" cy="2926080"/>
          </a:xfrm>
          <a:prstGeom prst="rect">
            <a:avLst/>
          </a:prstGeom>
        </p:spPr>
      </p:pic>
      <p:sp>
        <p:nvSpPr>
          <p:cNvPr id="22" name="Text 18"/>
          <p:cNvSpPr/>
          <p:nvPr/>
        </p:nvSpPr>
        <p:spPr>
          <a:xfrm>
            <a:off x="8332927" y="4343400"/>
            <a:ext cx="3145536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1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pedrohfernandes-klk.github.io/​pt/​m2/​licao-m2-f01/​</a:t>
            </a:r>
            <a:endParaRPr lang="en-US" sz="12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10637215" y="384048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spc="30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EPI</a:t>
            </a:r>
            <a:endParaRPr lang="en-US" sz="1200" dirty="0"/>
          </a:p>
        </p:txBody>
      </p:sp>
      <p:sp>
        <p:nvSpPr>
          <p:cNvPr id="4" name="Text 1"/>
          <p:cNvSpPr/>
          <p:nvPr/>
        </p:nvSpPr>
        <p:spPr>
          <a:xfrm>
            <a:off x="822960" y="6400800"/>
            <a:ext cx="96313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Lição M2-F01, Deram-lhe um provérbio</a:t>
            </a:r>
            <a:endParaRPr lang="en-US" sz="1000" dirty="0"/>
          </a:p>
        </p:txBody>
      </p:sp>
      <p:sp>
        <p:nvSpPr>
          <p:cNvPr id="5" name="Text 2"/>
          <p:cNvSpPr/>
          <p:nvPr/>
        </p:nvSpPr>
        <p:spPr>
          <a:xfrm>
            <a:off x="10637215" y="640080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</a:t>
            </a:r>
            <a:endParaRPr lang="en-US" sz="1000" dirty="0"/>
          </a:p>
        </p:txBody>
      </p:sp>
      <p:sp>
        <p:nvSpPr>
          <p:cNvPr id="6" name="Shape 3"/>
          <p:cNvSpPr/>
          <p:nvPr/>
        </p:nvSpPr>
        <p:spPr>
          <a:xfrm>
            <a:off x="822960" y="502920"/>
            <a:ext cx="201168" cy="201168"/>
          </a:xfrm>
          <a:prstGeom prst="triangle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1188720" y="457200"/>
            <a:ext cx="944849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SÍNTESE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822960" y="868680"/>
            <a:ext cx="981425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b">
            <a:normAutofit/>
          </a:bodyPr>
          <a:lstStyle/>
          <a:p>
            <a:pPr indent="0" marL="0">
              <a:buNone/>
            </a:pPr>
            <a:r>
              <a:rPr lang="en-US" sz="34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Para fixar</a:t>
            </a:r>
            <a:endParaRPr lang="en-US" sz="3400" dirty="0"/>
          </a:p>
        </p:txBody>
      </p:sp>
      <p:sp>
        <p:nvSpPr>
          <p:cNvPr id="9" name="Shape 6"/>
          <p:cNvSpPr/>
          <p:nvPr/>
        </p:nvSpPr>
        <p:spPr>
          <a:xfrm>
            <a:off x="822960" y="1746504"/>
            <a:ext cx="640080" cy="64008"/>
          </a:xfrm>
          <a:prstGeom prst="rect">
            <a:avLst/>
          </a:prstGeom>
          <a:solidFill>
            <a:srgbClr val="E4555C"/>
          </a:solidFill>
          <a:ln w="12700">
            <a:solidFill>
              <a:srgbClr val="E4555C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1005840" y="2286000"/>
            <a:ext cx="0" cy="2571496"/>
          </a:xfrm>
          <a:prstGeom prst="line">
            <a:avLst/>
          </a:prstGeom>
          <a:noFill/>
          <a:ln w="12700">
            <a:solidFill>
              <a:srgbClr val="A9A79F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822960" y="2103120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822960" y="210312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300" dirty="0"/>
          </a:p>
        </p:txBody>
      </p:sp>
      <p:sp>
        <p:nvSpPr>
          <p:cNvPr id="13" name="Text 10"/>
          <p:cNvSpPr/>
          <p:nvPr/>
        </p:nvSpPr>
        <p:spPr>
          <a:xfrm>
            <a:off x="1417320" y="2112264"/>
            <a:ext cx="9174175" cy="113080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0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rubrica inicial é texto secundário e conta a encomenda: em 1523, em Tomar, deram ao Autor um «exemplo comum» para provar que não «furtava de outros autores».</a:t>
            </a:r>
            <a:endParaRPr lang="en-US" sz="2000" dirty="0"/>
          </a:p>
        </p:txBody>
      </p:sp>
      <p:sp>
        <p:nvSpPr>
          <p:cNvPr id="14" name="Shape 11"/>
          <p:cNvSpPr/>
          <p:nvPr/>
        </p:nvSpPr>
        <p:spPr>
          <a:xfrm>
            <a:off x="822960" y="3233928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822960" y="323392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300" dirty="0"/>
          </a:p>
        </p:txBody>
      </p:sp>
      <p:sp>
        <p:nvSpPr>
          <p:cNvPr id="16" name="Text 13"/>
          <p:cNvSpPr/>
          <p:nvPr/>
        </p:nvSpPr>
        <p:spPr>
          <a:xfrm>
            <a:off x="1417320" y="3243072"/>
            <a:ext cx="9174175" cy="144068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0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provérbio «mais quero asno que me leve que cavalo que me derrube» é o tema da farsa de folgar, e a lista de figuras já anuncia os tipos sociais: o lavrador rico, o escudeiro pobre, a alcoviteira, o ermitão.</a:t>
            </a:r>
            <a:endParaRPr lang="en-US" sz="2000" dirty="0"/>
          </a:p>
        </p:txBody>
      </p:sp>
      <p:sp>
        <p:nvSpPr>
          <p:cNvPr id="17" name="Shape 14"/>
          <p:cNvSpPr/>
          <p:nvPr/>
        </p:nvSpPr>
        <p:spPr>
          <a:xfrm>
            <a:off x="822960" y="4674616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822960" y="4674616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300" dirty="0"/>
          </a:p>
        </p:txBody>
      </p:sp>
      <p:sp>
        <p:nvSpPr>
          <p:cNvPr id="19" name="Text 16"/>
          <p:cNvSpPr/>
          <p:nvPr/>
        </p:nvSpPr>
        <p:spPr>
          <a:xfrm>
            <a:off x="1417320" y="4683760"/>
            <a:ext cx="9174175" cy="144068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0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Distingues as camadas do texto dramático pela função: as falas (diálogo, monólogo, aparte) são texto principal; rubricas como «Vem a Mãe» ou «Aqui vem Pêro Marques, vestido como filho de lavrador rico» são texto secundário.</a:t>
            </a:r>
            <a:endParaRPr lang="en-US" sz="20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10637215" y="384048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spc="30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EPI</a:t>
            </a:r>
            <a:endParaRPr lang="en-US" sz="1200" dirty="0"/>
          </a:p>
        </p:txBody>
      </p:sp>
      <p:sp>
        <p:nvSpPr>
          <p:cNvPr id="4" name="Text 1"/>
          <p:cNvSpPr/>
          <p:nvPr/>
        </p:nvSpPr>
        <p:spPr>
          <a:xfrm>
            <a:off x="822960" y="6400800"/>
            <a:ext cx="96313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Lição M2-F01, Deram-lhe um provérbio</a:t>
            </a:r>
            <a:endParaRPr lang="en-US" sz="1000" dirty="0"/>
          </a:p>
        </p:txBody>
      </p:sp>
      <p:sp>
        <p:nvSpPr>
          <p:cNvPr id="5" name="Text 2"/>
          <p:cNvSpPr/>
          <p:nvPr/>
        </p:nvSpPr>
        <p:spPr>
          <a:xfrm>
            <a:off x="10637215" y="640080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</a:t>
            </a:r>
            <a:endParaRPr lang="en-US" sz="1000" dirty="0"/>
          </a:p>
        </p:txBody>
      </p:sp>
      <p:sp>
        <p:nvSpPr>
          <p:cNvPr id="6" name="Shape 3"/>
          <p:cNvSpPr/>
          <p:nvPr/>
        </p:nvSpPr>
        <p:spPr>
          <a:xfrm>
            <a:off x="822960" y="502920"/>
            <a:ext cx="201168" cy="201168"/>
          </a:xfrm>
          <a:prstGeom prst="triangle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1188720" y="457200"/>
            <a:ext cx="944849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ATÉ À PRÓXIMA AULA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822960" y="868680"/>
            <a:ext cx="7071055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b">
            <a:normAutofit/>
          </a:bodyPr>
          <a:lstStyle/>
          <a:p>
            <a:pPr indent="0" marL="0">
              <a:buNone/>
            </a:pPr>
            <a:r>
              <a:rPr lang="en-US" sz="30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telemóvel ou no PC da escola</a:t>
            </a:r>
            <a:endParaRPr lang="en-US" sz="3000" dirty="0"/>
          </a:p>
        </p:txBody>
      </p:sp>
      <p:sp>
        <p:nvSpPr>
          <p:cNvPr id="9" name="Shape 6"/>
          <p:cNvSpPr/>
          <p:nvPr/>
        </p:nvSpPr>
        <p:spPr>
          <a:xfrm>
            <a:off x="822960" y="2121408"/>
            <a:ext cx="640080" cy="64008"/>
          </a:xfrm>
          <a:prstGeom prst="rect">
            <a:avLst/>
          </a:prstGeom>
          <a:solidFill>
            <a:srgbClr val="E4555C"/>
          </a:solidFill>
          <a:ln w="12700">
            <a:solidFill>
              <a:srgbClr val="E4555C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1005840" y="2606040"/>
            <a:ext cx="0" cy="1424940"/>
          </a:xfrm>
          <a:prstGeom prst="line">
            <a:avLst/>
          </a:prstGeom>
          <a:noFill/>
          <a:ln w="12700">
            <a:solidFill>
              <a:srgbClr val="A9A79F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822960" y="2423160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822960" y="242316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300" dirty="0"/>
          </a:p>
        </p:txBody>
      </p:sp>
      <p:sp>
        <p:nvSpPr>
          <p:cNvPr id="13" name="Text 10"/>
          <p:cNvSpPr/>
          <p:nvPr/>
        </p:nvSpPr>
        <p:spPr>
          <a:xfrm>
            <a:off x="1417320" y="2432304"/>
            <a:ext cx="6430975" cy="54203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Termina o baralho da lição M2-F01</a:t>
            </a:r>
            <a:endParaRPr lang="en-US" sz="2200" dirty="0"/>
          </a:p>
        </p:txBody>
      </p:sp>
      <p:sp>
        <p:nvSpPr>
          <p:cNvPr id="14" name="Shape 11"/>
          <p:cNvSpPr/>
          <p:nvPr/>
        </p:nvSpPr>
        <p:spPr>
          <a:xfrm>
            <a:off x="822960" y="2965196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822960" y="2965196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300" dirty="0"/>
          </a:p>
        </p:txBody>
      </p:sp>
      <p:sp>
        <p:nvSpPr>
          <p:cNvPr id="16" name="Text 13"/>
          <p:cNvSpPr/>
          <p:nvPr/>
        </p:nvSpPr>
        <p:spPr>
          <a:xfrm>
            <a:off x="1417320" y="2974340"/>
            <a:ext cx="6430975" cy="88290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Espreita a lição seguinte, «Inês, como panela sem asa»</a:t>
            </a:r>
            <a:endParaRPr lang="en-US" sz="2200" dirty="0"/>
          </a:p>
        </p:txBody>
      </p:sp>
      <p:sp>
        <p:nvSpPr>
          <p:cNvPr id="17" name="Shape 14"/>
          <p:cNvSpPr/>
          <p:nvPr/>
        </p:nvSpPr>
        <p:spPr>
          <a:xfrm>
            <a:off x="822960" y="3848100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822960" y="384810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300" dirty="0"/>
          </a:p>
        </p:txBody>
      </p:sp>
      <p:sp>
        <p:nvSpPr>
          <p:cNvPr id="19" name="Text 16"/>
          <p:cNvSpPr/>
          <p:nvPr/>
        </p:nvSpPr>
        <p:spPr>
          <a:xfrm>
            <a:off x="1417320" y="3857244"/>
            <a:ext cx="6430975" cy="88290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Antes de sair: foto do caderno para o portefólio</a:t>
            </a:r>
            <a:endParaRPr lang="en-US" sz="2200" dirty="0"/>
          </a:p>
        </p:txBody>
      </p:sp>
      <p:sp>
        <p:nvSpPr>
          <p:cNvPr id="20" name="Shape 17"/>
          <p:cNvSpPr/>
          <p:nvPr/>
        </p:nvSpPr>
        <p:spPr>
          <a:xfrm>
            <a:off x="8332927" y="1033272"/>
            <a:ext cx="3145536" cy="3145536"/>
          </a:xfrm>
          <a:prstGeom prst="rect">
            <a:avLst/>
          </a:prstGeom>
          <a:solidFill>
            <a:srgbClr val="FFFFFF"/>
          </a:solidFill>
          <a:ln w="12700">
            <a:solidFill>
              <a:srgbClr val="F2F0EA"/>
            </a:solidFill>
            <a:prstDash val="solid"/>
          </a:ln>
        </p:spPr>
      </p:sp>
      <p:pic>
        <p:nvPicPr>
          <p:cNvPr id="21" name="Image 0" descr="/home/user/epi-portugues-fontes/_interno/biblioteca-imagens/qr/passo-m2-f01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442655" y="1143000"/>
            <a:ext cx="2926080" cy="2926080"/>
          </a:xfrm>
          <a:prstGeom prst="rect">
            <a:avLst/>
          </a:prstGeom>
        </p:spPr>
      </p:pic>
      <p:sp>
        <p:nvSpPr>
          <p:cNvPr id="22" name="Text 18"/>
          <p:cNvSpPr/>
          <p:nvPr/>
        </p:nvSpPr>
        <p:spPr>
          <a:xfrm>
            <a:off x="8332927" y="4343400"/>
            <a:ext cx="3145536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1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pedrohfernandes-klk.github.io/​pt/​m2/​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M2 · Sessão 01 · M2-F01 · Deram-lhe um provérbio</dc:title>
  <dc:subject>PptxGenJS Presentation</dc:subject>
  <dc:creator>EPI · Português</dc:creator>
  <cp:lastModifiedBy>EPI · Português</cp:lastModifiedBy>
  <cp:revision>1</cp:revision>
  <dcterms:created xsi:type="dcterms:W3CDTF">2026-10-11T03:02:52Z</dcterms:created>
  <dcterms:modified xsi:type="dcterms:W3CDTF">2026-10-11T03:02:52Z</dcterms:modified>
  <dc:description/>
</cp:coreProperties>
</file>