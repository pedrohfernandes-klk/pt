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3-1.jpg" ContentType="image/jpg"/>
  <Override PartName="/ppt/media/image-4-1.jpg" ContentType="image/jpg"/>
  <Override PartName="/ppt/media/image-5-1.jpg" ContentType="image/jpg"/>
  <Override PartName="/ppt/media/image-6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M2-F06, Quero asno que me leve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1.º ANO, MÓDULO 2, LIÇÃO M2-F06, UNIDADE 3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Quero asno que me leve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Viúva, Inês escolhe outra vez. Desta vez quer o asno, e o provérbio cumpre-se às costas de um homem.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weiditz-trajes-portugueses-1530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Trajes de portugueses, Trachtenbuch (Christoph Weiditz, década de 1530).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M2-F06, Quero asno que me leve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Escolher a frio é escolher melhor?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M2-F06, Quero asno que me leve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weiditz-trajes-portugueses-1530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ENTRETANTO 1 — INÊS, FECHADA, JURA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Inês: «Quem bem tem e mal escolhe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 mal que lhe venha não s'anoje.»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Renego da discrição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Comendo ò demo o aviso,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sempre cuidei que nisso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Estava a boa condição.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[…]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Juro em todo meu sentido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se solteira me vejo,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Assi como eu desejo,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eu saiba escolher marido,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À boa fé, sem mau engano,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Pacífico todo o ano,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que ande a meu mandar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Havia m'eu de vingar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Deste mal e deste dano!</a:t>
            </a:r>
            <a:endParaRPr lang="en-US" sz="20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Gil Vicente, Farsa de Inês Pereira (1523) (Inês só, depois da partida do Escudeiro; grafia da edição).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M2-F06, Quero asno que me leve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weiditz-trajes-portugueses-1530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ENTRETANTO 2 — A CARTA DE ARZILA (1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Rubrica: Entra o Moço com uma carta de Arzila, e diz: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Moço: Esta carta vem d'Além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Creio que é de meu senhor.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[…]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Rubrica: Lê Inês Pereira a carta, a qual diz: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«Muito honrada irmã,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Esforçai o coração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tomai por devação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querer o que Deus quiser.»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isto que quer dizer?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«E não vos maravilheis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cousa que o mundo faça,</a:t>
            </a:r>
            <a:endParaRPr lang="en-US" sz="20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Gil Vicente, Farsa de Inês Pereira (1523) (grafia da edição).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M2-F06, Quero asno que me leve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weiditz-trajes-portugueses-1530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ENTRETANTO 2 — A CARTA DE ARZILA (2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5044288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sempre nos embaraça</a:t>
            </a:r>
            <a:endParaRPr lang="en-US" sz="2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 cousas. Sabei que indo</a:t>
            </a:r>
            <a:endParaRPr lang="en-US" sz="2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Vosso marido fugindo</a:t>
            </a:r>
            <a:endParaRPr lang="en-US" sz="2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 batalha pera a vila,</a:t>
            </a:r>
            <a:endParaRPr lang="en-US" sz="2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meia légua de Arzila,</a:t>
            </a:r>
            <a:endParaRPr lang="en-US" sz="2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matou um mouro pastor.»</a:t>
            </a:r>
            <a:endParaRPr lang="en-US" sz="2300" dirty="0"/>
          </a:p>
        </p:txBody>
      </p:sp>
      <p:sp>
        <p:nvSpPr>
          <p:cNvPr id="10" name="Text 6"/>
          <p:cNvSpPr/>
          <p:nvPr/>
        </p:nvSpPr>
        <p:spPr>
          <a:xfrm>
            <a:off x="6324448" y="1005840"/>
            <a:ext cx="5044288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Moço: Ó meu amo e meu senhor!</a:t>
            </a:r>
            <a:endParaRPr lang="en-US" sz="2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Inês: Dai-me vós cá essa chave</a:t>
            </a:r>
            <a:endParaRPr lang="en-US" sz="2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i buscar vossa vida.</a:t>
            </a:r>
            <a:endParaRPr lang="en-US" sz="2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Moço: Oh que triste despedida!</a:t>
            </a:r>
            <a:endParaRPr lang="en-US" sz="2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Inês: Mas que nova tão suave!</a:t>
            </a:r>
            <a:endParaRPr lang="en-US" sz="2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Desatado é o nó.</a:t>
            </a:r>
            <a:endParaRPr lang="en-US" sz="2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 eu por ele ponho dó,</a:t>
            </a:r>
            <a:endParaRPr lang="en-US" sz="2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[…]</a:t>
            </a:r>
            <a:endParaRPr lang="en-US" sz="2300" dirty="0"/>
          </a:p>
        </p:txBody>
      </p:sp>
      <p:sp>
        <p:nvSpPr>
          <p:cNvPr id="11" name="Text 7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Gil Vicente, Farsa de Inês Pereira (1523) (grafia da edição).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M2-F06, Quero asno que me leve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weiditz-trajes-portugueses-1530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ENTRETANTO 3 — O ERMITÃO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Rubrica: Vem um Ermitão a pedir esmola, que em moço lhe quis bem, e diz: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Señores, por caridad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Dad limosna al dolorido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Ermitaño de Cupido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 siempre en soledad.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[…]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Inês: Olhai cá, marido amigo,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Eu tenho por devação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Dar esmola a um ermitão.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não vades vós comigo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Pêro Marques: I-vos embora, mulher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Não tenho lá que fazer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[…]</a:t>
            </a:r>
            <a:endParaRPr lang="en-US" sz="20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Gil Vicente, Farsa de Inês Pereira (1523) (Inês já casada com Pêro Marques; o ermitão fala castelhano; grafia da edição).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M2-F06, Quero asno que me leve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Depois das janelas pregadas, Inês jura escolher melhor, recebe de Arzila a carta que anuncia a morte do Escudeiro e, viúva, escolhe Pêro Marques.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desfecho prova o provérbio da rubrica: Pêro é o asno que leva Inês às costas, o Escudeiro foi o cavalo que a derrubou, e a cantiga final tem duplo sentido.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Vais reconhecer anáfora, antítese e alegoria, e decidir se Inês, ao escolher a frio, ganha ou continua dependente de um marido.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M2-F06, Quero asno que me leve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Entretanto…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Entre as janelas pregadas e o desfecho, os excertos mostram três passos: Inês, fechada, jura escolher melhor se voltar a ser solteira; chega de Arzila a carta que anuncia a morte do marido; e, já casada com Pêro, um ermitão pede-lhe esmola e ela reconhece um antigo pretendente. O desfecho, com Inês às costas de Pêro, lê-se na lição, no telemóvel.</a:t>
            </a:r>
            <a:endParaRPr lang="en-US" sz="2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M2-F06, Quero asno que me leve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2-f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pedrohfernandes-klk.github.io/​pt/​m2/​licao-m2-f06/​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M2-F06, Quero asno que me leve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2-f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pedrohfernandes-klk.github.io/​pt/​m2/​licao-m2-f06/​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M2-F06, Quero asno que me leve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261616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130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farsa fecha como prova do provérbio: Pêro Marques carrega Inês e duas lousas, à letra o «asno que me leve», depois de o Escudeiro, «cavalo folão», a ter derrubado.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822960" y="323392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2339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243072"/>
            <a:ext cx="9174175" cy="1130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Inês escolhe a frio porque «Experiência dá lição»: a anáfora e as antíteses de «Antes lebre que leão, / Antes lavrador que Nero» soam a sentença e opõem o marido manso ao tirano.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822960" y="436473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364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373880"/>
            <a:ext cx="9174175" cy="1130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cantiga final diz amor a Pêro e outra coisa ao público: «cuco», «gamo» e «cervo» são o duplo sentido de quem vai ter com o Ermitão, e a alegoria dos dois maridos fica completa.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M2-F06, Quero asno que me leve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M2-F06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«Da página ao palco»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2-f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pedrohfernandes-klk.github.io/​pt/​m2/​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M2 · Sessão 04 · M2-F06 · Quero asno que me leve</dc:title>
  <dc:subject>PptxGenJS Presentation</dc:subject>
  <dc:creator>EPI · Português</dc:creator>
  <cp:lastModifiedBy>EPI · Português</cp:lastModifiedBy>
  <cp:revision>1</cp:revision>
  <dcterms:created xsi:type="dcterms:W3CDTF">2026-10-10T20:31:13Z</dcterms:created>
  <dcterms:modified xsi:type="dcterms:W3CDTF">2026-10-10T20:31:13Z</dcterms:modified>
  <dc:description/>
</cp:coreProperties>
</file>